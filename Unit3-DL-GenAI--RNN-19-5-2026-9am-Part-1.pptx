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handoutMasterIdLst>
    <p:handoutMasterId r:id="rId57"/>
  </p:handoutMasterIdLst>
  <p:sldIdLst>
    <p:sldId id="256" r:id="rId2"/>
    <p:sldId id="748" r:id="rId3"/>
    <p:sldId id="292" r:id="rId4"/>
    <p:sldId id="941" r:id="rId5"/>
    <p:sldId id="942" r:id="rId6"/>
    <p:sldId id="746" r:id="rId7"/>
    <p:sldId id="943" r:id="rId8"/>
    <p:sldId id="757" r:id="rId9"/>
    <p:sldId id="758" r:id="rId10"/>
    <p:sldId id="760" r:id="rId11"/>
    <p:sldId id="761" r:id="rId12"/>
    <p:sldId id="762" r:id="rId13"/>
    <p:sldId id="759" r:id="rId14"/>
    <p:sldId id="763" r:id="rId15"/>
    <p:sldId id="764" r:id="rId16"/>
    <p:sldId id="765" r:id="rId17"/>
    <p:sldId id="944" r:id="rId18"/>
    <p:sldId id="766" r:id="rId19"/>
    <p:sldId id="769" r:id="rId20"/>
    <p:sldId id="768" r:id="rId21"/>
    <p:sldId id="770" r:id="rId22"/>
    <p:sldId id="771" r:id="rId23"/>
    <p:sldId id="772" r:id="rId24"/>
    <p:sldId id="945" r:id="rId25"/>
    <p:sldId id="773" r:id="rId26"/>
    <p:sldId id="790" r:id="rId27"/>
    <p:sldId id="791" r:id="rId28"/>
    <p:sldId id="774" r:id="rId29"/>
    <p:sldId id="775" r:id="rId30"/>
    <p:sldId id="749" r:id="rId31"/>
    <p:sldId id="751" r:id="rId32"/>
    <p:sldId id="752" r:id="rId33"/>
    <p:sldId id="777" r:id="rId34"/>
    <p:sldId id="776" r:id="rId35"/>
    <p:sldId id="792" r:id="rId36"/>
    <p:sldId id="779" r:id="rId37"/>
    <p:sldId id="780" r:id="rId38"/>
    <p:sldId id="781" r:id="rId39"/>
    <p:sldId id="782" r:id="rId40"/>
    <p:sldId id="793" r:id="rId41"/>
    <p:sldId id="783" r:id="rId42"/>
    <p:sldId id="784" r:id="rId43"/>
    <p:sldId id="785" r:id="rId44"/>
    <p:sldId id="786" r:id="rId45"/>
    <p:sldId id="787" r:id="rId46"/>
    <p:sldId id="789" r:id="rId47"/>
    <p:sldId id="788" r:id="rId48"/>
    <p:sldId id="794" r:id="rId49"/>
    <p:sldId id="795" r:id="rId50"/>
    <p:sldId id="796" r:id="rId51"/>
    <p:sldId id="814" r:id="rId52"/>
    <p:sldId id="815" r:id="rId53"/>
    <p:sldId id="816" r:id="rId54"/>
    <p:sldId id="397"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48"/>
            <p14:sldId id="292"/>
            <p14:sldId id="941"/>
            <p14:sldId id="942"/>
            <p14:sldId id="746"/>
            <p14:sldId id="943"/>
            <p14:sldId id="757"/>
            <p14:sldId id="758"/>
            <p14:sldId id="760"/>
            <p14:sldId id="761"/>
            <p14:sldId id="762"/>
            <p14:sldId id="759"/>
            <p14:sldId id="763"/>
            <p14:sldId id="764"/>
            <p14:sldId id="765"/>
            <p14:sldId id="944"/>
            <p14:sldId id="766"/>
            <p14:sldId id="769"/>
            <p14:sldId id="768"/>
            <p14:sldId id="770"/>
            <p14:sldId id="771"/>
            <p14:sldId id="772"/>
            <p14:sldId id="945"/>
            <p14:sldId id="773"/>
            <p14:sldId id="790"/>
            <p14:sldId id="791"/>
            <p14:sldId id="774"/>
            <p14:sldId id="775"/>
            <p14:sldId id="749"/>
            <p14:sldId id="751"/>
            <p14:sldId id="752"/>
            <p14:sldId id="777"/>
            <p14:sldId id="776"/>
            <p14:sldId id="792"/>
            <p14:sldId id="779"/>
            <p14:sldId id="780"/>
            <p14:sldId id="781"/>
            <p14:sldId id="782"/>
            <p14:sldId id="793"/>
            <p14:sldId id="783"/>
            <p14:sldId id="784"/>
            <p14:sldId id="785"/>
            <p14:sldId id="786"/>
            <p14:sldId id="787"/>
            <p14:sldId id="789"/>
            <p14:sldId id="788"/>
            <p14:sldId id="794"/>
            <p14:sldId id="795"/>
            <p14:sldId id="796"/>
            <p14:sldId id="814"/>
            <p14:sldId id="815"/>
            <p14:sldId id="816"/>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3366"/>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084" autoAdjust="0"/>
    <p:restoredTop sz="82301" autoAdjust="0"/>
  </p:normalViewPr>
  <p:slideViewPr>
    <p:cSldViewPr>
      <p:cViewPr varScale="1">
        <p:scale>
          <a:sx n="93" d="100"/>
          <a:sy n="93" d="100"/>
        </p:scale>
        <p:origin x="2442" y="7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6/30/2026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6/30/2026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3</a:t>
            </a:fld>
            <a:endParaRPr lang="en-US"/>
          </a:p>
        </p:txBody>
      </p:sp>
    </p:spTree>
    <p:extLst>
      <p:ext uri="{BB962C8B-B14F-4D97-AF65-F5344CB8AC3E}">
        <p14:creationId xmlns:p14="http://schemas.microsoft.com/office/powerpoint/2010/main" val="3542221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https://medium.com/@poudelsushmita878/recurrent-neural-network-rnn-architecture-explained-1d69560541ef</a:t>
            </a:r>
          </a:p>
        </p:txBody>
      </p:sp>
      <p:sp>
        <p:nvSpPr>
          <p:cNvPr id="4" name="Slide Number Placeholder 3"/>
          <p:cNvSpPr>
            <a:spLocks noGrp="1"/>
          </p:cNvSpPr>
          <p:nvPr>
            <p:ph type="sldNum" sz="quarter" idx="5"/>
          </p:nvPr>
        </p:nvSpPr>
        <p:spPr/>
        <p:txBody>
          <a:bodyPr/>
          <a:lstStyle/>
          <a:p>
            <a:fld id="{C1EDAD17-33F0-4D65-82A5-1BBB03DED615}" type="slidenum">
              <a:rPr lang="en-US" smtClean="0"/>
              <a:t>9</a:t>
            </a:fld>
            <a:endParaRPr lang="en-US"/>
          </a:p>
        </p:txBody>
      </p:sp>
    </p:spTree>
    <p:extLst>
      <p:ext uri="{BB962C8B-B14F-4D97-AF65-F5344CB8AC3E}">
        <p14:creationId xmlns:p14="http://schemas.microsoft.com/office/powerpoint/2010/main" val="180896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1041736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996078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r>
              <a:rPr lang="en-US" b="0" i="0" dirty="0">
                <a:solidFill>
                  <a:srgbClr val="222222"/>
                </a:solidFill>
                <a:effectLst/>
                <a:latin typeface="inter"/>
              </a:rPr>
              <a:t> understand that you want to compute the number of parameters of a RNN, that is, the total count of parameter of a RNN.</a:t>
            </a:r>
          </a:p>
          <a:p>
            <a:pPr algn="l"/>
            <a:r>
              <a:rPr lang="en-US" b="0" i="0" dirty="0">
                <a:solidFill>
                  <a:srgbClr val="222222"/>
                </a:solidFill>
                <a:effectLst/>
                <a:latin typeface="inter"/>
              </a:rPr>
              <a:t>In a recurrent neural network RNN we have to compute the number of parameters of the input layer, plus the number of parameters in the hidden layer.</a:t>
            </a:r>
          </a:p>
          <a:p>
            <a:pPr algn="l"/>
            <a:r>
              <a:rPr lang="en-US" b="0" i="0" dirty="0">
                <a:solidFill>
                  <a:srgbClr val="222222"/>
                </a:solidFill>
                <a:effectLst/>
                <a:latin typeface="inter"/>
              </a:rPr>
              <a:t>In the input layer, the number of parameters comes from the size of the vocabulary, say ‘m’.</a:t>
            </a:r>
          </a:p>
          <a:p>
            <a:pPr algn="l"/>
            <a:r>
              <a:rPr lang="en-US" b="0" i="0" dirty="0">
                <a:solidFill>
                  <a:srgbClr val="222222"/>
                </a:solidFill>
                <a:effectLst/>
                <a:latin typeface="inter"/>
              </a:rPr>
              <a:t>In the hidden layer, the number of parameters comes from the number of units of the layer, say ‘n’</a:t>
            </a:r>
          </a:p>
          <a:p>
            <a:pPr algn="l"/>
            <a:r>
              <a:rPr lang="en-US" b="0" i="0" dirty="0">
                <a:solidFill>
                  <a:srgbClr val="222222"/>
                </a:solidFill>
                <a:effectLst/>
                <a:latin typeface="inter"/>
              </a:rPr>
              <a:t>Since the input is m and the hidden layer has n units, the W params of the input layer would be m * n.</a:t>
            </a:r>
          </a:p>
          <a:p>
            <a:pPr algn="l"/>
            <a:r>
              <a:rPr lang="en-US" b="0" i="0" dirty="0">
                <a:solidFill>
                  <a:srgbClr val="222222"/>
                </a:solidFill>
                <a:effectLst/>
                <a:latin typeface="inter"/>
              </a:rPr>
              <a:t>Input weights: m*n</a:t>
            </a:r>
          </a:p>
          <a:p>
            <a:pPr algn="l"/>
            <a:r>
              <a:rPr lang="en-US" b="0" i="0" dirty="0">
                <a:solidFill>
                  <a:srgbClr val="222222"/>
                </a:solidFill>
                <a:effectLst/>
                <a:latin typeface="inter"/>
              </a:rPr>
              <a:t>Since the network is recurrent, meaning it ‘calls’ itself over and over, then the W parameters in the hidden layer will be n * n.</a:t>
            </a:r>
          </a:p>
          <a:p>
            <a:pPr algn="l"/>
            <a:r>
              <a:rPr lang="en-US" b="0" i="0" dirty="0">
                <a:solidFill>
                  <a:srgbClr val="222222"/>
                </a:solidFill>
                <a:effectLst/>
                <a:latin typeface="inter"/>
              </a:rPr>
              <a:t>Recurrent weight: n*n</a:t>
            </a:r>
          </a:p>
          <a:p>
            <a:pPr algn="l"/>
            <a:r>
              <a:rPr lang="en-US" b="0" i="0" dirty="0">
                <a:solidFill>
                  <a:srgbClr val="222222"/>
                </a:solidFill>
                <a:effectLst/>
                <a:latin typeface="inter"/>
              </a:rPr>
              <a:t>If we add biases, then we would have ‘m’ biases for the input layer and ‘n’ biases for the hidden layer.</a:t>
            </a:r>
          </a:p>
          <a:p>
            <a:pPr algn="l"/>
            <a:r>
              <a:rPr lang="en-US" b="0" i="0">
                <a:solidFill>
                  <a:srgbClr val="222222"/>
                </a:solidFill>
                <a:effectLst/>
                <a:latin typeface="inter"/>
              </a:rPr>
              <a:t>To compute the total number of parameters we add (m * n) + (n * n) + m + 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16</a:t>
            </a:fld>
            <a:endParaRPr lang="en-US"/>
          </a:p>
        </p:txBody>
      </p:sp>
    </p:spTree>
    <p:extLst>
      <p:ext uri="{BB962C8B-B14F-4D97-AF65-F5344CB8AC3E}">
        <p14:creationId xmlns:p14="http://schemas.microsoft.com/office/powerpoint/2010/main" val="1510570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r>
              <a:rPr lang="en-US" b="0" i="0" dirty="0">
                <a:solidFill>
                  <a:srgbClr val="222222"/>
                </a:solidFill>
                <a:effectLst/>
                <a:latin typeface="inter"/>
              </a:rPr>
              <a:t> understand that you want to compute the number of parameters of a RNN, that is, the total count of parameter of a RNN.</a:t>
            </a:r>
          </a:p>
          <a:p>
            <a:pPr algn="l"/>
            <a:r>
              <a:rPr lang="en-US" b="0" i="0" dirty="0">
                <a:solidFill>
                  <a:srgbClr val="222222"/>
                </a:solidFill>
                <a:effectLst/>
                <a:latin typeface="inter"/>
              </a:rPr>
              <a:t>In a recurrent neural network RNN we have to compute the number of parameters of the input layer, plus the number of parameters in the hidden layer.</a:t>
            </a:r>
          </a:p>
          <a:p>
            <a:pPr algn="l"/>
            <a:r>
              <a:rPr lang="en-US" b="0" i="0" dirty="0">
                <a:solidFill>
                  <a:srgbClr val="222222"/>
                </a:solidFill>
                <a:effectLst/>
                <a:latin typeface="inter"/>
              </a:rPr>
              <a:t>In the input layer, the number of parameters comes from the size of the vocabulary, say ‘m’.</a:t>
            </a:r>
          </a:p>
          <a:p>
            <a:pPr algn="l"/>
            <a:r>
              <a:rPr lang="en-US" b="0" i="0" dirty="0">
                <a:solidFill>
                  <a:srgbClr val="222222"/>
                </a:solidFill>
                <a:effectLst/>
                <a:latin typeface="inter"/>
              </a:rPr>
              <a:t>In the hidden layer, the number of parameters comes from the number of units of the layer, say ‘n’</a:t>
            </a:r>
          </a:p>
          <a:p>
            <a:pPr algn="l"/>
            <a:r>
              <a:rPr lang="en-US" b="0" i="0" dirty="0">
                <a:solidFill>
                  <a:srgbClr val="222222"/>
                </a:solidFill>
                <a:effectLst/>
                <a:latin typeface="inter"/>
              </a:rPr>
              <a:t>Since the input is m and the hidden layer has n units, the W params of the input layer would be m * n.</a:t>
            </a:r>
          </a:p>
          <a:p>
            <a:pPr algn="l"/>
            <a:r>
              <a:rPr lang="en-US" b="0" i="0" dirty="0">
                <a:solidFill>
                  <a:srgbClr val="222222"/>
                </a:solidFill>
                <a:effectLst/>
                <a:latin typeface="inter"/>
              </a:rPr>
              <a:t>Input weights: m*n</a:t>
            </a:r>
          </a:p>
          <a:p>
            <a:pPr algn="l"/>
            <a:r>
              <a:rPr lang="en-US" b="0" i="0" dirty="0">
                <a:solidFill>
                  <a:srgbClr val="222222"/>
                </a:solidFill>
                <a:effectLst/>
                <a:latin typeface="inter"/>
              </a:rPr>
              <a:t>Since the network is recurrent, meaning it ‘calls’ itself over and over, then the W parameters in the hidden layer will be n * n.</a:t>
            </a:r>
          </a:p>
          <a:p>
            <a:pPr algn="l"/>
            <a:r>
              <a:rPr lang="en-US" b="0" i="0" dirty="0">
                <a:solidFill>
                  <a:srgbClr val="222222"/>
                </a:solidFill>
                <a:effectLst/>
                <a:latin typeface="inter"/>
              </a:rPr>
              <a:t>Recurrent weight: n*n</a:t>
            </a:r>
          </a:p>
          <a:p>
            <a:pPr algn="l"/>
            <a:r>
              <a:rPr lang="en-US" b="0" i="0" dirty="0">
                <a:solidFill>
                  <a:srgbClr val="222222"/>
                </a:solidFill>
                <a:effectLst/>
                <a:latin typeface="inter"/>
              </a:rPr>
              <a:t>If we add biases, then we would have ‘m’ biases for the input layer and ‘n’ biases for the hidden layer.</a:t>
            </a:r>
          </a:p>
          <a:p>
            <a:pPr algn="l"/>
            <a:r>
              <a:rPr lang="en-US" b="0" i="0">
                <a:solidFill>
                  <a:srgbClr val="222222"/>
                </a:solidFill>
                <a:effectLst/>
                <a:latin typeface="inter"/>
              </a:rPr>
              <a:t>To compute the total number of parameters we add (m * n) + (n * n) + m + 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4196174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18</a:t>
            </a:fld>
            <a:endParaRPr lang="en-US"/>
          </a:p>
        </p:txBody>
      </p:sp>
    </p:spTree>
    <p:extLst>
      <p:ext uri="{BB962C8B-B14F-4D97-AF65-F5344CB8AC3E}">
        <p14:creationId xmlns:p14="http://schemas.microsoft.com/office/powerpoint/2010/main" val="1131184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2214-3DAB-27F2-0BF6-111DD7C0C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35B50-408C-539D-B3AA-FDC6D94ED425}"/>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F4F2A559-6F9B-49DB-88D5-19C4C9CD37BE}"/>
              </a:ext>
            </a:extLst>
          </p:cNvPr>
          <p:cNvSpPr>
            <a:spLocks noGrp="1"/>
          </p:cNvSpPr>
          <p:nvPr>
            <p:ph type="body" idx="1"/>
          </p:nvPr>
        </p:nvSpPr>
        <p:spPr/>
        <p:txBody>
          <a:bodyPr/>
          <a:lstStyle/>
          <a:p>
            <a:r>
              <a:rPr lang="en-IN" dirty="0"/>
              <a:t>https://medium.com/@poudelsushmita878/recurrent-neural-network-rnn-architecture-explained-1d69560541ef</a:t>
            </a:r>
          </a:p>
        </p:txBody>
      </p:sp>
      <p:sp>
        <p:nvSpPr>
          <p:cNvPr id="4" name="Slide Number Placeholder 3">
            <a:extLst>
              <a:ext uri="{FF2B5EF4-FFF2-40B4-BE49-F238E27FC236}">
                <a16:creationId xmlns:a16="http://schemas.microsoft.com/office/drawing/2014/main" id="{0FE21034-4BE2-2321-CAC0-044734236BC4}"/>
              </a:ext>
            </a:extLst>
          </p:cNvPr>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185799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20</a:t>
            </a:fld>
            <a:endParaRPr lang="en-US"/>
          </a:p>
        </p:txBody>
      </p:sp>
    </p:spTree>
    <p:extLst>
      <p:ext uri="{BB962C8B-B14F-4D97-AF65-F5344CB8AC3E}">
        <p14:creationId xmlns:p14="http://schemas.microsoft.com/office/powerpoint/2010/main" val="402735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837433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4183435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566795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710560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b="0" i="0" dirty="0">
                <a:solidFill>
                  <a:srgbClr val="474747"/>
                </a:solidFill>
                <a:effectLst/>
                <a:latin typeface="Arial" panose="020B0604020202020204" pitchFamily="34" charset="0"/>
              </a:rPr>
              <a:t>The vanishing gradient is a phenomenon in which the </a:t>
            </a:r>
            <a:r>
              <a:rPr lang="en-US" b="1" i="0" dirty="0">
                <a:solidFill>
                  <a:srgbClr val="767676"/>
                </a:solidFill>
                <a:effectLst/>
                <a:latin typeface="Arial" panose="020B0604020202020204" pitchFamily="34" charset="0"/>
              </a:rPr>
              <a:t>gradients used to update the weights in neural networks become very small</a:t>
            </a:r>
            <a:r>
              <a:rPr lang="en-US" b="0" i="0" dirty="0">
                <a:solidFill>
                  <a:srgbClr val="474747"/>
                </a:solidFill>
                <a:effectLst/>
                <a:latin typeface="Arial" panose="020B0604020202020204" pitchFamily="34" charset="0"/>
              </a:rPr>
              <a:t>, tending closely towards zero</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1061262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38</a:t>
            </a:fld>
            <a:endParaRPr lang="en-US"/>
          </a:p>
        </p:txBody>
      </p:sp>
    </p:spTree>
    <p:extLst>
      <p:ext uri="{BB962C8B-B14F-4D97-AF65-F5344CB8AC3E}">
        <p14:creationId xmlns:p14="http://schemas.microsoft.com/office/powerpoint/2010/main" val="3946196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39</a:t>
            </a:fld>
            <a:endParaRPr lang="en-US"/>
          </a:p>
        </p:txBody>
      </p:sp>
    </p:spTree>
    <p:extLst>
      <p:ext uri="{BB962C8B-B14F-4D97-AF65-F5344CB8AC3E}">
        <p14:creationId xmlns:p14="http://schemas.microsoft.com/office/powerpoint/2010/main" val="3711033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40</a:t>
            </a:fld>
            <a:endParaRPr lang="en-US"/>
          </a:p>
        </p:txBody>
      </p:sp>
    </p:spTree>
    <p:extLst>
      <p:ext uri="{BB962C8B-B14F-4D97-AF65-F5344CB8AC3E}">
        <p14:creationId xmlns:p14="http://schemas.microsoft.com/office/powerpoint/2010/main" val="1134306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175285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45</a:t>
            </a:fld>
            <a:endParaRPr lang="en-US"/>
          </a:p>
        </p:txBody>
      </p:sp>
    </p:spTree>
    <p:extLst>
      <p:ext uri="{BB962C8B-B14F-4D97-AF65-F5344CB8AC3E}">
        <p14:creationId xmlns:p14="http://schemas.microsoft.com/office/powerpoint/2010/main" val="3303118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141535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3251253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2219575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54</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30 June 2026</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30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30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30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30 June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30 June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30 June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30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30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30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9"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9"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30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30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1"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609600" y="6402390"/>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30 June 2026</a:t>
            </a:fld>
            <a:endParaRPr lang="en-US"/>
          </a:p>
        </p:txBody>
      </p:sp>
      <p:sp>
        <p:nvSpPr>
          <p:cNvPr id="63495" name="Rectangle 7"/>
          <p:cNvSpPr>
            <a:spLocks noGrp="1" noChangeArrowheads="1"/>
          </p:cNvSpPr>
          <p:nvPr>
            <p:ph type="ftr" sz="quarter" idx="3"/>
          </p:nvPr>
        </p:nvSpPr>
        <p:spPr bwMode="auto">
          <a:xfrm>
            <a:off x="3124200" y="6400802"/>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2"/>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30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2"/>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5839-E91C-4CD0-9D33-F154BB2F70D9}"/>
              </a:ext>
            </a:extLst>
          </p:cNvPr>
          <p:cNvSpPr>
            <a:spLocks noGrp="1"/>
          </p:cNvSpPr>
          <p:nvPr>
            <p:ph type="title"/>
          </p:nvPr>
        </p:nvSpPr>
        <p:spPr/>
        <p:txBody>
          <a:bodyPr/>
          <a:lstStyle/>
          <a:p>
            <a:r>
              <a:rPr lang="en-US" dirty="0"/>
              <a:t>Disclaimer</a:t>
            </a:r>
            <a:endParaRPr lang="en-IN" dirty="0"/>
          </a:p>
        </p:txBody>
      </p:sp>
      <p:sp>
        <p:nvSpPr>
          <p:cNvPr id="3" name="Content Placeholder 2">
            <a:extLst>
              <a:ext uri="{FF2B5EF4-FFF2-40B4-BE49-F238E27FC236}">
                <a16:creationId xmlns:a16="http://schemas.microsoft.com/office/drawing/2014/main" id="{74B0D93B-6908-4D45-BB08-6A097F39843C}"/>
              </a:ext>
            </a:extLst>
          </p:cNvPr>
          <p:cNvSpPr>
            <a:spLocks noGrp="1"/>
          </p:cNvSpPr>
          <p:nvPr>
            <p:ph idx="1"/>
          </p:nvPr>
        </p:nvSpPr>
        <p:spPr/>
        <p:txBody>
          <a:bodyPr/>
          <a:lstStyle/>
          <a:p>
            <a:pPr marL="0" indent="0" algn="just">
              <a:buNone/>
            </a:pPr>
            <a:r>
              <a:rPr lang="en-US" sz="2400" dirty="0"/>
              <a:t>Contents given in PPT are brief and for reference only. Should refer to text book/relevant materials for detailed description.</a:t>
            </a:r>
            <a:endParaRPr lang="en-IN" sz="2400" dirty="0"/>
          </a:p>
          <a:p>
            <a:pPr marL="0" indent="0" algn="just">
              <a:buNone/>
            </a:pPr>
            <a:endParaRPr lang="en-IN" sz="2400" dirty="0"/>
          </a:p>
        </p:txBody>
      </p:sp>
      <p:sp>
        <p:nvSpPr>
          <p:cNvPr id="4" name="Date Placeholder 3">
            <a:extLst>
              <a:ext uri="{FF2B5EF4-FFF2-40B4-BE49-F238E27FC236}">
                <a16:creationId xmlns:a16="http://schemas.microsoft.com/office/drawing/2014/main" id="{F861F50B-F69B-462E-B377-DBD852CFC0B0}"/>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707598C6-FFD0-4E7B-9134-7B476885892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C6967E-1F7A-4528-B234-7DD2DE603F83}"/>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68484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Unit-3</a:t>
            </a:r>
          </a:p>
        </p:txBody>
      </p:sp>
      <p:sp>
        <p:nvSpPr>
          <p:cNvPr id="9219" name="Rectangle 3"/>
          <p:cNvSpPr>
            <a:spLocks noGrp="1" noChangeArrowheads="1"/>
          </p:cNvSpPr>
          <p:nvPr>
            <p:ph type="subTitle" idx="1"/>
          </p:nvPr>
        </p:nvSpPr>
        <p:spPr>
          <a:xfrm>
            <a:off x="914400" y="3200400"/>
            <a:ext cx="7010400" cy="1600200"/>
          </a:xfrm>
        </p:spPr>
        <p:txBody>
          <a:bodyPr/>
          <a:lstStyle/>
          <a:p>
            <a:pPr algn="just"/>
            <a:r>
              <a:rPr lang="en-IN" sz="1600" dirty="0"/>
              <a:t>Recurrent Neural Networks: Introduction, Backpropagation in RNNs, Regularization Techniques: Dropout, L1/L2 Regularization, LSTMs and GRUs, Video Understanding using RNNs, Attention in Vision Models: An Introduction, Soft and Hard Attention: Image Captioning, Self-Attention and Transformers, Vision Transformers and Applications</a:t>
            </a:r>
            <a:endParaRPr lang="en-US" sz="3600" dirty="0">
              <a:solidFill>
                <a:srgbClr val="262626"/>
              </a:solidFill>
              <a:latin typeface="Inter"/>
            </a:endParaRPr>
          </a:p>
        </p:txBody>
      </p:sp>
      <p:sp>
        <p:nvSpPr>
          <p:cNvPr id="2" name="Date Placeholder 1"/>
          <p:cNvSpPr>
            <a:spLocks noGrp="1"/>
          </p:cNvSpPr>
          <p:nvPr>
            <p:ph type="dt" sz="half" idx="10"/>
          </p:nvPr>
        </p:nvSpPr>
        <p:spPr/>
        <p:txBody>
          <a:bodyPr/>
          <a:lstStyle/>
          <a:p>
            <a:fld id="{A42F8E2F-2832-47F3-83A1-0ED57946C6CF}" type="datetime3">
              <a:rPr lang="en-US" smtClean="0"/>
              <a:t>30 June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3</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5458703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a:xfrm>
            <a:off x="571500" y="1223477"/>
            <a:ext cx="8001000" cy="5029200"/>
          </a:xfrm>
        </p:spPr>
        <p:txBody>
          <a:bodyPr/>
          <a:lstStyle/>
          <a:p>
            <a:pPr marL="0" indent="0" algn="just">
              <a:buNone/>
            </a:pPr>
            <a:r>
              <a:rPr lang="en-US" sz="1050" dirty="0">
                <a:solidFill>
                  <a:srgbClr val="2A2A2A"/>
                </a:solidFill>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050" u="sng" dirty="0">
                <a:solidFill>
                  <a:srgbClr val="2A2A2A"/>
                </a:solidFill>
                <a:latin typeface="Work Sans" pitchFamily="2" charset="0"/>
              </a:rPr>
              <a:t>Applications of Sequence Models</a:t>
            </a:r>
          </a:p>
          <a:p>
            <a:pPr marL="0" indent="0" algn="just">
              <a:buNone/>
            </a:pPr>
            <a:r>
              <a:rPr lang="en-US" sz="1050" dirty="0">
                <a:solidFill>
                  <a:srgbClr val="2A2A2A"/>
                </a:solidFill>
                <a:latin typeface="Work Sans" pitchFamily="2" charset="0"/>
              </a:rPr>
              <a:t>1. Speech recognition</a:t>
            </a:r>
            <a:r>
              <a:rPr lang="en-US" sz="1050" b="1" dirty="0">
                <a:solidFill>
                  <a:srgbClr val="2A2A2A"/>
                </a:solidFill>
                <a:latin typeface="Work Sans" pitchFamily="2" charset="0"/>
              </a:rPr>
              <a:t>:</a:t>
            </a:r>
            <a:r>
              <a:rPr lang="en-US" sz="1050" dirty="0">
                <a:solidFill>
                  <a:srgbClr val="2A2A2A"/>
                </a:solidFill>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r>
              <a:rPr lang="en-US" sz="1050" dirty="0">
                <a:solidFill>
                  <a:srgbClr val="2A2A2A"/>
                </a:solidFill>
                <a:latin typeface="Work Sans" pitchFamily="2" charset="0"/>
              </a:rPr>
              <a:t>2. Video Activity Recognition</a:t>
            </a:r>
            <a:r>
              <a:rPr lang="en-US" sz="1050" b="1" dirty="0">
                <a:solidFill>
                  <a:srgbClr val="2A2A2A"/>
                </a:solidFill>
                <a:latin typeface="Work Sans" pitchFamily="2" charset="0"/>
              </a:rPr>
              <a:t>:</a:t>
            </a:r>
            <a:r>
              <a:rPr lang="en-US" sz="1050" dirty="0">
                <a:solidFill>
                  <a:srgbClr val="2A2A2A"/>
                </a:solidFill>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050" dirty="0">
              <a:solidFill>
                <a:srgbClr val="2A2A2A"/>
              </a:solidFill>
              <a:latin typeface="Work Sans" pitchFamily="2" charset="0"/>
            </a:endParaRPr>
          </a:p>
          <a:p>
            <a:pPr marL="0" indent="0" algn="just">
              <a:buNone/>
            </a:pPr>
            <a:endParaRPr lang="en-IN" sz="105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4</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143000" y="2382408"/>
            <a:ext cx="4063716" cy="1046591"/>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248024" y="6432345"/>
            <a:ext cx="4908716" cy="196208"/>
          </a:xfrm>
          <a:prstGeom prst="rect">
            <a:avLst/>
          </a:prstGeom>
          <a:noFill/>
        </p:spPr>
        <p:txBody>
          <a:bodyPr wrap="none" rtlCol="0">
            <a:spAutoFit/>
          </a:bodyPr>
          <a:lstStyle/>
          <a:p>
            <a:r>
              <a:rPr lang="en-IN" sz="675"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4600860" y="4375425"/>
            <a:ext cx="1647210" cy="1259098"/>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1391023" y="4360014"/>
            <a:ext cx="3284445" cy="1315486"/>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350" dirty="0">
                <a:solidFill>
                  <a:srgbClr val="2A2A2A"/>
                </a:solidFill>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350" dirty="0">
                <a:solidFill>
                  <a:srgbClr val="2A2A2A"/>
                </a:solidFill>
                <a:latin typeface="Work Sans" pitchFamily="2" charset="0"/>
              </a:rPr>
              <a:t>RNNs are mostly used in the field of Natural Language Processing (NLP). </a:t>
            </a:r>
          </a:p>
          <a:p>
            <a:pPr marL="0" indent="0" algn="just">
              <a:buNone/>
            </a:pPr>
            <a:r>
              <a:rPr lang="en-US" sz="1350" dirty="0">
                <a:solidFill>
                  <a:srgbClr val="2A2A2A"/>
                </a:solidFill>
                <a:latin typeface="Work Sans" pitchFamily="2" charset="0"/>
              </a:rPr>
              <a:t>RNN maintains internal memory, due to this they are very efficient for machine learning problems that involve sequential data. </a:t>
            </a:r>
          </a:p>
          <a:p>
            <a:pPr marL="0" indent="0" algn="just">
              <a:buNone/>
            </a:pPr>
            <a:r>
              <a:rPr lang="en-US" sz="1350" dirty="0">
                <a:solidFill>
                  <a:srgbClr val="2A2A2A"/>
                </a:solidFill>
                <a:latin typeface="Work Sans" pitchFamily="2" charset="0"/>
              </a:rPr>
              <a:t>RNNs are also used in time series predictions as well.</a:t>
            </a:r>
            <a:endParaRPr lang="en-IN" sz="1350" dirty="0"/>
          </a:p>
          <a:p>
            <a:pPr marL="0" indent="0" algn="just">
              <a:buNone/>
            </a:pPr>
            <a:endParaRPr lang="en-IN" sz="135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416542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0151-4B6B-4F51-9212-50874AC89410}"/>
              </a:ext>
            </a:extLst>
          </p:cNvPr>
          <p:cNvSpPr>
            <a:spLocks noGrp="1"/>
          </p:cNvSpPr>
          <p:nvPr>
            <p:ph type="title"/>
          </p:nvPr>
        </p:nvSpPr>
        <p:spPr/>
        <p:txBody>
          <a:bodyPr/>
          <a:lstStyle/>
          <a:p>
            <a:r>
              <a:rPr lang="en-IN" dirty="0"/>
              <a:t>Recurrent Neural Network (RNN)</a:t>
            </a:r>
          </a:p>
        </p:txBody>
      </p:sp>
      <p:sp>
        <p:nvSpPr>
          <p:cNvPr id="3" name="Content Placeholder 2">
            <a:extLst>
              <a:ext uri="{FF2B5EF4-FFF2-40B4-BE49-F238E27FC236}">
                <a16:creationId xmlns:a16="http://schemas.microsoft.com/office/drawing/2014/main" id="{5BFB84F2-12D0-4C68-AEB6-DC3C0F398699}"/>
              </a:ext>
            </a:extLst>
          </p:cNvPr>
          <p:cNvSpPr>
            <a:spLocks noGrp="1"/>
          </p:cNvSpPr>
          <p:nvPr>
            <p:ph idx="1"/>
          </p:nvPr>
        </p:nvSpPr>
        <p:spPr/>
        <p:txBody>
          <a:bodyPr/>
          <a:lstStyle/>
          <a:p>
            <a:pPr algn="just"/>
            <a:r>
              <a:rPr lang="en-US" sz="2000" dirty="0">
                <a:solidFill>
                  <a:srgbClr val="242424"/>
                </a:solidFill>
                <a:latin typeface="source-serif-pro"/>
              </a:rPr>
              <a:t>Recurrent Neural Networks (RNNs) were introduced to address the limitations of traditional neural networks, such as </a:t>
            </a:r>
            <a:r>
              <a:rPr lang="en-US" sz="2000" dirty="0" err="1">
                <a:solidFill>
                  <a:srgbClr val="242424"/>
                </a:solidFill>
                <a:latin typeface="source-serif-pro"/>
              </a:rPr>
              <a:t>FeedForward</a:t>
            </a:r>
            <a:r>
              <a:rPr lang="en-US" sz="2000" dirty="0">
                <a:solidFill>
                  <a:srgbClr val="242424"/>
                </a:solidFill>
                <a:latin typeface="source-serif-pro"/>
              </a:rPr>
              <a:t> Neural Networks (FNNs), when it comes to processing sequential data. FNN takes inputs and process each input independently through a number of hidden layers without considering the order and context of other inputs. </a:t>
            </a:r>
          </a:p>
          <a:p>
            <a:pPr algn="just"/>
            <a:r>
              <a:rPr lang="en-US" sz="2000" dirty="0">
                <a:solidFill>
                  <a:srgbClr val="242424"/>
                </a:solidFill>
                <a:latin typeface="source-serif-pro"/>
              </a:rPr>
              <a:t>Due to which it is unable to handle sequential data effectively and capture the dependencies between inputs. As a result, FNNs are not well-suited for sequential processing tasks such as, language modeling, machine translation, speech recognition, time series analysis, and many other applications that requires sequential processing. </a:t>
            </a:r>
          </a:p>
          <a:p>
            <a:pPr algn="just"/>
            <a:r>
              <a:rPr lang="en-US" sz="2000" dirty="0">
                <a:solidFill>
                  <a:srgbClr val="242424"/>
                </a:solidFill>
                <a:latin typeface="source-serif-pro"/>
              </a:rPr>
              <a:t>To address the limitations posed by traditional neural networks, RNN comes into the picture.</a:t>
            </a:r>
            <a:endParaRPr lang="en-IN" sz="3600" dirty="0"/>
          </a:p>
        </p:txBody>
      </p:sp>
      <p:sp>
        <p:nvSpPr>
          <p:cNvPr id="4" name="Date Placeholder 3">
            <a:extLst>
              <a:ext uri="{FF2B5EF4-FFF2-40B4-BE49-F238E27FC236}">
                <a16:creationId xmlns:a16="http://schemas.microsoft.com/office/drawing/2014/main" id="{667B1503-2773-4B00-AC5D-9032EA4B0CB6}"/>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A870677E-43E4-4B8E-AA8C-AEFEE36F23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B004CAA-6304-4498-98B8-E7553F55FA7C}"/>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2583898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1800" dirty="0"/>
              <a:t>Recurrent Neural Networks process sequential data</a:t>
            </a:r>
            <a:endParaRPr lang="en-IN" sz="18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530617" y="1219200"/>
            <a:ext cx="8025725" cy="4419600"/>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457200" y="6455096"/>
            <a:ext cx="3714478" cy="196208"/>
          </a:xfrm>
          <a:prstGeom prst="rect">
            <a:avLst/>
          </a:prstGeom>
          <a:noFill/>
        </p:spPr>
        <p:txBody>
          <a:bodyPr wrap="none" rtlCol="0">
            <a:spAutoFit/>
          </a:bodyPr>
          <a:lstStyle/>
          <a:p>
            <a:r>
              <a:rPr lang="en-IN" sz="675"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05BB-A6F3-8D9F-DD80-B9E07A346057}"/>
              </a:ext>
            </a:extLst>
          </p:cNvPr>
          <p:cNvSpPr>
            <a:spLocks noGrp="1"/>
          </p:cNvSpPr>
          <p:nvPr>
            <p:ph type="title"/>
          </p:nvPr>
        </p:nvSpPr>
        <p:spPr/>
        <p:txBody>
          <a:bodyPr/>
          <a:lstStyle/>
          <a:p>
            <a:r>
              <a:rPr lang="en-IN" dirty="0"/>
              <a:t>RNN: Recurrent connections</a:t>
            </a:r>
          </a:p>
        </p:txBody>
      </p:sp>
      <p:sp>
        <p:nvSpPr>
          <p:cNvPr id="3" name="Content Placeholder 2">
            <a:extLst>
              <a:ext uri="{FF2B5EF4-FFF2-40B4-BE49-F238E27FC236}">
                <a16:creationId xmlns:a16="http://schemas.microsoft.com/office/drawing/2014/main" id="{D5974A8D-2DD5-8620-2EFE-1C65573AAA0A}"/>
              </a:ext>
            </a:extLst>
          </p:cNvPr>
          <p:cNvSpPr>
            <a:spLocks noGrp="1"/>
          </p:cNvSpPr>
          <p:nvPr>
            <p:ph idx="1"/>
          </p:nvPr>
        </p:nvSpPr>
        <p:spPr/>
        <p:txBody>
          <a:bodyPr/>
          <a:lstStyle/>
          <a:p>
            <a:pPr algn="just"/>
            <a:r>
              <a:rPr lang="en-US" sz="1800" dirty="0">
                <a:solidFill>
                  <a:schemeClr val="tx1"/>
                </a:solidFill>
                <a:latin typeface="Times New Roman" panose="02020603050405020304" pitchFamily="18" charset="0"/>
                <a:cs typeface="Times New Roman" panose="02020603050405020304" pitchFamily="18" charset="0"/>
              </a:rPr>
              <a:t>RNN overcome these limitations by introducing a recurrent connection that allow information to flow from one time-step to the next. </a:t>
            </a:r>
          </a:p>
          <a:p>
            <a:pPr algn="just"/>
            <a:r>
              <a:rPr lang="en-US" sz="1800" dirty="0">
                <a:solidFill>
                  <a:schemeClr val="tx1"/>
                </a:solidFill>
                <a:latin typeface="Times New Roman" panose="02020603050405020304" pitchFamily="18" charset="0"/>
                <a:cs typeface="Times New Roman" panose="02020603050405020304" pitchFamily="18" charset="0"/>
              </a:rPr>
              <a:t>This recurrent connection enables RNNs to maintain internal memory, where the output of each step is fed back as an input to the next step, allowing the network to capture the information from previous steps and utilize it in the current step, enabling model to learn temporal dependencies and handle input of variable length.</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F2C1EC-D154-4AD1-0E4E-77EEFAFE9215}"/>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F5822EF1-8452-A162-DAA7-715177712EB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4F0702-176E-CB30-2DFE-23DF1637E943}"/>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7" name="Picture 6">
            <a:extLst>
              <a:ext uri="{FF2B5EF4-FFF2-40B4-BE49-F238E27FC236}">
                <a16:creationId xmlns:a16="http://schemas.microsoft.com/office/drawing/2014/main" id="{4DD1ACAA-0363-8506-9548-9DD685FAA387}"/>
              </a:ext>
            </a:extLst>
          </p:cNvPr>
          <p:cNvPicPr>
            <a:picLocks noChangeAspect="1"/>
          </p:cNvPicPr>
          <p:nvPr/>
        </p:nvPicPr>
        <p:blipFill>
          <a:blip r:embed="rId2"/>
          <a:stretch>
            <a:fillRect/>
          </a:stretch>
        </p:blipFill>
        <p:spPr>
          <a:xfrm>
            <a:off x="1752600" y="3352800"/>
            <a:ext cx="1952624" cy="2438400"/>
          </a:xfrm>
          <a:prstGeom prst="rect">
            <a:avLst/>
          </a:prstGeom>
        </p:spPr>
      </p:pic>
      <p:pic>
        <p:nvPicPr>
          <p:cNvPr id="8" name="Picture 7">
            <a:extLst>
              <a:ext uri="{FF2B5EF4-FFF2-40B4-BE49-F238E27FC236}">
                <a16:creationId xmlns:a16="http://schemas.microsoft.com/office/drawing/2014/main" id="{265DBCC6-8B8A-3A62-AFFC-3F1E77E80937}"/>
              </a:ext>
            </a:extLst>
          </p:cNvPr>
          <p:cNvPicPr>
            <a:picLocks noChangeAspect="1"/>
          </p:cNvPicPr>
          <p:nvPr/>
        </p:nvPicPr>
        <p:blipFill>
          <a:blip r:embed="rId3"/>
          <a:stretch>
            <a:fillRect/>
          </a:stretch>
        </p:blipFill>
        <p:spPr>
          <a:xfrm>
            <a:off x="5322094" y="3429000"/>
            <a:ext cx="2462211" cy="2409825"/>
          </a:xfrm>
          <a:prstGeom prst="rect">
            <a:avLst/>
          </a:prstGeom>
        </p:spPr>
      </p:pic>
      <p:sp>
        <p:nvSpPr>
          <p:cNvPr id="9" name="TextBox 8">
            <a:extLst>
              <a:ext uri="{FF2B5EF4-FFF2-40B4-BE49-F238E27FC236}">
                <a16:creationId xmlns:a16="http://schemas.microsoft.com/office/drawing/2014/main" id="{32E2FDE0-D955-AF74-94FA-2C71E0996821}"/>
              </a:ext>
            </a:extLst>
          </p:cNvPr>
          <p:cNvSpPr txBox="1"/>
          <p:nvPr/>
        </p:nvSpPr>
        <p:spPr>
          <a:xfrm>
            <a:off x="1011328" y="5769808"/>
            <a:ext cx="3555910" cy="369332"/>
          </a:xfrm>
          <a:prstGeom prst="rect">
            <a:avLst/>
          </a:prstGeom>
          <a:noFill/>
        </p:spPr>
        <p:txBody>
          <a:bodyPr wrap="none" rtlCol="0">
            <a:spAutoFit/>
          </a:bodyPr>
          <a:lstStyle/>
          <a:p>
            <a:r>
              <a:rPr lang="en-IN" dirty="0" err="1">
                <a:solidFill>
                  <a:srgbClr val="6B6B6B"/>
                </a:solidFill>
                <a:latin typeface="sohne"/>
              </a:rPr>
              <a:t>FeedForward</a:t>
            </a:r>
            <a:r>
              <a:rPr lang="en-IN" dirty="0">
                <a:solidFill>
                  <a:srgbClr val="6B6B6B"/>
                </a:solidFill>
                <a:latin typeface="sohne"/>
              </a:rPr>
              <a:t> Neural Network (FNN)</a:t>
            </a:r>
            <a:endParaRPr lang="en-IN" dirty="0"/>
          </a:p>
        </p:txBody>
      </p:sp>
      <p:sp>
        <p:nvSpPr>
          <p:cNvPr id="10" name="TextBox 9">
            <a:extLst>
              <a:ext uri="{FF2B5EF4-FFF2-40B4-BE49-F238E27FC236}">
                <a16:creationId xmlns:a16="http://schemas.microsoft.com/office/drawing/2014/main" id="{75E2E9B6-A2ED-CA84-9693-295C93BA6681}"/>
              </a:ext>
            </a:extLst>
          </p:cNvPr>
          <p:cNvSpPr txBox="1"/>
          <p:nvPr/>
        </p:nvSpPr>
        <p:spPr>
          <a:xfrm>
            <a:off x="5105400" y="5838825"/>
            <a:ext cx="3267626" cy="369332"/>
          </a:xfrm>
          <a:prstGeom prst="rect">
            <a:avLst/>
          </a:prstGeom>
          <a:noFill/>
        </p:spPr>
        <p:txBody>
          <a:bodyPr wrap="none" rtlCol="0">
            <a:spAutoFit/>
          </a:bodyPr>
          <a:lstStyle/>
          <a:p>
            <a:r>
              <a:rPr lang="en-IN" dirty="0">
                <a:solidFill>
                  <a:srgbClr val="6B6B6B"/>
                </a:solidFill>
                <a:latin typeface="sohne"/>
              </a:rPr>
              <a:t>Recurrent Neural Network (RNN)</a:t>
            </a:r>
            <a:endParaRPr lang="en-IN" dirty="0"/>
          </a:p>
        </p:txBody>
      </p:sp>
    </p:spTree>
    <p:extLst>
      <p:ext uri="{BB962C8B-B14F-4D97-AF65-F5344CB8AC3E}">
        <p14:creationId xmlns:p14="http://schemas.microsoft.com/office/powerpoint/2010/main" val="381895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A8DF9-420F-3BA0-E27E-E3378E84EBF5}"/>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D86A10CD-6F2D-F744-801B-B706219C8CB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23E9F89-BE5E-820D-841F-B3303B1A6058}"/>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66F861F3-0ED6-15F7-5FEB-5813B199F36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A335753-A8BB-16FF-E6E5-96E3D3DF421C}"/>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7" name="Picture 6">
            <a:extLst>
              <a:ext uri="{FF2B5EF4-FFF2-40B4-BE49-F238E27FC236}">
                <a16:creationId xmlns:a16="http://schemas.microsoft.com/office/drawing/2014/main" id="{26EF7F2F-6CB2-BDD6-56BF-6D6FA4D6F779}"/>
              </a:ext>
            </a:extLst>
          </p:cNvPr>
          <p:cNvPicPr>
            <a:picLocks noChangeAspect="1"/>
          </p:cNvPicPr>
          <p:nvPr/>
        </p:nvPicPr>
        <p:blipFill>
          <a:blip r:embed="rId3"/>
          <a:stretch>
            <a:fillRect/>
          </a:stretch>
        </p:blipFill>
        <p:spPr>
          <a:xfrm>
            <a:off x="574677" y="1371602"/>
            <a:ext cx="7153275" cy="2638425"/>
          </a:xfrm>
          <a:prstGeom prst="rect">
            <a:avLst/>
          </a:prstGeom>
        </p:spPr>
      </p:pic>
      <p:sp>
        <p:nvSpPr>
          <p:cNvPr id="8" name="TextBox 7">
            <a:extLst>
              <a:ext uri="{FF2B5EF4-FFF2-40B4-BE49-F238E27FC236}">
                <a16:creationId xmlns:a16="http://schemas.microsoft.com/office/drawing/2014/main" id="{16D6F898-969A-5C76-A5C5-1D013EEDC487}"/>
              </a:ext>
            </a:extLst>
          </p:cNvPr>
          <p:cNvSpPr txBox="1"/>
          <p:nvPr/>
        </p:nvSpPr>
        <p:spPr>
          <a:xfrm>
            <a:off x="3199771" y="4162429"/>
            <a:ext cx="1903085" cy="369332"/>
          </a:xfrm>
          <a:prstGeom prst="rect">
            <a:avLst/>
          </a:prstGeom>
          <a:noFill/>
        </p:spPr>
        <p:txBody>
          <a:bodyPr wrap="none" rtlCol="0">
            <a:spAutoFit/>
          </a:bodyPr>
          <a:lstStyle/>
          <a:p>
            <a:r>
              <a:rPr lang="en-IN" dirty="0"/>
              <a:t>RNN: Unfolded</a:t>
            </a:r>
          </a:p>
        </p:txBody>
      </p:sp>
    </p:spTree>
    <p:extLst>
      <p:ext uri="{BB962C8B-B14F-4D97-AF65-F5344CB8AC3E}">
        <p14:creationId xmlns:p14="http://schemas.microsoft.com/office/powerpoint/2010/main" val="2151165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218E-C401-2768-2BFB-CDC4355FE4FF}"/>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40C66778-1357-AEE3-8FA4-E9FA6931E283}"/>
              </a:ext>
            </a:extLst>
          </p:cNvPr>
          <p:cNvSpPr>
            <a:spLocks noGrp="1"/>
          </p:cNvSpPr>
          <p:nvPr>
            <p:ph idx="1"/>
          </p:nvPr>
        </p:nvSpPr>
        <p:spPr/>
        <p:txBody>
          <a:bodyPr/>
          <a:lstStyle/>
          <a:p>
            <a:pPr>
              <a:buNone/>
            </a:pPr>
            <a:r>
              <a:rPr lang="en-US" sz="1800" dirty="0"/>
              <a:t>"Movie was Good"</a:t>
            </a:r>
          </a:p>
          <a:p>
            <a:pPr>
              <a:buNone/>
            </a:pPr>
            <a:r>
              <a:rPr lang="en-US" sz="1800" dirty="0"/>
              <a:t>"Movie was bad"</a:t>
            </a:r>
          </a:p>
          <a:p>
            <a:pPr marL="0" indent="0">
              <a:buNone/>
            </a:pPr>
            <a:r>
              <a:rPr lang="en-US" sz="1800" dirty="0"/>
              <a:t>"Movie was not Good"</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E2BA97B2-B4E9-6CE7-2733-4A3F1514FCAE}"/>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6300C04A-DA61-CBFF-02E6-AB88D95DBC4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59345A3-0CE1-A91A-6350-6C787D1A3C1C}"/>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9" name="Picture 8">
            <a:extLst>
              <a:ext uri="{FF2B5EF4-FFF2-40B4-BE49-F238E27FC236}">
                <a16:creationId xmlns:a16="http://schemas.microsoft.com/office/drawing/2014/main" id="{9078785D-6060-6851-31C5-C22DA46ACB0B}"/>
              </a:ext>
            </a:extLst>
          </p:cNvPr>
          <p:cNvPicPr>
            <a:picLocks noChangeAspect="1"/>
          </p:cNvPicPr>
          <p:nvPr/>
        </p:nvPicPr>
        <p:blipFill>
          <a:blip r:embed="rId3"/>
          <a:stretch>
            <a:fillRect/>
          </a:stretch>
        </p:blipFill>
        <p:spPr>
          <a:xfrm>
            <a:off x="609600" y="2514602"/>
            <a:ext cx="7573432" cy="2867425"/>
          </a:xfrm>
          <a:prstGeom prst="rect">
            <a:avLst/>
          </a:prstGeom>
        </p:spPr>
      </p:pic>
    </p:spTree>
    <p:extLst>
      <p:ext uri="{BB962C8B-B14F-4D97-AF65-F5344CB8AC3E}">
        <p14:creationId xmlns:p14="http://schemas.microsoft.com/office/powerpoint/2010/main" val="28625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70FB8-EC83-F4BB-7460-EC466FE4E30E}"/>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5368674F-A8D5-0754-8098-C42E7583D09A}"/>
              </a:ext>
            </a:extLst>
          </p:cNvPr>
          <p:cNvSpPr>
            <a:spLocks noGrp="1"/>
          </p:cNvSpPr>
          <p:nvPr>
            <p:ph idx="1"/>
          </p:nvPr>
        </p:nvSpPr>
        <p:spPr/>
        <p:txBody>
          <a:bodyPr/>
          <a:lstStyle/>
          <a:p>
            <a:pPr marL="0" indent="0">
              <a:buNone/>
            </a:pPr>
            <a:r>
              <a:rPr lang="en-IN" sz="2000" dirty="0"/>
              <a:t>Step-2: One hot Encoding </a:t>
            </a:r>
          </a:p>
          <a:p>
            <a:pPr marL="0" indent="0">
              <a:buNone/>
            </a:pPr>
            <a:r>
              <a:rPr lang="en-IN" sz="2000" dirty="0"/>
              <a:t>movie=[1,0,0,0,0] ; was=[0,1,0,0,0] ; </a:t>
            </a:r>
          </a:p>
          <a:p>
            <a:pPr marL="0" indent="0">
              <a:buNone/>
            </a:pPr>
            <a:r>
              <a:rPr lang="en-IN" sz="2000" dirty="0"/>
              <a:t>good=[0,0,1,0,0] ; bad=[0,0,0,1,0] ;</a:t>
            </a:r>
          </a:p>
          <a:p>
            <a:pPr marL="0" indent="0">
              <a:buNone/>
            </a:pPr>
            <a:r>
              <a:rPr lang="en-IN" sz="2000" dirty="0"/>
              <a:t>not=[0,0,0,0,1]</a:t>
            </a:r>
          </a:p>
        </p:txBody>
      </p:sp>
      <p:sp>
        <p:nvSpPr>
          <p:cNvPr id="4" name="Date Placeholder 3">
            <a:extLst>
              <a:ext uri="{FF2B5EF4-FFF2-40B4-BE49-F238E27FC236}">
                <a16:creationId xmlns:a16="http://schemas.microsoft.com/office/drawing/2014/main" id="{573FFDEE-FAC2-40E2-913D-207BC519765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BBFB74A4-CA85-D013-E7CD-7CE6BCFB8C2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5B9AD50-A6C5-01E2-397E-D7C389ED8EB9}"/>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8" name="Picture 7">
            <a:extLst>
              <a:ext uri="{FF2B5EF4-FFF2-40B4-BE49-F238E27FC236}">
                <a16:creationId xmlns:a16="http://schemas.microsoft.com/office/drawing/2014/main" id="{3F1D5F6F-E1B3-DEF5-0909-55B043BADE2C}"/>
              </a:ext>
            </a:extLst>
          </p:cNvPr>
          <p:cNvPicPr>
            <a:picLocks noChangeAspect="1"/>
          </p:cNvPicPr>
          <p:nvPr/>
        </p:nvPicPr>
        <p:blipFill rotWithShape="1">
          <a:blip r:embed="rId2"/>
          <a:srcRect b="21149"/>
          <a:stretch/>
        </p:blipFill>
        <p:spPr>
          <a:xfrm>
            <a:off x="557092" y="2797832"/>
            <a:ext cx="7815262" cy="2840968"/>
          </a:xfrm>
          <a:prstGeom prst="rect">
            <a:avLst/>
          </a:prstGeom>
        </p:spPr>
      </p:pic>
    </p:spTree>
    <p:extLst>
      <p:ext uri="{BB962C8B-B14F-4D97-AF65-F5344CB8AC3E}">
        <p14:creationId xmlns:p14="http://schemas.microsoft.com/office/powerpoint/2010/main" val="1397182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3B5F6-C19C-AD78-E6AE-D9B9042433D6}"/>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B73333CA-72EF-EB11-584D-FB74E19737D6}"/>
              </a:ext>
            </a:extLst>
          </p:cNvPr>
          <p:cNvSpPr>
            <a:spLocks noGrp="1"/>
          </p:cNvSpPr>
          <p:nvPr>
            <p:ph idx="1"/>
          </p:nvPr>
        </p:nvSpPr>
        <p:spPr/>
        <p:txBody>
          <a:bodyPr/>
          <a:lstStyle/>
          <a:p>
            <a:pPr>
              <a:buNone/>
            </a:pPr>
            <a:r>
              <a:rPr lang="en-US" sz="2000" b="1" dirty="0"/>
              <a:t>Final Input Representation</a:t>
            </a:r>
          </a:p>
          <a:p>
            <a:pPr>
              <a:buNone/>
            </a:pPr>
            <a:r>
              <a:rPr lang="en-US" sz="2000" dirty="0"/>
              <a:t>Now, we can construct a batch input tensor with:</a:t>
            </a:r>
          </a:p>
          <a:p>
            <a:pPr>
              <a:buFont typeface="Arial" panose="020B0604020202020204" pitchFamily="34" charset="0"/>
              <a:buChar char="•"/>
            </a:pPr>
            <a:r>
              <a:rPr lang="en-US" sz="2000" b="1" dirty="0"/>
              <a:t>batch size</a:t>
            </a:r>
            <a:r>
              <a:rPr lang="en-US" sz="2000" dirty="0"/>
              <a:t> = 3 (number of reviews)</a:t>
            </a:r>
          </a:p>
          <a:p>
            <a:pPr>
              <a:buFont typeface="Arial" panose="020B0604020202020204" pitchFamily="34" charset="0"/>
              <a:buChar char="•"/>
            </a:pPr>
            <a:r>
              <a:rPr lang="en-US" sz="2000" b="1" dirty="0"/>
              <a:t>timesteps</a:t>
            </a:r>
            <a:r>
              <a:rPr lang="en-US" sz="2000" dirty="0"/>
              <a:t> = 4 (after padding)</a:t>
            </a:r>
          </a:p>
          <a:p>
            <a:pPr>
              <a:buFont typeface="Arial" panose="020B0604020202020204" pitchFamily="34" charset="0"/>
              <a:buChar char="•"/>
            </a:pPr>
            <a:r>
              <a:rPr lang="en-US" sz="2000" b="1" dirty="0"/>
              <a:t>input features</a:t>
            </a:r>
            <a:r>
              <a:rPr lang="en-US" sz="2000" dirty="0"/>
              <a:t> = 5 (embedding size)</a:t>
            </a:r>
          </a:p>
          <a:p>
            <a:r>
              <a:rPr lang="en-US" sz="2000" dirty="0"/>
              <a:t>So the </a:t>
            </a:r>
            <a:r>
              <a:rPr lang="en-US" sz="2000" b="1" dirty="0"/>
              <a:t>input shape is</a:t>
            </a:r>
            <a:r>
              <a:rPr lang="en-US" sz="2000" dirty="0"/>
              <a:t>: (3, 4, 5)</a:t>
            </a:r>
          </a:p>
          <a:p>
            <a:endParaRPr lang="en-US" sz="2000" dirty="0"/>
          </a:p>
          <a:p>
            <a:pPr>
              <a:buNone/>
            </a:pPr>
            <a:r>
              <a:rPr lang="en-US" sz="2400" dirty="0"/>
              <a:t>3 samples (reviews),</a:t>
            </a:r>
          </a:p>
          <a:p>
            <a:pPr>
              <a:buNone/>
            </a:pPr>
            <a:r>
              <a:rPr lang="en-US" sz="2400" dirty="0"/>
              <a:t>Each with 4 tokens (timesteps),</a:t>
            </a:r>
          </a:p>
          <a:p>
            <a:pPr marL="0" indent="0">
              <a:buNone/>
            </a:pPr>
            <a:r>
              <a:rPr lang="en-US" sz="2400" dirty="0"/>
              <a:t>Each token is a 5-dimensional vector (features).</a:t>
            </a:r>
          </a:p>
          <a:p>
            <a:endParaRPr lang="en-IN" sz="1000" dirty="0"/>
          </a:p>
          <a:p>
            <a:pPr marL="0" indent="0">
              <a:buNone/>
            </a:pPr>
            <a:endParaRPr lang="en-US" sz="2000" dirty="0"/>
          </a:p>
          <a:p>
            <a:endParaRPr lang="en-US" sz="2000" dirty="0"/>
          </a:p>
          <a:p>
            <a:pPr marL="0" indent="0">
              <a:buNone/>
            </a:pPr>
            <a:endParaRPr lang="en-US" sz="2000" dirty="0"/>
          </a:p>
          <a:p>
            <a:pPr marL="0" indent="0">
              <a:buNone/>
            </a:pPr>
            <a:endParaRPr lang="en-IN" sz="2000" dirty="0"/>
          </a:p>
        </p:txBody>
      </p:sp>
      <p:sp>
        <p:nvSpPr>
          <p:cNvPr id="4" name="Date Placeholder 3">
            <a:extLst>
              <a:ext uri="{FF2B5EF4-FFF2-40B4-BE49-F238E27FC236}">
                <a16:creationId xmlns:a16="http://schemas.microsoft.com/office/drawing/2014/main" id="{2337BF15-B045-1553-1056-D7D9A485B29B}"/>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B4C01405-BA44-8554-1DE6-2E15A629C9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5F6EC48-6E8F-3E12-40A8-55EF2F2A10C3}"/>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211917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601D-5798-29CD-4B26-2F9A6DC30AC9}"/>
              </a:ext>
            </a:extLst>
          </p:cNvPr>
          <p:cNvSpPr>
            <a:spLocks noGrp="1"/>
          </p:cNvSpPr>
          <p:nvPr>
            <p:ph type="title"/>
          </p:nvPr>
        </p:nvSpPr>
        <p:spPr/>
        <p:txBody>
          <a:bodyPr/>
          <a:lstStyle/>
          <a:p>
            <a:r>
              <a:rPr lang="en-IN" dirty="0"/>
              <a:t>Number of Trainable Parameters</a:t>
            </a:r>
          </a:p>
        </p:txBody>
      </p:sp>
      <p:sp>
        <p:nvSpPr>
          <p:cNvPr id="3" name="Content Placeholder 2">
            <a:extLst>
              <a:ext uri="{FF2B5EF4-FFF2-40B4-BE49-F238E27FC236}">
                <a16:creationId xmlns:a16="http://schemas.microsoft.com/office/drawing/2014/main" id="{DF0F0FD1-6FB0-15EB-94AB-6AAE2AC3A414}"/>
              </a:ext>
            </a:extLst>
          </p:cNvPr>
          <p:cNvSpPr>
            <a:spLocks noGrp="1"/>
          </p:cNvSpPr>
          <p:nvPr>
            <p:ph idx="1"/>
          </p:nvPr>
        </p:nvSpPr>
        <p:spPr/>
        <p:txBody>
          <a:bodyPr/>
          <a:lstStyle/>
          <a:p>
            <a:pPr marL="0" indent="0">
              <a:buNone/>
            </a:pPr>
            <a:r>
              <a:rPr lang="en-IN" sz="1600" dirty="0"/>
              <a:t>from </a:t>
            </a:r>
            <a:r>
              <a:rPr lang="en-IN" sz="1600" dirty="0" err="1"/>
              <a:t>keras</a:t>
            </a:r>
            <a:r>
              <a:rPr lang="en-IN" sz="1600" dirty="0"/>
              <a:t> import Sequential</a:t>
            </a:r>
          </a:p>
          <a:p>
            <a:pPr marL="0" indent="0">
              <a:buNone/>
            </a:pPr>
            <a:r>
              <a:rPr lang="en-IN" sz="1600" dirty="0"/>
              <a:t>from </a:t>
            </a:r>
            <a:r>
              <a:rPr lang="en-IN" sz="1600" dirty="0" err="1"/>
              <a:t>keras.layers</a:t>
            </a:r>
            <a:r>
              <a:rPr lang="en-IN" sz="1600" dirty="0"/>
              <a:t> import Dense, </a:t>
            </a:r>
            <a:r>
              <a:rPr lang="en-IN" sz="1600" dirty="0" err="1"/>
              <a:t>SimpleRNN</a:t>
            </a:r>
            <a:endParaRPr lang="en-IN" sz="1600" dirty="0"/>
          </a:p>
          <a:p>
            <a:pPr marL="0" indent="0">
              <a:buNone/>
            </a:pPr>
            <a:endParaRPr lang="en-IN" sz="1600" dirty="0"/>
          </a:p>
          <a:p>
            <a:pPr marL="0" indent="0">
              <a:buNone/>
            </a:pPr>
            <a:r>
              <a:rPr lang="en-IN" sz="1600" dirty="0"/>
              <a:t>model=Sequential()</a:t>
            </a:r>
          </a:p>
          <a:p>
            <a:pPr marL="0" indent="0">
              <a:buNone/>
            </a:pPr>
            <a:endParaRPr lang="en-IN" sz="1600" dirty="0"/>
          </a:p>
          <a:p>
            <a:pPr marL="0" indent="0">
              <a:buNone/>
            </a:pPr>
            <a:r>
              <a:rPr lang="en-IN" sz="1600" dirty="0" err="1"/>
              <a:t>model.add</a:t>
            </a:r>
            <a:r>
              <a:rPr lang="en-IN" sz="1600" dirty="0"/>
              <a:t>(</a:t>
            </a:r>
            <a:r>
              <a:rPr lang="en-IN" sz="1600" dirty="0" err="1"/>
              <a:t>SimpleRNN</a:t>
            </a:r>
            <a:r>
              <a:rPr lang="en-IN" sz="1600" dirty="0"/>
              <a:t>(3, </a:t>
            </a:r>
            <a:r>
              <a:rPr lang="en-IN" sz="1600" dirty="0" err="1"/>
              <a:t>input_shape</a:t>
            </a:r>
            <a:r>
              <a:rPr lang="en-IN" sz="1600" dirty="0"/>
              <a:t>=(4,5)))</a:t>
            </a:r>
          </a:p>
          <a:p>
            <a:pPr marL="0" indent="0">
              <a:buNone/>
            </a:pPr>
            <a:r>
              <a:rPr lang="en-IN" sz="1600" dirty="0" err="1"/>
              <a:t>model.add</a:t>
            </a:r>
            <a:r>
              <a:rPr lang="en-IN" sz="1600" dirty="0"/>
              <a:t>(Dense(1, activation='sigmoid'))</a:t>
            </a:r>
          </a:p>
          <a:p>
            <a:pPr marL="0" indent="0">
              <a:buNone/>
            </a:pPr>
            <a:endParaRPr lang="en-IN" sz="1600" dirty="0"/>
          </a:p>
          <a:p>
            <a:pPr marL="0" indent="0">
              <a:buNone/>
            </a:pPr>
            <a:r>
              <a:rPr lang="en-IN" sz="1600" dirty="0" err="1"/>
              <a:t>model.summary</a:t>
            </a:r>
            <a:r>
              <a:rPr lang="en-IN" sz="1600" dirty="0"/>
              <a:t>()</a:t>
            </a:r>
          </a:p>
        </p:txBody>
      </p:sp>
      <p:sp>
        <p:nvSpPr>
          <p:cNvPr id="4" name="Date Placeholder 3">
            <a:extLst>
              <a:ext uri="{FF2B5EF4-FFF2-40B4-BE49-F238E27FC236}">
                <a16:creationId xmlns:a16="http://schemas.microsoft.com/office/drawing/2014/main" id="{8EBC2431-78F0-2884-A1DD-7113BDF93BD1}"/>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D5A9CB2E-F35F-EEDE-04C4-B7B7A8F14D8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C414925-4D0E-6407-B43D-BE65EC485B0E}"/>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8" name="Picture 7">
            <a:extLst>
              <a:ext uri="{FF2B5EF4-FFF2-40B4-BE49-F238E27FC236}">
                <a16:creationId xmlns:a16="http://schemas.microsoft.com/office/drawing/2014/main" id="{1E2DE39B-A338-8B10-7525-2C283A598D12}"/>
              </a:ext>
            </a:extLst>
          </p:cNvPr>
          <p:cNvPicPr>
            <a:picLocks noChangeAspect="1"/>
          </p:cNvPicPr>
          <p:nvPr/>
        </p:nvPicPr>
        <p:blipFill>
          <a:blip r:embed="rId2"/>
          <a:stretch>
            <a:fillRect/>
          </a:stretch>
        </p:blipFill>
        <p:spPr>
          <a:xfrm>
            <a:off x="566738" y="4114802"/>
            <a:ext cx="7163800" cy="2000529"/>
          </a:xfrm>
          <a:prstGeom prst="rect">
            <a:avLst/>
          </a:prstGeom>
        </p:spPr>
      </p:pic>
    </p:spTree>
    <p:extLst>
      <p:ext uri="{BB962C8B-B14F-4D97-AF65-F5344CB8AC3E}">
        <p14:creationId xmlns:p14="http://schemas.microsoft.com/office/powerpoint/2010/main" val="78251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48F1-44CF-CF13-0803-870464826CD2}"/>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3" name="Content Placeholder 2">
            <a:extLst>
              <a:ext uri="{FF2B5EF4-FFF2-40B4-BE49-F238E27FC236}">
                <a16:creationId xmlns:a16="http://schemas.microsoft.com/office/drawing/2014/main" id="{0BB7513F-1207-A1F5-8A09-E062D0934A03}"/>
              </a:ext>
            </a:extLst>
          </p:cNvPr>
          <p:cNvSpPr>
            <a:spLocks noGrp="1"/>
          </p:cNvSpPr>
          <p:nvPr>
            <p:ph idx="1"/>
          </p:nvPr>
        </p:nvSpPr>
        <p:spPr/>
        <p:txBody>
          <a:bodyPr/>
          <a:lstStyle/>
          <a:p>
            <a:pPr>
              <a:buNone/>
            </a:pPr>
            <a:r>
              <a:rPr lang="en-US" sz="1600" dirty="0"/>
              <a:t>To calculate the </a:t>
            </a:r>
            <a:r>
              <a:rPr lang="en-US" sz="1600" b="1" dirty="0"/>
              <a:t>number of trainable parameters in a simple RNN</a:t>
            </a:r>
            <a:r>
              <a:rPr lang="en-US" sz="1600" dirty="0"/>
              <a:t>, we can derive the formula by considering the components involved in a </a:t>
            </a:r>
            <a:r>
              <a:rPr lang="en-US" sz="1600" b="1" dirty="0"/>
              <a:t>vanilla RNN</a:t>
            </a:r>
            <a:r>
              <a:rPr lang="en-US" sz="1600" dirty="0"/>
              <a:t> architecture with:</a:t>
            </a:r>
          </a:p>
          <a:p>
            <a:pPr>
              <a:buFont typeface="Arial" panose="020B0604020202020204" pitchFamily="34" charset="0"/>
              <a:buChar char="•"/>
            </a:pPr>
            <a:r>
              <a:rPr lang="en-US" sz="1600" b="1" dirty="0"/>
              <a:t>Input size</a:t>
            </a:r>
            <a:r>
              <a:rPr lang="en-US" sz="1600" dirty="0"/>
              <a:t> = m</a:t>
            </a:r>
          </a:p>
          <a:p>
            <a:pPr>
              <a:buFont typeface="Arial" panose="020B0604020202020204" pitchFamily="34" charset="0"/>
              <a:buChar char="•"/>
            </a:pPr>
            <a:r>
              <a:rPr lang="en-US" sz="1600" b="1" dirty="0"/>
              <a:t>Hidden size</a:t>
            </a:r>
            <a:r>
              <a:rPr lang="en-US" sz="1600" dirty="0"/>
              <a:t> = n (number of hidden units in the hidden layer)</a:t>
            </a:r>
          </a:p>
          <a:p>
            <a:pPr>
              <a:buFont typeface="Arial" panose="020B0604020202020204" pitchFamily="34" charset="0"/>
              <a:buChar char="•"/>
            </a:pPr>
            <a:r>
              <a:rPr lang="en-US" sz="1600" b="1" dirty="0"/>
              <a:t>Output size</a:t>
            </a:r>
            <a:r>
              <a:rPr lang="en-US" sz="1600" dirty="0"/>
              <a:t> = 1 (single neuron in the output layer)</a:t>
            </a:r>
          </a:p>
          <a:p>
            <a:pPr>
              <a:buFont typeface="Arial" panose="020B0604020202020204" pitchFamily="34" charset="0"/>
              <a:buChar char="•"/>
            </a:pPr>
            <a:r>
              <a:rPr lang="en-US" sz="1600" b="1" dirty="0"/>
              <a:t>One hidden layer</a:t>
            </a:r>
            <a:endParaRPr lang="en-US" sz="1600" dirty="0"/>
          </a:p>
          <a:p>
            <a:pPr marL="0" indent="0">
              <a:buNone/>
            </a:pPr>
            <a:endParaRPr lang="en-IN" sz="1600" dirty="0"/>
          </a:p>
        </p:txBody>
      </p:sp>
      <p:sp>
        <p:nvSpPr>
          <p:cNvPr id="4" name="Date Placeholder 3">
            <a:extLst>
              <a:ext uri="{FF2B5EF4-FFF2-40B4-BE49-F238E27FC236}">
                <a16:creationId xmlns:a16="http://schemas.microsoft.com/office/drawing/2014/main" id="{49476C0C-C50D-58C2-496F-9D62A43329ED}"/>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8BB27129-92AA-7356-4AD0-358F99D422A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78303E2-104A-88A7-988A-E22470123362}"/>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935800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EE94-15D5-7625-3C9F-0088FBB0692A}"/>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B46ADA40-C27E-9150-B24D-22002CF5C844}"/>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95CEB9EE-E1C8-CD52-3E26-74C557C610D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864FD7-0BBD-EDF4-AE44-A25874803E86}"/>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8" name="Picture 7">
            <a:extLst>
              <a:ext uri="{FF2B5EF4-FFF2-40B4-BE49-F238E27FC236}">
                <a16:creationId xmlns:a16="http://schemas.microsoft.com/office/drawing/2014/main" id="{CFA22897-C3E5-3494-C238-44BF1D06B820}"/>
              </a:ext>
            </a:extLst>
          </p:cNvPr>
          <p:cNvPicPr>
            <a:picLocks noChangeAspect="1"/>
          </p:cNvPicPr>
          <p:nvPr/>
        </p:nvPicPr>
        <p:blipFill>
          <a:blip r:embed="rId2"/>
          <a:stretch>
            <a:fillRect/>
          </a:stretch>
        </p:blipFill>
        <p:spPr>
          <a:xfrm>
            <a:off x="609600" y="1887020"/>
            <a:ext cx="7079402" cy="4648200"/>
          </a:xfrm>
          <a:prstGeom prst="rect">
            <a:avLst/>
          </a:prstGeom>
        </p:spPr>
      </p:pic>
      <p:sp>
        <p:nvSpPr>
          <p:cNvPr id="9" name="TextBox 8">
            <a:extLst>
              <a:ext uri="{FF2B5EF4-FFF2-40B4-BE49-F238E27FC236}">
                <a16:creationId xmlns:a16="http://schemas.microsoft.com/office/drawing/2014/main" id="{6183E1BA-2300-4E42-A28D-58BFD5D48E02}"/>
              </a:ext>
            </a:extLst>
          </p:cNvPr>
          <p:cNvSpPr txBox="1"/>
          <p:nvPr/>
        </p:nvSpPr>
        <p:spPr>
          <a:xfrm>
            <a:off x="457200" y="1295400"/>
            <a:ext cx="7387150" cy="523220"/>
          </a:xfrm>
          <a:prstGeom prst="rect">
            <a:avLst/>
          </a:prstGeom>
          <a:noFill/>
        </p:spPr>
        <p:txBody>
          <a:bodyPr wrap="none" rtlCol="0">
            <a:spAutoFit/>
          </a:bodyPr>
          <a:lstStyle/>
          <a:p>
            <a:r>
              <a:rPr lang="en-US" sz="1400" dirty="0"/>
              <a:t>Considering number of nodes in input layer as m, Number of hidden nodes as n </a:t>
            </a:r>
          </a:p>
          <a:p>
            <a:r>
              <a:rPr lang="en-US" sz="1400" dirty="0"/>
              <a:t>And number of nodes in output layer 1.</a:t>
            </a:r>
            <a:endParaRPr lang="en-IN" sz="1400" dirty="0"/>
          </a:p>
        </p:txBody>
      </p:sp>
    </p:spTree>
    <p:extLst>
      <p:ext uri="{BB962C8B-B14F-4D97-AF65-F5344CB8AC3E}">
        <p14:creationId xmlns:p14="http://schemas.microsoft.com/office/powerpoint/2010/main" val="2922493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3D17-E0D4-2B59-ADE7-FA08D42585B7}"/>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E2E88FC8-B17C-9FEC-7006-CF8E5F54EE4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2ABE346C-456B-EAE0-C1CC-EBE928BD75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65857C-D5B8-B8F6-8793-1F618802459B}"/>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8" name="Picture 7">
            <a:extLst>
              <a:ext uri="{FF2B5EF4-FFF2-40B4-BE49-F238E27FC236}">
                <a16:creationId xmlns:a16="http://schemas.microsoft.com/office/drawing/2014/main" id="{B4EC872D-7A61-C0FC-2B2B-0ECEC67C1C08}"/>
              </a:ext>
            </a:extLst>
          </p:cNvPr>
          <p:cNvPicPr>
            <a:picLocks noChangeAspect="1"/>
          </p:cNvPicPr>
          <p:nvPr/>
        </p:nvPicPr>
        <p:blipFill>
          <a:blip r:embed="rId3"/>
          <a:stretch>
            <a:fillRect/>
          </a:stretch>
        </p:blipFill>
        <p:spPr>
          <a:xfrm>
            <a:off x="533943" y="1227883"/>
            <a:ext cx="3006726" cy="3560345"/>
          </a:xfrm>
          <a:prstGeom prst="rect">
            <a:avLst/>
          </a:prstGeom>
        </p:spPr>
      </p:pic>
      <p:pic>
        <p:nvPicPr>
          <p:cNvPr id="10" name="Picture 9">
            <a:extLst>
              <a:ext uri="{FF2B5EF4-FFF2-40B4-BE49-F238E27FC236}">
                <a16:creationId xmlns:a16="http://schemas.microsoft.com/office/drawing/2014/main" id="{09159325-9EC6-133F-837A-3887A01200AE}"/>
              </a:ext>
            </a:extLst>
          </p:cNvPr>
          <p:cNvPicPr>
            <a:picLocks noChangeAspect="1"/>
          </p:cNvPicPr>
          <p:nvPr/>
        </p:nvPicPr>
        <p:blipFill>
          <a:blip r:embed="rId4"/>
          <a:stretch>
            <a:fillRect/>
          </a:stretch>
        </p:blipFill>
        <p:spPr>
          <a:xfrm>
            <a:off x="76200" y="4876800"/>
            <a:ext cx="7946304" cy="602738"/>
          </a:xfrm>
          <a:prstGeom prst="rect">
            <a:avLst/>
          </a:prstGeom>
        </p:spPr>
      </p:pic>
    </p:spTree>
    <p:extLst>
      <p:ext uri="{BB962C8B-B14F-4D97-AF65-F5344CB8AC3E}">
        <p14:creationId xmlns:p14="http://schemas.microsoft.com/office/powerpoint/2010/main" val="1453109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3D17-E0D4-2B59-ADE7-FA08D42585B7}"/>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E2E88FC8-B17C-9FEC-7006-CF8E5F54EE4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2ABE346C-456B-EAE0-C1CC-EBE928BD75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65857C-D5B8-B8F6-8793-1F618802459B}"/>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8" name="Picture 7">
            <a:extLst>
              <a:ext uri="{FF2B5EF4-FFF2-40B4-BE49-F238E27FC236}">
                <a16:creationId xmlns:a16="http://schemas.microsoft.com/office/drawing/2014/main" id="{B4EC872D-7A61-C0FC-2B2B-0ECEC67C1C08}"/>
              </a:ext>
            </a:extLst>
          </p:cNvPr>
          <p:cNvPicPr>
            <a:picLocks noChangeAspect="1"/>
          </p:cNvPicPr>
          <p:nvPr/>
        </p:nvPicPr>
        <p:blipFill>
          <a:blip r:embed="rId3"/>
          <a:stretch>
            <a:fillRect/>
          </a:stretch>
        </p:blipFill>
        <p:spPr>
          <a:xfrm>
            <a:off x="533943" y="1227883"/>
            <a:ext cx="3006726" cy="3560345"/>
          </a:xfrm>
          <a:prstGeom prst="rect">
            <a:avLst/>
          </a:prstGeom>
        </p:spPr>
      </p:pic>
      <p:pic>
        <p:nvPicPr>
          <p:cNvPr id="10" name="Picture 9">
            <a:extLst>
              <a:ext uri="{FF2B5EF4-FFF2-40B4-BE49-F238E27FC236}">
                <a16:creationId xmlns:a16="http://schemas.microsoft.com/office/drawing/2014/main" id="{09159325-9EC6-133F-837A-3887A01200AE}"/>
              </a:ext>
            </a:extLst>
          </p:cNvPr>
          <p:cNvPicPr>
            <a:picLocks noChangeAspect="1"/>
          </p:cNvPicPr>
          <p:nvPr/>
        </p:nvPicPr>
        <p:blipFill>
          <a:blip r:embed="rId4"/>
          <a:stretch>
            <a:fillRect/>
          </a:stretch>
        </p:blipFill>
        <p:spPr>
          <a:xfrm>
            <a:off x="76200" y="4876800"/>
            <a:ext cx="7946304" cy="602738"/>
          </a:xfrm>
          <a:prstGeom prst="rect">
            <a:avLst/>
          </a:prstGeom>
        </p:spPr>
      </p:pic>
      <p:sp>
        <p:nvSpPr>
          <p:cNvPr id="3" name="TextBox 2">
            <a:extLst>
              <a:ext uri="{FF2B5EF4-FFF2-40B4-BE49-F238E27FC236}">
                <a16:creationId xmlns:a16="http://schemas.microsoft.com/office/drawing/2014/main" id="{FA7D66A1-C1F3-4B73-A372-DB4ABAD907F9}"/>
              </a:ext>
            </a:extLst>
          </p:cNvPr>
          <p:cNvSpPr txBox="1"/>
          <p:nvPr/>
        </p:nvSpPr>
        <p:spPr>
          <a:xfrm>
            <a:off x="500552" y="5602512"/>
            <a:ext cx="6982361" cy="646331"/>
          </a:xfrm>
          <a:prstGeom prst="rect">
            <a:avLst/>
          </a:prstGeom>
          <a:noFill/>
        </p:spPr>
        <p:txBody>
          <a:bodyPr wrap="none" rtlCol="0">
            <a:spAutoFit/>
          </a:bodyPr>
          <a:lstStyle/>
          <a:p>
            <a:r>
              <a:rPr lang="en-US" dirty="0"/>
              <a:t>If we consider number of nodes in output layer as k then </a:t>
            </a:r>
          </a:p>
          <a:p>
            <a:r>
              <a:rPr lang="pt-BR" dirty="0"/>
              <a:t>Total Parameters=m.n+n.n+n+n.k+k</a:t>
            </a:r>
            <a:endParaRPr lang="en-IN" dirty="0"/>
          </a:p>
        </p:txBody>
      </p:sp>
    </p:spTree>
    <p:extLst>
      <p:ext uri="{BB962C8B-B14F-4D97-AF65-F5344CB8AC3E}">
        <p14:creationId xmlns:p14="http://schemas.microsoft.com/office/powerpoint/2010/main" val="3810296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2237-301E-FE25-9C28-32A489C832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14B0BD-2762-7C00-036B-101D0F7CC75F}"/>
              </a:ext>
            </a:extLst>
          </p:cNvPr>
          <p:cNvSpPr>
            <a:spLocks noGrp="1"/>
          </p:cNvSpPr>
          <p:nvPr>
            <p:ph idx="1"/>
          </p:nvPr>
        </p:nvSpPr>
        <p:spPr/>
        <p:txBody>
          <a:bodyPr/>
          <a:lstStyle/>
          <a:p>
            <a:pPr marL="0" indent="0">
              <a:buNone/>
            </a:pPr>
            <a:r>
              <a:rPr lang="en-IN" sz="1800" dirty="0"/>
              <a:t>model=Sequential()</a:t>
            </a:r>
          </a:p>
          <a:p>
            <a:pPr marL="0" indent="0">
              <a:buNone/>
            </a:pPr>
            <a:r>
              <a:rPr lang="en-IN" sz="1800" dirty="0" err="1"/>
              <a:t>model.add</a:t>
            </a:r>
            <a:r>
              <a:rPr lang="en-IN" sz="1800" dirty="0"/>
              <a:t>(</a:t>
            </a:r>
            <a:r>
              <a:rPr lang="en-IN" sz="1800" dirty="0" err="1"/>
              <a:t>SimpleRNN</a:t>
            </a:r>
            <a:r>
              <a:rPr lang="en-IN" sz="1800" dirty="0"/>
              <a:t>(2, </a:t>
            </a:r>
            <a:r>
              <a:rPr lang="en-IN" sz="1800" dirty="0" err="1"/>
              <a:t>input_shape</a:t>
            </a:r>
            <a:r>
              <a:rPr lang="en-IN" sz="1800" dirty="0"/>
              <a:t>=(1,1)))</a:t>
            </a:r>
          </a:p>
          <a:p>
            <a:pPr marL="0" indent="0">
              <a:buNone/>
            </a:pPr>
            <a:r>
              <a:rPr lang="en-IN" sz="1800" dirty="0" err="1"/>
              <a:t>model.add</a:t>
            </a:r>
            <a:r>
              <a:rPr lang="en-IN" sz="1800" dirty="0"/>
              <a:t>(Dense(1,activation='sigmoid'))</a:t>
            </a:r>
          </a:p>
          <a:p>
            <a:pPr marL="0" indent="0">
              <a:buNone/>
            </a:pPr>
            <a:r>
              <a:rPr lang="en-IN" sz="1800" dirty="0" err="1"/>
              <a:t>model.summary</a:t>
            </a:r>
            <a:r>
              <a:rPr lang="en-IN" sz="1800" dirty="0"/>
              <a:t>()</a:t>
            </a:r>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2AEC689D-369E-E1F0-2B75-CE7456202CE0}"/>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6FF407D-AC48-011B-5B68-9943B720681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831F2EE-4501-9E8E-3CEB-95CAC7EC3D1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11" name="Picture 10">
            <a:extLst>
              <a:ext uri="{FF2B5EF4-FFF2-40B4-BE49-F238E27FC236}">
                <a16:creationId xmlns:a16="http://schemas.microsoft.com/office/drawing/2014/main" id="{9BA4FDF6-54C2-D40B-185A-AD62D854F751}"/>
              </a:ext>
            </a:extLst>
          </p:cNvPr>
          <p:cNvPicPr>
            <a:picLocks noChangeAspect="1"/>
          </p:cNvPicPr>
          <p:nvPr/>
        </p:nvPicPr>
        <p:blipFill>
          <a:blip r:embed="rId3"/>
          <a:stretch>
            <a:fillRect/>
          </a:stretch>
        </p:blipFill>
        <p:spPr>
          <a:xfrm>
            <a:off x="493855" y="2853811"/>
            <a:ext cx="7154273" cy="2019582"/>
          </a:xfrm>
          <a:prstGeom prst="rect">
            <a:avLst/>
          </a:prstGeom>
        </p:spPr>
      </p:pic>
      <p:pic>
        <p:nvPicPr>
          <p:cNvPr id="12" name="Picture 11">
            <a:extLst>
              <a:ext uri="{FF2B5EF4-FFF2-40B4-BE49-F238E27FC236}">
                <a16:creationId xmlns:a16="http://schemas.microsoft.com/office/drawing/2014/main" id="{4E3D379E-D757-E3F1-44B6-F106C87A429E}"/>
              </a:ext>
            </a:extLst>
          </p:cNvPr>
          <p:cNvPicPr>
            <a:picLocks noChangeAspect="1"/>
          </p:cNvPicPr>
          <p:nvPr/>
        </p:nvPicPr>
        <p:blipFill>
          <a:blip r:embed="rId4"/>
          <a:stretch>
            <a:fillRect/>
          </a:stretch>
        </p:blipFill>
        <p:spPr>
          <a:xfrm>
            <a:off x="457200" y="5036062"/>
            <a:ext cx="7946304" cy="602738"/>
          </a:xfrm>
          <a:prstGeom prst="rect">
            <a:avLst/>
          </a:prstGeom>
        </p:spPr>
      </p:pic>
    </p:spTree>
    <p:extLst>
      <p:ext uri="{BB962C8B-B14F-4D97-AF65-F5344CB8AC3E}">
        <p14:creationId xmlns:p14="http://schemas.microsoft.com/office/powerpoint/2010/main" val="2736823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2893-81A0-2807-23E1-A67098901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6356E-82AA-135B-5BFD-4FD23DCE9F0B}"/>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01B65D00-6C88-B838-8F7C-C78F8B36BA5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D2F8722-89C9-C433-2C54-552DB50C5AA2}"/>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D32E7D77-EC44-CC42-C0DD-70D4B34C4B9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A7A20A-8DC4-9BC6-6668-4CCADF73A129}"/>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FF1C587E-23C1-4C30-F445-B7BE839D9632}"/>
              </a:ext>
            </a:extLst>
          </p:cNvPr>
          <p:cNvPicPr>
            <a:picLocks noChangeAspect="1"/>
          </p:cNvPicPr>
          <p:nvPr/>
        </p:nvPicPr>
        <p:blipFill>
          <a:blip r:embed="rId3"/>
          <a:stretch>
            <a:fillRect/>
          </a:stretch>
        </p:blipFill>
        <p:spPr>
          <a:xfrm>
            <a:off x="574677" y="1371602"/>
            <a:ext cx="7153275" cy="2638425"/>
          </a:xfrm>
          <a:prstGeom prst="rect">
            <a:avLst/>
          </a:prstGeom>
        </p:spPr>
      </p:pic>
      <p:sp>
        <p:nvSpPr>
          <p:cNvPr id="8" name="TextBox 7">
            <a:extLst>
              <a:ext uri="{FF2B5EF4-FFF2-40B4-BE49-F238E27FC236}">
                <a16:creationId xmlns:a16="http://schemas.microsoft.com/office/drawing/2014/main" id="{A9FA40C8-8384-B6E3-27C3-D644416A11D4}"/>
              </a:ext>
            </a:extLst>
          </p:cNvPr>
          <p:cNvSpPr txBox="1"/>
          <p:nvPr/>
        </p:nvSpPr>
        <p:spPr>
          <a:xfrm>
            <a:off x="3352802" y="4572000"/>
            <a:ext cx="1903085" cy="369332"/>
          </a:xfrm>
          <a:prstGeom prst="rect">
            <a:avLst/>
          </a:prstGeom>
          <a:noFill/>
        </p:spPr>
        <p:txBody>
          <a:bodyPr wrap="none" rtlCol="0">
            <a:spAutoFit/>
          </a:bodyPr>
          <a:lstStyle/>
          <a:p>
            <a:r>
              <a:rPr lang="en-IN" dirty="0"/>
              <a:t>RNN: Unfolded</a:t>
            </a:r>
          </a:p>
        </p:txBody>
      </p:sp>
    </p:spTree>
    <p:extLst>
      <p:ext uri="{BB962C8B-B14F-4D97-AF65-F5344CB8AC3E}">
        <p14:creationId xmlns:p14="http://schemas.microsoft.com/office/powerpoint/2010/main" val="409287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E5D1-30C6-8D2A-2D81-19D5F636823E}"/>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BA697280-D96D-78CE-F3A9-BA175F4FDDDD}"/>
              </a:ext>
            </a:extLst>
          </p:cNvPr>
          <p:cNvSpPr>
            <a:spLocks noGrp="1"/>
          </p:cNvSpPr>
          <p:nvPr>
            <p:ph idx="1"/>
          </p:nvPr>
        </p:nvSpPr>
        <p:spPr/>
        <p:txBody>
          <a:bodyPr/>
          <a:lstStyle/>
          <a:p>
            <a:pPr marL="0" indent="0" algn="just">
              <a:buNone/>
            </a:pPr>
            <a:r>
              <a:rPr lang="en-US" sz="1800" dirty="0">
                <a:solidFill>
                  <a:srgbClr val="242424"/>
                </a:solidFill>
                <a:latin typeface="source-serif-pro"/>
              </a:rPr>
              <a:t>The RNN takes an input vector </a:t>
            </a:r>
            <a:r>
              <a:rPr lang="en-US" sz="1800" b="1" dirty="0">
                <a:solidFill>
                  <a:srgbClr val="242424"/>
                </a:solidFill>
                <a:latin typeface="source-serif-pro"/>
              </a:rPr>
              <a:t>X</a:t>
            </a:r>
            <a:r>
              <a:rPr lang="en-US" sz="1800" dirty="0">
                <a:solidFill>
                  <a:srgbClr val="242424"/>
                </a:solidFill>
                <a:latin typeface="source-serif-pro"/>
              </a:rPr>
              <a:t> and the network generates an output vector </a:t>
            </a:r>
            <a:r>
              <a:rPr lang="en-US" sz="1800" b="1" dirty="0">
                <a:solidFill>
                  <a:srgbClr val="242424"/>
                </a:solidFill>
                <a:latin typeface="source-serif-pro"/>
              </a:rPr>
              <a:t>y</a:t>
            </a:r>
            <a:r>
              <a:rPr lang="en-US" sz="1800" dirty="0">
                <a:solidFill>
                  <a:srgbClr val="242424"/>
                </a:solidFill>
                <a:latin typeface="source-serif-pro"/>
              </a:rPr>
              <a:t> by scanning the data sequentially from left to right, with each time step updating the hidden state and producing an output.</a:t>
            </a:r>
            <a:r>
              <a:rPr lang="en-US" sz="1800" b="1" dirty="0">
                <a:solidFill>
                  <a:srgbClr val="242424"/>
                </a:solidFill>
                <a:latin typeface="source-serif-pro"/>
              </a:rPr>
              <a:t> </a:t>
            </a:r>
            <a:r>
              <a:rPr lang="en-US" sz="1800" dirty="0">
                <a:solidFill>
                  <a:srgbClr val="242424"/>
                </a:solidFill>
                <a:latin typeface="source-serif-pro"/>
              </a:rPr>
              <a:t>It shares the same parameters across all time steps. This means that, the same set of parameters, represented by U, V, W is used consistently throughout the network. </a:t>
            </a:r>
            <a:r>
              <a:rPr lang="en-US" sz="1800" dirty="0"/>
              <a:t>U</a:t>
            </a:r>
            <a:r>
              <a:rPr lang="en-US" sz="1800" dirty="0">
                <a:solidFill>
                  <a:srgbClr val="242424"/>
                </a:solidFill>
                <a:latin typeface="source-serif-pro"/>
              </a:rPr>
              <a:t> represents the weight parameter governing the connection from input layer </a:t>
            </a:r>
            <a:r>
              <a:rPr lang="en-US" sz="1800" b="1" dirty="0">
                <a:solidFill>
                  <a:srgbClr val="242424"/>
                </a:solidFill>
                <a:latin typeface="source-serif-pro"/>
              </a:rPr>
              <a:t>X</a:t>
            </a:r>
            <a:r>
              <a:rPr lang="en-US" sz="1800" dirty="0">
                <a:solidFill>
                  <a:srgbClr val="242424"/>
                </a:solidFill>
                <a:latin typeface="source-serif-pro"/>
              </a:rPr>
              <a:t> to the hidden layer </a:t>
            </a:r>
            <a:r>
              <a:rPr lang="en-US" sz="1800" b="1" dirty="0">
                <a:solidFill>
                  <a:srgbClr val="242424"/>
                </a:solidFill>
                <a:latin typeface="source-serif-pro"/>
              </a:rPr>
              <a:t>h</a:t>
            </a:r>
            <a:r>
              <a:rPr lang="en-US" sz="1800" dirty="0">
                <a:solidFill>
                  <a:srgbClr val="242424"/>
                </a:solidFill>
                <a:latin typeface="source-serif-pro"/>
              </a:rPr>
              <a:t> , </a:t>
            </a:r>
            <a:r>
              <a:rPr lang="en-US" sz="1800" dirty="0"/>
              <a:t>W</a:t>
            </a:r>
            <a:r>
              <a:rPr lang="en-US" sz="1800" dirty="0">
                <a:solidFill>
                  <a:srgbClr val="242424"/>
                </a:solidFill>
                <a:latin typeface="source-serif-pro"/>
              </a:rPr>
              <a:t> represents the weight associated with the connection between hidden layers, and </a:t>
            </a:r>
            <a:r>
              <a:rPr lang="en-US" sz="1800" dirty="0"/>
              <a:t>V</a:t>
            </a:r>
            <a:r>
              <a:rPr lang="en-US" sz="1800" dirty="0">
                <a:solidFill>
                  <a:srgbClr val="242424"/>
                </a:solidFill>
                <a:latin typeface="source-serif-pro"/>
              </a:rPr>
              <a:t> for the connection from hidden layer </a:t>
            </a:r>
            <a:r>
              <a:rPr lang="en-US" sz="1800" b="1" dirty="0">
                <a:solidFill>
                  <a:srgbClr val="242424"/>
                </a:solidFill>
                <a:latin typeface="source-serif-pro"/>
              </a:rPr>
              <a:t>h</a:t>
            </a:r>
            <a:r>
              <a:rPr lang="en-US" sz="1800" dirty="0">
                <a:solidFill>
                  <a:srgbClr val="242424"/>
                </a:solidFill>
                <a:latin typeface="source-serif-pro"/>
              </a:rPr>
              <a:t> to output layer </a:t>
            </a:r>
            <a:r>
              <a:rPr lang="en-US" sz="1800" b="1" dirty="0">
                <a:solidFill>
                  <a:srgbClr val="242424"/>
                </a:solidFill>
                <a:latin typeface="source-serif-pro"/>
              </a:rPr>
              <a:t>y</a:t>
            </a:r>
            <a:r>
              <a:rPr lang="en-US" sz="1800" dirty="0">
                <a:solidFill>
                  <a:srgbClr val="242424"/>
                </a:solidFill>
                <a:latin typeface="source-serif-pro"/>
              </a:rPr>
              <a:t>. This sharing of parameters allows the RNN to effectively capture temporal dependencies and process sequential data more efficiently by retaining the information from previous input in its current hidden state.</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BF2803D8-EEDE-E4B1-AAAF-4E5D26EDF839}"/>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4BDFC6E-8057-7BD5-D1EB-7664CEFF983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C393F4-6C0B-6EFC-D29A-13248F842020}"/>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1831464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9A92-542C-7B87-7FE2-34C9BBDD2637}"/>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16BD06CE-34BE-A8BA-0559-2CBDC689D7D7}"/>
              </a:ext>
            </a:extLst>
          </p:cNvPr>
          <p:cNvSpPr>
            <a:spLocks noGrp="1"/>
          </p:cNvSpPr>
          <p:nvPr>
            <p:ph idx="1"/>
          </p:nvPr>
        </p:nvSpPr>
        <p:spPr/>
        <p:txBody>
          <a:bodyPr/>
          <a:lstStyle/>
          <a:p>
            <a:pPr marL="0" indent="0" algn="just">
              <a:buNone/>
            </a:pPr>
            <a:r>
              <a:rPr lang="en-US" sz="1400" dirty="0"/>
              <a:t>At each time step t, the hidden state aₜ is computed based on the current input xₜ , previous hidden state aₜ₋₁ and model parameters as illustrated by the following formula:</a:t>
            </a:r>
          </a:p>
          <a:p>
            <a:pPr marL="0" indent="0" algn="just">
              <a:buNone/>
            </a:pPr>
            <a:r>
              <a:rPr lang="en-US" sz="1400" dirty="0"/>
              <a:t>aₜ = f(aₜ₋₁, xₜ; θ) — — — — — (1)</a:t>
            </a:r>
          </a:p>
          <a:p>
            <a:pPr marL="0" indent="0" algn="just">
              <a:buNone/>
            </a:pPr>
            <a:r>
              <a:rPr lang="en-US" sz="1400" dirty="0"/>
              <a:t>It can also be written as,</a:t>
            </a:r>
          </a:p>
          <a:p>
            <a:pPr marL="0" indent="0" algn="just">
              <a:buNone/>
            </a:pPr>
            <a:endParaRPr lang="en-US" sz="1400" dirty="0"/>
          </a:p>
          <a:p>
            <a:pPr marL="0" indent="0" algn="just">
              <a:buNone/>
            </a:pPr>
            <a:endParaRPr lang="en-IN" sz="1400" dirty="0"/>
          </a:p>
        </p:txBody>
      </p:sp>
      <p:sp>
        <p:nvSpPr>
          <p:cNvPr id="4" name="Date Placeholder 3">
            <a:extLst>
              <a:ext uri="{FF2B5EF4-FFF2-40B4-BE49-F238E27FC236}">
                <a16:creationId xmlns:a16="http://schemas.microsoft.com/office/drawing/2014/main" id="{160DA512-EA5B-A451-327C-EC906A846E69}"/>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B34107D0-AD60-B41E-9CB0-921B555020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C47244D-FF63-15E7-1EE6-7F17ECF0CF49}"/>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8" name="Picture 7">
            <a:extLst>
              <a:ext uri="{FF2B5EF4-FFF2-40B4-BE49-F238E27FC236}">
                <a16:creationId xmlns:a16="http://schemas.microsoft.com/office/drawing/2014/main" id="{73042F96-D6CF-B16E-2453-A3259681A1B5}"/>
              </a:ext>
            </a:extLst>
          </p:cNvPr>
          <p:cNvPicPr>
            <a:picLocks noChangeAspect="1"/>
          </p:cNvPicPr>
          <p:nvPr/>
        </p:nvPicPr>
        <p:blipFill>
          <a:blip r:embed="rId3"/>
          <a:stretch>
            <a:fillRect/>
          </a:stretch>
        </p:blipFill>
        <p:spPr>
          <a:xfrm>
            <a:off x="1404938" y="2441653"/>
            <a:ext cx="6324600" cy="4383690"/>
          </a:xfrm>
          <a:prstGeom prst="rect">
            <a:avLst/>
          </a:prstGeom>
        </p:spPr>
      </p:pic>
    </p:spTree>
    <p:extLst>
      <p:ext uri="{BB962C8B-B14F-4D97-AF65-F5344CB8AC3E}">
        <p14:creationId xmlns:p14="http://schemas.microsoft.com/office/powerpoint/2010/main" val="301194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5222-5D05-089B-4E99-613777F9A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A4027-57C6-4760-9F18-3B4CC427E3AB}"/>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8B316B6D-FD6E-93ED-627D-C7ADA827F36C}"/>
              </a:ext>
            </a:extLst>
          </p:cNvPr>
          <p:cNvSpPr>
            <a:spLocks noGrp="1"/>
          </p:cNvSpPr>
          <p:nvPr>
            <p:ph idx="1"/>
          </p:nvPr>
        </p:nvSpPr>
        <p:spPr/>
        <p:txBody>
          <a:bodyPr/>
          <a:lstStyle/>
          <a:p>
            <a:pPr marL="0" indent="0" algn="just">
              <a:buNone/>
            </a:pPr>
            <a:r>
              <a:rPr lang="en-US" sz="2000" dirty="0">
                <a:solidFill>
                  <a:srgbClr val="242424"/>
                </a:solidFill>
                <a:latin typeface="source-serif-pro"/>
              </a:rPr>
              <a:t>For a finite number of time steps T=4, we can expand the computation graph of a Recurrent Neural Network, illustrated in Figure 3, by applying the equation (1) T-1 times.</a:t>
            </a:r>
            <a:endParaRPr lang="en-IN" sz="2000" dirty="0"/>
          </a:p>
        </p:txBody>
      </p:sp>
      <p:sp>
        <p:nvSpPr>
          <p:cNvPr id="4" name="Date Placeholder 3">
            <a:extLst>
              <a:ext uri="{FF2B5EF4-FFF2-40B4-BE49-F238E27FC236}">
                <a16:creationId xmlns:a16="http://schemas.microsoft.com/office/drawing/2014/main" id="{E5186CAF-8104-5A2E-1F9A-E9CC25641B00}"/>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F9DF65A5-4BD5-65F1-EA1A-6D9C6B2099B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7F50D4-0425-3825-5F05-F949B4D05E21}"/>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0B29FBDF-C382-EA98-30B0-1B9277148B0F}"/>
              </a:ext>
            </a:extLst>
          </p:cNvPr>
          <p:cNvPicPr>
            <a:picLocks noChangeAspect="1"/>
          </p:cNvPicPr>
          <p:nvPr/>
        </p:nvPicPr>
        <p:blipFill>
          <a:blip r:embed="rId2"/>
          <a:stretch>
            <a:fillRect/>
          </a:stretch>
        </p:blipFill>
        <p:spPr>
          <a:xfrm>
            <a:off x="756706" y="2314377"/>
            <a:ext cx="3810532" cy="2838846"/>
          </a:xfrm>
          <a:prstGeom prst="rect">
            <a:avLst/>
          </a:prstGeom>
        </p:spPr>
      </p:pic>
    </p:spTree>
    <p:extLst>
      <p:ext uri="{BB962C8B-B14F-4D97-AF65-F5344CB8AC3E}">
        <p14:creationId xmlns:p14="http://schemas.microsoft.com/office/powerpoint/2010/main" val="900863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12590-9C55-F312-EEDA-37A5FD0D6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B6984-41D9-3E2A-153D-8DF2072E1D2C}"/>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610E3FAD-4917-60AA-9CA2-523A8B2E0086}"/>
              </a:ext>
            </a:extLst>
          </p:cNvPr>
          <p:cNvSpPr>
            <a:spLocks noGrp="1"/>
          </p:cNvSpPr>
          <p:nvPr>
            <p:ph idx="1"/>
          </p:nvPr>
        </p:nvSpPr>
        <p:spPr/>
        <p:txBody>
          <a:bodyPr/>
          <a:lstStyle/>
          <a:p>
            <a:pPr marL="0" indent="0">
              <a:buNone/>
            </a:pPr>
            <a:r>
              <a:rPr lang="en-US" sz="2000" dirty="0">
                <a:solidFill>
                  <a:srgbClr val="242424"/>
                </a:solidFill>
                <a:latin typeface="source-serif-pro"/>
              </a:rPr>
              <a:t>The output at each time step </a:t>
            </a:r>
            <a:r>
              <a:rPr lang="en-US" sz="2000" dirty="0"/>
              <a:t>t</a:t>
            </a:r>
            <a:r>
              <a:rPr lang="en-US" sz="2000" dirty="0">
                <a:solidFill>
                  <a:srgbClr val="242424"/>
                </a:solidFill>
                <a:latin typeface="source-serif-pro"/>
              </a:rPr>
              <a:t>, denoted as </a:t>
            </a:r>
            <a:r>
              <a:rPr lang="en-US" sz="2000" dirty="0"/>
              <a:t>yₜ</a:t>
            </a:r>
            <a:r>
              <a:rPr lang="en-US" sz="2000" dirty="0">
                <a:solidFill>
                  <a:srgbClr val="242424"/>
                </a:solidFill>
                <a:latin typeface="source-serif-pro"/>
              </a:rPr>
              <a:t> is computed based on the hidden state output </a:t>
            </a:r>
            <a:r>
              <a:rPr lang="en-US" sz="2000" dirty="0"/>
              <a:t>aₜ</a:t>
            </a:r>
            <a:r>
              <a:rPr lang="en-US" sz="2000" dirty="0">
                <a:solidFill>
                  <a:srgbClr val="242424"/>
                </a:solidFill>
                <a:latin typeface="source-serif-pro"/>
              </a:rPr>
              <a:t> using the following formula,</a:t>
            </a:r>
            <a:endParaRPr lang="en-IN" sz="2000" dirty="0"/>
          </a:p>
          <a:p>
            <a:pPr marL="0" indent="0">
              <a:buNone/>
            </a:pPr>
            <a:endParaRPr lang="en-IN" sz="2000" dirty="0"/>
          </a:p>
        </p:txBody>
      </p:sp>
      <p:sp>
        <p:nvSpPr>
          <p:cNvPr id="4" name="Date Placeholder 3">
            <a:extLst>
              <a:ext uri="{FF2B5EF4-FFF2-40B4-BE49-F238E27FC236}">
                <a16:creationId xmlns:a16="http://schemas.microsoft.com/office/drawing/2014/main" id="{0A83C802-2C38-98D8-F08C-23151958F30E}"/>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AD98E52F-81D2-05AE-C1AA-187720DB9D1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B30117-5B00-8134-BA57-5F62CC79C4A4}"/>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F088F2D3-65C3-854D-D0BA-9CE5E7F0B621}"/>
              </a:ext>
            </a:extLst>
          </p:cNvPr>
          <p:cNvPicPr>
            <a:picLocks noChangeAspect="1"/>
          </p:cNvPicPr>
          <p:nvPr/>
        </p:nvPicPr>
        <p:blipFill>
          <a:blip r:embed="rId3"/>
          <a:stretch>
            <a:fillRect/>
          </a:stretch>
        </p:blipFill>
        <p:spPr>
          <a:xfrm>
            <a:off x="990600" y="2018190"/>
            <a:ext cx="6092668" cy="4502355"/>
          </a:xfrm>
          <a:prstGeom prst="rect">
            <a:avLst/>
          </a:prstGeom>
        </p:spPr>
      </p:pic>
    </p:spTree>
    <p:extLst>
      <p:ext uri="{BB962C8B-B14F-4D97-AF65-F5344CB8AC3E}">
        <p14:creationId xmlns:p14="http://schemas.microsoft.com/office/powerpoint/2010/main" val="654356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3E2C-8926-4C2C-BC36-1547AAD1BB99}"/>
              </a:ext>
            </a:extLst>
          </p:cNvPr>
          <p:cNvSpPr>
            <a:spLocks noGrp="1"/>
          </p:cNvSpPr>
          <p:nvPr>
            <p:ph type="title"/>
          </p:nvPr>
        </p:nvSpPr>
        <p:spPr/>
        <p:txBody>
          <a:bodyPr/>
          <a:lstStyle/>
          <a:p>
            <a:r>
              <a:rPr lang="en-US" sz="2000" dirty="0">
                <a:latin typeface="Times New Roman" panose="02020603050405020304" pitchFamily="18" charset="0"/>
                <a:cs typeface="Times New Roman" panose="02020603050405020304" pitchFamily="18" charset="0"/>
              </a:rPr>
              <a:t>RNN: </a:t>
            </a:r>
            <a:r>
              <a:rPr lang="en-US" sz="2000" b="0" i="0" dirty="0">
                <a:solidFill>
                  <a:srgbClr val="08102B"/>
                </a:solidFill>
                <a:effectLst/>
                <a:latin typeface="Times New Roman" panose="02020603050405020304" pitchFamily="18" charset="0"/>
                <a:cs typeface="Times New Roman" panose="02020603050405020304" pitchFamily="18" charset="0"/>
              </a:rPr>
              <a:t>"</a:t>
            </a:r>
            <a:r>
              <a:rPr lang="en-US" sz="2000" b="1" i="0" dirty="0">
                <a:solidFill>
                  <a:srgbClr val="08102B"/>
                </a:solidFill>
                <a:effectLst/>
                <a:latin typeface="Times New Roman" panose="02020603050405020304" pitchFamily="18" charset="0"/>
                <a:cs typeface="Times New Roman" panose="02020603050405020304" pitchFamily="18" charset="0"/>
              </a:rPr>
              <a:t>Backpropagation Through Time" (BPTT)  algorithm</a:t>
            </a: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46BC27-9E05-41CC-9A6A-624A8114F383}"/>
              </a:ext>
            </a:extLst>
          </p:cNvPr>
          <p:cNvSpPr>
            <a:spLocks noGrp="1"/>
          </p:cNvSpPr>
          <p:nvPr>
            <p:ph idx="1"/>
          </p:nvPr>
        </p:nvSpPr>
        <p:spPr/>
        <p:txBody>
          <a:bodyPr/>
          <a:lstStyle/>
          <a:p>
            <a:pPr algn="just"/>
            <a:r>
              <a:rPr lang="en-US" sz="1800" b="0" i="0" dirty="0">
                <a:solidFill>
                  <a:srgbClr val="08102B"/>
                </a:solidFill>
                <a:effectLst/>
                <a:latin typeface="Times New Roman" panose="02020603050405020304" pitchFamily="18" charset="0"/>
                <a:cs typeface="Times New Roman" panose="02020603050405020304" pitchFamily="18" charset="0"/>
              </a:rPr>
              <a:t>For RNNs to learn sequential data, a variant of the backpropagation algorithm known as "</a:t>
            </a:r>
            <a:r>
              <a:rPr lang="en-US" sz="1800" b="1" i="0" dirty="0">
                <a:solidFill>
                  <a:srgbClr val="08102B"/>
                </a:solidFill>
                <a:effectLst/>
                <a:latin typeface="Times New Roman" panose="02020603050405020304" pitchFamily="18" charset="0"/>
                <a:cs typeface="Times New Roman" panose="02020603050405020304" pitchFamily="18" charset="0"/>
              </a:rPr>
              <a:t>Backpropagation Through Time" (BPTT) </a:t>
            </a:r>
            <a:r>
              <a:rPr lang="en-US" sz="1800" b="0" i="0" dirty="0">
                <a:solidFill>
                  <a:srgbClr val="08102B"/>
                </a:solidFill>
                <a:effectLst/>
                <a:latin typeface="Times New Roman" panose="02020603050405020304" pitchFamily="18" charset="0"/>
                <a:cs typeface="Times New Roman" panose="02020603050405020304" pitchFamily="18" charset="0"/>
              </a:rPr>
              <a:t>is used. </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In RNNs, the data is processed step-by-step (one at a time). The term "time" is used in BPTT to highlight the fact that the network's computations are performed step by step, simulating the passage of time as the network processes each element of the sequence.</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A time step in a Recurrent Neural Network (RNN) refers to a specific moment or instance in a sequence of data being processed by the network. In the context of sequential data, such as text, speech, or time series, the RNN processes one element of the sequence at each time step. This element could be a word in a sentence, a single data point in a time series, or a phoneme in speech.</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Backpropagation is applied to each time step, starting from the last one and moving backward to the first. This process is known as Backpropagation Through Time. </a:t>
            </a:r>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Date Placeholder 3">
            <a:extLst>
              <a:ext uri="{FF2B5EF4-FFF2-40B4-BE49-F238E27FC236}">
                <a16:creationId xmlns:a16="http://schemas.microsoft.com/office/drawing/2014/main" id="{E8F4B51C-D70E-4EF3-A52A-ED4D316D286C}"/>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C522DDAF-4FF6-4564-A581-4A45614D5A0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6F19B75-8E87-498F-9036-0EC8DDB423E0}"/>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3738180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0A0F-8CF5-0F9D-1AF0-91626CEF2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2300A-A431-DCBE-5775-C84C5EBFC654}"/>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70817A6E-1E48-3216-9421-86A9FCD1080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BFD48C0-D022-DA85-DF4C-46C660B6601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422FD65E-1743-CB74-F548-EC7B4793C4B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08A85F-F705-6261-EB89-5D79B6B8CF88}"/>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8" name="Picture 7">
            <a:extLst>
              <a:ext uri="{FF2B5EF4-FFF2-40B4-BE49-F238E27FC236}">
                <a16:creationId xmlns:a16="http://schemas.microsoft.com/office/drawing/2014/main" id="{21DA9D24-DF99-4506-B42F-99FCECBC41C1}"/>
              </a:ext>
            </a:extLst>
          </p:cNvPr>
          <p:cNvPicPr>
            <a:picLocks noChangeAspect="1"/>
          </p:cNvPicPr>
          <p:nvPr/>
        </p:nvPicPr>
        <p:blipFill>
          <a:blip r:embed="rId2"/>
          <a:stretch>
            <a:fillRect/>
          </a:stretch>
        </p:blipFill>
        <p:spPr>
          <a:xfrm>
            <a:off x="381001" y="1200364"/>
            <a:ext cx="4036763" cy="5266834"/>
          </a:xfrm>
          <a:prstGeom prst="rect">
            <a:avLst/>
          </a:prstGeom>
        </p:spPr>
      </p:pic>
      <p:pic>
        <p:nvPicPr>
          <p:cNvPr id="10" name="Picture 9">
            <a:extLst>
              <a:ext uri="{FF2B5EF4-FFF2-40B4-BE49-F238E27FC236}">
                <a16:creationId xmlns:a16="http://schemas.microsoft.com/office/drawing/2014/main" id="{8CBBE90A-ED87-4093-9494-CFC8E8553AEF}"/>
              </a:ext>
            </a:extLst>
          </p:cNvPr>
          <p:cNvPicPr>
            <a:picLocks noChangeAspect="1"/>
          </p:cNvPicPr>
          <p:nvPr/>
        </p:nvPicPr>
        <p:blipFill>
          <a:blip r:embed="rId3"/>
          <a:stretch>
            <a:fillRect/>
          </a:stretch>
        </p:blipFill>
        <p:spPr>
          <a:xfrm>
            <a:off x="4679702" y="1200364"/>
            <a:ext cx="4116637" cy="5266834"/>
          </a:xfrm>
          <a:prstGeom prst="rect">
            <a:avLst/>
          </a:prstGeom>
        </p:spPr>
      </p:pic>
    </p:spTree>
    <p:extLst>
      <p:ext uri="{BB962C8B-B14F-4D97-AF65-F5344CB8AC3E}">
        <p14:creationId xmlns:p14="http://schemas.microsoft.com/office/powerpoint/2010/main" val="3355998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E021-D41B-4788-8171-0A23BDE5DD83}"/>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4B6B3C6C-2175-442B-8CAC-02F93000625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92FC383-57BA-418D-94B6-B056DB8CFBAC}"/>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E3DE2E8D-F8B1-4012-AB5A-69507E1BC75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9369B03-3396-4999-A7E3-6B6E8BFCA931}"/>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4E821192-C2B4-4EF8-9B2A-41D2CBF20271}"/>
              </a:ext>
            </a:extLst>
          </p:cNvPr>
          <p:cNvPicPr>
            <a:picLocks noChangeAspect="1"/>
          </p:cNvPicPr>
          <p:nvPr/>
        </p:nvPicPr>
        <p:blipFill>
          <a:blip r:embed="rId2"/>
          <a:stretch>
            <a:fillRect/>
          </a:stretch>
        </p:blipFill>
        <p:spPr>
          <a:xfrm>
            <a:off x="304802" y="1028343"/>
            <a:ext cx="3902609" cy="5693132"/>
          </a:xfrm>
          <a:prstGeom prst="rect">
            <a:avLst/>
          </a:prstGeom>
        </p:spPr>
      </p:pic>
      <p:pic>
        <p:nvPicPr>
          <p:cNvPr id="10" name="Picture 9">
            <a:extLst>
              <a:ext uri="{FF2B5EF4-FFF2-40B4-BE49-F238E27FC236}">
                <a16:creationId xmlns:a16="http://schemas.microsoft.com/office/drawing/2014/main" id="{7E682AC7-FCE6-4004-A8E7-E9D9FE56E60B}"/>
              </a:ext>
            </a:extLst>
          </p:cNvPr>
          <p:cNvPicPr>
            <a:picLocks noChangeAspect="1"/>
          </p:cNvPicPr>
          <p:nvPr/>
        </p:nvPicPr>
        <p:blipFill>
          <a:blip r:embed="rId3"/>
          <a:stretch>
            <a:fillRect/>
          </a:stretch>
        </p:blipFill>
        <p:spPr>
          <a:xfrm>
            <a:off x="4402257" y="1015400"/>
            <a:ext cx="4293337" cy="5743677"/>
          </a:xfrm>
          <a:prstGeom prst="rect">
            <a:avLst/>
          </a:prstGeom>
        </p:spPr>
      </p:pic>
    </p:spTree>
    <p:extLst>
      <p:ext uri="{BB962C8B-B14F-4D97-AF65-F5344CB8AC3E}">
        <p14:creationId xmlns:p14="http://schemas.microsoft.com/office/powerpoint/2010/main" val="1106422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FB120-91C8-4BED-87E3-FAA1624EE8B8}"/>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AA98CA39-E92D-4C39-BBF0-F8EC77138602}"/>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A9711B1-E96B-469E-BBA6-16466A1189B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692DC451-1300-48F7-A0C5-51E3AB2917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2F5964-FDD7-4680-B375-1E71C5D092D1}"/>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8" name="Picture 7">
            <a:extLst>
              <a:ext uri="{FF2B5EF4-FFF2-40B4-BE49-F238E27FC236}">
                <a16:creationId xmlns:a16="http://schemas.microsoft.com/office/drawing/2014/main" id="{AAC9A42A-79C1-40E3-B68C-8520F7543FC2}"/>
              </a:ext>
            </a:extLst>
          </p:cNvPr>
          <p:cNvPicPr>
            <a:picLocks noChangeAspect="1"/>
          </p:cNvPicPr>
          <p:nvPr/>
        </p:nvPicPr>
        <p:blipFill>
          <a:blip r:embed="rId2"/>
          <a:stretch>
            <a:fillRect/>
          </a:stretch>
        </p:blipFill>
        <p:spPr>
          <a:xfrm>
            <a:off x="608691" y="1238892"/>
            <a:ext cx="5087060" cy="2781688"/>
          </a:xfrm>
          <a:prstGeom prst="rect">
            <a:avLst/>
          </a:prstGeom>
        </p:spPr>
      </p:pic>
    </p:spTree>
    <p:extLst>
      <p:ext uri="{BB962C8B-B14F-4D97-AF65-F5344CB8AC3E}">
        <p14:creationId xmlns:p14="http://schemas.microsoft.com/office/powerpoint/2010/main" val="2333051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5B9A-9E27-34C0-AB27-C7B14B4D69F1}"/>
              </a:ext>
            </a:extLst>
          </p:cNvPr>
          <p:cNvSpPr>
            <a:spLocks noGrp="1"/>
          </p:cNvSpPr>
          <p:nvPr>
            <p:ph type="title"/>
          </p:nvPr>
        </p:nvSpPr>
        <p:spPr/>
        <p:txBody>
          <a:bodyPr/>
          <a:lstStyle/>
          <a:p>
            <a:r>
              <a:rPr lang="en-IN" sz="2000" dirty="0"/>
              <a:t>Regularization Techniques: Dropout, L1/L2 Regularization</a:t>
            </a:r>
          </a:p>
        </p:txBody>
      </p:sp>
      <p:sp>
        <p:nvSpPr>
          <p:cNvPr id="3" name="Content Placeholder 2">
            <a:extLst>
              <a:ext uri="{FF2B5EF4-FFF2-40B4-BE49-F238E27FC236}">
                <a16:creationId xmlns:a16="http://schemas.microsoft.com/office/drawing/2014/main" id="{237FF884-CD7A-141D-BF63-9F4B43E99FB1}"/>
              </a:ext>
            </a:extLst>
          </p:cNvPr>
          <p:cNvSpPr>
            <a:spLocks noGrp="1"/>
          </p:cNvSpPr>
          <p:nvPr>
            <p:ph idx="1"/>
          </p:nvPr>
        </p:nvSpPr>
        <p:spPr/>
        <p:txBody>
          <a:bodyPr/>
          <a:lstStyle/>
          <a:p>
            <a:pPr marL="0" indent="0" algn="just">
              <a:buNone/>
            </a:pPr>
            <a:r>
              <a:rPr lang="en-US" sz="1600" b="1" dirty="0"/>
              <a:t>L1 and </a:t>
            </a:r>
            <a:r>
              <a:rPr lang="en-US" sz="1600" b="1"/>
              <a:t>L2 Regularization: </a:t>
            </a:r>
            <a:r>
              <a:rPr lang="en-US" sz="1600"/>
              <a:t>L1 </a:t>
            </a:r>
            <a:r>
              <a:rPr lang="en-US" sz="1600" dirty="0"/>
              <a:t>and L2 regularization are common techniques used to prevent overfitting by adding a penalty term to the loss function. L1 regularization adds the absolute value of the weights to the loss function, encouraging sparsity in the model by driving some weights to zero. L2 regularization, also known as weight decay, adds the squared value of the weights to the loss function, discouraging large weights and promoting a more evenly distributed set of weights. In the context of RNNs and LSTMs, L1 and L2 regularization can be applied to the weights of the network to prevent overfitting. These techniques help ensure that the model does not become too complex and that it generalizes well to new data. The choice between L1 and L2 regularization depends on the specific application and the desired properties of the model.</a:t>
            </a:r>
          </a:p>
        </p:txBody>
      </p:sp>
      <p:sp>
        <p:nvSpPr>
          <p:cNvPr id="4" name="Date Placeholder 3">
            <a:extLst>
              <a:ext uri="{FF2B5EF4-FFF2-40B4-BE49-F238E27FC236}">
                <a16:creationId xmlns:a16="http://schemas.microsoft.com/office/drawing/2014/main" id="{0711B069-8B06-632F-75BA-002BA796789B}"/>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697790E4-D4FF-0474-DCAD-C5C548EB21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1E10375-B853-EF52-85F9-D541A21BC648}"/>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4024113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849A-011F-D7D9-C01A-0047AC436EBC}"/>
              </a:ext>
            </a:extLst>
          </p:cNvPr>
          <p:cNvSpPr>
            <a:spLocks noGrp="1"/>
          </p:cNvSpPr>
          <p:nvPr>
            <p:ph type="title"/>
          </p:nvPr>
        </p:nvSpPr>
        <p:spPr/>
        <p:txBody>
          <a:bodyPr/>
          <a:lstStyle/>
          <a:p>
            <a:r>
              <a:rPr lang="en-IN" sz="2000" dirty="0"/>
              <a:t>Regularization Techniques: Dropout, L1/L2 Regularization</a:t>
            </a:r>
          </a:p>
        </p:txBody>
      </p:sp>
      <p:sp>
        <p:nvSpPr>
          <p:cNvPr id="3" name="Content Placeholder 2">
            <a:extLst>
              <a:ext uri="{FF2B5EF4-FFF2-40B4-BE49-F238E27FC236}">
                <a16:creationId xmlns:a16="http://schemas.microsoft.com/office/drawing/2014/main" id="{B7E59F85-539B-FFB4-D077-5CF449E8F40A}"/>
              </a:ext>
            </a:extLst>
          </p:cNvPr>
          <p:cNvSpPr>
            <a:spLocks noGrp="1"/>
          </p:cNvSpPr>
          <p:nvPr>
            <p:ph idx="1"/>
          </p:nvPr>
        </p:nvSpPr>
        <p:spPr/>
        <p:txBody>
          <a:bodyPr/>
          <a:lstStyle/>
          <a:p>
            <a:pPr marL="0" indent="0" algn="just">
              <a:buNone/>
            </a:pPr>
            <a:r>
              <a:rPr lang="en-US" sz="1800" b="1" dirty="0"/>
              <a:t>Recurrent Dropout</a:t>
            </a:r>
          </a:p>
          <a:p>
            <a:pPr algn="just"/>
            <a:r>
              <a:rPr lang="en-US" sz="1800" dirty="0"/>
              <a:t>Recurrent dropout is a variant of dropout specifically designed for RNNs and LSTMs. Unlike standard dropout, which is applied to the input and output connections, recurrent dropout is applied to the recurrent connections within the network. This technique helps prevent overfitting by ensuring that the network does not rely too heavily on any single recurrent connection. Recurrent dropout has been shown to be effective in various tasks, including language modeling and speech recognition. By applying dropout to the recurrent connections, the network is forced to learn more robust representations of the temporal dependencies in the data, leading to improved generalization performance</a:t>
            </a:r>
          </a:p>
        </p:txBody>
      </p:sp>
      <p:sp>
        <p:nvSpPr>
          <p:cNvPr id="4" name="Date Placeholder 3">
            <a:extLst>
              <a:ext uri="{FF2B5EF4-FFF2-40B4-BE49-F238E27FC236}">
                <a16:creationId xmlns:a16="http://schemas.microsoft.com/office/drawing/2014/main" id="{9477D5A7-7AD3-8EDE-605A-309B64B7EBF3}"/>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AC218E8F-3E1F-881B-7221-FAA0AD3EEA8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68DAEE7-61A7-4E7F-1E8F-4DC8F0D37EA6}"/>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3481728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F840-2A48-7FC2-3AC1-3CB2F9D5CD14}"/>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0344D5DE-4F2C-56C5-7905-46362BC06C4B}"/>
              </a:ext>
            </a:extLst>
          </p:cNvPr>
          <p:cNvSpPr>
            <a:spLocks noGrp="1"/>
          </p:cNvSpPr>
          <p:nvPr>
            <p:ph idx="1"/>
          </p:nvPr>
        </p:nvSpPr>
        <p:spPr/>
        <p:txBody>
          <a:bodyPr/>
          <a:lstStyle/>
          <a:p>
            <a:pPr marL="0" indent="0">
              <a:buNone/>
            </a:pPr>
            <a:r>
              <a:rPr lang="en-IN" dirty="0"/>
              <a:t>Sentiment Analysis</a:t>
            </a:r>
          </a:p>
        </p:txBody>
      </p:sp>
      <p:sp>
        <p:nvSpPr>
          <p:cNvPr id="4" name="Date Placeholder 3">
            <a:extLst>
              <a:ext uri="{FF2B5EF4-FFF2-40B4-BE49-F238E27FC236}">
                <a16:creationId xmlns:a16="http://schemas.microsoft.com/office/drawing/2014/main" id="{832F7386-9074-16EA-36B5-934F99B9D3F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919897F-6D99-75A9-0DCF-EB60CE3C0B1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42C7388-54EF-ED4E-464E-ABB5C26A50DB}"/>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E083EB52-9AE7-90D7-AE1D-00800452EADC}"/>
              </a:ext>
            </a:extLst>
          </p:cNvPr>
          <p:cNvPicPr>
            <a:picLocks noChangeAspect="1"/>
          </p:cNvPicPr>
          <p:nvPr/>
        </p:nvPicPr>
        <p:blipFill>
          <a:blip r:embed="rId2"/>
          <a:stretch>
            <a:fillRect/>
          </a:stretch>
        </p:blipFill>
        <p:spPr>
          <a:xfrm>
            <a:off x="642257" y="2019982"/>
            <a:ext cx="8001000" cy="4500563"/>
          </a:xfrm>
          <a:prstGeom prst="rect">
            <a:avLst/>
          </a:prstGeom>
        </p:spPr>
      </p:pic>
    </p:spTree>
    <p:extLst>
      <p:ext uri="{BB962C8B-B14F-4D97-AF65-F5344CB8AC3E}">
        <p14:creationId xmlns:p14="http://schemas.microsoft.com/office/powerpoint/2010/main" val="798136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C23DD-7B16-DC19-9A96-DA1AAEA3F8E7}"/>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6C0BD040-B1C0-1D28-DC0C-582730AE9D73}"/>
              </a:ext>
            </a:extLst>
          </p:cNvPr>
          <p:cNvSpPr>
            <a:spLocks noGrp="1"/>
          </p:cNvSpPr>
          <p:nvPr>
            <p:ph idx="1"/>
          </p:nvPr>
        </p:nvSpPr>
        <p:spPr/>
        <p:txBody>
          <a:bodyPr/>
          <a:lstStyle/>
          <a:p>
            <a:pPr marL="0" indent="0">
              <a:buNone/>
            </a:pPr>
            <a:r>
              <a:rPr lang="en-IN" dirty="0"/>
              <a:t>Image Caption Generation</a:t>
            </a:r>
          </a:p>
        </p:txBody>
      </p:sp>
      <p:sp>
        <p:nvSpPr>
          <p:cNvPr id="4" name="Date Placeholder 3">
            <a:extLst>
              <a:ext uri="{FF2B5EF4-FFF2-40B4-BE49-F238E27FC236}">
                <a16:creationId xmlns:a16="http://schemas.microsoft.com/office/drawing/2014/main" id="{C4F46ABE-F694-28F0-BE41-4F2687A2D9D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3DB994C0-4E6E-9586-17E9-2EE119E1126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6F01EE7-7AD1-DC6E-0DFA-670458AAEC8C}"/>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8" name="Picture 7">
            <a:extLst>
              <a:ext uri="{FF2B5EF4-FFF2-40B4-BE49-F238E27FC236}">
                <a16:creationId xmlns:a16="http://schemas.microsoft.com/office/drawing/2014/main" id="{FC38286C-6E6D-3C55-D7E3-725C137BB7EB}"/>
              </a:ext>
            </a:extLst>
          </p:cNvPr>
          <p:cNvPicPr>
            <a:picLocks noChangeAspect="1"/>
          </p:cNvPicPr>
          <p:nvPr/>
        </p:nvPicPr>
        <p:blipFill>
          <a:blip r:embed="rId2"/>
          <a:stretch>
            <a:fillRect/>
          </a:stretch>
        </p:blipFill>
        <p:spPr>
          <a:xfrm>
            <a:off x="500743" y="1900239"/>
            <a:ext cx="8001000" cy="4500563"/>
          </a:xfrm>
          <a:prstGeom prst="rect">
            <a:avLst/>
          </a:prstGeom>
        </p:spPr>
      </p:pic>
    </p:spTree>
    <p:extLst>
      <p:ext uri="{BB962C8B-B14F-4D97-AF65-F5344CB8AC3E}">
        <p14:creationId xmlns:p14="http://schemas.microsoft.com/office/powerpoint/2010/main" val="35169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CFAE-095A-16A9-53A0-8BB1999B231C}"/>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C70AD095-B996-A038-1562-08C630DB25AB}"/>
              </a:ext>
            </a:extLst>
          </p:cNvPr>
          <p:cNvSpPr>
            <a:spLocks noGrp="1"/>
          </p:cNvSpPr>
          <p:nvPr>
            <p:ph idx="1"/>
          </p:nvPr>
        </p:nvSpPr>
        <p:spPr/>
        <p:txBody>
          <a:bodyPr/>
          <a:lstStyle/>
          <a:p>
            <a:pPr marL="0" indent="0">
              <a:buNone/>
            </a:pPr>
            <a:r>
              <a:rPr lang="en-IN" sz="2400" dirty="0"/>
              <a:t>Language Translation</a:t>
            </a:r>
          </a:p>
        </p:txBody>
      </p:sp>
      <p:sp>
        <p:nvSpPr>
          <p:cNvPr id="4" name="Date Placeholder 3">
            <a:extLst>
              <a:ext uri="{FF2B5EF4-FFF2-40B4-BE49-F238E27FC236}">
                <a16:creationId xmlns:a16="http://schemas.microsoft.com/office/drawing/2014/main" id="{C1F452BF-9DFA-B86E-83C0-3D9F29B420C0}"/>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3426EB85-9299-D77B-4E33-0E41033191D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20CEC83-1F52-CD1F-A93D-D356E646E2D5}"/>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096E0994-7FE0-2D92-6CBA-46F6A868D393}"/>
              </a:ext>
            </a:extLst>
          </p:cNvPr>
          <p:cNvPicPr>
            <a:picLocks noChangeAspect="1"/>
          </p:cNvPicPr>
          <p:nvPr/>
        </p:nvPicPr>
        <p:blipFill>
          <a:blip r:embed="rId2"/>
          <a:stretch>
            <a:fillRect/>
          </a:stretch>
        </p:blipFill>
        <p:spPr>
          <a:xfrm>
            <a:off x="566738" y="1758725"/>
            <a:ext cx="8001000" cy="4500563"/>
          </a:xfrm>
          <a:prstGeom prst="rect">
            <a:avLst/>
          </a:prstGeom>
        </p:spPr>
      </p:pic>
    </p:spTree>
    <p:extLst>
      <p:ext uri="{BB962C8B-B14F-4D97-AF65-F5344CB8AC3E}">
        <p14:creationId xmlns:p14="http://schemas.microsoft.com/office/powerpoint/2010/main" val="19489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E64-2F53-B9F0-0B89-386F25404FEF}"/>
              </a:ext>
            </a:extLst>
          </p:cNvPr>
          <p:cNvSpPr>
            <a:spLocks noGrp="1"/>
          </p:cNvSpPr>
          <p:nvPr>
            <p:ph type="title"/>
          </p:nvPr>
        </p:nvSpPr>
        <p:spPr/>
        <p:txBody>
          <a:bodyPr/>
          <a:lstStyle/>
          <a:p>
            <a:r>
              <a:rPr lang="en-US" dirty="0"/>
              <a:t>Challenges with RNNs</a:t>
            </a:r>
            <a:endParaRPr lang="en-IN" dirty="0"/>
          </a:p>
        </p:txBody>
      </p:sp>
      <p:sp>
        <p:nvSpPr>
          <p:cNvPr id="3" name="Content Placeholder 2">
            <a:extLst>
              <a:ext uri="{FF2B5EF4-FFF2-40B4-BE49-F238E27FC236}">
                <a16:creationId xmlns:a16="http://schemas.microsoft.com/office/drawing/2014/main" id="{F448CA37-6C9D-D4D0-14B7-2CAE9274DE42}"/>
              </a:ext>
            </a:extLst>
          </p:cNvPr>
          <p:cNvSpPr>
            <a:spLocks noGrp="1"/>
          </p:cNvSpPr>
          <p:nvPr>
            <p:ph idx="1"/>
          </p:nvPr>
        </p:nvSpPr>
        <p:spPr/>
        <p:txBody>
          <a:bodyPr/>
          <a:lstStyle/>
          <a:p>
            <a:pPr algn="just"/>
            <a:r>
              <a:rPr lang="en-US" sz="1600" kern="1200" dirty="0">
                <a:solidFill>
                  <a:schemeClr val="tx1"/>
                </a:solidFill>
              </a:rPr>
              <a:t>One of the biggest challenges with RNNs is the problem of </a:t>
            </a:r>
            <a:r>
              <a:rPr lang="en-US" sz="1600" kern="1200" dirty="0">
                <a:solidFill>
                  <a:srgbClr val="0000FF"/>
                </a:solidFill>
              </a:rPr>
              <a:t>vanishing or exploding gradients</a:t>
            </a:r>
            <a:r>
              <a:rPr lang="en-US" sz="1600" kern="1200" dirty="0">
                <a:solidFill>
                  <a:schemeClr val="tx1"/>
                </a:solidFill>
              </a:rPr>
              <a:t>. This occurs when the gradients of the loss function with respect to the parameters of the RNN become very small or very large as they propagate through time. This can make it difficult to train the RNN effectively, as the updates to the parameters will be very small or very large, and the network will not learn effectively.</a:t>
            </a:r>
          </a:p>
          <a:p>
            <a:pPr algn="just"/>
            <a:r>
              <a:rPr lang="en-US" sz="1600" kern="1200" dirty="0">
                <a:solidFill>
                  <a:schemeClr val="tx1"/>
                </a:solidFill>
              </a:rPr>
              <a:t>Another challenge with RNNs is that they can be </a:t>
            </a:r>
            <a:r>
              <a:rPr lang="en-US" sz="1600" kern="1200" dirty="0">
                <a:solidFill>
                  <a:srgbClr val="0000FF"/>
                </a:solidFill>
              </a:rPr>
              <a:t>difficult to train</a:t>
            </a:r>
            <a:r>
              <a:rPr lang="en-US" sz="1600" kern="1200" dirty="0">
                <a:solidFill>
                  <a:schemeClr val="tx1"/>
                </a:solidFill>
              </a:rPr>
              <a:t>. This is because RNNs are typically trained using backpropagation, which can be computationally expensive and time-consuming. Additionally, RNNs can be sensitive to the choice of hyperparameters, such as the learning rate and the number of layers.</a:t>
            </a:r>
          </a:p>
          <a:p>
            <a:pPr algn="just"/>
            <a:r>
              <a:rPr lang="en-US" sz="1600" kern="1200" dirty="0">
                <a:solidFill>
                  <a:schemeClr val="tx1"/>
                </a:solidFill>
              </a:rPr>
              <a:t>Finally, RNNs can be </a:t>
            </a:r>
            <a:r>
              <a:rPr lang="en-US" sz="1600" kern="1200" dirty="0">
                <a:solidFill>
                  <a:srgbClr val="0000FF"/>
                </a:solidFill>
              </a:rPr>
              <a:t>limited</a:t>
            </a:r>
            <a:r>
              <a:rPr lang="en-US" sz="1600" kern="1200" dirty="0">
                <a:solidFill>
                  <a:schemeClr val="tx1"/>
                </a:solidFill>
              </a:rPr>
              <a:t> in their ability </a:t>
            </a:r>
            <a:r>
              <a:rPr lang="en-US" sz="1600" kern="1200" dirty="0">
                <a:solidFill>
                  <a:srgbClr val="0000FF"/>
                </a:solidFill>
              </a:rPr>
              <a:t>to process long sequences</a:t>
            </a:r>
            <a:r>
              <a:rPr lang="en-US" sz="1600" kern="1200" dirty="0">
                <a:solidFill>
                  <a:schemeClr val="tx1"/>
                </a:solidFill>
              </a:rPr>
              <a:t>. This is because the gradients of the loss function can become very small or very large as they propagate through time, making it difficult for the RNN to learn long-term dependencies.</a:t>
            </a:r>
          </a:p>
          <a:p>
            <a:pPr algn="just"/>
            <a:endParaRPr lang="en-IN" sz="1600" dirty="0"/>
          </a:p>
          <a:p>
            <a:pPr marL="0" indent="0" algn="just">
              <a:buNone/>
            </a:pPr>
            <a:endParaRPr lang="en-IN" sz="1600" dirty="0"/>
          </a:p>
        </p:txBody>
      </p:sp>
      <p:sp>
        <p:nvSpPr>
          <p:cNvPr id="4" name="Date Placeholder 3">
            <a:extLst>
              <a:ext uri="{FF2B5EF4-FFF2-40B4-BE49-F238E27FC236}">
                <a16:creationId xmlns:a16="http://schemas.microsoft.com/office/drawing/2014/main" id="{455262C3-0930-1608-4C60-988E8F575A1B}"/>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2D1A0B07-B86B-D7CA-9D46-69AA8165C1C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0EF8A2-A87E-A7F7-2528-C9B200ACCDE6}"/>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1537163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C075-92A0-B853-553D-DE3001296B21}"/>
              </a:ext>
            </a:extLst>
          </p:cNvPr>
          <p:cNvSpPr>
            <a:spLocks noGrp="1"/>
          </p:cNvSpPr>
          <p:nvPr>
            <p:ph type="title"/>
          </p:nvPr>
        </p:nvSpPr>
        <p:spPr/>
        <p:txBody>
          <a:bodyPr/>
          <a:lstStyle/>
          <a:p>
            <a:r>
              <a:rPr lang="en-US" dirty="0"/>
              <a:t>Difference between RNN and LSTM</a:t>
            </a:r>
            <a:endParaRPr lang="en-IN" dirty="0"/>
          </a:p>
        </p:txBody>
      </p:sp>
      <p:sp>
        <p:nvSpPr>
          <p:cNvPr id="3" name="Content Placeholder 2">
            <a:extLst>
              <a:ext uri="{FF2B5EF4-FFF2-40B4-BE49-F238E27FC236}">
                <a16:creationId xmlns:a16="http://schemas.microsoft.com/office/drawing/2014/main" id="{DA69ABCB-A5B8-284E-E253-68777F695845}"/>
              </a:ext>
            </a:extLst>
          </p:cNvPr>
          <p:cNvSpPr>
            <a:spLocks noGrp="1"/>
          </p:cNvSpPr>
          <p:nvPr>
            <p:ph idx="1"/>
          </p:nvPr>
        </p:nvSpPr>
        <p:spPr/>
        <p:txBody>
          <a:bodyPr/>
          <a:lstStyle/>
          <a:p>
            <a:pPr marL="0" indent="0" algn="just">
              <a:buNone/>
            </a:pPr>
            <a:r>
              <a:rPr lang="en-US" sz="1800" kern="1200" dirty="0">
                <a:solidFill>
                  <a:schemeClr val="tx1"/>
                </a:solidFill>
              </a:rPr>
              <a:t>The main difference between RNN and LSTM (Long Short-Term Memory) lies in their ability to effectively handle long-range dependencies in sequential data. </a:t>
            </a:r>
          </a:p>
          <a:p>
            <a:pPr marL="0" indent="0" algn="just">
              <a:buNone/>
            </a:pPr>
            <a:r>
              <a:rPr lang="en-US" sz="1800" kern="1200" dirty="0">
                <a:solidFill>
                  <a:schemeClr val="tx1"/>
                </a:solidFill>
              </a:rPr>
              <a:t>While RNNs </a:t>
            </a:r>
            <a:r>
              <a:rPr lang="en-US" sz="1800" b="1" kern="1200" dirty="0">
                <a:solidFill>
                  <a:schemeClr val="tx1"/>
                </a:solidFill>
              </a:rPr>
              <a:t>suffer from vanishing gradient problems</a:t>
            </a:r>
            <a:r>
              <a:rPr lang="en-US" sz="1800" kern="1200" dirty="0">
                <a:solidFill>
                  <a:schemeClr val="tx1"/>
                </a:solidFill>
              </a:rPr>
              <a:t>, LSTMs employ a more sophisticated architecture with memory cells and gating mechanisms. This allows them to capture and retain important information over longer sequences. This key distinction makes LSTMs a preferred choice for various applications requiring sequential data analysis and prediction.</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2AB4C3A7-46A2-DB94-33DA-01551E4EBDA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7DE6249-1627-9866-084F-87CE1C80B3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3731291-08C1-59D5-0221-D70EEE06153B}"/>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856380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550E6-2B2F-6A2B-E78C-E6414AE89439}"/>
              </a:ext>
            </a:extLst>
          </p:cNvPr>
          <p:cNvSpPr>
            <a:spLocks noGrp="1"/>
          </p:cNvSpPr>
          <p:nvPr>
            <p:ph type="title"/>
          </p:nvPr>
        </p:nvSpPr>
        <p:spPr/>
        <p:txBody>
          <a:bodyPr/>
          <a:lstStyle/>
          <a:p>
            <a:r>
              <a:rPr lang="en-US" dirty="0"/>
              <a:t>Why we need LSTM ?</a:t>
            </a:r>
            <a:endParaRPr lang="en-IN" dirty="0"/>
          </a:p>
        </p:txBody>
      </p:sp>
      <p:sp>
        <p:nvSpPr>
          <p:cNvPr id="3" name="Content Placeholder 2">
            <a:extLst>
              <a:ext uri="{FF2B5EF4-FFF2-40B4-BE49-F238E27FC236}">
                <a16:creationId xmlns:a16="http://schemas.microsoft.com/office/drawing/2014/main" id="{308421D7-5A87-9BB1-1909-E2E13056274E}"/>
              </a:ext>
            </a:extLst>
          </p:cNvPr>
          <p:cNvSpPr>
            <a:spLocks noGrp="1"/>
          </p:cNvSpPr>
          <p:nvPr>
            <p:ph idx="1"/>
          </p:nvPr>
        </p:nvSpPr>
        <p:spPr/>
        <p:txBody>
          <a:bodyPr/>
          <a:lstStyle/>
          <a:p>
            <a:pPr marL="0" indent="0">
              <a:buNone/>
            </a:pPr>
            <a:r>
              <a:rPr lang="en-US" sz="1800" b="1" dirty="0"/>
              <a:t>Sentence Input:</a:t>
            </a:r>
            <a:br>
              <a:rPr lang="en-US" sz="1800" dirty="0"/>
            </a:br>
            <a:r>
              <a:rPr lang="en-US" sz="1800" dirty="0"/>
              <a:t>“Ravi went to the market. He bought apples, bananas, and oranges. When he came back, </a:t>
            </a:r>
            <a:r>
              <a:rPr lang="en-US" sz="1800" b="1" i="1" dirty="0"/>
              <a:t>he was very </a:t>
            </a:r>
            <a:r>
              <a:rPr lang="en-US" sz="1800" b="1" i="1" dirty="0">
                <a:solidFill>
                  <a:srgbClr val="0000FF"/>
                </a:solidFill>
              </a:rPr>
              <a:t>tired</a:t>
            </a:r>
            <a:r>
              <a:rPr lang="en-US" sz="1800" dirty="0"/>
              <a:t>.”</a:t>
            </a:r>
          </a:p>
          <a:p>
            <a:pPr marL="0" indent="0">
              <a:buNone/>
            </a:pPr>
            <a:endParaRPr lang="en-US" sz="1800" dirty="0"/>
          </a:p>
          <a:p>
            <a:pPr marL="0" indent="0">
              <a:buNone/>
            </a:pPr>
            <a:r>
              <a:rPr lang="en-US" sz="1800" dirty="0"/>
              <a:t>Now imagine we are trying to predict the word "</a:t>
            </a:r>
            <a:r>
              <a:rPr lang="en-US" sz="1800" b="1" dirty="0"/>
              <a:t>tired</a:t>
            </a:r>
            <a:r>
              <a:rPr lang="en-US" sz="1800" dirty="0"/>
              <a:t>" at the end of this sequence.</a:t>
            </a:r>
          </a:p>
          <a:p>
            <a:pPr>
              <a:buFont typeface="Arial" panose="020B0604020202020204" pitchFamily="34" charset="0"/>
              <a:buChar char="•"/>
            </a:pPr>
            <a:r>
              <a:rPr lang="en-US" sz="1800" dirty="0"/>
              <a:t>To predict “tired,” we need to understand who </a:t>
            </a:r>
            <a:r>
              <a:rPr lang="en-US" sz="1800" b="1" dirty="0"/>
              <a:t>“he”</a:t>
            </a:r>
            <a:r>
              <a:rPr lang="en-US" sz="1800" dirty="0"/>
              <a:t> refers to and what he did.</a:t>
            </a:r>
          </a:p>
          <a:p>
            <a:pPr>
              <a:buFont typeface="Arial" panose="020B0604020202020204" pitchFamily="34" charset="0"/>
              <a:buChar char="•"/>
            </a:pPr>
            <a:r>
              <a:rPr lang="en-US" sz="1800" dirty="0"/>
              <a:t>The information about </a:t>
            </a:r>
            <a:r>
              <a:rPr lang="en-US" sz="1800" b="1" dirty="0"/>
              <a:t>“Ravi went to the market”</a:t>
            </a:r>
            <a:r>
              <a:rPr lang="en-US" sz="1800" dirty="0"/>
              <a:t> is far back in the sequence.</a:t>
            </a:r>
          </a:p>
          <a:p>
            <a:pPr>
              <a:buFont typeface="Arial" panose="020B0604020202020204" pitchFamily="34" charset="0"/>
              <a:buChar char="•"/>
            </a:pPr>
            <a:r>
              <a:rPr lang="en-US" sz="1800" b="1" dirty="0"/>
              <a:t>Standard RNNs</a:t>
            </a:r>
            <a:r>
              <a:rPr lang="en-US" sz="1800" dirty="0"/>
              <a:t> can "forget" this earlier context as the sequence grows longer — this is due to something called the </a:t>
            </a:r>
            <a:r>
              <a:rPr lang="en-US" sz="1800" b="1" dirty="0"/>
              <a:t>vanishing gradient problem</a:t>
            </a:r>
            <a:r>
              <a:rPr lang="en-US" sz="1800" dirty="0"/>
              <a:t>.</a:t>
            </a:r>
          </a:p>
          <a:p>
            <a:pPr marL="0" indent="0">
              <a:buNone/>
            </a:pPr>
            <a:endParaRPr lang="en-IN" sz="1800" dirty="0"/>
          </a:p>
        </p:txBody>
      </p:sp>
      <p:sp>
        <p:nvSpPr>
          <p:cNvPr id="4" name="Date Placeholder 3">
            <a:extLst>
              <a:ext uri="{FF2B5EF4-FFF2-40B4-BE49-F238E27FC236}">
                <a16:creationId xmlns:a16="http://schemas.microsoft.com/office/drawing/2014/main" id="{DCD65049-8BDC-BD2B-99EA-0BA7A25DD2B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ECA7957B-E64A-6AD4-EF3D-6DD3319D3BE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9DBE850-99F3-D946-B2F9-EC478FDD3DB9}"/>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3402931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00E89-3145-4929-97CF-C03C67284A8C}"/>
              </a:ext>
            </a:extLst>
          </p:cNvPr>
          <p:cNvSpPr>
            <a:spLocks noGrp="1"/>
          </p:cNvSpPr>
          <p:nvPr>
            <p:ph type="title"/>
          </p:nvPr>
        </p:nvSpPr>
        <p:spPr/>
        <p:txBody>
          <a:bodyPr/>
          <a:lstStyle/>
          <a:p>
            <a:r>
              <a:rPr lang="en-IN" dirty="0"/>
              <a:t>LSTM – Long Short-Term Memory</a:t>
            </a:r>
          </a:p>
        </p:txBody>
      </p:sp>
      <p:sp>
        <p:nvSpPr>
          <p:cNvPr id="3" name="Content Placeholder 2">
            <a:extLst>
              <a:ext uri="{FF2B5EF4-FFF2-40B4-BE49-F238E27FC236}">
                <a16:creationId xmlns:a16="http://schemas.microsoft.com/office/drawing/2014/main" id="{F302CA7E-0E7C-4531-A271-108244C66425}"/>
              </a:ext>
            </a:extLst>
          </p:cNvPr>
          <p:cNvSpPr>
            <a:spLocks noGrp="1"/>
          </p:cNvSpPr>
          <p:nvPr>
            <p:ph idx="1"/>
          </p:nvPr>
        </p:nvSpPr>
        <p:spPr/>
        <p:txBody>
          <a:bodyPr/>
          <a:lstStyle/>
          <a:p>
            <a:pPr marL="0" indent="0">
              <a:buNone/>
            </a:pPr>
            <a:r>
              <a:rPr lang="en-US" dirty="0"/>
              <a:t>To address this, we use </a:t>
            </a:r>
            <a:r>
              <a:rPr lang="en-US" b="1" dirty="0"/>
              <a:t>LSTM</a:t>
            </a:r>
            <a:r>
              <a:rPr lang="en-US" dirty="0"/>
              <a:t> – a special kind of RNN that can learn to remember </a:t>
            </a:r>
            <a:r>
              <a:rPr lang="en-US" b="1" dirty="0"/>
              <a:t>important information for longer durations</a:t>
            </a:r>
            <a:r>
              <a:rPr lang="en-US" dirty="0"/>
              <a:t> and forget irrelevant data."</a:t>
            </a:r>
            <a:endParaRPr lang="en-IN" dirty="0"/>
          </a:p>
        </p:txBody>
      </p:sp>
      <p:sp>
        <p:nvSpPr>
          <p:cNvPr id="4" name="Date Placeholder 3">
            <a:extLst>
              <a:ext uri="{FF2B5EF4-FFF2-40B4-BE49-F238E27FC236}">
                <a16:creationId xmlns:a16="http://schemas.microsoft.com/office/drawing/2014/main" id="{1F814F31-C85F-4BC0-93BB-0208CF0DF9D5}"/>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A2B938A2-BBE0-4E80-829F-D062A5D56D0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9B8FD8F-7052-45BA-B562-762BF6822C65}"/>
              </a:ext>
            </a:extLst>
          </p:cNvPr>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2515045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A41B-48DF-4FDE-9A02-5E87B9B5DC63}"/>
              </a:ext>
            </a:extLst>
          </p:cNvPr>
          <p:cNvSpPr>
            <a:spLocks noGrp="1"/>
          </p:cNvSpPr>
          <p:nvPr>
            <p:ph type="title"/>
          </p:nvPr>
        </p:nvSpPr>
        <p:spPr/>
        <p:txBody>
          <a:bodyPr/>
          <a:lstStyle/>
          <a:p>
            <a:r>
              <a:rPr lang="en-IN" dirty="0"/>
              <a:t>Key Concepts in LSTM</a:t>
            </a:r>
          </a:p>
        </p:txBody>
      </p:sp>
      <p:sp>
        <p:nvSpPr>
          <p:cNvPr id="3" name="Content Placeholder 2">
            <a:extLst>
              <a:ext uri="{FF2B5EF4-FFF2-40B4-BE49-F238E27FC236}">
                <a16:creationId xmlns:a16="http://schemas.microsoft.com/office/drawing/2014/main" id="{01DB1448-6855-40C2-978A-CEBA75A90DA7}"/>
              </a:ext>
            </a:extLst>
          </p:cNvPr>
          <p:cNvSpPr>
            <a:spLocks noGrp="1"/>
          </p:cNvSpPr>
          <p:nvPr>
            <p:ph idx="1"/>
          </p:nvPr>
        </p:nvSpPr>
        <p:spPr/>
        <p:txBody>
          <a:bodyPr/>
          <a:lstStyle/>
          <a:p>
            <a:pPr marL="0" indent="0">
              <a:buNone/>
            </a:pPr>
            <a:r>
              <a:rPr lang="en-US" sz="1800" b="1" dirty="0"/>
              <a:t>1. Short-Term Context</a:t>
            </a:r>
          </a:p>
          <a:p>
            <a:pPr>
              <a:buFont typeface="Arial" panose="020B0604020202020204" pitchFamily="34" charset="0"/>
              <a:buChar char="•"/>
            </a:pPr>
            <a:r>
              <a:rPr lang="en-US" sz="1800" dirty="0"/>
              <a:t>This refers to the </a:t>
            </a:r>
            <a:r>
              <a:rPr lang="en-US" sz="1800" b="1" dirty="0"/>
              <a:t>recent memory</a:t>
            </a:r>
            <a:r>
              <a:rPr lang="en-US" sz="1800" dirty="0"/>
              <a:t>, like remembering the last few words or phrases.</a:t>
            </a:r>
          </a:p>
          <a:p>
            <a:pPr>
              <a:buFont typeface="Arial" panose="020B0604020202020204" pitchFamily="34" charset="0"/>
              <a:buChar char="•"/>
            </a:pPr>
            <a:r>
              <a:rPr lang="en-US" sz="1800" dirty="0"/>
              <a:t>Example: In the sentence “He bought apples, bananas…”, remembering the word “bananas” to predict “oranges” needs short-term memory.</a:t>
            </a:r>
          </a:p>
          <a:p>
            <a:pPr marL="0" indent="0">
              <a:buNone/>
            </a:pPr>
            <a:endParaRPr lang="en-US" sz="1800" b="1" dirty="0"/>
          </a:p>
          <a:p>
            <a:pPr marL="0" indent="0">
              <a:buNone/>
            </a:pPr>
            <a:r>
              <a:rPr lang="en-US" sz="1800" b="1" dirty="0"/>
              <a:t>2. Long-Term Context</a:t>
            </a:r>
          </a:p>
          <a:p>
            <a:pPr>
              <a:buFont typeface="Arial" panose="020B0604020202020204" pitchFamily="34" charset="0"/>
              <a:buChar char="•"/>
            </a:pPr>
            <a:r>
              <a:rPr lang="en-US" sz="1800" dirty="0"/>
              <a:t>This is the </a:t>
            </a:r>
            <a:r>
              <a:rPr lang="en-US" sz="1800" b="1" dirty="0"/>
              <a:t>important but older memory</a:t>
            </a:r>
            <a:r>
              <a:rPr lang="en-US" sz="1800" dirty="0"/>
              <a:t> from earlier in the sequence.</a:t>
            </a:r>
          </a:p>
          <a:p>
            <a:pPr>
              <a:buFont typeface="Arial" panose="020B0604020202020204" pitchFamily="34" charset="0"/>
              <a:buChar char="•"/>
            </a:pPr>
            <a:r>
              <a:rPr lang="en-US" sz="1800" dirty="0"/>
              <a:t>Example: Remembering that </a:t>
            </a:r>
            <a:r>
              <a:rPr lang="en-US" sz="1800" b="1" dirty="0"/>
              <a:t>“Ravi went to the market”</a:t>
            </a:r>
            <a:r>
              <a:rPr lang="en-US" sz="1800" dirty="0"/>
              <a:t> to make sense of “he was tired” — this needs long-term memory.</a:t>
            </a:r>
          </a:p>
          <a:p>
            <a:pPr>
              <a:buFont typeface="Arial" panose="020B0604020202020204" pitchFamily="34" charset="0"/>
              <a:buChar char="•"/>
            </a:pPr>
            <a:r>
              <a:rPr lang="en-US" sz="1800" dirty="0"/>
              <a:t>RNNs fail here, but LSTMs </a:t>
            </a:r>
            <a:r>
              <a:rPr lang="en-US" sz="1800" b="1" dirty="0"/>
              <a:t>learn what to retain</a:t>
            </a:r>
            <a:r>
              <a:rPr lang="en-US" sz="1800" dirty="0"/>
              <a:t> for the long term using gates.</a:t>
            </a:r>
          </a:p>
          <a:p>
            <a:endParaRPr lang="en-IN" sz="1800" dirty="0"/>
          </a:p>
        </p:txBody>
      </p:sp>
      <p:sp>
        <p:nvSpPr>
          <p:cNvPr id="4" name="Date Placeholder 3">
            <a:extLst>
              <a:ext uri="{FF2B5EF4-FFF2-40B4-BE49-F238E27FC236}">
                <a16:creationId xmlns:a16="http://schemas.microsoft.com/office/drawing/2014/main" id="{C1468426-B393-48EA-AE5D-AA969C5D64D6}"/>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70407AB6-0AE1-48C7-BC0C-E14B2643D35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0DA1A38-7F7C-4C55-B93A-7BA541400F1A}"/>
              </a:ext>
            </a:extLst>
          </p:cNvPr>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1097644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CA643-4EC6-4E14-A5C1-3A0F7123FB5A}"/>
              </a:ext>
            </a:extLst>
          </p:cNvPr>
          <p:cNvSpPr>
            <a:spLocks noGrp="1"/>
          </p:cNvSpPr>
          <p:nvPr>
            <p:ph type="title"/>
          </p:nvPr>
        </p:nvSpPr>
        <p:spPr/>
        <p:txBody>
          <a:bodyPr/>
          <a:lstStyle/>
          <a:p>
            <a:r>
              <a:rPr lang="en-IN" dirty="0"/>
              <a:t>Key Concepts in LSTM</a:t>
            </a:r>
          </a:p>
        </p:txBody>
      </p:sp>
      <p:sp>
        <p:nvSpPr>
          <p:cNvPr id="3" name="Content Placeholder 2">
            <a:extLst>
              <a:ext uri="{FF2B5EF4-FFF2-40B4-BE49-F238E27FC236}">
                <a16:creationId xmlns:a16="http://schemas.microsoft.com/office/drawing/2014/main" id="{1B61B79A-A699-4110-B531-CDA1ED61EE7F}"/>
              </a:ext>
            </a:extLst>
          </p:cNvPr>
          <p:cNvSpPr>
            <a:spLocks noGrp="1"/>
          </p:cNvSpPr>
          <p:nvPr>
            <p:ph idx="1"/>
          </p:nvPr>
        </p:nvSpPr>
        <p:spPr/>
        <p:txBody>
          <a:bodyPr/>
          <a:lstStyle/>
          <a:p>
            <a:pPr marL="0" indent="0" algn="just">
              <a:buNone/>
            </a:pPr>
            <a:r>
              <a:rPr lang="en-US" sz="1800" dirty="0"/>
              <a:t>3. </a:t>
            </a:r>
            <a:r>
              <a:rPr lang="en-US" sz="1800" b="1" dirty="0"/>
              <a:t>Short-Term Path (Hidden State)</a:t>
            </a:r>
          </a:p>
          <a:p>
            <a:pPr algn="just">
              <a:buFont typeface="Arial" panose="020B0604020202020204" pitchFamily="34" charset="0"/>
              <a:buChar char="•"/>
            </a:pPr>
            <a:r>
              <a:rPr lang="en-US" sz="1800" dirty="0"/>
              <a:t>This is the </a:t>
            </a:r>
            <a:r>
              <a:rPr lang="en-US" sz="1800" b="1" dirty="0"/>
              <a:t>path that carries information from one step to the next</a:t>
            </a:r>
            <a:r>
              <a:rPr lang="en-US" sz="1800" dirty="0"/>
              <a:t> via the </a:t>
            </a:r>
            <a:r>
              <a:rPr lang="en-US" sz="1800" b="1" dirty="0"/>
              <a:t>hidden state</a:t>
            </a:r>
            <a:r>
              <a:rPr lang="en-US" sz="1800" dirty="0"/>
              <a:t> (</a:t>
            </a:r>
            <a:r>
              <a:rPr lang="en-US" sz="1800" dirty="0" err="1"/>
              <a:t>h_t</a:t>
            </a:r>
            <a:r>
              <a:rPr lang="en-US" sz="1800" dirty="0"/>
              <a:t>).</a:t>
            </a:r>
          </a:p>
          <a:p>
            <a:pPr algn="just">
              <a:buFont typeface="Arial" panose="020B0604020202020204" pitchFamily="34" charset="0"/>
              <a:buChar char="•"/>
            </a:pPr>
            <a:r>
              <a:rPr lang="en-US" sz="1800" dirty="0"/>
              <a:t>It captures the current context (short-term), but it is vulnerable to vanishing gradients.</a:t>
            </a:r>
          </a:p>
          <a:p>
            <a:pPr marL="0" indent="0" algn="just">
              <a:buNone/>
            </a:pPr>
            <a:endParaRPr lang="en-US" sz="1800" b="1" dirty="0"/>
          </a:p>
          <a:p>
            <a:pPr marL="0" indent="0" algn="just">
              <a:buNone/>
            </a:pPr>
            <a:r>
              <a:rPr lang="en-US" sz="1800" b="1" dirty="0"/>
              <a:t>4. Long-Term Path (Cell State)</a:t>
            </a:r>
          </a:p>
          <a:p>
            <a:pPr algn="just">
              <a:buFont typeface="Arial" panose="020B0604020202020204" pitchFamily="34" charset="0"/>
              <a:buChar char="•"/>
            </a:pPr>
            <a:r>
              <a:rPr lang="en-US" sz="1800" dirty="0"/>
              <a:t>This is the </a:t>
            </a:r>
            <a:r>
              <a:rPr lang="en-US" sz="1800" b="1" dirty="0"/>
              <a:t>special feature of LSTM</a:t>
            </a:r>
            <a:r>
              <a:rPr lang="en-US" sz="1800" dirty="0"/>
              <a:t>, a separate memory stream (</a:t>
            </a:r>
            <a:r>
              <a:rPr lang="en-US" sz="1800" dirty="0" err="1"/>
              <a:t>c_t</a:t>
            </a:r>
            <a:r>
              <a:rPr lang="en-US" sz="1800" dirty="0"/>
              <a:t>), also called the </a:t>
            </a:r>
            <a:r>
              <a:rPr lang="en-US" sz="1800" b="1" dirty="0"/>
              <a:t>cell state</a:t>
            </a:r>
            <a:r>
              <a:rPr lang="en-US" sz="1800" dirty="0"/>
              <a:t>.</a:t>
            </a:r>
          </a:p>
          <a:p>
            <a:pPr algn="just">
              <a:buFont typeface="Arial" panose="020B0604020202020204" pitchFamily="34" charset="0"/>
              <a:buChar char="•"/>
            </a:pPr>
            <a:r>
              <a:rPr lang="en-US" sz="1800" dirty="0"/>
              <a:t>It allows information to </a:t>
            </a:r>
            <a:r>
              <a:rPr lang="en-US" sz="1800" b="1" dirty="0"/>
              <a:t>flow across many time steps</a:t>
            </a:r>
            <a:r>
              <a:rPr lang="en-US" sz="1800" dirty="0"/>
              <a:t> with minimal modification unless explicitly updated.</a:t>
            </a:r>
          </a:p>
          <a:p>
            <a:pPr algn="just">
              <a:buFont typeface="Arial" panose="020B0604020202020204" pitchFamily="34" charset="0"/>
              <a:buChar char="•"/>
            </a:pPr>
            <a:r>
              <a:rPr lang="en-US" sz="1800" dirty="0"/>
              <a:t>This path enables the network to retain information for longer durations (like remembering who "he" refers to after 20 words!).</a:t>
            </a:r>
          </a:p>
          <a:p>
            <a:endParaRPr lang="en-IN" sz="1800" dirty="0"/>
          </a:p>
          <a:p>
            <a:pPr>
              <a:buFont typeface="Arial" panose="020B0604020202020204" pitchFamily="34" charset="0"/>
              <a:buChar char="•"/>
            </a:pPr>
            <a:endParaRPr lang="en-US" sz="1800" dirty="0"/>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F1221133-0017-4D3B-8E63-DB35D0D35C7D}"/>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83A32A19-C0BF-4E75-8075-099635F64C7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F4CF6A1-9E19-4BB8-A99A-4E51A43CC591}"/>
              </a:ext>
            </a:extLst>
          </p:cNvPr>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4023538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F8D2-5002-4889-B6B6-8B978EE2F332}"/>
              </a:ext>
            </a:extLst>
          </p:cNvPr>
          <p:cNvSpPr>
            <a:spLocks noGrp="1"/>
          </p:cNvSpPr>
          <p:nvPr>
            <p:ph type="title"/>
          </p:nvPr>
        </p:nvSpPr>
        <p:spPr/>
        <p:txBody>
          <a:bodyPr/>
          <a:lstStyle/>
          <a:p>
            <a:r>
              <a:rPr lang="en-IN" dirty="0"/>
              <a:t>Key Concepts in LSTM</a:t>
            </a:r>
          </a:p>
        </p:txBody>
      </p:sp>
      <p:sp>
        <p:nvSpPr>
          <p:cNvPr id="3" name="Content Placeholder 2">
            <a:extLst>
              <a:ext uri="{FF2B5EF4-FFF2-40B4-BE49-F238E27FC236}">
                <a16:creationId xmlns:a16="http://schemas.microsoft.com/office/drawing/2014/main" id="{820A33A5-E182-40B2-9AF1-6D4F22F62E87}"/>
              </a:ext>
            </a:extLst>
          </p:cNvPr>
          <p:cNvSpPr>
            <a:spLocks noGrp="1"/>
          </p:cNvSpPr>
          <p:nvPr>
            <p:ph idx="1"/>
          </p:nvPr>
        </p:nvSpPr>
        <p:spPr/>
        <p:txBody>
          <a:bodyPr/>
          <a:lstStyle/>
          <a:p>
            <a:pPr marL="0" indent="0">
              <a:buNone/>
            </a:pPr>
            <a:r>
              <a:rPr lang="en-US" sz="2000" dirty="0"/>
              <a:t>Summary table</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endParaRPr lang="en-IN" sz="1000" dirty="0"/>
          </a:p>
          <a:p>
            <a:pPr marL="0" indent="0">
              <a:buNone/>
            </a:pPr>
            <a:endParaRPr lang="en-US" sz="2000" dirty="0"/>
          </a:p>
          <a:p>
            <a:pPr marL="0" indent="0">
              <a:buNone/>
            </a:pPr>
            <a:endParaRPr lang="en-IN" sz="2000" dirty="0"/>
          </a:p>
        </p:txBody>
      </p:sp>
      <p:sp>
        <p:nvSpPr>
          <p:cNvPr id="4" name="Date Placeholder 3">
            <a:extLst>
              <a:ext uri="{FF2B5EF4-FFF2-40B4-BE49-F238E27FC236}">
                <a16:creationId xmlns:a16="http://schemas.microsoft.com/office/drawing/2014/main" id="{6FDBB3E5-D794-41D2-81D4-1E8B48EE011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19617192-B43F-4B29-A661-5E1880CA104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9A7AA9-7F52-4E01-8F40-715E01899F45}"/>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8" name="Picture 7">
            <a:extLst>
              <a:ext uri="{FF2B5EF4-FFF2-40B4-BE49-F238E27FC236}">
                <a16:creationId xmlns:a16="http://schemas.microsoft.com/office/drawing/2014/main" id="{14EF6C39-024A-4426-BA36-129EEB8F71F0}"/>
              </a:ext>
            </a:extLst>
          </p:cNvPr>
          <p:cNvPicPr>
            <a:picLocks noChangeAspect="1"/>
          </p:cNvPicPr>
          <p:nvPr/>
        </p:nvPicPr>
        <p:blipFill>
          <a:blip r:embed="rId3"/>
          <a:stretch>
            <a:fillRect/>
          </a:stretch>
        </p:blipFill>
        <p:spPr>
          <a:xfrm>
            <a:off x="448468" y="1600202"/>
            <a:ext cx="8253417" cy="2433983"/>
          </a:xfrm>
          <a:prstGeom prst="rect">
            <a:avLst/>
          </a:prstGeom>
        </p:spPr>
      </p:pic>
    </p:spTree>
    <p:extLst>
      <p:ext uri="{BB962C8B-B14F-4D97-AF65-F5344CB8AC3E}">
        <p14:creationId xmlns:p14="http://schemas.microsoft.com/office/powerpoint/2010/main" val="1259930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F8D2-5002-4889-B6B6-8B978EE2F332}"/>
              </a:ext>
            </a:extLst>
          </p:cNvPr>
          <p:cNvSpPr>
            <a:spLocks noGrp="1"/>
          </p:cNvSpPr>
          <p:nvPr>
            <p:ph type="title"/>
          </p:nvPr>
        </p:nvSpPr>
        <p:spPr/>
        <p:txBody>
          <a:bodyPr/>
          <a:lstStyle/>
          <a:p>
            <a:r>
              <a:rPr lang="en-IN" dirty="0"/>
              <a:t>Key Concepts in LSTM</a:t>
            </a:r>
          </a:p>
        </p:txBody>
      </p:sp>
      <p:sp>
        <p:nvSpPr>
          <p:cNvPr id="3" name="Content Placeholder 2">
            <a:extLst>
              <a:ext uri="{FF2B5EF4-FFF2-40B4-BE49-F238E27FC236}">
                <a16:creationId xmlns:a16="http://schemas.microsoft.com/office/drawing/2014/main" id="{820A33A5-E182-40B2-9AF1-6D4F22F62E87}"/>
              </a:ext>
            </a:extLst>
          </p:cNvPr>
          <p:cNvSpPr>
            <a:spLocks noGrp="1"/>
          </p:cNvSpPr>
          <p:nvPr>
            <p:ph idx="1"/>
          </p:nvPr>
        </p:nvSpPr>
        <p:spPr/>
        <p:txBody>
          <a:bodyPr/>
          <a:lstStyle/>
          <a:p>
            <a:pPr marL="0" indent="0">
              <a:buNone/>
            </a:pPr>
            <a:r>
              <a:rPr lang="en-US" sz="2000" dirty="0"/>
              <a:t>Summary table</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lgn="just">
              <a:buNone/>
            </a:pPr>
            <a:r>
              <a:rPr lang="en-US" sz="1600" b="1" dirty="0"/>
              <a:t>Wrap-Up Analogy: </a:t>
            </a:r>
            <a:r>
              <a:rPr lang="en-US" sz="1600" dirty="0"/>
              <a:t>“Imagine your mind while reading a story: you retain </a:t>
            </a:r>
            <a:r>
              <a:rPr lang="en-US" sz="1600" b="1" dirty="0"/>
              <a:t>local events</a:t>
            </a:r>
            <a:r>
              <a:rPr lang="en-US" sz="1600" dirty="0"/>
              <a:t> (what happened just now), but you also remember the </a:t>
            </a:r>
            <a:r>
              <a:rPr lang="en-US" sz="1600" b="1" dirty="0"/>
              <a:t>main character’s goal</a:t>
            </a:r>
            <a:r>
              <a:rPr lang="en-US" sz="1600" dirty="0"/>
              <a:t> (from the beginning of the story). LSTM lets a neural network behave similarly — remembering what’s essential, forgetting what’s not.”</a:t>
            </a:r>
          </a:p>
          <a:p>
            <a:endParaRPr lang="en-IN" sz="1000" dirty="0"/>
          </a:p>
          <a:p>
            <a:pPr marL="0" indent="0">
              <a:buNone/>
            </a:pPr>
            <a:endParaRPr lang="en-US" sz="2000" dirty="0"/>
          </a:p>
          <a:p>
            <a:pPr marL="0" indent="0">
              <a:buNone/>
            </a:pPr>
            <a:endParaRPr lang="en-IN" sz="2000" dirty="0"/>
          </a:p>
        </p:txBody>
      </p:sp>
      <p:sp>
        <p:nvSpPr>
          <p:cNvPr id="4" name="Date Placeholder 3">
            <a:extLst>
              <a:ext uri="{FF2B5EF4-FFF2-40B4-BE49-F238E27FC236}">
                <a16:creationId xmlns:a16="http://schemas.microsoft.com/office/drawing/2014/main" id="{6FDBB3E5-D794-41D2-81D4-1E8B48EE011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19617192-B43F-4B29-A661-5E1880CA104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9A7AA9-7F52-4E01-8F40-715E01899F45}"/>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8" name="Picture 7">
            <a:extLst>
              <a:ext uri="{FF2B5EF4-FFF2-40B4-BE49-F238E27FC236}">
                <a16:creationId xmlns:a16="http://schemas.microsoft.com/office/drawing/2014/main" id="{14EF6C39-024A-4426-BA36-129EEB8F71F0}"/>
              </a:ext>
            </a:extLst>
          </p:cNvPr>
          <p:cNvPicPr>
            <a:picLocks noChangeAspect="1"/>
          </p:cNvPicPr>
          <p:nvPr/>
        </p:nvPicPr>
        <p:blipFill>
          <a:blip r:embed="rId3"/>
          <a:stretch>
            <a:fillRect/>
          </a:stretch>
        </p:blipFill>
        <p:spPr>
          <a:xfrm>
            <a:off x="448468" y="1600202"/>
            <a:ext cx="8253417" cy="2433983"/>
          </a:xfrm>
          <a:prstGeom prst="rect">
            <a:avLst/>
          </a:prstGeom>
        </p:spPr>
      </p:pic>
    </p:spTree>
    <p:extLst>
      <p:ext uri="{BB962C8B-B14F-4D97-AF65-F5344CB8AC3E}">
        <p14:creationId xmlns:p14="http://schemas.microsoft.com/office/powerpoint/2010/main" val="2016227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12646-36A2-4D35-B126-62A236C432D0}"/>
              </a:ext>
            </a:extLst>
          </p:cNvPr>
          <p:cNvSpPr>
            <a:spLocks noGrp="1"/>
          </p:cNvSpPr>
          <p:nvPr>
            <p:ph type="title"/>
          </p:nvPr>
        </p:nvSpPr>
        <p:spPr/>
        <p:txBody>
          <a:bodyPr/>
          <a:lstStyle/>
          <a:p>
            <a:r>
              <a:rPr lang="en-IN" dirty="0"/>
              <a:t>LSTM Networks</a:t>
            </a:r>
          </a:p>
        </p:txBody>
      </p:sp>
      <p:sp>
        <p:nvSpPr>
          <p:cNvPr id="3" name="Content Placeholder 2">
            <a:extLst>
              <a:ext uri="{FF2B5EF4-FFF2-40B4-BE49-F238E27FC236}">
                <a16:creationId xmlns:a16="http://schemas.microsoft.com/office/drawing/2014/main" id="{8C86513A-94EC-43A5-8194-DBC257E86FA6}"/>
              </a:ext>
            </a:extLst>
          </p:cNvPr>
          <p:cNvSpPr>
            <a:spLocks noGrp="1"/>
          </p:cNvSpPr>
          <p:nvPr>
            <p:ph idx="1"/>
          </p:nvPr>
        </p:nvSpPr>
        <p:spPr/>
        <p:txBody>
          <a:bodyPr/>
          <a:lstStyle/>
          <a:p>
            <a:pPr marL="0" indent="0" algn="just">
              <a:buNone/>
            </a:pPr>
            <a:r>
              <a:rPr lang="en-US" sz="1800" dirty="0">
                <a:solidFill>
                  <a:schemeClr val="tx1"/>
                </a:solidFill>
                <a:latin typeface="CMS"/>
              </a:rPr>
              <a:t>Long Short Term Memory networks – usually just called “LSTMs” – are a special kind of RNN, capable of learning long-term dependencies. They were introduced by </a:t>
            </a:r>
            <a:r>
              <a:rPr lang="en-US" sz="1800" dirty="0" err="1">
                <a:solidFill>
                  <a:schemeClr val="tx1"/>
                </a:solidFill>
                <a:latin typeface="CMS"/>
              </a:rPr>
              <a:t>Hochreiter</a:t>
            </a:r>
            <a:r>
              <a:rPr lang="en-US" sz="1800" dirty="0">
                <a:solidFill>
                  <a:schemeClr val="tx1"/>
                </a:solidFill>
                <a:latin typeface="CMS"/>
              </a:rPr>
              <a:t> &amp; Schmidhuber (</a:t>
            </a:r>
            <a:r>
              <a:rPr lang="en-US" sz="1800" b="1" dirty="0">
                <a:solidFill>
                  <a:schemeClr val="tx1"/>
                </a:solidFill>
                <a:latin typeface="CMS"/>
              </a:rPr>
              <a:t>1997</a:t>
            </a:r>
            <a:r>
              <a:rPr lang="en-US" sz="1800" dirty="0">
                <a:solidFill>
                  <a:schemeClr val="tx1"/>
                </a:solidFill>
                <a:latin typeface="CMS"/>
              </a:rPr>
              <a:t>), and were refined and popularized by many people in following work.</a:t>
            </a:r>
            <a:r>
              <a:rPr lang="en-US" sz="1800" baseline="30000" dirty="0">
                <a:solidFill>
                  <a:schemeClr val="tx1"/>
                </a:solidFill>
                <a:latin typeface="CMS"/>
              </a:rPr>
              <a:t>1</a:t>
            </a:r>
            <a:r>
              <a:rPr lang="en-US" sz="1800" dirty="0">
                <a:solidFill>
                  <a:schemeClr val="tx1"/>
                </a:solidFill>
                <a:latin typeface="CMS"/>
              </a:rPr>
              <a:t> They work tremendously well on a large variety of problems, and are now widely used.</a:t>
            </a:r>
          </a:p>
          <a:p>
            <a:pPr marL="0" indent="0" algn="just">
              <a:buNone/>
            </a:pPr>
            <a:endParaRPr lang="en-US" sz="1800" dirty="0">
              <a:solidFill>
                <a:schemeClr val="tx1"/>
              </a:solidFill>
              <a:latin typeface="CMS"/>
            </a:endParaRPr>
          </a:p>
          <a:p>
            <a:pPr marL="0" indent="0" algn="just">
              <a:buNone/>
            </a:pPr>
            <a:r>
              <a:rPr lang="en-US" sz="1800" dirty="0">
                <a:solidFill>
                  <a:schemeClr val="tx1"/>
                </a:solidFill>
              </a:rPr>
              <a:t>LSTMs are explicitly designed to avoid the long-term dependency problem. Remembering information for long periods of time is practically their default behavior, not something they struggle to learn!</a:t>
            </a:r>
            <a:endParaRPr lang="en-IN" sz="1800" dirty="0">
              <a:solidFill>
                <a:schemeClr val="tx1"/>
              </a:solidFill>
            </a:endParaRPr>
          </a:p>
        </p:txBody>
      </p:sp>
      <p:sp>
        <p:nvSpPr>
          <p:cNvPr id="4" name="Date Placeholder 3">
            <a:extLst>
              <a:ext uri="{FF2B5EF4-FFF2-40B4-BE49-F238E27FC236}">
                <a16:creationId xmlns:a16="http://schemas.microsoft.com/office/drawing/2014/main" id="{1B83644C-5CD0-4BBE-A141-8D31088933D9}"/>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147478F6-13EE-415B-8E6C-43D41735984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F4B000C-1056-4AF5-AEA4-1D6C4F6327A0}"/>
              </a:ext>
            </a:extLst>
          </p:cNvPr>
          <p:cNvSpPr>
            <a:spLocks noGrp="1"/>
          </p:cNvSpPr>
          <p:nvPr>
            <p:ph type="sldNum" sz="quarter" idx="12"/>
          </p:nvPr>
        </p:nvSpPr>
        <p:spPr/>
        <p:txBody>
          <a:bodyPr/>
          <a:lstStyle/>
          <a:p>
            <a:fld id="{BB2CE0DE-867F-455F-B20B-96D381B4AB71}" type="slidenum">
              <a:rPr lang="en-US" smtClean="0"/>
              <a:t>41</a:t>
            </a:fld>
            <a:endParaRPr lang="en-US"/>
          </a:p>
        </p:txBody>
      </p:sp>
      <p:sp>
        <p:nvSpPr>
          <p:cNvPr id="7" name="TextBox 6">
            <a:extLst>
              <a:ext uri="{FF2B5EF4-FFF2-40B4-BE49-F238E27FC236}">
                <a16:creationId xmlns:a16="http://schemas.microsoft.com/office/drawing/2014/main" id="{D143024B-1803-4887-97C1-BB5613AC82C3}"/>
              </a:ext>
            </a:extLst>
          </p:cNvPr>
          <p:cNvSpPr txBox="1"/>
          <p:nvPr/>
        </p:nvSpPr>
        <p:spPr>
          <a:xfrm>
            <a:off x="641500" y="5821059"/>
            <a:ext cx="6345007" cy="430887"/>
          </a:xfrm>
          <a:prstGeom prst="rect">
            <a:avLst/>
          </a:prstGeom>
          <a:noFill/>
        </p:spPr>
        <p:txBody>
          <a:bodyPr wrap="none" rtlCol="0">
            <a:spAutoFit/>
          </a:bodyPr>
          <a:lstStyle/>
          <a:p>
            <a:r>
              <a:rPr lang="en-US" sz="1100" baseline="30000" dirty="0">
                <a:solidFill>
                  <a:srgbClr val="6D6D6D"/>
                </a:solidFill>
                <a:latin typeface="CMS"/>
              </a:rPr>
              <a:t>1 </a:t>
            </a:r>
            <a:r>
              <a:rPr lang="en-IN" sz="1100" dirty="0">
                <a:solidFill>
                  <a:srgbClr val="5F5F5F"/>
                </a:solidFill>
                <a:latin typeface="CMS"/>
              </a:rPr>
              <a:t>Sepp </a:t>
            </a:r>
            <a:r>
              <a:rPr lang="en-IN" sz="1100" dirty="0" err="1">
                <a:solidFill>
                  <a:srgbClr val="5F5F5F"/>
                </a:solidFill>
                <a:latin typeface="CMS"/>
              </a:rPr>
              <a:t>Hochreiter</a:t>
            </a:r>
            <a:r>
              <a:rPr lang="en-IN" sz="1100" dirty="0">
                <a:solidFill>
                  <a:srgbClr val="5F5F5F"/>
                </a:solidFill>
                <a:latin typeface="CMS"/>
              </a:rPr>
              <a:t>, Jürgen </a:t>
            </a:r>
            <a:r>
              <a:rPr lang="en-IN" sz="1100" dirty="0" err="1">
                <a:solidFill>
                  <a:srgbClr val="5F5F5F"/>
                </a:solidFill>
                <a:latin typeface="CMS"/>
              </a:rPr>
              <a:t>Schmidhuber</a:t>
            </a:r>
            <a:r>
              <a:rPr lang="en-IN" sz="1100" dirty="0">
                <a:solidFill>
                  <a:srgbClr val="5F5F5F"/>
                </a:solidFill>
                <a:latin typeface="CMS"/>
              </a:rPr>
              <a:t>; Long Short-Term Memory. Neural </a:t>
            </a:r>
            <a:r>
              <a:rPr lang="en-IN" sz="1100" dirty="0" err="1">
                <a:solidFill>
                  <a:srgbClr val="5F5F5F"/>
                </a:solidFill>
                <a:latin typeface="CMS"/>
              </a:rPr>
              <a:t>Comput</a:t>
            </a:r>
            <a:r>
              <a:rPr lang="en-IN" sz="1100" dirty="0">
                <a:solidFill>
                  <a:srgbClr val="5F5F5F"/>
                </a:solidFill>
                <a:latin typeface="CMS"/>
              </a:rPr>
              <a:t> 1997; 9 (8): 1735–1780. </a:t>
            </a:r>
          </a:p>
          <a:p>
            <a:r>
              <a:rPr lang="en-IN" sz="1100" dirty="0" err="1">
                <a:solidFill>
                  <a:srgbClr val="5F5F5F"/>
                </a:solidFill>
                <a:latin typeface="CMS"/>
              </a:rPr>
              <a:t>doi</a:t>
            </a:r>
            <a:r>
              <a:rPr lang="en-IN" sz="1100" dirty="0">
                <a:solidFill>
                  <a:srgbClr val="5F5F5F"/>
                </a:solidFill>
                <a:latin typeface="CMS"/>
              </a:rPr>
              <a:t>: https://doi.org/10.1162/neco.1997.9.8.1735</a:t>
            </a:r>
            <a:endParaRPr lang="en-IN" sz="1100" dirty="0"/>
          </a:p>
        </p:txBody>
      </p:sp>
    </p:spTree>
    <p:extLst>
      <p:ext uri="{BB962C8B-B14F-4D97-AF65-F5344CB8AC3E}">
        <p14:creationId xmlns:p14="http://schemas.microsoft.com/office/powerpoint/2010/main" val="13051802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D40A-947C-4860-93A6-ED9AD04B1264}"/>
              </a:ext>
            </a:extLst>
          </p:cNvPr>
          <p:cNvSpPr>
            <a:spLocks noGrp="1"/>
          </p:cNvSpPr>
          <p:nvPr>
            <p:ph type="title"/>
          </p:nvPr>
        </p:nvSpPr>
        <p:spPr/>
        <p:txBody>
          <a:bodyPr/>
          <a:lstStyle/>
          <a:p>
            <a:r>
              <a:rPr lang="en-US" dirty="0"/>
              <a:t>LSTM networks</a:t>
            </a:r>
            <a:endParaRPr lang="en-IN" dirty="0"/>
          </a:p>
        </p:txBody>
      </p:sp>
      <p:sp>
        <p:nvSpPr>
          <p:cNvPr id="3" name="Content Placeholder 2">
            <a:extLst>
              <a:ext uri="{FF2B5EF4-FFF2-40B4-BE49-F238E27FC236}">
                <a16:creationId xmlns:a16="http://schemas.microsoft.com/office/drawing/2014/main" id="{EAC2D938-D025-4F71-B1F0-0C66DAF2EA3F}"/>
              </a:ext>
            </a:extLst>
          </p:cNvPr>
          <p:cNvSpPr>
            <a:spLocks noGrp="1"/>
          </p:cNvSpPr>
          <p:nvPr>
            <p:ph idx="1"/>
          </p:nvPr>
        </p:nvSpPr>
        <p:spPr/>
        <p:txBody>
          <a:bodyPr/>
          <a:lstStyle/>
          <a:p>
            <a:pPr marL="0" indent="0">
              <a:buNone/>
            </a:pPr>
            <a:r>
              <a:rPr lang="en-US" sz="2000" dirty="0">
                <a:solidFill>
                  <a:srgbClr val="333333"/>
                </a:solidFill>
                <a:latin typeface="CMS"/>
              </a:rPr>
              <a:t>LSTMs also have this chain like structure, but the repeating module has a different structure. Instead of having a single neural network layer, there are four, interacting in a very special way.</a:t>
            </a:r>
            <a:endParaRPr lang="en-IN" sz="2000" dirty="0"/>
          </a:p>
        </p:txBody>
      </p:sp>
      <p:sp>
        <p:nvSpPr>
          <p:cNvPr id="4" name="Date Placeholder 3">
            <a:extLst>
              <a:ext uri="{FF2B5EF4-FFF2-40B4-BE49-F238E27FC236}">
                <a16:creationId xmlns:a16="http://schemas.microsoft.com/office/drawing/2014/main" id="{0313B736-7198-460B-B2A3-0E16AD0F6EFE}"/>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99589133-9086-4FCB-AD2F-DD8339E9B14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0E09AEB-E52C-41D9-852B-EA06B2045BC8}"/>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7" name="Picture 6">
            <a:extLst>
              <a:ext uri="{FF2B5EF4-FFF2-40B4-BE49-F238E27FC236}">
                <a16:creationId xmlns:a16="http://schemas.microsoft.com/office/drawing/2014/main" id="{7241F58B-B132-4A5A-B833-EBF2E49F57BB}"/>
              </a:ext>
            </a:extLst>
          </p:cNvPr>
          <p:cNvPicPr>
            <a:picLocks noChangeAspect="1"/>
          </p:cNvPicPr>
          <p:nvPr/>
        </p:nvPicPr>
        <p:blipFill>
          <a:blip r:embed="rId2"/>
          <a:stretch>
            <a:fillRect/>
          </a:stretch>
        </p:blipFill>
        <p:spPr>
          <a:xfrm>
            <a:off x="1295400" y="2255153"/>
            <a:ext cx="6248400" cy="2347697"/>
          </a:xfrm>
          <a:prstGeom prst="rect">
            <a:avLst/>
          </a:prstGeom>
        </p:spPr>
      </p:pic>
      <p:pic>
        <p:nvPicPr>
          <p:cNvPr id="8" name="Picture 7">
            <a:extLst>
              <a:ext uri="{FF2B5EF4-FFF2-40B4-BE49-F238E27FC236}">
                <a16:creationId xmlns:a16="http://schemas.microsoft.com/office/drawing/2014/main" id="{9058B391-6905-4D22-AD73-2554A707A85B}"/>
              </a:ext>
            </a:extLst>
          </p:cNvPr>
          <p:cNvPicPr>
            <a:picLocks noChangeAspect="1"/>
          </p:cNvPicPr>
          <p:nvPr/>
        </p:nvPicPr>
        <p:blipFill>
          <a:blip r:embed="rId3"/>
          <a:stretch>
            <a:fillRect/>
          </a:stretch>
        </p:blipFill>
        <p:spPr>
          <a:xfrm>
            <a:off x="1981202" y="4755250"/>
            <a:ext cx="4711995" cy="877919"/>
          </a:xfrm>
          <a:prstGeom prst="rect">
            <a:avLst/>
          </a:prstGeom>
        </p:spPr>
      </p:pic>
    </p:spTree>
    <p:extLst>
      <p:ext uri="{BB962C8B-B14F-4D97-AF65-F5344CB8AC3E}">
        <p14:creationId xmlns:p14="http://schemas.microsoft.com/office/powerpoint/2010/main" val="9199192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3AFF-C1EB-4886-87B6-013D2E03A086}"/>
              </a:ext>
            </a:extLst>
          </p:cNvPr>
          <p:cNvSpPr>
            <a:spLocks noGrp="1"/>
          </p:cNvSpPr>
          <p:nvPr>
            <p:ph type="title"/>
          </p:nvPr>
        </p:nvSpPr>
        <p:spPr/>
        <p:txBody>
          <a:bodyPr/>
          <a:lstStyle/>
          <a:p>
            <a:r>
              <a:rPr lang="en-US" dirty="0"/>
              <a:t>LSTM Gates</a:t>
            </a:r>
            <a:endParaRPr lang="en-IN" dirty="0"/>
          </a:p>
        </p:txBody>
      </p:sp>
      <p:sp>
        <p:nvSpPr>
          <p:cNvPr id="3" name="Content Placeholder 2">
            <a:extLst>
              <a:ext uri="{FF2B5EF4-FFF2-40B4-BE49-F238E27FC236}">
                <a16:creationId xmlns:a16="http://schemas.microsoft.com/office/drawing/2014/main" id="{BA1D7BEC-6FFD-44CA-85B9-9D4344C9BAE7}"/>
              </a:ext>
            </a:extLst>
          </p:cNvPr>
          <p:cNvSpPr>
            <a:spLocks noGrp="1"/>
          </p:cNvSpPr>
          <p:nvPr>
            <p:ph idx="1"/>
          </p:nvPr>
        </p:nvSpPr>
        <p:spPr/>
        <p:txBody>
          <a:bodyPr/>
          <a:lstStyle/>
          <a:p>
            <a:pPr marL="0" indent="0">
              <a:buNone/>
            </a:pPr>
            <a:r>
              <a:rPr lang="en-US" sz="2000" dirty="0"/>
              <a:t>Forget gate: To remove something from cell state</a:t>
            </a:r>
          </a:p>
          <a:p>
            <a:pPr marL="0" indent="0">
              <a:buNone/>
            </a:pPr>
            <a:r>
              <a:rPr lang="en-US" sz="2000" dirty="0"/>
              <a:t>Input gate: To add something to cell state</a:t>
            </a:r>
          </a:p>
          <a:p>
            <a:pPr marL="0" indent="0">
              <a:buNone/>
            </a:pPr>
            <a:r>
              <a:rPr lang="en-IN" sz="2000" dirty="0"/>
              <a:t>Output gate: To calculate hidden state</a:t>
            </a:r>
          </a:p>
        </p:txBody>
      </p:sp>
      <p:sp>
        <p:nvSpPr>
          <p:cNvPr id="4" name="Date Placeholder 3">
            <a:extLst>
              <a:ext uri="{FF2B5EF4-FFF2-40B4-BE49-F238E27FC236}">
                <a16:creationId xmlns:a16="http://schemas.microsoft.com/office/drawing/2014/main" id="{FADD6E25-77D6-4418-B44C-3BEBF58C5B5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AE954CB8-D379-411D-A655-41C7A6382BA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09A1F1D-0CD6-43D2-8F4B-208EEF45549C}"/>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8" name="Picture 7">
            <a:extLst>
              <a:ext uri="{FF2B5EF4-FFF2-40B4-BE49-F238E27FC236}">
                <a16:creationId xmlns:a16="http://schemas.microsoft.com/office/drawing/2014/main" id="{CBB49E24-FDE4-4453-8F84-D45DEC42B114}"/>
              </a:ext>
            </a:extLst>
          </p:cNvPr>
          <p:cNvPicPr>
            <a:picLocks noChangeAspect="1"/>
          </p:cNvPicPr>
          <p:nvPr/>
        </p:nvPicPr>
        <p:blipFill>
          <a:blip r:embed="rId2"/>
          <a:stretch>
            <a:fillRect/>
          </a:stretch>
        </p:blipFill>
        <p:spPr>
          <a:xfrm>
            <a:off x="955675" y="2488618"/>
            <a:ext cx="7239000" cy="3912182"/>
          </a:xfrm>
          <a:prstGeom prst="rect">
            <a:avLst/>
          </a:prstGeom>
        </p:spPr>
      </p:pic>
    </p:spTree>
    <p:extLst>
      <p:ext uri="{BB962C8B-B14F-4D97-AF65-F5344CB8AC3E}">
        <p14:creationId xmlns:p14="http://schemas.microsoft.com/office/powerpoint/2010/main" val="248571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5BA4-7855-4721-823F-A5C9F988444B}"/>
              </a:ext>
            </a:extLst>
          </p:cNvPr>
          <p:cNvSpPr>
            <a:spLocks noGrp="1"/>
          </p:cNvSpPr>
          <p:nvPr>
            <p:ph type="title"/>
          </p:nvPr>
        </p:nvSpPr>
        <p:spPr/>
        <p:txBody>
          <a:bodyPr/>
          <a:lstStyle/>
          <a:p>
            <a:r>
              <a:rPr lang="en-US" dirty="0"/>
              <a:t>Forget gate</a:t>
            </a:r>
            <a:endParaRPr lang="en-IN" dirty="0"/>
          </a:p>
        </p:txBody>
      </p:sp>
      <p:sp>
        <p:nvSpPr>
          <p:cNvPr id="3" name="Content Placeholder 2">
            <a:extLst>
              <a:ext uri="{FF2B5EF4-FFF2-40B4-BE49-F238E27FC236}">
                <a16:creationId xmlns:a16="http://schemas.microsoft.com/office/drawing/2014/main" id="{D00E4764-5FAB-42D3-9909-6D4B5619B14F}"/>
              </a:ext>
            </a:extLst>
          </p:cNvPr>
          <p:cNvSpPr>
            <a:spLocks noGrp="1"/>
          </p:cNvSpPr>
          <p:nvPr>
            <p:ph idx="1"/>
          </p:nvPr>
        </p:nvSpPr>
        <p:spPr/>
        <p:txBody>
          <a:bodyPr/>
          <a:lstStyle/>
          <a:p>
            <a:pPr marL="0" indent="0">
              <a:buNone/>
            </a:pPr>
            <a:r>
              <a:rPr lang="en-US" sz="1600" dirty="0">
                <a:solidFill>
                  <a:srgbClr val="333333"/>
                </a:solidFill>
                <a:latin typeface="CMS"/>
              </a:rPr>
              <a:t>The first step in our LSTM is to decide what information we’re going to throw away from the cell state. This decision is made by a sigmoid layer called the “forget gate layer.” It looks at </a:t>
            </a:r>
            <a:r>
              <a:rPr lang="en-US" sz="1600" dirty="0">
                <a:solidFill>
                  <a:srgbClr val="333333"/>
                </a:solidFill>
                <a:latin typeface="MathJax_Math-italic"/>
              </a:rPr>
              <a:t>ht</a:t>
            </a:r>
            <a:r>
              <a:rPr lang="en-US" sz="1600" dirty="0">
                <a:solidFill>
                  <a:srgbClr val="333333"/>
                </a:solidFill>
                <a:latin typeface="MathJax_Main"/>
              </a:rPr>
              <a:t>−1 </a:t>
            </a:r>
            <a:r>
              <a:rPr lang="en-US" sz="1600" dirty="0">
                <a:solidFill>
                  <a:srgbClr val="333333"/>
                </a:solidFill>
                <a:latin typeface="CMS"/>
              </a:rPr>
              <a:t>and </a:t>
            </a:r>
            <a:r>
              <a:rPr lang="en-US" sz="1600" dirty="0" err="1">
                <a:solidFill>
                  <a:srgbClr val="333333"/>
                </a:solidFill>
                <a:latin typeface="MathJax_Math-italic"/>
              </a:rPr>
              <a:t>xt</a:t>
            </a:r>
            <a:r>
              <a:rPr lang="en-US" sz="1600" dirty="0">
                <a:solidFill>
                  <a:srgbClr val="333333"/>
                </a:solidFill>
                <a:latin typeface="CMS"/>
              </a:rPr>
              <a:t>, and outputs a number between </a:t>
            </a:r>
            <a:r>
              <a:rPr lang="en-US" sz="1600" dirty="0">
                <a:solidFill>
                  <a:srgbClr val="333333"/>
                </a:solidFill>
                <a:latin typeface="MathJax_Main"/>
              </a:rPr>
              <a:t>0</a:t>
            </a:r>
            <a:r>
              <a:rPr lang="en-US" sz="1600" dirty="0">
                <a:solidFill>
                  <a:srgbClr val="333333"/>
                </a:solidFill>
                <a:latin typeface="CMS"/>
              </a:rPr>
              <a:t> and 1 for each number in the cell state </a:t>
            </a:r>
            <a:r>
              <a:rPr lang="en-US" sz="1600" dirty="0">
                <a:solidFill>
                  <a:srgbClr val="333333"/>
                </a:solidFill>
                <a:latin typeface="MathJax_Math-italic"/>
              </a:rPr>
              <a:t>Ct</a:t>
            </a:r>
            <a:r>
              <a:rPr lang="en-US" sz="1600" dirty="0">
                <a:solidFill>
                  <a:srgbClr val="333333"/>
                </a:solidFill>
                <a:latin typeface="MathJax_Main"/>
              </a:rPr>
              <a:t>−1</a:t>
            </a:r>
            <a:r>
              <a:rPr lang="en-US" sz="1600" dirty="0">
                <a:solidFill>
                  <a:srgbClr val="333333"/>
                </a:solidFill>
                <a:latin typeface="CMS"/>
              </a:rPr>
              <a:t>. A </a:t>
            </a:r>
            <a:r>
              <a:rPr lang="en-US" sz="1600" dirty="0">
                <a:solidFill>
                  <a:srgbClr val="333333"/>
                </a:solidFill>
                <a:latin typeface="MathJax_Main"/>
              </a:rPr>
              <a:t>1</a:t>
            </a:r>
            <a:r>
              <a:rPr lang="en-US" sz="1600" dirty="0">
                <a:solidFill>
                  <a:srgbClr val="333333"/>
                </a:solidFill>
                <a:latin typeface="CMS"/>
              </a:rPr>
              <a:t> represents “completely keep this” while a </a:t>
            </a:r>
            <a:r>
              <a:rPr lang="en-US" sz="1600" dirty="0">
                <a:solidFill>
                  <a:srgbClr val="333333"/>
                </a:solidFill>
                <a:latin typeface="MathJax_Main"/>
              </a:rPr>
              <a:t>0</a:t>
            </a:r>
            <a:r>
              <a:rPr lang="en-US" sz="1600" dirty="0">
                <a:solidFill>
                  <a:srgbClr val="333333"/>
                </a:solidFill>
                <a:latin typeface="CMS"/>
              </a:rPr>
              <a:t> represents “completely get rid of this.”</a:t>
            </a:r>
            <a:endParaRPr lang="en-IN" sz="1600" dirty="0"/>
          </a:p>
          <a:p>
            <a:pPr marL="0" indent="0">
              <a:buNone/>
            </a:pPr>
            <a:endParaRPr lang="en-IN" sz="1600" dirty="0"/>
          </a:p>
        </p:txBody>
      </p:sp>
      <p:sp>
        <p:nvSpPr>
          <p:cNvPr id="4" name="Date Placeholder 3">
            <a:extLst>
              <a:ext uri="{FF2B5EF4-FFF2-40B4-BE49-F238E27FC236}">
                <a16:creationId xmlns:a16="http://schemas.microsoft.com/office/drawing/2014/main" id="{B2935969-A990-4F7C-8ECC-1CDD60F4FA03}"/>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851E4A50-E8A2-4D31-94F5-05E71701585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28AFAE1-C5DA-4B8E-B608-BC5F8242BBDA}"/>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57B08B28-7DE4-4455-B89B-A22C6BC004A6}"/>
              </a:ext>
            </a:extLst>
          </p:cNvPr>
          <p:cNvPicPr>
            <a:picLocks noChangeAspect="1"/>
          </p:cNvPicPr>
          <p:nvPr/>
        </p:nvPicPr>
        <p:blipFill>
          <a:blip r:embed="rId3"/>
          <a:stretch>
            <a:fillRect/>
          </a:stretch>
        </p:blipFill>
        <p:spPr>
          <a:xfrm>
            <a:off x="838200" y="2819402"/>
            <a:ext cx="6781800" cy="2094707"/>
          </a:xfrm>
          <a:prstGeom prst="rect">
            <a:avLst/>
          </a:prstGeom>
        </p:spPr>
      </p:pic>
    </p:spTree>
    <p:extLst>
      <p:ext uri="{BB962C8B-B14F-4D97-AF65-F5344CB8AC3E}">
        <p14:creationId xmlns:p14="http://schemas.microsoft.com/office/powerpoint/2010/main" val="1863643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BC1F-B58F-4DDC-A7E7-5BCF6699601C}"/>
              </a:ext>
            </a:extLst>
          </p:cNvPr>
          <p:cNvSpPr>
            <a:spLocks noGrp="1"/>
          </p:cNvSpPr>
          <p:nvPr>
            <p:ph type="title"/>
          </p:nvPr>
        </p:nvSpPr>
        <p:spPr/>
        <p:txBody>
          <a:bodyPr/>
          <a:lstStyle/>
          <a:p>
            <a:r>
              <a:rPr lang="en-US" dirty="0"/>
              <a:t>Input Gate</a:t>
            </a:r>
            <a:endParaRPr lang="en-IN" dirty="0"/>
          </a:p>
        </p:txBody>
      </p:sp>
      <p:sp>
        <p:nvSpPr>
          <p:cNvPr id="3" name="Content Placeholder 2">
            <a:extLst>
              <a:ext uri="{FF2B5EF4-FFF2-40B4-BE49-F238E27FC236}">
                <a16:creationId xmlns:a16="http://schemas.microsoft.com/office/drawing/2014/main" id="{B8ABA63B-22BE-4AD3-B9D9-F3566EB69BFF}"/>
              </a:ext>
            </a:extLst>
          </p:cNvPr>
          <p:cNvSpPr>
            <a:spLocks noGrp="1"/>
          </p:cNvSpPr>
          <p:nvPr>
            <p:ph idx="1"/>
          </p:nvPr>
        </p:nvSpPr>
        <p:spPr/>
        <p:txBody>
          <a:bodyPr/>
          <a:lstStyle/>
          <a:p>
            <a:pPr marL="0" indent="0" algn="just">
              <a:buNone/>
            </a:pPr>
            <a:r>
              <a:rPr lang="en-US" sz="1800" dirty="0">
                <a:solidFill>
                  <a:srgbClr val="333333"/>
                </a:solidFill>
                <a:latin typeface="CMS"/>
              </a:rPr>
              <a:t>The next step is to decide what new information we’re going to store in the cell state. This has two parts. First, a sigmoid layer called the “input gate layer” decides which values we’ll update. Next, a tanh layer creates a vector of new candidate values, </a:t>
            </a:r>
            <a:r>
              <a:rPr lang="en-US" sz="1800" dirty="0" err="1">
                <a:solidFill>
                  <a:srgbClr val="333333"/>
                </a:solidFill>
                <a:latin typeface="MathJax_Math-italic"/>
              </a:rPr>
              <a:t>C</a:t>
            </a:r>
            <a:r>
              <a:rPr lang="en-US" sz="1800" dirty="0" err="1">
                <a:solidFill>
                  <a:srgbClr val="333333"/>
                </a:solidFill>
                <a:latin typeface="MathJax_Main"/>
              </a:rPr>
              <a:t>~</a:t>
            </a:r>
            <a:r>
              <a:rPr lang="en-US" sz="1800" dirty="0" err="1">
                <a:solidFill>
                  <a:srgbClr val="333333"/>
                </a:solidFill>
                <a:latin typeface="MathJax_Math-italic"/>
              </a:rPr>
              <a:t>t</a:t>
            </a:r>
            <a:r>
              <a:rPr lang="en-US" sz="1800" dirty="0">
                <a:solidFill>
                  <a:srgbClr val="333333"/>
                </a:solidFill>
                <a:latin typeface="CMS"/>
              </a:rPr>
              <a:t>, that could be added to the state. In the next step, we’ll combine these two to create an update to the state.</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ED33B447-9493-47DF-9843-71B7DD8472AC}"/>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86A3E04-ACB9-4604-A4D1-4DC8835D5C9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6468E1-C215-4974-81E4-CDA5C1A29BE1}"/>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8" name="Picture 7">
            <a:extLst>
              <a:ext uri="{FF2B5EF4-FFF2-40B4-BE49-F238E27FC236}">
                <a16:creationId xmlns:a16="http://schemas.microsoft.com/office/drawing/2014/main" id="{65C642A9-911D-4AD8-8D3D-A5F8BEFC8F62}"/>
              </a:ext>
            </a:extLst>
          </p:cNvPr>
          <p:cNvPicPr>
            <a:picLocks noChangeAspect="1"/>
          </p:cNvPicPr>
          <p:nvPr/>
        </p:nvPicPr>
        <p:blipFill>
          <a:blip r:embed="rId3"/>
          <a:stretch>
            <a:fillRect/>
          </a:stretch>
        </p:blipFill>
        <p:spPr>
          <a:xfrm>
            <a:off x="993775" y="2627608"/>
            <a:ext cx="7162800" cy="2212387"/>
          </a:xfrm>
          <a:prstGeom prst="rect">
            <a:avLst/>
          </a:prstGeom>
        </p:spPr>
      </p:pic>
    </p:spTree>
    <p:extLst>
      <p:ext uri="{BB962C8B-B14F-4D97-AF65-F5344CB8AC3E}">
        <p14:creationId xmlns:p14="http://schemas.microsoft.com/office/powerpoint/2010/main" val="24673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563E-2E25-4C93-94AC-C2D7EEE53BB7}"/>
              </a:ext>
            </a:extLst>
          </p:cNvPr>
          <p:cNvSpPr>
            <a:spLocks noGrp="1"/>
          </p:cNvSpPr>
          <p:nvPr>
            <p:ph type="title"/>
          </p:nvPr>
        </p:nvSpPr>
        <p:spPr/>
        <p:txBody>
          <a:bodyPr/>
          <a:lstStyle/>
          <a:p>
            <a:r>
              <a:rPr lang="en-US" dirty="0"/>
              <a:t>Input gate</a:t>
            </a:r>
            <a:endParaRPr lang="en-IN" dirty="0"/>
          </a:p>
        </p:txBody>
      </p:sp>
      <p:sp>
        <p:nvSpPr>
          <p:cNvPr id="3" name="Content Placeholder 2">
            <a:extLst>
              <a:ext uri="{FF2B5EF4-FFF2-40B4-BE49-F238E27FC236}">
                <a16:creationId xmlns:a16="http://schemas.microsoft.com/office/drawing/2014/main" id="{04A5B30A-423D-45E6-A9F6-7C6D12E2BBAC}"/>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5F88333-73A1-4E05-835B-A917EB0ED8D4}"/>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4166F11F-CD72-4A7E-B3B7-A41F785749F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FDF8724-4B08-4F4F-97C7-4E39852117F8}"/>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AA1934CD-9157-48CE-AA2C-E03B6B8FD1C8}"/>
              </a:ext>
            </a:extLst>
          </p:cNvPr>
          <p:cNvPicPr>
            <a:picLocks noChangeAspect="1"/>
          </p:cNvPicPr>
          <p:nvPr/>
        </p:nvPicPr>
        <p:blipFill>
          <a:blip r:embed="rId2"/>
          <a:stretch>
            <a:fillRect/>
          </a:stretch>
        </p:blipFill>
        <p:spPr>
          <a:xfrm>
            <a:off x="609600" y="1285576"/>
            <a:ext cx="7506748" cy="4286848"/>
          </a:xfrm>
          <a:prstGeom prst="rect">
            <a:avLst/>
          </a:prstGeom>
        </p:spPr>
      </p:pic>
    </p:spTree>
    <p:extLst>
      <p:ext uri="{BB962C8B-B14F-4D97-AF65-F5344CB8AC3E}">
        <p14:creationId xmlns:p14="http://schemas.microsoft.com/office/powerpoint/2010/main" val="35567490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FFF1-F7F6-4405-9671-5BDDEF9D515D}"/>
              </a:ext>
            </a:extLst>
          </p:cNvPr>
          <p:cNvSpPr>
            <a:spLocks noGrp="1"/>
          </p:cNvSpPr>
          <p:nvPr>
            <p:ph type="title"/>
          </p:nvPr>
        </p:nvSpPr>
        <p:spPr/>
        <p:txBody>
          <a:bodyPr/>
          <a:lstStyle/>
          <a:p>
            <a:r>
              <a:rPr lang="en-US" dirty="0"/>
              <a:t>Output gate</a:t>
            </a:r>
            <a:endParaRPr lang="en-IN" dirty="0"/>
          </a:p>
        </p:txBody>
      </p:sp>
      <p:sp>
        <p:nvSpPr>
          <p:cNvPr id="3" name="Content Placeholder 2">
            <a:extLst>
              <a:ext uri="{FF2B5EF4-FFF2-40B4-BE49-F238E27FC236}">
                <a16:creationId xmlns:a16="http://schemas.microsoft.com/office/drawing/2014/main" id="{897E7CA5-CEC9-4881-B317-8BD2DA684077}"/>
              </a:ext>
            </a:extLst>
          </p:cNvPr>
          <p:cNvSpPr>
            <a:spLocks noGrp="1"/>
          </p:cNvSpPr>
          <p:nvPr>
            <p:ph idx="1"/>
          </p:nvPr>
        </p:nvSpPr>
        <p:spPr/>
        <p:txBody>
          <a:bodyPr/>
          <a:lstStyle/>
          <a:p>
            <a:pPr marL="0" indent="0" algn="just">
              <a:buNone/>
            </a:pPr>
            <a:r>
              <a:rPr lang="en-US" sz="1800" dirty="0">
                <a:solidFill>
                  <a:srgbClr val="333333"/>
                </a:solidFill>
                <a:latin typeface="CMS"/>
              </a:rPr>
              <a:t>Finally, we need to decide what we’re going to output. This output will be based on our cell state, but will be a filtered version. First, we run a sigmoid layer which decides what parts of the cell state we’re going to output. Then, we put the cell state through </a:t>
            </a:r>
            <a:r>
              <a:rPr lang="en-US" sz="1800" dirty="0">
                <a:solidFill>
                  <a:srgbClr val="333333"/>
                </a:solidFill>
                <a:latin typeface="MathJax_Main"/>
              </a:rPr>
              <a:t>tanh</a:t>
            </a:r>
            <a:r>
              <a:rPr lang="en-US" sz="1800" dirty="0">
                <a:solidFill>
                  <a:srgbClr val="333333"/>
                </a:solidFill>
                <a:latin typeface="CMS"/>
              </a:rPr>
              <a:t> (to push the values to be between </a:t>
            </a:r>
            <a:r>
              <a:rPr lang="en-US" sz="1800" dirty="0">
                <a:solidFill>
                  <a:srgbClr val="333333"/>
                </a:solidFill>
                <a:latin typeface="MathJax_Main"/>
              </a:rPr>
              <a:t>−1</a:t>
            </a:r>
            <a:r>
              <a:rPr lang="en-US" sz="1800" dirty="0">
                <a:solidFill>
                  <a:srgbClr val="333333"/>
                </a:solidFill>
                <a:latin typeface="CMS"/>
              </a:rPr>
              <a:t> and 1) and multiply it by the output of the sigmoid gate, so that we only output the parts we decided to.</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9F745009-61FF-4B23-B7E3-D506468E8EEF}"/>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3FD29D61-55FA-484F-9E95-A0BFE975657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2E4BB3D-7C72-4376-9020-8E022BD01086}"/>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54816B63-894E-4F40-9330-96E938F8923B}"/>
              </a:ext>
            </a:extLst>
          </p:cNvPr>
          <p:cNvPicPr>
            <a:picLocks noChangeAspect="1"/>
          </p:cNvPicPr>
          <p:nvPr/>
        </p:nvPicPr>
        <p:blipFill>
          <a:blip r:embed="rId3"/>
          <a:stretch>
            <a:fillRect/>
          </a:stretch>
        </p:blipFill>
        <p:spPr>
          <a:xfrm>
            <a:off x="833438" y="2896547"/>
            <a:ext cx="7467600" cy="2306531"/>
          </a:xfrm>
          <a:prstGeom prst="rect">
            <a:avLst/>
          </a:prstGeom>
        </p:spPr>
      </p:pic>
    </p:spTree>
    <p:extLst>
      <p:ext uri="{BB962C8B-B14F-4D97-AF65-F5344CB8AC3E}">
        <p14:creationId xmlns:p14="http://schemas.microsoft.com/office/powerpoint/2010/main" val="23287822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EFB4-4238-483A-9AE1-AA8BEC708792}"/>
              </a:ext>
            </a:extLst>
          </p:cNvPr>
          <p:cNvSpPr>
            <a:spLocks noGrp="1"/>
          </p:cNvSpPr>
          <p:nvPr>
            <p:ph type="title"/>
          </p:nvPr>
        </p:nvSpPr>
        <p:spPr/>
        <p:txBody>
          <a:bodyPr/>
          <a:lstStyle/>
          <a:p>
            <a:r>
              <a:rPr lang="en-US" dirty="0"/>
              <a:t>LSTM: For next word predictor</a:t>
            </a:r>
            <a:endParaRPr lang="en-IN" dirty="0"/>
          </a:p>
        </p:txBody>
      </p:sp>
      <p:sp>
        <p:nvSpPr>
          <p:cNvPr id="3" name="Content Placeholder 2">
            <a:extLst>
              <a:ext uri="{FF2B5EF4-FFF2-40B4-BE49-F238E27FC236}">
                <a16:creationId xmlns:a16="http://schemas.microsoft.com/office/drawing/2014/main" id="{EF26EC0E-A8F9-4F0C-B518-73D3EA22B7CE}"/>
              </a:ext>
            </a:extLst>
          </p:cNvPr>
          <p:cNvSpPr>
            <a:spLocks noGrp="1"/>
          </p:cNvSpPr>
          <p:nvPr>
            <p:ph idx="1"/>
          </p:nvPr>
        </p:nvSpPr>
        <p:spPr/>
        <p:txBody>
          <a:bodyPr/>
          <a:lstStyle/>
          <a:p>
            <a:pPr marL="0" indent="0">
              <a:buNone/>
            </a:pPr>
            <a:r>
              <a:rPr lang="en-US" sz="1600" dirty="0"/>
              <a:t>An </a:t>
            </a:r>
            <a:r>
              <a:rPr lang="en-US" sz="1600" b="1" dirty="0"/>
              <a:t>Embedding layer</a:t>
            </a:r>
            <a:r>
              <a:rPr lang="en-US" sz="1600" dirty="0"/>
              <a:t> is a trainable lookup table that maps </a:t>
            </a:r>
            <a:r>
              <a:rPr lang="en-US" sz="1600" b="1" dirty="0"/>
              <a:t>integer indices (e.g., word IDs)</a:t>
            </a:r>
            <a:r>
              <a:rPr lang="en-US" sz="1600" dirty="0"/>
              <a:t> to </a:t>
            </a:r>
            <a:r>
              <a:rPr lang="en-US" sz="1600" b="1" dirty="0"/>
              <a:t>dense vectors</a:t>
            </a:r>
            <a:r>
              <a:rPr lang="en-US" sz="1600" dirty="0"/>
              <a:t> of fixed size (real numbers).</a:t>
            </a:r>
          </a:p>
          <a:p>
            <a:pPr marL="0" indent="0">
              <a:buNone/>
            </a:pPr>
            <a:endParaRPr lang="en-US" sz="1600" dirty="0"/>
          </a:p>
          <a:p>
            <a:pPr marL="0" indent="0">
              <a:buNone/>
            </a:pPr>
            <a:r>
              <a:rPr lang="en-US" sz="1050" dirty="0"/>
              <a:t>Suppose you have a vocabulary of 5 words:</a:t>
            </a:r>
            <a:endParaRPr lang="en-IN" sz="1600" dirty="0"/>
          </a:p>
        </p:txBody>
      </p:sp>
      <p:sp>
        <p:nvSpPr>
          <p:cNvPr id="4" name="Date Placeholder 3">
            <a:extLst>
              <a:ext uri="{FF2B5EF4-FFF2-40B4-BE49-F238E27FC236}">
                <a16:creationId xmlns:a16="http://schemas.microsoft.com/office/drawing/2014/main" id="{8F01C9DF-4EE1-40C7-8F0D-FA98A2CE1FF1}"/>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C9061DCE-C958-4A15-8266-12181126B0B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44E5C1-7AFC-405C-91A6-C34D9B59B646}"/>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A86A6E0D-9E2A-4D7A-A732-4D07C34449CD}"/>
              </a:ext>
            </a:extLst>
          </p:cNvPr>
          <p:cNvPicPr>
            <a:picLocks noChangeAspect="1"/>
          </p:cNvPicPr>
          <p:nvPr/>
        </p:nvPicPr>
        <p:blipFill>
          <a:blip r:embed="rId3"/>
          <a:stretch>
            <a:fillRect/>
          </a:stretch>
        </p:blipFill>
        <p:spPr>
          <a:xfrm>
            <a:off x="549614" y="2438402"/>
            <a:ext cx="3077004" cy="304843"/>
          </a:xfrm>
          <a:prstGeom prst="rect">
            <a:avLst/>
          </a:prstGeom>
        </p:spPr>
      </p:pic>
      <p:pic>
        <p:nvPicPr>
          <p:cNvPr id="10" name="Picture 9">
            <a:extLst>
              <a:ext uri="{FF2B5EF4-FFF2-40B4-BE49-F238E27FC236}">
                <a16:creationId xmlns:a16="http://schemas.microsoft.com/office/drawing/2014/main" id="{69808CA0-5FB7-4D13-B5D9-C9545F7D0840}"/>
              </a:ext>
            </a:extLst>
          </p:cNvPr>
          <p:cNvPicPr>
            <a:picLocks noChangeAspect="1"/>
          </p:cNvPicPr>
          <p:nvPr/>
        </p:nvPicPr>
        <p:blipFill>
          <a:blip r:embed="rId4"/>
          <a:stretch>
            <a:fillRect/>
          </a:stretch>
        </p:blipFill>
        <p:spPr>
          <a:xfrm>
            <a:off x="609602" y="2913498"/>
            <a:ext cx="2140157" cy="1810902"/>
          </a:xfrm>
          <a:prstGeom prst="rect">
            <a:avLst/>
          </a:prstGeom>
        </p:spPr>
      </p:pic>
      <p:pic>
        <p:nvPicPr>
          <p:cNvPr id="12" name="Picture 11">
            <a:extLst>
              <a:ext uri="{FF2B5EF4-FFF2-40B4-BE49-F238E27FC236}">
                <a16:creationId xmlns:a16="http://schemas.microsoft.com/office/drawing/2014/main" id="{092A42EF-7348-4D1B-960C-644652F3A088}"/>
              </a:ext>
            </a:extLst>
          </p:cNvPr>
          <p:cNvPicPr>
            <a:picLocks noChangeAspect="1"/>
          </p:cNvPicPr>
          <p:nvPr/>
        </p:nvPicPr>
        <p:blipFill>
          <a:blip r:embed="rId5"/>
          <a:stretch>
            <a:fillRect/>
          </a:stretch>
        </p:blipFill>
        <p:spPr>
          <a:xfrm>
            <a:off x="633485" y="5012076"/>
            <a:ext cx="2519827" cy="406424"/>
          </a:xfrm>
          <a:prstGeom prst="rect">
            <a:avLst/>
          </a:prstGeom>
        </p:spPr>
      </p:pic>
      <p:sp>
        <p:nvSpPr>
          <p:cNvPr id="15" name="TextBox 14">
            <a:extLst>
              <a:ext uri="{FF2B5EF4-FFF2-40B4-BE49-F238E27FC236}">
                <a16:creationId xmlns:a16="http://schemas.microsoft.com/office/drawing/2014/main" id="{DD889C3F-AE5E-48E3-B305-A93633851FB6}"/>
              </a:ext>
            </a:extLst>
          </p:cNvPr>
          <p:cNvSpPr txBox="1"/>
          <p:nvPr/>
        </p:nvSpPr>
        <p:spPr>
          <a:xfrm>
            <a:off x="556695" y="5502532"/>
            <a:ext cx="8292078" cy="830997"/>
          </a:xfrm>
          <a:prstGeom prst="rect">
            <a:avLst/>
          </a:prstGeom>
          <a:noFill/>
        </p:spPr>
        <p:txBody>
          <a:bodyPr wrap="none" rtlCol="0">
            <a:spAutoFit/>
          </a:bodyPr>
          <a:lstStyle/>
          <a:p>
            <a:r>
              <a:rPr lang="en-US" sz="1200" b="1" dirty="0"/>
              <a:t>Without Embedding (Just Integers)</a:t>
            </a:r>
          </a:p>
          <a:p>
            <a:r>
              <a:rPr lang="en-US" sz="1200" dirty="0"/>
              <a:t>The sequence [0, 1, 4] is not meaningful to a neural network — it only sees these as arbitrary numbers.</a:t>
            </a:r>
          </a:p>
          <a:p>
            <a:endParaRPr lang="en-IN" sz="1200" dirty="0"/>
          </a:p>
          <a:p>
            <a:endParaRPr lang="en-IN" sz="1200" dirty="0"/>
          </a:p>
        </p:txBody>
      </p:sp>
    </p:spTree>
    <p:extLst>
      <p:ext uri="{BB962C8B-B14F-4D97-AF65-F5344CB8AC3E}">
        <p14:creationId xmlns:p14="http://schemas.microsoft.com/office/powerpoint/2010/main" val="39283485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7A20-5FAA-49A2-8D98-2A77D9D0CC68}"/>
              </a:ext>
            </a:extLst>
          </p:cNvPr>
          <p:cNvSpPr>
            <a:spLocks noGrp="1"/>
          </p:cNvSpPr>
          <p:nvPr>
            <p:ph type="title"/>
          </p:nvPr>
        </p:nvSpPr>
        <p:spPr/>
        <p:txBody>
          <a:bodyPr/>
          <a:lstStyle/>
          <a:p>
            <a:r>
              <a:rPr lang="en-US" dirty="0"/>
              <a:t>LSTM: For next word predictor</a:t>
            </a:r>
            <a:endParaRPr lang="en-IN" dirty="0"/>
          </a:p>
        </p:txBody>
      </p:sp>
      <p:sp>
        <p:nvSpPr>
          <p:cNvPr id="3" name="Content Placeholder 2">
            <a:extLst>
              <a:ext uri="{FF2B5EF4-FFF2-40B4-BE49-F238E27FC236}">
                <a16:creationId xmlns:a16="http://schemas.microsoft.com/office/drawing/2014/main" id="{6A37FF9C-A6F5-4C65-8F8C-2417A0ABC92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77CDD6F-B7D0-4AA6-A985-B35E3161FB6A}"/>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3D39F615-93C2-41D3-A9AD-C1DFF9025C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11E7877-2613-47AB-9B39-8BD319DE7727}"/>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8" name="Picture 7">
            <a:extLst>
              <a:ext uri="{FF2B5EF4-FFF2-40B4-BE49-F238E27FC236}">
                <a16:creationId xmlns:a16="http://schemas.microsoft.com/office/drawing/2014/main" id="{83B4852D-7F11-42A7-B790-F412D182FD38}"/>
              </a:ext>
            </a:extLst>
          </p:cNvPr>
          <p:cNvPicPr>
            <a:picLocks noChangeAspect="1"/>
          </p:cNvPicPr>
          <p:nvPr/>
        </p:nvPicPr>
        <p:blipFill>
          <a:blip r:embed="rId2"/>
          <a:stretch>
            <a:fillRect/>
          </a:stretch>
        </p:blipFill>
        <p:spPr>
          <a:xfrm>
            <a:off x="622445" y="1219200"/>
            <a:ext cx="5048955" cy="4172532"/>
          </a:xfrm>
          <a:prstGeom prst="rect">
            <a:avLst/>
          </a:prstGeom>
        </p:spPr>
      </p:pic>
      <p:pic>
        <p:nvPicPr>
          <p:cNvPr id="10" name="Picture 9">
            <a:extLst>
              <a:ext uri="{FF2B5EF4-FFF2-40B4-BE49-F238E27FC236}">
                <a16:creationId xmlns:a16="http://schemas.microsoft.com/office/drawing/2014/main" id="{CAAD44F5-729E-4085-B29B-B2F85D4B1BEF}"/>
              </a:ext>
            </a:extLst>
          </p:cNvPr>
          <p:cNvPicPr>
            <a:picLocks noChangeAspect="1"/>
          </p:cNvPicPr>
          <p:nvPr/>
        </p:nvPicPr>
        <p:blipFill>
          <a:blip r:embed="rId3"/>
          <a:stretch>
            <a:fillRect/>
          </a:stretch>
        </p:blipFill>
        <p:spPr>
          <a:xfrm>
            <a:off x="5835134" y="4038600"/>
            <a:ext cx="3041737" cy="2362200"/>
          </a:xfrm>
          <a:prstGeom prst="rect">
            <a:avLst/>
          </a:prstGeom>
        </p:spPr>
      </p:pic>
    </p:spTree>
    <p:extLst>
      <p:ext uri="{BB962C8B-B14F-4D97-AF65-F5344CB8AC3E}">
        <p14:creationId xmlns:p14="http://schemas.microsoft.com/office/powerpoint/2010/main" val="6317549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6153-AFA7-4085-A796-BF3F2382E766}"/>
              </a:ext>
            </a:extLst>
          </p:cNvPr>
          <p:cNvSpPr>
            <a:spLocks noGrp="1"/>
          </p:cNvSpPr>
          <p:nvPr>
            <p:ph type="title"/>
          </p:nvPr>
        </p:nvSpPr>
        <p:spPr/>
        <p:txBody>
          <a:bodyPr/>
          <a:lstStyle/>
          <a:p>
            <a:r>
              <a:rPr lang="en-US" dirty="0"/>
              <a:t>LSTM: For next word predictor</a:t>
            </a:r>
            <a:endParaRPr lang="en-IN" dirty="0"/>
          </a:p>
        </p:txBody>
      </p:sp>
      <p:sp>
        <p:nvSpPr>
          <p:cNvPr id="3" name="Content Placeholder 2">
            <a:extLst>
              <a:ext uri="{FF2B5EF4-FFF2-40B4-BE49-F238E27FC236}">
                <a16:creationId xmlns:a16="http://schemas.microsoft.com/office/drawing/2014/main" id="{DFF1BAA5-87E7-4D95-B9C7-F5D539217217}"/>
              </a:ext>
            </a:extLst>
          </p:cNvPr>
          <p:cNvSpPr>
            <a:spLocks noGrp="1"/>
          </p:cNvSpPr>
          <p:nvPr>
            <p:ph idx="1"/>
          </p:nvPr>
        </p:nvSpPr>
        <p:spPr/>
        <p:txBody>
          <a:bodyPr/>
          <a:lstStyle/>
          <a:p>
            <a:pPr marL="0" indent="0">
              <a:buNone/>
            </a:pPr>
            <a:r>
              <a:rPr lang="en-US" sz="1800" dirty="0"/>
              <a:t>Embedding: </a:t>
            </a:r>
            <a:r>
              <a:rPr lang="en-US" sz="1800" b="1" dirty="0"/>
              <a:t>Why Is This Useful?</a:t>
            </a:r>
          </a:p>
          <a:p>
            <a:pPr>
              <a:buFont typeface="Arial" panose="020B0604020202020204" pitchFamily="34" charset="0"/>
              <a:buChar char="•"/>
            </a:pPr>
            <a:r>
              <a:rPr lang="en-US" sz="1800" dirty="0"/>
              <a:t>It lets the model </a:t>
            </a:r>
            <a:r>
              <a:rPr lang="en-US" sz="1800" b="1" dirty="0"/>
              <a:t>capture semantic similarity</a:t>
            </a:r>
            <a:r>
              <a:rPr lang="en-US" sz="1800" dirty="0"/>
              <a:t>.</a:t>
            </a:r>
          </a:p>
          <a:p>
            <a:pPr>
              <a:buFont typeface="Arial" panose="020B0604020202020204" pitchFamily="34" charset="0"/>
              <a:buChar char="•"/>
            </a:pPr>
            <a:r>
              <a:rPr lang="en-US" sz="1800" dirty="0"/>
              <a:t>For example, words like “deep” and “AI” may end up with similar embeddings because they occur in similar contexts.</a:t>
            </a:r>
          </a:p>
          <a:p>
            <a:pPr>
              <a:buFont typeface="Arial" panose="020B0604020202020204" pitchFamily="34" charset="0"/>
              <a:buChar char="•"/>
            </a:pPr>
            <a:r>
              <a:rPr lang="en-US" sz="1800" dirty="0"/>
              <a:t>Embeddings are </a:t>
            </a:r>
            <a:r>
              <a:rPr lang="en-US" sz="1800" b="1" dirty="0"/>
              <a:t>learned representations</a:t>
            </a:r>
            <a:r>
              <a:rPr lang="en-US" sz="1800" dirty="0"/>
              <a:t> that improve performance in NLP tasks.</a:t>
            </a:r>
          </a:p>
          <a:p>
            <a:pPr marL="0" indent="0">
              <a:buNone/>
            </a:pPr>
            <a:endParaRPr lang="en-US" sz="1800" dirty="0"/>
          </a:p>
          <a:p>
            <a:pPr marL="0" indent="0">
              <a:buNone/>
            </a:pPr>
            <a:endParaRPr lang="en-US" sz="1200" b="1" dirty="0"/>
          </a:p>
          <a:p>
            <a:pPr marL="0" indent="0">
              <a:buNone/>
            </a:pPr>
            <a:endParaRPr lang="en-US" sz="1200" b="1" dirty="0"/>
          </a:p>
          <a:p>
            <a:pPr marL="0" indent="0">
              <a:buNone/>
            </a:pPr>
            <a:r>
              <a:rPr lang="en-US" sz="1200" dirty="0"/>
              <a:t>"Think of the embedding layer as a dictionary that translates word IDs into meaning — where each word is defined not by a definition but by a list of numbers representing what it </a:t>
            </a:r>
            <a:r>
              <a:rPr lang="en-US" sz="1200" i="1" dirty="0"/>
              <a:t>means</a:t>
            </a:r>
            <a:r>
              <a:rPr lang="en-US" sz="1200" dirty="0"/>
              <a:t> in the current language context."</a:t>
            </a:r>
          </a:p>
          <a:p>
            <a:endParaRPr lang="en-IN" sz="9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IN" sz="1800" dirty="0"/>
          </a:p>
        </p:txBody>
      </p:sp>
      <p:sp>
        <p:nvSpPr>
          <p:cNvPr id="4" name="Date Placeholder 3">
            <a:extLst>
              <a:ext uri="{FF2B5EF4-FFF2-40B4-BE49-F238E27FC236}">
                <a16:creationId xmlns:a16="http://schemas.microsoft.com/office/drawing/2014/main" id="{39D3E699-D3C7-4D8F-9266-6C49BE4CDF46}"/>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171C1EC2-57E2-4EFC-8117-7BE87C20C31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FA54E30-6DC8-442A-B784-3D35808801C3}"/>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3871182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C51B-ADD9-BF8E-2209-494BB347A9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BB7022-A51C-05E4-D701-E8CA46E7F5A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826491D-209E-6887-C16E-31171B4E81FE}"/>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8F181B46-1E4D-95CD-6A3A-134F467F2B0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E02A73-C6AB-54D6-927B-49146E2ACC6A}"/>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8" name="Picture 7">
            <a:extLst>
              <a:ext uri="{FF2B5EF4-FFF2-40B4-BE49-F238E27FC236}">
                <a16:creationId xmlns:a16="http://schemas.microsoft.com/office/drawing/2014/main" id="{E22C3C64-C2B4-8FC3-A124-397F2B37D68D}"/>
              </a:ext>
            </a:extLst>
          </p:cNvPr>
          <p:cNvPicPr>
            <a:picLocks noChangeAspect="1"/>
          </p:cNvPicPr>
          <p:nvPr/>
        </p:nvPicPr>
        <p:blipFill>
          <a:blip r:embed="rId2"/>
          <a:stretch>
            <a:fillRect/>
          </a:stretch>
        </p:blipFill>
        <p:spPr>
          <a:xfrm>
            <a:off x="381000" y="152402"/>
            <a:ext cx="4048690" cy="6173061"/>
          </a:xfrm>
          <a:prstGeom prst="rect">
            <a:avLst/>
          </a:prstGeom>
        </p:spPr>
      </p:pic>
      <p:pic>
        <p:nvPicPr>
          <p:cNvPr id="10" name="Picture 9">
            <a:extLst>
              <a:ext uri="{FF2B5EF4-FFF2-40B4-BE49-F238E27FC236}">
                <a16:creationId xmlns:a16="http://schemas.microsoft.com/office/drawing/2014/main" id="{7BDF614D-29FC-C51F-6AFF-6C6106852ADF}"/>
              </a:ext>
            </a:extLst>
          </p:cNvPr>
          <p:cNvPicPr>
            <a:picLocks noChangeAspect="1"/>
          </p:cNvPicPr>
          <p:nvPr/>
        </p:nvPicPr>
        <p:blipFill>
          <a:blip r:embed="rId3"/>
          <a:stretch>
            <a:fillRect/>
          </a:stretch>
        </p:blipFill>
        <p:spPr>
          <a:xfrm>
            <a:off x="4632653" y="136527"/>
            <a:ext cx="4153480" cy="6173061"/>
          </a:xfrm>
          <a:prstGeom prst="rect">
            <a:avLst/>
          </a:prstGeom>
        </p:spPr>
      </p:pic>
    </p:spTree>
    <p:extLst>
      <p:ext uri="{BB962C8B-B14F-4D97-AF65-F5344CB8AC3E}">
        <p14:creationId xmlns:p14="http://schemas.microsoft.com/office/powerpoint/2010/main" val="21827380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85A8-0D63-7C6A-46C4-88B2359A1E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B01D7E-4652-7784-EBE0-B739E78056B2}"/>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6DE1757-2BF3-84DC-5306-1F8A82DBB6F1}"/>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7FE03599-647C-BF87-07E1-AA91070A26B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96115BE-8774-8A22-9FAC-A35C8AA6B416}"/>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8" name="Picture 7">
            <a:extLst>
              <a:ext uri="{FF2B5EF4-FFF2-40B4-BE49-F238E27FC236}">
                <a16:creationId xmlns:a16="http://schemas.microsoft.com/office/drawing/2014/main" id="{4104AF8A-24D5-5B7A-478F-FAB7297B5B54}"/>
              </a:ext>
            </a:extLst>
          </p:cNvPr>
          <p:cNvPicPr>
            <a:picLocks noChangeAspect="1"/>
          </p:cNvPicPr>
          <p:nvPr/>
        </p:nvPicPr>
        <p:blipFill>
          <a:blip r:embed="rId2"/>
          <a:stretch>
            <a:fillRect/>
          </a:stretch>
        </p:blipFill>
        <p:spPr>
          <a:xfrm>
            <a:off x="228602" y="126789"/>
            <a:ext cx="4191585" cy="6401693"/>
          </a:xfrm>
          <a:prstGeom prst="rect">
            <a:avLst/>
          </a:prstGeom>
        </p:spPr>
      </p:pic>
      <p:pic>
        <p:nvPicPr>
          <p:cNvPr id="10" name="Picture 9">
            <a:extLst>
              <a:ext uri="{FF2B5EF4-FFF2-40B4-BE49-F238E27FC236}">
                <a16:creationId xmlns:a16="http://schemas.microsoft.com/office/drawing/2014/main" id="{7CC58CF7-8157-5068-57F3-6DBEDF7C568B}"/>
              </a:ext>
            </a:extLst>
          </p:cNvPr>
          <p:cNvPicPr>
            <a:picLocks noChangeAspect="1"/>
          </p:cNvPicPr>
          <p:nvPr/>
        </p:nvPicPr>
        <p:blipFill>
          <a:blip r:embed="rId3"/>
          <a:stretch>
            <a:fillRect/>
          </a:stretch>
        </p:blipFill>
        <p:spPr>
          <a:xfrm>
            <a:off x="4567240" y="126789"/>
            <a:ext cx="4258269" cy="6277851"/>
          </a:xfrm>
          <a:prstGeom prst="rect">
            <a:avLst/>
          </a:prstGeom>
        </p:spPr>
      </p:pic>
    </p:spTree>
    <p:extLst>
      <p:ext uri="{BB962C8B-B14F-4D97-AF65-F5344CB8AC3E}">
        <p14:creationId xmlns:p14="http://schemas.microsoft.com/office/powerpoint/2010/main" val="26026111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E918-18A5-CF7A-565E-4E9093FA57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531280-3F5C-10AC-EC27-6C4490F639B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27735AE-7879-0950-2F1B-74D516FA89FC}"/>
              </a:ext>
            </a:extLst>
          </p:cNvPr>
          <p:cNvSpPr>
            <a:spLocks noGrp="1"/>
          </p:cNvSpPr>
          <p:nvPr>
            <p:ph type="dt" sz="half" idx="10"/>
          </p:nvPr>
        </p:nvSpPr>
        <p:spPr/>
        <p:txBody>
          <a:bodyPr/>
          <a:lstStyle/>
          <a:p>
            <a:fld id="{59A993AC-6FC6-4FD7-BA84-6FD82A41DCAC}" type="datetime3">
              <a:rPr lang="en-US" smtClean="0"/>
              <a:t>30 June 2026</a:t>
            </a:fld>
            <a:endParaRPr lang="en-US"/>
          </a:p>
        </p:txBody>
      </p:sp>
      <p:sp>
        <p:nvSpPr>
          <p:cNvPr id="5" name="Footer Placeholder 4">
            <a:extLst>
              <a:ext uri="{FF2B5EF4-FFF2-40B4-BE49-F238E27FC236}">
                <a16:creationId xmlns:a16="http://schemas.microsoft.com/office/drawing/2014/main" id="{0738BAC7-123F-9501-E5CD-DA8BFF3BA43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C10EAB2-6120-27A8-BA41-874019DC61A0}"/>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8" name="Picture 7">
            <a:extLst>
              <a:ext uri="{FF2B5EF4-FFF2-40B4-BE49-F238E27FC236}">
                <a16:creationId xmlns:a16="http://schemas.microsoft.com/office/drawing/2014/main" id="{F5DFCC3B-A4A8-CF74-D754-D885C916DFA8}"/>
              </a:ext>
            </a:extLst>
          </p:cNvPr>
          <p:cNvPicPr>
            <a:picLocks noChangeAspect="1"/>
          </p:cNvPicPr>
          <p:nvPr/>
        </p:nvPicPr>
        <p:blipFill>
          <a:blip r:embed="rId2"/>
          <a:stretch>
            <a:fillRect/>
          </a:stretch>
        </p:blipFill>
        <p:spPr>
          <a:xfrm>
            <a:off x="404004" y="136525"/>
            <a:ext cx="4182059" cy="6420746"/>
          </a:xfrm>
          <a:prstGeom prst="rect">
            <a:avLst/>
          </a:prstGeom>
        </p:spPr>
      </p:pic>
      <p:pic>
        <p:nvPicPr>
          <p:cNvPr id="10" name="Picture 9">
            <a:extLst>
              <a:ext uri="{FF2B5EF4-FFF2-40B4-BE49-F238E27FC236}">
                <a16:creationId xmlns:a16="http://schemas.microsoft.com/office/drawing/2014/main" id="{50E236CA-3B3F-5FE3-2E7E-FACF596451CF}"/>
              </a:ext>
            </a:extLst>
          </p:cNvPr>
          <p:cNvPicPr>
            <a:picLocks noChangeAspect="1"/>
          </p:cNvPicPr>
          <p:nvPr/>
        </p:nvPicPr>
        <p:blipFill>
          <a:blip r:embed="rId3"/>
          <a:stretch>
            <a:fillRect/>
          </a:stretch>
        </p:blipFill>
        <p:spPr>
          <a:xfrm>
            <a:off x="4778505" y="163286"/>
            <a:ext cx="4210638" cy="4982270"/>
          </a:xfrm>
          <a:prstGeom prst="rect">
            <a:avLst/>
          </a:prstGeom>
        </p:spPr>
      </p:pic>
    </p:spTree>
    <p:extLst>
      <p:ext uri="{BB962C8B-B14F-4D97-AF65-F5344CB8AC3E}">
        <p14:creationId xmlns:p14="http://schemas.microsoft.com/office/powerpoint/2010/main" val="41340116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30 June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54</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7032</TotalTime>
  <Words>3817</Words>
  <Application>Microsoft Office PowerPoint</Application>
  <PresentationFormat>On-screen Show (4:3)</PresentationFormat>
  <Paragraphs>425</Paragraphs>
  <Slides>54</Slides>
  <Notes>24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54</vt:i4>
      </vt:variant>
    </vt:vector>
  </HeadingPairs>
  <TitlesOfParts>
    <vt:vector size="68" baseType="lpstr">
      <vt:lpstr>Arial</vt:lpstr>
      <vt:lpstr>Calibri</vt:lpstr>
      <vt:lpstr>CMS</vt:lpstr>
      <vt:lpstr>inter</vt:lpstr>
      <vt:lpstr>inter</vt:lpstr>
      <vt:lpstr>MathJax_Main</vt:lpstr>
      <vt:lpstr>MathJax_Math-italic</vt:lpstr>
      <vt:lpstr>sohne</vt:lpstr>
      <vt:lpstr>source-serif-pro</vt:lpstr>
      <vt:lpstr>Times New Roman</vt:lpstr>
      <vt:lpstr>Verdana</vt:lpstr>
      <vt:lpstr>Wingdings</vt:lpstr>
      <vt:lpstr>Work Sans</vt:lpstr>
      <vt:lpstr>Theme1</vt:lpstr>
      <vt:lpstr>Deep Learning and Generative AI MSCS202</vt:lpstr>
      <vt:lpstr>Disclaimer</vt:lpstr>
      <vt:lpstr>Unit-3</vt:lpstr>
      <vt:lpstr>Sequence Modeling</vt:lpstr>
      <vt:lpstr>Recurrent Neural Networks (RNNs)</vt:lpstr>
      <vt:lpstr>Recurrent Neural Network (RNN)</vt:lpstr>
      <vt:lpstr>Recurrent Neural Networks process sequential data</vt:lpstr>
      <vt:lpstr>RNN: Recurrent connections</vt:lpstr>
      <vt:lpstr>Architecture Of RNN</vt:lpstr>
      <vt:lpstr>Example: Movie Reviews</vt:lpstr>
      <vt:lpstr>Example: Movie Reviews</vt:lpstr>
      <vt:lpstr>Example: Movie reviews</vt:lpstr>
      <vt:lpstr>Number of Trainable Parameters</vt:lpstr>
      <vt:lpstr>Number of trainable parameters in a simple RNN</vt:lpstr>
      <vt:lpstr>Number of trainable parameters in a simple RNN</vt:lpstr>
      <vt:lpstr>Number of trainable parameters in a simple RNN</vt:lpstr>
      <vt:lpstr>Number of trainable parameters in a simple RNN</vt:lpstr>
      <vt:lpstr>PowerPoint Presentation</vt:lpstr>
      <vt:lpstr>Architecture Of RNN</vt:lpstr>
      <vt:lpstr>Architecture Of RNN</vt:lpstr>
      <vt:lpstr>Forward Propagation in RNN</vt:lpstr>
      <vt:lpstr>Forward Propagation in RNN</vt:lpstr>
      <vt:lpstr>Forward Propagation in RNN</vt:lpstr>
      <vt:lpstr>RNN: "Backpropagation Through Time" (BPTT)  algorithm</vt:lpstr>
      <vt:lpstr>Backward Propagation in RNN</vt:lpstr>
      <vt:lpstr>Backward Propagation in RNN</vt:lpstr>
      <vt:lpstr>Backward Propagation in RNN</vt:lpstr>
      <vt:lpstr>Regularization Techniques: Dropout, L1/L2 Regularization</vt:lpstr>
      <vt:lpstr>Regularization Techniques: Dropout, L1/L2 Regularization</vt:lpstr>
      <vt:lpstr>Applications of RNN</vt:lpstr>
      <vt:lpstr>Applications of RNN</vt:lpstr>
      <vt:lpstr>Applications of RNN</vt:lpstr>
      <vt:lpstr>Challenges with RNNs</vt:lpstr>
      <vt:lpstr>Difference between RNN and LSTM</vt:lpstr>
      <vt:lpstr>Why we need LSTM ?</vt:lpstr>
      <vt:lpstr>LSTM – Long Short-Term Memory</vt:lpstr>
      <vt:lpstr>Key Concepts in LSTM</vt:lpstr>
      <vt:lpstr>Key Concepts in LSTM</vt:lpstr>
      <vt:lpstr>Key Concepts in LSTM</vt:lpstr>
      <vt:lpstr>Key Concepts in LSTM</vt:lpstr>
      <vt:lpstr>LSTM Networks</vt:lpstr>
      <vt:lpstr>LSTM networks</vt:lpstr>
      <vt:lpstr>LSTM Gates</vt:lpstr>
      <vt:lpstr>Forget gate</vt:lpstr>
      <vt:lpstr>Input Gate</vt:lpstr>
      <vt:lpstr>Input gate</vt:lpstr>
      <vt:lpstr>Output gate</vt:lpstr>
      <vt:lpstr>LSTM: For next word predictor</vt:lpstr>
      <vt:lpstr>LSTM: For next word predictor</vt:lpstr>
      <vt:lpstr>LSTM: For next word predictor</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684</cp:revision>
  <cp:lastPrinted>2014-08-07T03:39:40Z</cp:lastPrinted>
  <dcterms:created xsi:type="dcterms:W3CDTF">2014-08-06T04:28:49Z</dcterms:created>
  <dcterms:modified xsi:type="dcterms:W3CDTF">2026-06-30T05:06:56Z</dcterms:modified>
</cp:coreProperties>
</file>