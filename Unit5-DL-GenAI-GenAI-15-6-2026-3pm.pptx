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handoutMasterIdLst>
    <p:handoutMasterId r:id="rId86"/>
  </p:handoutMasterIdLst>
  <p:sldIdLst>
    <p:sldId id="256" r:id="rId2"/>
    <p:sldId id="700" r:id="rId3"/>
    <p:sldId id="701" r:id="rId4"/>
    <p:sldId id="702" r:id="rId5"/>
    <p:sldId id="703" r:id="rId6"/>
    <p:sldId id="704" r:id="rId7"/>
    <p:sldId id="705" r:id="rId8"/>
    <p:sldId id="707" r:id="rId9"/>
    <p:sldId id="709" r:id="rId10"/>
    <p:sldId id="710" r:id="rId11"/>
    <p:sldId id="731" r:id="rId12"/>
    <p:sldId id="716" r:id="rId13"/>
    <p:sldId id="717" r:id="rId14"/>
    <p:sldId id="719" r:id="rId15"/>
    <p:sldId id="720" r:id="rId16"/>
    <p:sldId id="721" r:id="rId17"/>
    <p:sldId id="767" r:id="rId18"/>
    <p:sldId id="786" r:id="rId19"/>
    <p:sldId id="724" r:id="rId20"/>
    <p:sldId id="723" r:id="rId21"/>
    <p:sldId id="725" r:id="rId22"/>
    <p:sldId id="727" r:id="rId23"/>
    <p:sldId id="726" r:id="rId24"/>
    <p:sldId id="728" r:id="rId25"/>
    <p:sldId id="729" r:id="rId26"/>
    <p:sldId id="732" r:id="rId27"/>
    <p:sldId id="733" r:id="rId28"/>
    <p:sldId id="708" r:id="rId29"/>
    <p:sldId id="711" r:id="rId30"/>
    <p:sldId id="712" r:id="rId31"/>
    <p:sldId id="713" r:id="rId32"/>
    <p:sldId id="714" r:id="rId33"/>
    <p:sldId id="715" r:id="rId34"/>
    <p:sldId id="735" r:id="rId35"/>
    <p:sldId id="738" r:id="rId36"/>
    <p:sldId id="736" r:id="rId37"/>
    <p:sldId id="739" r:id="rId38"/>
    <p:sldId id="740" r:id="rId39"/>
    <p:sldId id="741" r:id="rId40"/>
    <p:sldId id="742" r:id="rId41"/>
    <p:sldId id="743" r:id="rId42"/>
    <p:sldId id="744" r:id="rId43"/>
    <p:sldId id="745" r:id="rId44"/>
    <p:sldId id="746" r:id="rId45"/>
    <p:sldId id="747" r:id="rId46"/>
    <p:sldId id="748" r:id="rId47"/>
    <p:sldId id="749" r:id="rId48"/>
    <p:sldId id="750" r:id="rId49"/>
    <p:sldId id="751" r:id="rId50"/>
    <p:sldId id="752" r:id="rId51"/>
    <p:sldId id="769" r:id="rId52"/>
    <p:sldId id="770" r:id="rId53"/>
    <p:sldId id="773" r:id="rId54"/>
    <p:sldId id="785" r:id="rId55"/>
    <p:sldId id="774" r:id="rId56"/>
    <p:sldId id="771" r:id="rId57"/>
    <p:sldId id="778" r:id="rId58"/>
    <p:sldId id="779" r:id="rId59"/>
    <p:sldId id="780" r:id="rId60"/>
    <p:sldId id="781" r:id="rId61"/>
    <p:sldId id="782" r:id="rId62"/>
    <p:sldId id="783" r:id="rId63"/>
    <p:sldId id="784" r:id="rId64"/>
    <p:sldId id="772" r:id="rId65"/>
    <p:sldId id="775" r:id="rId66"/>
    <p:sldId id="768" r:id="rId67"/>
    <p:sldId id="762" r:id="rId68"/>
    <p:sldId id="763" r:id="rId69"/>
    <p:sldId id="776" r:id="rId70"/>
    <p:sldId id="777" r:id="rId71"/>
    <p:sldId id="753" r:id="rId72"/>
    <p:sldId id="754" r:id="rId73"/>
    <p:sldId id="755" r:id="rId74"/>
    <p:sldId id="756" r:id="rId75"/>
    <p:sldId id="757" r:id="rId76"/>
    <p:sldId id="758" r:id="rId77"/>
    <p:sldId id="759" r:id="rId78"/>
    <p:sldId id="760" r:id="rId79"/>
    <p:sldId id="761" r:id="rId80"/>
    <p:sldId id="764" r:id="rId81"/>
    <p:sldId id="765" r:id="rId82"/>
    <p:sldId id="766" r:id="rId83"/>
    <p:sldId id="397"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00"/>
            <p14:sldId id="701"/>
            <p14:sldId id="702"/>
            <p14:sldId id="703"/>
            <p14:sldId id="704"/>
            <p14:sldId id="705"/>
            <p14:sldId id="707"/>
            <p14:sldId id="709"/>
            <p14:sldId id="710"/>
            <p14:sldId id="731"/>
            <p14:sldId id="716"/>
            <p14:sldId id="717"/>
            <p14:sldId id="719"/>
            <p14:sldId id="720"/>
            <p14:sldId id="721"/>
            <p14:sldId id="767"/>
            <p14:sldId id="786"/>
            <p14:sldId id="724"/>
            <p14:sldId id="723"/>
            <p14:sldId id="725"/>
            <p14:sldId id="727"/>
            <p14:sldId id="726"/>
            <p14:sldId id="728"/>
            <p14:sldId id="729"/>
            <p14:sldId id="732"/>
            <p14:sldId id="733"/>
            <p14:sldId id="708"/>
            <p14:sldId id="711"/>
            <p14:sldId id="712"/>
            <p14:sldId id="713"/>
            <p14:sldId id="714"/>
            <p14:sldId id="715"/>
            <p14:sldId id="735"/>
            <p14:sldId id="738"/>
            <p14:sldId id="736"/>
            <p14:sldId id="739"/>
            <p14:sldId id="740"/>
            <p14:sldId id="741"/>
            <p14:sldId id="742"/>
            <p14:sldId id="743"/>
            <p14:sldId id="744"/>
            <p14:sldId id="745"/>
            <p14:sldId id="746"/>
            <p14:sldId id="747"/>
            <p14:sldId id="748"/>
            <p14:sldId id="749"/>
            <p14:sldId id="750"/>
            <p14:sldId id="751"/>
            <p14:sldId id="752"/>
            <p14:sldId id="769"/>
            <p14:sldId id="770"/>
            <p14:sldId id="773"/>
            <p14:sldId id="785"/>
            <p14:sldId id="774"/>
            <p14:sldId id="771"/>
            <p14:sldId id="778"/>
            <p14:sldId id="779"/>
            <p14:sldId id="780"/>
            <p14:sldId id="781"/>
            <p14:sldId id="782"/>
            <p14:sldId id="783"/>
            <p14:sldId id="784"/>
            <p14:sldId id="772"/>
            <p14:sldId id="775"/>
            <p14:sldId id="768"/>
            <p14:sldId id="762"/>
            <p14:sldId id="763"/>
            <p14:sldId id="776"/>
            <p14:sldId id="777"/>
            <p14:sldId id="753"/>
            <p14:sldId id="754"/>
            <p14:sldId id="755"/>
            <p14:sldId id="756"/>
            <p14:sldId id="757"/>
            <p14:sldId id="758"/>
            <p14:sldId id="759"/>
            <p14:sldId id="760"/>
            <p14:sldId id="761"/>
            <p14:sldId id="764"/>
            <p14:sldId id="765"/>
            <p14:sldId id="766"/>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3300"/>
    <a:srgbClr val="000099"/>
    <a:srgbClr val="003366"/>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01" autoAdjust="0"/>
  </p:normalViewPr>
  <p:slideViewPr>
    <p:cSldViewPr>
      <p:cViewPr varScale="1">
        <p:scale>
          <a:sx n="93" d="100"/>
          <a:sy n="93" d="100"/>
        </p:scale>
        <p:origin x="2124" y="7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36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6/15/2026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6/15/2026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2</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3303579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With</a:t>
            </a:r>
            <a:r>
              <a:rPr lang="en-IN" baseline="0" dirty="0"/>
              <a:t> one sentence summary description and one example of “Frequency based </a:t>
            </a:r>
            <a:r>
              <a:rPr lang="en-IN" baseline="0" dirty="0" err="1"/>
              <a:t>Embeddings</a:t>
            </a:r>
            <a:r>
              <a:rPr lang="en-IN" baseline="0" dirty="0"/>
              <a:t>”, “Prediction based embedding” and “Contextualized word embedding”</a:t>
            </a:r>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1715981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a:t>
            </a:fld>
            <a:endParaRPr lang="en-US"/>
          </a:p>
        </p:txBody>
      </p:sp>
    </p:spTree>
    <p:extLst>
      <p:ext uri="{BB962C8B-B14F-4D97-AF65-F5344CB8AC3E}">
        <p14:creationId xmlns:p14="http://schemas.microsoft.com/office/powerpoint/2010/main" val="2551306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27</a:t>
            </a:fld>
            <a:endParaRPr lang="en-US"/>
          </a:p>
        </p:txBody>
      </p:sp>
    </p:spTree>
    <p:extLst>
      <p:ext uri="{BB962C8B-B14F-4D97-AF65-F5344CB8AC3E}">
        <p14:creationId xmlns:p14="http://schemas.microsoft.com/office/powerpoint/2010/main" val="1251394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3299602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35</a:t>
            </a:fld>
            <a:endParaRPr lang="en-US"/>
          </a:p>
        </p:txBody>
      </p:sp>
    </p:spTree>
    <p:extLst>
      <p:ext uri="{BB962C8B-B14F-4D97-AF65-F5344CB8AC3E}">
        <p14:creationId xmlns:p14="http://schemas.microsoft.com/office/powerpoint/2010/main" val="337341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37</a:t>
            </a:fld>
            <a:endParaRPr lang="en-US"/>
          </a:p>
        </p:txBody>
      </p:sp>
    </p:spTree>
    <p:extLst>
      <p:ext uri="{BB962C8B-B14F-4D97-AF65-F5344CB8AC3E}">
        <p14:creationId xmlns:p14="http://schemas.microsoft.com/office/powerpoint/2010/main" val="962054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38</a:t>
            </a:fld>
            <a:endParaRPr lang="en-US"/>
          </a:p>
        </p:txBody>
      </p:sp>
    </p:spTree>
    <p:extLst>
      <p:ext uri="{BB962C8B-B14F-4D97-AF65-F5344CB8AC3E}">
        <p14:creationId xmlns:p14="http://schemas.microsoft.com/office/powerpoint/2010/main" val="339939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39</a:t>
            </a:fld>
            <a:endParaRPr lang="en-US"/>
          </a:p>
        </p:txBody>
      </p:sp>
    </p:spTree>
    <p:extLst>
      <p:ext uri="{BB962C8B-B14F-4D97-AF65-F5344CB8AC3E}">
        <p14:creationId xmlns:p14="http://schemas.microsoft.com/office/powerpoint/2010/main" val="1865444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41</a:t>
            </a:fld>
            <a:endParaRPr lang="en-US"/>
          </a:p>
        </p:txBody>
      </p:sp>
    </p:spTree>
    <p:extLst>
      <p:ext uri="{BB962C8B-B14F-4D97-AF65-F5344CB8AC3E}">
        <p14:creationId xmlns:p14="http://schemas.microsoft.com/office/powerpoint/2010/main" val="2885124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45</a:t>
            </a:fld>
            <a:endParaRPr lang="en-US"/>
          </a:p>
        </p:txBody>
      </p:sp>
    </p:spTree>
    <p:extLst>
      <p:ext uri="{BB962C8B-B14F-4D97-AF65-F5344CB8AC3E}">
        <p14:creationId xmlns:p14="http://schemas.microsoft.com/office/powerpoint/2010/main" val="29607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3863853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802202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3427363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642498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61</a:t>
            </a:fld>
            <a:endParaRPr lang="en-US"/>
          </a:p>
        </p:txBody>
      </p:sp>
    </p:spTree>
    <p:extLst>
      <p:ext uri="{BB962C8B-B14F-4D97-AF65-F5344CB8AC3E}">
        <p14:creationId xmlns:p14="http://schemas.microsoft.com/office/powerpoint/2010/main" val="1910670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62</a:t>
            </a:fld>
            <a:endParaRPr lang="en-US"/>
          </a:p>
        </p:txBody>
      </p:sp>
    </p:spTree>
    <p:extLst>
      <p:ext uri="{BB962C8B-B14F-4D97-AF65-F5344CB8AC3E}">
        <p14:creationId xmlns:p14="http://schemas.microsoft.com/office/powerpoint/2010/main" val="2883526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66</a:t>
            </a:fld>
            <a:endParaRPr lang="en-US"/>
          </a:p>
        </p:txBody>
      </p:sp>
    </p:spTree>
    <p:extLst>
      <p:ext uri="{BB962C8B-B14F-4D97-AF65-F5344CB8AC3E}">
        <p14:creationId xmlns:p14="http://schemas.microsoft.com/office/powerpoint/2010/main" val="5435763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67</a:t>
            </a:fld>
            <a:endParaRPr lang="en-US"/>
          </a:p>
        </p:txBody>
      </p:sp>
    </p:spTree>
    <p:extLst>
      <p:ext uri="{BB962C8B-B14F-4D97-AF65-F5344CB8AC3E}">
        <p14:creationId xmlns:p14="http://schemas.microsoft.com/office/powerpoint/2010/main" val="148328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1932723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72</a:t>
            </a:fld>
            <a:endParaRPr lang="en-US"/>
          </a:p>
        </p:txBody>
      </p:sp>
    </p:spTree>
    <p:extLst>
      <p:ext uri="{BB962C8B-B14F-4D97-AF65-F5344CB8AC3E}">
        <p14:creationId xmlns:p14="http://schemas.microsoft.com/office/powerpoint/2010/main" val="2332566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15370299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74</a:t>
            </a:fld>
            <a:endParaRPr lang="en-US"/>
          </a:p>
        </p:txBody>
      </p:sp>
    </p:spTree>
    <p:extLst>
      <p:ext uri="{BB962C8B-B14F-4D97-AF65-F5344CB8AC3E}">
        <p14:creationId xmlns:p14="http://schemas.microsoft.com/office/powerpoint/2010/main" val="1226691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75</a:t>
            </a:fld>
            <a:endParaRPr lang="en-US"/>
          </a:p>
        </p:txBody>
      </p:sp>
    </p:spTree>
    <p:extLst>
      <p:ext uri="{BB962C8B-B14F-4D97-AF65-F5344CB8AC3E}">
        <p14:creationId xmlns:p14="http://schemas.microsoft.com/office/powerpoint/2010/main" val="3616495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76</a:t>
            </a:fld>
            <a:endParaRPr lang="en-US"/>
          </a:p>
        </p:txBody>
      </p:sp>
    </p:spTree>
    <p:extLst>
      <p:ext uri="{BB962C8B-B14F-4D97-AF65-F5344CB8AC3E}">
        <p14:creationId xmlns:p14="http://schemas.microsoft.com/office/powerpoint/2010/main" val="24947612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77</a:t>
            </a:fld>
            <a:endParaRPr lang="en-US"/>
          </a:p>
        </p:txBody>
      </p:sp>
    </p:spTree>
    <p:extLst>
      <p:ext uri="{BB962C8B-B14F-4D97-AF65-F5344CB8AC3E}">
        <p14:creationId xmlns:p14="http://schemas.microsoft.com/office/powerpoint/2010/main" val="10019584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78</a:t>
            </a:fld>
            <a:endParaRPr lang="en-US"/>
          </a:p>
        </p:txBody>
      </p:sp>
    </p:spTree>
    <p:extLst>
      <p:ext uri="{BB962C8B-B14F-4D97-AF65-F5344CB8AC3E}">
        <p14:creationId xmlns:p14="http://schemas.microsoft.com/office/powerpoint/2010/main" val="1402405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79</a:t>
            </a:fld>
            <a:endParaRPr lang="en-US"/>
          </a:p>
        </p:txBody>
      </p:sp>
    </p:spTree>
    <p:extLst>
      <p:ext uri="{BB962C8B-B14F-4D97-AF65-F5344CB8AC3E}">
        <p14:creationId xmlns:p14="http://schemas.microsoft.com/office/powerpoint/2010/main" val="3172740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80</a:t>
            </a:fld>
            <a:endParaRPr lang="en-US"/>
          </a:p>
        </p:txBody>
      </p:sp>
    </p:spTree>
    <p:extLst>
      <p:ext uri="{BB962C8B-B14F-4D97-AF65-F5344CB8AC3E}">
        <p14:creationId xmlns:p14="http://schemas.microsoft.com/office/powerpoint/2010/main" val="31391950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81</a:t>
            </a:fld>
            <a:endParaRPr lang="en-US"/>
          </a:p>
        </p:txBody>
      </p:sp>
    </p:spTree>
    <p:extLst>
      <p:ext uri="{BB962C8B-B14F-4D97-AF65-F5344CB8AC3E}">
        <p14:creationId xmlns:p14="http://schemas.microsoft.com/office/powerpoint/2010/main" val="4074051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83</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15 June 2026</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15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15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15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15 June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15 June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15 June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15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15 June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15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15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15 June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0"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Rectangle 6"/>
          <p:cNvSpPr>
            <a:spLocks noGrp="1" noChangeArrowheads="1"/>
          </p:cNvSpPr>
          <p:nvPr>
            <p:ph type="dt" sz="half" idx="2"/>
          </p:nvPr>
        </p:nvSpPr>
        <p:spPr bwMode="auto">
          <a:xfrm>
            <a:off x="609600" y="6402388"/>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15 June 2026</a:t>
            </a:fld>
            <a:endParaRPr lang="en-US"/>
          </a:p>
        </p:txBody>
      </p:sp>
      <p:sp>
        <p:nvSpPr>
          <p:cNvPr id="63495" name="Rectangle 7"/>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0"/>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Unit-5</a:t>
            </a:r>
          </a:p>
        </p:txBody>
      </p:sp>
      <p:sp>
        <p:nvSpPr>
          <p:cNvPr id="9219" name="Rectangle 3"/>
          <p:cNvSpPr>
            <a:spLocks noGrp="1" noChangeArrowheads="1"/>
          </p:cNvSpPr>
          <p:nvPr>
            <p:ph type="subTitle" idx="1"/>
          </p:nvPr>
        </p:nvSpPr>
        <p:spPr>
          <a:xfrm>
            <a:off x="457200" y="3200400"/>
            <a:ext cx="8382000" cy="1600200"/>
          </a:xfrm>
        </p:spPr>
        <p:txBody>
          <a:bodyPr/>
          <a:lstStyle/>
          <a:p>
            <a:pPr algn="just">
              <a:lnSpc>
                <a:spcPct val="80000"/>
              </a:lnSpc>
            </a:pPr>
            <a:r>
              <a:rPr lang="en-IN" sz="1800" dirty="0"/>
              <a:t>Generative Models for Text: Language Models Basics, Building blocks of Language models, Transformer Architecture, Encoder and Decoder, Attention mechanisms, Generation of Text: Models like BERT and GPT models, Exploring ChatGPT, Prompt Engineering: Designing Prompts, Issues of LLM like hallucination.</a:t>
            </a:r>
            <a:endParaRPr lang="en-US" altLang="en-US" sz="1800" dirty="0"/>
          </a:p>
        </p:txBody>
      </p:sp>
      <p:sp>
        <p:nvSpPr>
          <p:cNvPr id="2" name="Date Placeholder 1"/>
          <p:cNvSpPr>
            <a:spLocks noGrp="1"/>
          </p:cNvSpPr>
          <p:nvPr>
            <p:ph type="dt" sz="half" idx="10"/>
          </p:nvPr>
        </p:nvSpPr>
        <p:spPr/>
        <p:txBody>
          <a:bodyPr/>
          <a:lstStyle/>
          <a:p>
            <a:fld id="{35B0C519-89AB-4890-8F92-601590506CB9}" type="datetime3">
              <a:rPr lang="en-US" smtClean="0"/>
              <a:t>15 June 2026</a:t>
            </a:fld>
            <a:endParaRPr lang="en-US"/>
          </a:p>
        </p:txBody>
      </p:sp>
      <p:sp>
        <p:nvSpPr>
          <p:cNvPr id="4" name="Footer Placeholder 3"/>
          <p:cNvSpPr>
            <a:spLocks noGrp="1"/>
          </p:cNvSpPr>
          <p:nvPr>
            <p:ph type="ftr" sz="quarter" idx="11"/>
          </p:nvPr>
        </p:nvSpPr>
        <p:spPr/>
        <p:txBody>
          <a:bodyPr/>
          <a:lstStyle/>
          <a:p>
            <a:r>
              <a:rPr lang="en-US">
                <a:solidFill>
                  <a:srgbClr val="000000"/>
                </a:solidFill>
              </a:rPr>
              <a:t>CSE, BMSCE</a:t>
            </a:r>
          </a:p>
        </p:txBody>
      </p:sp>
      <p:sp>
        <p:nvSpPr>
          <p:cNvPr id="3" name="Slide Number Placeholder 2"/>
          <p:cNvSpPr>
            <a:spLocks noGrp="1"/>
          </p:cNvSpPr>
          <p:nvPr>
            <p:ph type="sldNum" sz="quarter" idx="12"/>
          </p:nvPr>
        </p:nvSpPr>
        <p:spPr/>
        <p:txBody>
          <a:bodyPr/>
          <a:lstStyle/>
          <a:p>
            <a:fld id="{5DCC653A-8BE1-4A16-A754-27859D86C4A9}" type="slidenum">
              <a:rPr lang="en-US" smtClean="0"/>
              <a:t>2</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F710-8FF2-9705-C8A1-50913A56B681}"/>
              </a:ext>
            </a:extLst>
          </p:cNvPr>
          <p:cNvSpPr>
            <a:spLocks noGrp="1"/>
          </p:cNvSpPr>
          <p:nvPr>
            <p:ph type="title"/>
          </p:nvPr>
        </p:nvSpPr>
        <p:spPr/>
        <p:txBody>
          <a:bodyPr/>
          <a:lstStyle/>
          <a:p>
            <a:r>
              <a:rPr lang="en-US" sz="2400" dirty="0"/>
              <a:t>What are Large Language Models (LLMs)?</a:t>
            </a:r>
            <a:endParaRPr lang="en-IN" sz="2400" dirty="0"/>
          </a:p>
        </p:txBody>
      </p:sp>
      <p:sp>
        <p:nvSpPr>
          <p:cNvPr id="3" name="Content Placeholder 2">
            <a:extLst>
              <a:ext uri="{FF2B5EF4-FFF2-40B4-BE49-F238E27FC236}">
                <a16:creationId xmlns:a16="http://schemas.microsoft.com/office/drawing/2014/main" id="{A5011FCC-10AD-0B89-CBD4-79D0CA1F48A6}"/>
              </a:ext>
            </a:extLst>
          </p:cNvPr>
          <p:cNvSpPr>
            <a:spLocks noGrp="1"/>
          </p:cNvSpPr>
          <p:nvPr>
            <p:ph idx="1"/>
          </p:nvPr>
        </p:nvSpPr>
        <p:spPr/>
        <p:txBody>
          <a:bodyPr/>
          <a:lstStyle/>
          <a:p>
            <a:pPr marL="0" indent="0" algn="just">
              <a:buNone/>
            </a:pPr>
            <a:r>
              <a:rPr lang="en-US" sz="2000" dirty="0"/>
              <a:t>Large language models (LLMs) are advanced AI systems that excel at processing, understanding, and generating human language. </a:t>
            </a:r>
          </a:p>
          <a:p>
            <a:pPr marL="0" indent="0" algn="just">
              <a:buNone/>
            </a:pPr>
            <a:r>
              <a:rPr lang="en-US" sz="2000" dirty="0"/>
              <a:t>They are trained on </a:t>
            </a:r>
            <a:r>
              <a:rPr lang="en-US" sz="2000" b="1" dirty="0"/>
              <a:t>massive amounts </a:t>
            </a:r>
            <a:r>
              <a:rPr lang="en-US" sz="2000" dirty="0"/>
              <a:t>of text data and can be used for a wide range of tasks, including </a:t>
            </a:r>
            <a:r>
              <a:rPr lang="en-US" sz="2000" i="1" dirty="0"/>
              <a:t>text generation, translation, summarization</a:t>
            </a:r>
            <a:r>
              <a:rPr lang="en-US" sz="2000" dirty="0"/>
              <a:t>, and more. </a:t>
            </a:r>
          </a:p>
          <a:p>
            <a:pPr marL="0" indent="0" algn="just">
              <a:buNone/>
            </a:pPr>
            <a:r>
              <a:rPr lang="en-US" sz="2000" dirty="0"/>
              <a:t>LLMs are typically based on deep learning architectures, particularly the </a:t>
            </a:r>
            <a:r>
              <a:rPr lang="en-US" sz="2000" i="1" dirty="0"/>
              <a:t>Transformer</a:t>
            </a:r>
            <a:r>
              <a:rPr lang="en-US" sz="2000" dirty="0"/>
              <a:t> model, which was developed by Google</a:t>
            </a:r>
            <a:endParaRPr lang="en-IN" sz="2000" dirty="0"/>
          </a:p>
        </p:txBody>
      </p:sp>
      <p:sp>
        <p:nvSpPr>
          <p:cNvPr id="4" name="Date Placeholder 3">
            <a:extLst>
              <a:ext uri="{FF2B5EF4-FFF2-40B4-BE49-F238E27FC236}">
                <a16:creationId xmlns:a16="http://schemas.microsoft.com/office/drawing/2014/main" id="{9AEE7FF8-229F-0DD4-AB4E-792FB26B040D}"/>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C7830B67-5DBC-E6C5-1CA4-A6A78123B52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BD956F0-19B4-4345-3390-AF24B6D96B94}"/>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56171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2352-42EC-A64B-8CAA-A24769A204E1}"/>
              </a:ext>
            </a:extLst>
          </p:cNvPr>
          <p:cNvSpPr>
            <a:spLocks noGrp="1"/>
          </p:cNvSpPr>
          <p:nvPr>
            <p:ph type="title"/>
          </p:nvPr>
        </p:nvSpPr>
        <p:spPr/>
        <p:txBody>
          <a:bodyPr/>
          <a:lstStyle/>
          <a:p>
            <a:r>
              <a:rPr lang="en-IN" dirty="0"/>
              <a:t>Language Model</a:t>
            </a:r>
          </a:p>
        </p:txBody>
      </p:sp>
      <p:sp>
        <p:nvSpPr>
          <p:cNvPr id="3" name="Content Placeholder 2">
            <a:extLst>
              <a:ext uri="{FF2B5EF4-FFF2-40B4-BE49-F238E27FC236}">
                <a16:creationId xmlns:a16="http://schemas.microsoft.com/office/drawing/2014/main" id="{47F59E37-88FB-F675-A8F5-6E06842D0E7D}"/>
              </a:ext>
            </a:extLst>
          </p:cNvPr>
          <p:cNvSpPr>
            <a:spLocks noGrp="1"/>
          </p:cNvSpPr>
          <p:nvPr>
            <p:ph idx="1"/>
          </p:nvPr>
        </p:nvSpPr>
        <p:spPr/>
        <p:txBody>
          <a:bodyPr/>
          <a:lstStyle/>
          <a:p>
            <a:pPr algn="just"/>
            <a:r>
              <a:rPr lang="en-US" sz="1800" dirty="0"/>
              <a:t>Language models are artificial intelligence designed to </a:t>
            </a:r>
            <a:r>
              <a:rPr lang="en-US" sz="1800" b="1" dirty="0"/>
              <a:t>understand</a:t>
            </a:r>
            <a:r>
              <a:rPr lang="en-US" sz="1800" dirty="0"/>
              <a:t>, generate, and manipulate </a:t>
            </a:r>
            <a:r>
              <a:rPr lang="en-US" sz="1800" b="1" dirty="0"/>
              <a:t>human language</a:t>
            </a:r>
            <a:r>
              <a:rPr lang="en-US" sz="1800" dirty="0"/>
              <a:t>. </a:t>
            </a:r>
          </a:p>
          <a:p>
            <a:pPr algn="just"/>
            <a:r>
              <a:rPr lang="en-US" sz="1800" dirty="0"/>
              <a:t>They are trained on vast amounts of text data and learn to predict the likelihood of sequences of words, enabling them to perform various tasks involving language, such as translation, summarization, text generation, and answering questions.</a:t>
            </a:r>
          </a:p>
          <a:p>
            <a:pPr marL="0" indent="0">
              <a:buNone/>
            </a:pPr>
            <a:r>
              <a:rPr lang="en-US" sz="1800" b="1" dirty="0"/>
              <a:t>Objective:</a:t>
            </a:r>
            <a:br>
              <a:rPr lang="en-US" sz="1800" dirty="0"/>
            </a:br>
            <a:r>
              <a:rPr lang="en-US" sz="1800" dirty="0"/>
              <a:t>Predict the next word or fill in missing words given a context.</a:t>
            </a:r>
          </a:p>
          <a:p>
            <a:pPr marL="0" indent="0">
              <a:buNone/>
            </a:pPr>
            <a:r>
              <a:rPr lang="en-US" sz="1800" b="1" dirty="0"/>
              <a:t>Examples:</a:t>
            </a:r>
            <a:endParaRPr lang="en-US" sz="1800" dirty="0"/>
          </a:p>
          <a:p>
            <a:pPr marL="0" indent="0">
              <a:buNone/>
            </a:pPr>
            <a:r>
              <a:rPr lang="en-US" sz="1800" dirty="0"/>
              <a:t>"The cat sat on the ___" → mat (high probability), table (medium), rocket (low)</a:t>
            </a:r>
          </a:p>
          <a:p>
            <a:pPr marL="0" indent="0" algn="just">
              <a:buNone/>
            </a:pPr>
            <a:endParaRPr lang="en-US" sz="1800" dirty="0"/>
          </a:p>
          <a:p>
            <a:pPr marL="0" indent="0" algn="just">
              <a:buNone/>
            </a:pPr>
            <a:r>
              <a:rPr lang="en-US" sz="1800" kern="1200" dirty="0">
                <a:solidFill>
                  <a:schemeClr val="tx1"/>
                </a:solidFill>
              </a:rPr>
              <a:t>The important thing is that the </a:t>
            </a:r>
            <a:r>
              <a:rPr lang="en-US" sz="1800" kern="1200" dirty="0">
                <a:solidFill>
                  <a:schemeClr val="tx1"/>
                </a:solidFill>
                <a:highlight>
                  <a:srgbClr val="FFFF00"/>
                </a:highlight>
              </a:rPr>
              <a:t>model doesn’t focus on grammar</a:t>
            </a:r>
            <a:r>
              <a:rPr lang="en-US" sz="1800" kern="1200" dirty="0">
                <a:solidFill>
                  <a:schemeClr val="tx1"/>
                </a:solidFill>
              </a:rPr>
              <a:t>, but rather on how words are used in a way that is </a:t>
            </a:r>
            <a:r>
              <a:rPr lang="en-US" sz="1800" b="1" kern="1200" dirty="0">
                <a:solidFill>
                  <a:schemeClr val="tx1"/>
                </a:solidFill>
              </a:rPr>
              <a:t>similar to how people write.</a:t>
            </a:r>
            <a:endParaRPr lang="en-US" sz="1800" b="1"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buNone/>
            </a:pPr>
            <a:br>
              <a:rPr lang="en-US" sz="1800" dirty="0"/>
            </a:b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FA5C99ED-8924-8318-4C47-D207D9AE0C7F}"/>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15A62DC3-0CF4-2726-8968-1B72985670B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6824B00-47AA-B8CA-5EC0-642B756A3195}"/>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229454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F5CFD-BE8C-8ADD-A51C-8C7D0239D7A7}"/>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30F8CD11-B719-BDCA-EE88-931EDBC45DFC}"/>
              </a:ext>
            </a:extLst>
          </p:cNvPr>
          <p:cNvSpPr>
            <a:spLocks noGrp="1"/>
          </p:cNvSpPr>
          <p:nvPr>
            <p:ph idx="1"/>
          </p:nvPr>
        </p:nvSpPr>
        <p:spPr/>
        <p:txBody>
          <a:bodyPr/>
          <a:lstStyle/>
          <a:p>
            <a:pPr marL="0" indent="0">
              <a:buNone/>
            </a:pPr>
            <a:r>
              <a:rPr lang="en-US" sz="3200" kern="1200" dirty="0">
                <a:solidFill>
                  <a:schemeClr val="tx1"/>
                </a:solidFill>
              </a:rPr>
              <a:t>There are three types of language models: </a:t>
            </a:r>
          </a:p>
          <a:p>
            <a:r>
              <a:rPr lang="en-US" sz="3200" kern="1200" dirty="0">
                <a:solidFill>
                  <a:schemeClr val="tx1"/>
                </a:solidFill>
              </a:rPr>
              <a:t>Statistical Language Models </a:t>
            </a:r>
          </a:p>
          <a:p>
            <a:r>
              <a:rPr lang="en-US" sz="3200" kern="1200" dirty="0">
                <a:solidFill>
                  <a:schemeClr val="tx1"/>
                </a:solidFill>
              </a:rPr>
              <a:t>Neural Network-based Models</a:t>
            </a:r>
          </a:p>
          <a:p>
            <a:r>
              <a:rPr lang="en-US" sz="3200" kern="1200" dirty="0">
                <a:solidFill>
                  <a:schemeClr val="tx1"/>
                </a:solidFill>
              </a:rPr>
              <a:t>Transformer based Models</a:t>
            </a:r>
          </a:p>
          <a:p>
            <a:endParaRPr lang="en-IN" dirty="0"/>
          </a:p>
        </p:txBody>
      </p:sp>
      <p:sp>
        <p:nvSpPr>
          <p:cNvPr id="4" name="Date Placeholder 3">
            <a:extLst>
              <a:ext uri="{FF2B5EF4-FFF2-40B4-BE49-F238E27FC236}">
                <a16:creationId xmlns:a16="http://schemas.microsoft.com/office/drawing/2014/main" id="{2C8A61D9-400A-4093-AEA8-1EAB66DE698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9659B12-EA01-8061-49A5-69D37879A21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76B0A90-B354-ABC0-3FEF-E5D67F57A035}"/>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1769725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E7E0C-0B37-4224-23F0-FE4F388B442A}"/>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056E582A-34B5-754C-BD45-232C27509809}"/>
              </a:ext>
            </a:extLst>
          </p:cNvPr>
          <p:cNvSpPr>
            <a:spLocks noGrp="1"/>
          </p:cNvSpPr>
          <p:nvPr>
            <p:ph idx="1"/>
          </p:nvPr>
        </p:nvSpPr>
        <p:spPr/>
        <p:txBody>
          <a:bodyPr/>
          <a:lstStyle/>
          <a:p>
            <a:pPr marL="0" indent="0" algn="just">
              <a:buNone/>
            </a:pPr>
            <a:r>
              <a:rPr lang="en-US" sz="2000" b="1" dirty="0"/>
              <a:t>1. Statistical Language Models (SLMs)</a:t>
            </a:r>
            <a:r>
              <a:rPr lang="en-US" sz="2000" dirty="0"/>
              <a:t>: </a:t>
            </a:r>
          </a:p>
          <a:p>
            <a:pPr marL="0" indent="0" algn="just">
              <a:buNone/>
            </a:pPr>
            <a:r>
              <a:rPr lang="en-US" sz="2000" dirty="0"/>
              <a:t>Earlier models, like n-grams, used </a:t>
            </a:r>
            <a:r>
              <a:rPr lang="en-US" sz="2000" b="1" dirty="0"/>
              <a:t>probability distributions </a:t>
            </a:r>
            <a:r>
              <a:rPr lang="en-US" sz="2000" dirty="0"/>
              <a:t>over word sequences. </a:t>
            </a:r>
            <a:r>
              <a:rPr lang="en-US" sz="2000" i="1" dirty="0"/>
              <a:t>They calculate the likelihood of a word given its previous words </a:t>
            </a:r>
            <a:r>
              <a:rPr lang="en-US" sz="2000" dirty="0"/>
              <a:t>but are limited by the size of the word sequences they can handle.</a:t>
            </a:r>
          </a:p>
          <a:p>
            <a:pPr marL="0" indent="0" algn="just">
              <a:buNone/>
            </a:pPr>
            <a:endParaRPr lang="en-US" sz="2000" dirty="0"/>
          </a:p>
          <a:p>
            <a:pPr marL="0" indent="0" algn="just">
              <a:buNone/>
            </a:pPr>
            <a:r>
              <a:rPr lang="en-US" sz="2000" dirty="0"/>
              <a:t>2. </a:t>
            </a:r>
            <a:r>
              <a:rPr lang="en-US" sz="2000" b="1" dirty="0"/>
              <a:t>Neural Network-based Models</a:t>
            </a:r>
            <a:r>
              <a:rPr lang="en-US" sz="2000" dirty="0"/>
              <a:t>: Modern language models use neural networks to understand more complex relationships in language. Examples include:</a:t>
            </a:r>
          </a:p>
          <a:p>
            <a:pPr marL="0" indent="0" algn="just">
              <a:buNone/>
            </a:pPr>
            <a:r>
              <a:rPr lang="en-US" sz="2000" b="1" dirty="0"/>
              <a:t>Recurrent Neural Networks (RNNs)</a:t>
            </a:r>
            <a:r>
              <a:rPr lang="en-US" sz="2000" dirty="0"/>
              <a:t>: Capture sequential data by remembering previous words in a sentence, though they struggle with long-term dependencies.</a:t>
            </a:r>
          </a:p>
          <a:p>
            <a:pPr marL="0" indent="0" algn="just">
              <a:buNone/>
            </a:pPr>
            <a:r>
              <a:rPr lang="en-US" sz="2000" b="1" dirty="0"/>
              <a:t>Long Short-Term Memory (LSTM)</a:t>
            </a:r>
            <a:r>
              <a:rPr lang="en-US" sz="2000" dirty="0"/>
              <a:t>: A type of RNN that helps manage long-range dependencies in language sequences.</a:t>
            </a:r>
          </a:p>
          <a:p>
            <a:pPr marL="0" indent="0" algn="just">
              <a:buNone/>
            </a:pPr>
            <a:endParaRPr lang="en-IN" sz="2000" dirty="0"/>
          </a:p>
        </p:txBody>
      </p:sp>
      <p:sp>
        <p:nvSpPr>
          <p:cNvPr id="4" name="Date Placeholder 3">
            <a:extLst>
              <a:ext uri="{FF2B5EF4-FFF2-40B4-BE49-F238E27FC236}">
                <a16:creationId xmlns:a16="http://schemas.microsoft.com/office/drawing/2014/main" id="{033190F1-319A-5F4A-142D-61E8E5499131}"/>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9EA425B-6070-84D6-5FE7-4458483DAC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7128EDC-E2EA-4704-DACF-06D30379A5D7}"/>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417350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D539-A129-8F91-208D-EA806A051861}"/>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342CD551-E0DA-60A4-0742-194938B9572C}"/>
              </a:ext>
            </a:extLst>
          </p:cNvPr>
          <p:cNvSpPr>
            <a:spLocks noGrp="1"/>
          </p:cNvSpPr>
          <p:nvPr>
            <p:ph idx="1"/>
          </p:nvPr>
        </p:nvSpPr>
        <p:spPr/>
        <p:txBody>
          <a:bodyPr/>
          <a:lstStyle/>
          <a:p>
            <a:pPr marL="0" indent="0" algn="just">
              <a:buNone/>
            </a:pPr>
            <a:r>
              <a:rPr lang="en-US" sz="2000" b="1" dirty="0"/>
              <a:t>3. Transformers</a:t>
            </a:r>
            <a:r>
              <a:rPr lang="en-US" sz="2000" dirty="0"/>
              <a:t>: These are the foundation of state-of-the-art language models. Unlike RNNs, transformers can process words in </a:t>
            </a:r>
            <a:r>
              <a:rPr lang="en-US" sz="2000" dirty="0">
                <a:highlight>
                  <a:srgbClr val="FFFF00"/>
                </a:highlight>
              </a:rPr>
              <a:t>parallel</a:t>
            </a:r>
            <a:r>
              <a:rPr lang="en-US" sz="2000" dirty="0"/>
              <a:t>, improving speed and more effectively </a:t>
            </a:r>
            <a:r>
              <a:rPr lang="en-US" sz="2000" dirty="0">
                <a:highlight>
                  <a:srgbClr val="FFFF00"/>
                </a:highlight>
              </a:rPr>
              <a:t>capturing long-term dependencies</a:t>
            </a:r>
            <a:r>
              <a:rPr lang="en-US" sz="2000" dirty="0"/>
              <a:t>.</a:t>
            </a:r>
          </a:p>
          <a:p>
            <a:pPr algn="just"/>
            <a:endParaRPr lang="en-US" sz="2000" b="1" dirty="0"/>
          </a:p>
          <a:p>
            <a:pPr algn="just"/>
            <a:r>
              <a:rPr lang="en-US" sz="2000" b="1" dirty="0"/>
              <a:t>GPT (Generative Pretrained Transformer)</a:t>
            </a:r>
            <a:r>
              <a:rPr lang="en-US" sz="2000" dirty="0"/>
              <a:t>: A popular transformer-based model designed for text generation. GPT learns to predict the next word in a sentence, which enables it to generate </a:t>
            </a:r>
            <a:r>
              <a:rPr lang="en-US" sz="2000" dirty="0">
                <a:solidFill>
                  <a:srgbClr val="0000FF"/>
                </a:solidFill>
              </a:rPr>
              <a:t>coherent and contextually</a:t>
            </a:r>
            <a:r>
              <a:rPr lang="en-US" sz="2000" dirty="0"/>
              <a:t> relevant text.</a:t>
            </a:r>
          </a:p>
          <a:p>
            <a:pPr algn="just"/>
            <a:r>
              <a:rPr lang="en-US" sz="2000" b="1" dirty="0"/>
              <a:t>BERT (Bidirectional Encoder Representations from Transformers)</a:t>
            </a:r>
            <a:r>
              <a:rPr lang="en-US" sz="2000" dirty="0"/>
              <a:t>: BERT focuses on understanding context by simultaneously looking at words in both directions (left and right of a word), making it highly effective in tasks like question answering and text classification.</a:t>
            </a:r>
          </a:p>
          <a:p>
            <a:pPr marL="0" indent="0" algn="just">
              <a:buNone/>
            </a:pPr>
            <a:endParaRPr lang="en-IN" sz="2000" dirty="0"/>
          </a:p>
        </p:txBody>
      </p:sp>
      <p:sp>
        <p:nvSpPr>
          <p:cNvPr id="4" name="Date Placeholder 3">
            <a:extLst>
              <a:ext uri="{FF2B5EF4-FFF2-40B4-BE49-F238E27FC236}">
                <a16:creationId xmlns:a16="http://schemas.microsoft.com/office/drawing/2014/main" id="{8DD972B7-C886-4251-57AA-39B650F88AEB}"/>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21E2AC6A-75D0-F008-16EC-6A925663C21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2BEF77-9EC3-E638-A6C4-582F8E972B3B}"/>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401188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6D08A-0EA3-A11A-F3F6-CBE5EF287A9D}"/>
              </a:ext>
            </a:extLst>
          </p:cNvPr>
          <p:cNvSpPr>
            <a:spLocks noGrp="1"/>
          </p:cNvSpPr>
          <p:nvPr>
            <p:ph type="title"/>
          </p:nvPr>
        </p:nvSpPr>
        <p:spPr/>
        <p:txBody>
          <a:bodyPr/>
          <a:lstStyle/>
          <a:p>
            <a:r>
              <a:rPr lang="en-US" sz="2800" dirty="0"/>
              <a:t>Core Building Blocks of Language Models</a:t>
            </a:r>
            <a:endParaRPr lang="en-IN" sz="2800" dirty="0"/>
          </a:p>
        </p:txBody>
      </p:sp>
      <p:sp>
        <p:nvSpPr>
          <p:cNvPr id="3" name="Content Placeholder 2">
            <a:extLst>
              <a:ext uri="{FF2B5EF4-FFF2-40B4-BE49-F238E27FC236}">
                <a16:creationId xmlns:a16="http://schemas.microsoft.com/office/drawing/2014/main" id="{36165653-3DA4-311F-A81F-592F1CC6A5B8}"/>
              </a:ext>
            </a:extLst>
          </p:cNvPr>
          <p:cNvSpPr>
            <a:spLocks noGrp="1"/>
          </p:cNvSpPr>
          <p:nvPr>
            <p:ph idx="1"/>
          </p:nvPr>
        </p:nvSpPr>
        <p:spPr/>
        <p:txBody>
          <a:bodyPr/>
          <a:lstStyle/>
          <a:p>
            <a:pPr marL="0" indent="0" algn="just">
              <a:buNone/>
            </a:pPr>
            <a:r>
              <a:rPr lang="en-US" sz="2000" dirty="0"/>
              <a:t>Core building blocks of language models are </a:t>
            </a:r>
          </a:p>
          <a:p>
            <a:pPr algn="just"/>
            <a:r>
              <a:rPr lang="en-US" sz="2000" dirty="0"/>
              <a:t>Token’s</a:t>
            </a:r>
          </a:p>
          <a:p>
            <a:pPr algn="just"/>
            <a:r>
              <a:rPr lang="en-US" sz="2000" dirty="0"/>
              <a:t>Embeddings</a:t>
            </a:r>
          </a:p>
          <a:p>
            <a:pPr algn="just"/>
            <a:r>
              <a:rPr lang="en-US" sz="2000" dirty="0"/>
              <a:t>Transformer Architecture </a:t>
            </a:r>
          </a:p>
          <a:p>
            <a:pPr algn="just"/>
            <a:endParaRPr lang="en-US" sz="2000" dirty="0"/>
          </a:p>
          <a:p>
            <a:pPr marL="0" indent="0" algn="just">
              <a:buNone/>
            </a:pPr>
            <a:r>
              <a:rPr lang="en-US" sz="2000" dirty="0"/>
              <a:t>These components work together to enable language models to process, understand, and generate human language</a:t>
            </a:r>
            <a:endParaRPr lang="en-IN" sz="2000" dirty="0"/>
          </a:p>
        </p:txBody>
      </p:sp>
      <p:sp>
        <p:nvSpPr>
          <p:cNvPr id="4" name="Date Placeholder 3">
            <a:extLst>
              <a:ext uri="{FF2B5EF4-FFF2-40B4-BE49-F238E27FC236}">
                <a16:creationId xmlns:a16="http://schemas.microsoft.com/office/drawing/2014/main" id="{AA731DD4-8A64-E8A2-00EE-E4374DC1B6D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D32F676F-FC04-EC9B-2D4A-3CFBD43DCB5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79F13C-B1A2-FA37-F9CB-580454C40DD7}"/>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1661254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A5C1-C0D3-C443-B8FA-853A561CD1CC}"/>
              </a:ext>
            </a:extLst>
          </p:cNvPr>
          <p:cNvSpPr>
            <a:spLocks noGrp="1"/>
          </p:cNvSpPr>
          <p:nvPr>
            <p:ph type="title"/>
          </p:nvPr>
        </p:nvSpPr>
        <p:spPr/>
        <p:txBody>
          <a:bodyPr/>
          <a:lstStyle/>
          <a:p>
            <a:r>
              <a:rPr lang="en-US" sz="2400" dirty="0"/>
              <a:t>Core Building Blocks of Language Models</a:t>
            </a:r>
            <a:endParaRPr lang="en-IN" sz="2400" dirty="0"/>
          </a:p>
        </p:txBody>
      </p:sp>
      <p:sp>
        <p:nvSpPr>
          <p:cNvPr id="3" name="Content Placeholder 2">
            <a:extLst>
              <a:ext uri="{FF2B5EF4-FFF2-40B4-BE49-F238E27FC236}">
                <a16:creationId xmlns:a16="http://schemas.microsoft.com/office/drawing/2014/main" id="{3948DF49-DCA3-8C39-1BB0-95C2FADBA183}"/>
              </a:ext>
            </a:extLst>
          </p:cNvPr>
          <p:cNvSpPr>
            <a:spLocks noGrp="1"/>
          </p:cNvSpPr>
          <p:nvPr>
            <p:ph idx="1"/>
          </p:nvPr>
        </p:nvSpPr>
        <p:spPr/>
        <p:txBody>
          <a:bodyPr/>
          <a:lstStyle/>
          <a:p>
            <a:pPr marL="0" indent="0" algn="just">
              <a:buNone/>
            </a:pPr>
            <a:r>
              <a:rPr lang="en-US" sz="1600" b="1" dirty="0"/>
              <a:t>Tokens:</a:t>
            </a:r>
            <a:endParaRPr lang="en-US" sz="1600" dirty="0"/>
          </a:p>
          <a:p>
            <a:pPr algn="just" fontAlgn="ctr"/>
            <a:r>
              <a:rPr lang="en-US" sz="1600" dirty="0"/>
              <a:t>These are the fundamental units of data that language models operate on. They can be words, </a:t>
            </a:r>
            <a:r>
              <a:rPr lang="en-US" sz="1600" dirty="0" err="1"/>
              <a:t>subwords</a:t>
            </a:r>
            <a:r>
              <a:rPr lang="en-US" sz="1600" dirty="0"/>
              <a:t>, or even characters, depending on the model's design. For example, the sentence "The cat sat on the mat" might be tokenized into: ["The", "cat", "sat", "on", "the", "mat"]. </a:t>
            </a:r>
          </a:p>
          <a:p>
            <a:pPr marL="0" indent="0" algn="just">
              <a:buNone/>
            </a:pPr>
            <a:r>
              <a:rPr lang="en-US" sz="1600" b="1" dirty="0"/>
              <a:t>Embeddings:</a:t>
            </a:r>
            <a:endParaRPr lang="en-US" sz="1600" dirty="0"/>
          </a:p>
          <a:p>
            <a:pPr algn="just" fontAlgn="ctr"/>
            <a:r>
              <a:rPr lang="en-US" sz="1600" dirty="0"/>
              <a:t>Embeddings are </a:t>
            </a:r>
            <a:r>
              <a:rPr lang="en-US" sz="1600" dirty="0">
                <a:highlight>
                  <a:srgbClr val="FFFF00"/>
                </a:highlight>
              </a:rPr>
              <a:t>numerical representations </a:t>
            </a:r>
            <a:r>
              <a:rPr lang="en-US" sz="1600" dirty="0"/>
              <a:t>of these tokens. Instead of treating words as discrete symbols, embeddings map them to a continuous vector space where </a:t>
            </a:r>
            <a:r>
              <a:rPr lang="en-US" sz="1600" b="1" dirty="0"/>
              <a:t>words with similar meanings are located closer together</a:t>
            </a:r>
            <a:r>
              <a:rPr lang="en-US" sz="1600" dirty="0"/>
              <a:t>. This allows the model to understand relationships between words and perform tasks like similarity comparisons or word analogies. </a:t>
            </a:r>
          </a:p>
          <a:p>
            <a:pPr marL="0" indent="0" algn="just">
              <a:buNone/>
            </a:pPr>
            <a:r>
              <a:rPr lang="en-US" sz="1600" b="1" dirty="0"/>
              <a:t>Transformer Architecture:</a:t>
            </a:r>
            <a:endParaRPr lang="en-US" sz="1600" dirty="0"/>
          </a:p>
          <a:p>
            <a:pPr algn="just"/>
            <a:r>
              <a:rPr lang="en-US" sz="1600" dirty="0"/>
              <a:t>This is the neural network architecture that powers many modern language models. It utilizes </a:t>
            </a:r>
            <a:r>
              <a:rPr lang="en-US" sz="1600" dirty="0">
                <a:highlight>
                  <a:srgbClr val="FFFF00"/>
                </a:highlight>
              </a:rPr>
              <a:t>self-attention </a:t>
            </a:r>
            <a:r>
              <a:rPr lang="en-US" sz="1600" dirty="0"/>
              <a:t>mechanisms to weigh the importance of different parts of the input sequence, allowing the model to understand </a:t>
            </a:r>
            <a:r>
              <a:rPr lang="en-US" sz="1600" dirty="0">
                <a:highlight>
                  <a:srgbClr val="FFFF00"/>
                </a:highlight>
              </a:rPr>
              <a:t>context</a:t>
            </a:r>
            <a:r>
              <a:rPr lang="en-US" sz="1600" dirty="0"/>
              <a:t> and </a:t>
            </a:r>
            <a:r>
              <a:rPr lang="en-US" sz="1600" dirty="0">
                <a:highlight>
                  <a:srgbClr val="FFFF00"/>
                </a:highlight>
              </a:rPr>
              <a:t>relationships between words </a:t>
            </a:r>
            <a:r>
              <a:rPr lang="en-US" sz="1600" dirty="0"/>
              <a:t>effectively. </a:t>
            </a:r>
          </a:p>
          <a:p>
            <a:pPr marL="0" indent="0" algn="just">
              <a:buNone/>
            </a:pPr>
            <a:endParaRPr lang="en-IN" sz="1600" dirty="0"/>
          </a:p>
        </p:txBody>
      </p:sp>
      <p:sp>
        <p:nvSpPr>
          <p:cNvPr id="4" name="Date Placeholder 3">
            <a:extLst>
              <a:ext uri="{FF2B5EF4-FFF2-40B4-BE49-F238E27FC236}">
                <a16:creationId xmlns:a16="http://schemas.microsoft.com/office/drawing/2014/main" id="{706016BB-3B2E-B62D-16AE-0922402C942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2DF9440-B573-05B6-173E-614376F9683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E8D8CA-DD47-F172-E036-AFC85DD40EAE}"/>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158773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7BDA-0459-461E-F7A3-2F1BF9EF1FDF}"/>
              </a:ext>
            </a:extLst>
          </p:cNvPr>
          <p:cNvSpPr>
            <a:spLocks noGrp="1"/>
          </p:cNvSpPr>
          <p:nvPr>
            <p:ph type="title"/>
          </p:nvPr>
        </p:nvSpPr>
        <p:spPr/>
        <p:txBody>
          <a:bodyPr/>
          <a:lstStyle/>
          <a:p>
            <a:r>
              <a:rPr lang="en-US" dirty="0"/>
              <a:t>Tyes of Word Embeddings </a:t>
            </a:r>
            <a:endParaRPr lang="en-IN" dirty="0"/>
          </a:p>
        </p:txBody>
      </p:sp>
      <p:sp>
        <p:nvSpPr>
          <p:cNvPr id="3" name="Content Placeholder 2">
            <a:extLst>
              <a:ext uri="{FF2B5EF4-FFF2-40B4-BE49-F238E27FC236}">
                <a16:creationId xmlns:a16="http://schemas.microsoft.com/office/drawing/2014/main" id="{8063378C-994E-7326-F87D-A8E60C5FC69B}"/>
              </a:ext>
            </a:extLst>
          </p:cNvPr>
          <p:cNvSpPr>
            <a:spLocks noGrp="1"/>
          </p:cNvSpPr>
          <p:nvPr>
            <p:ph idx="1"/>
          </p:nvPr>
        </p:nvSpPr>
        <p:spPr/>
        <p:txBody>
          <a:bodyPr/>
          <a:lstStyle/>
          <a:p>
            <a:pPr marL="0" indent="0" algn="just">
              <a:buNone/>
            </a:pPr>
            <a:r>
              <a:rPr lang="en-US" sz="1600" dirty="0"/>
              <a:t>In the realm of Natural Language Processing (NLP), </a:t>
            </a:r>
            <a:r>
              <a:rPr lang="en-US" sz="1600" b="1" dirty="0"/>
              <a:t>converting words into vectors </a:t>
            </a:r>
            <a:r>
              <a:rPr lang="en-US" sz="1600" dirty="0"/>
              <a:t>— commonly referred to as word embeddings — is fundamental. These embeddings serve as the foundation for numerous NLP applications, enabling computers to understand and interpret human language.</a:t>
            </a:r>
            <a:endParaRPr lang="en-IN" sz="1600" dirty="0"/>
          </a:p>
        </p:txBody>
      </p:sp>
      <p:sp>
        <p:nvSpPr>
          <p:cNvPr id="4" name="Date Placeholder 3">
            <a:extLst>
              <a:ext uri="{FF2B5EF4-FFF2-40B4-BE49-F238E27FC236}">
                <a16:creationId xmlns:a16="http://schemas.microsoft.com/office/drawing/2014/main" id="{4DD87164-5782-34D7-8E9B-D2274C95CBE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528DAF37-C279-AF82-BDC7-702F5CB25E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155A2B8-4B75-9633-AC68-BD56D70FEAFA}"/>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8" name="Picture 7">
            <a:extLst>
              <a:ext uri="{FF2B5EF4-FFF2-40B4-BE49-F238E27FC236}">
                <a16:creationId xmlns:a16="http://schemas.microsoft.com/office/drawing/2014/main" id="{60B6D6C4-B793-EC42-E4D4-613127F48EE4}"/>
              </a:ext>
            </a:extLst>
          </p:cNvPr>
          <p:cNvPicPr>
            <a:picLocks noChangeAspect="1"/>
          </p:cNvPicPr>
          <p:nvPr/>
        </p:nvPicPr>
        <p:blipFill>
          <a:blip r:embed="rId3"/>
          <a:stretch>
            <a:fillRect/>
          </a:stretch>
        </p:blipFill>
        <p:spPr>
          <a:xfrm>
            <a:off x="833438" y="2696510"/>
            <a:ext cx="7467600" cy="4161490"/>
          </a:xfrm>
          <a:prstGeom prst="rect">
            <a:avLst/>
          </a:prstGeom>
        </p:spPr>
      </p:pic>
    </p:spTree>
    <p:extLst>
      <p:ext uri="{BB962C8B-B14F-4D97-AF65-F5344CB8AC3E}">
        <p14:creationId xmlns:p14="http://schemas.microsoft.com/office/powerpoint/2010/main" val="688327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07438327"/>
              </p:ext>
            </p:extLst>
          </p:nvPr>
        </p:nvGraphicFramePr>
        <p:xfrm>
          <a:off x="0" y="1143000"/>
          <a:ext cx="9114182" cy="4297680"/>
        </p:xfrm>
        <a:graphic>
          <a:graphicData uri="http://schemas.openxmlformats.org/drawingml/2006/table">
            <a:tbl>
              <a:tblPr firstRow="1" bandRow="1">
                <a:tableStyleId>{5C22544A-7EE6-4342-B048-85BDC9FD1C3A}</a:tableStyleId>
              </a:tblPr>
              <a:tblGrid>
                <a:gridCol w="1120655">
                  <a:extLst>
                    <a:ext uri="{9D8B030D-6E8A-4147-A177-3AD203B41FA5}">
                      <a16:colId xmlns:a16="http://schemas.microsoft.com/office/drawing/2014/main" val="20000"/>
                    </a:ext>
                  </a:extLst>
                </a:gridCol>
                <a:gridCol w="2773265">
                  <a:extLst>
                    <a:ext uri="{9D8B030D-6E8A-4147-A177-3AD203B41FA5}">
                      <a16:colId xmlns:a16="http://schemas.microsoft.com/office/drawing/2014/main" val="20001"/>
                    </a:ext>
                  </a:extLst>
                </a:gridCol>
                <a:gridCol w="3467664">
                  <a:extLst>
                    <a:ext uri="{9D8B030D-6E8A-4147-A177-3AD203B41FA5}">
                      <a16:colId xmlns:a16="http://schemas.microsoft.com/office/drawing/2014/main" val="20002"/>
                    </a:ext>
                  </a:extLst>
                </a:gridCol>
                <a:gridCol w="1752598">
                  <a:extLst>
                    <a:ext uri="{9D8B030D-6E8A-4147-A177-3AD203B41FA5}">
                      <a16:colId xmlns:a16="http://schemas.microsoft.com/office/drawing/2014/main" val="20003"/>
                    </a:ext>
                  </a:extLst>
                </a:gridCol>
              </a:tblGrid>
              <a:tr h="609600">
                <a:tc>
                  <a:txBody>
                    <a:bodyPr/>
                    <a:lstStyle/>
                    <a:p>
                      <a:r>
                        <a:rPr lang="en-IN" sz="1200" b="0" dirty="0">
                          <a:solidFill>
                            <a:schemeClr val="tx1"/>
                          </a:solidFill>
                        </a:rPr>
                        <a:t>Frequency-Based </a:t>
                      </a:r>
                      <a:r>
                        <a:rPr lang="en-IN" sz="1200" b="0" dirty="0" err="1">
                          <a:solidFill>
                            <a:schemeClr val="tx1"/>
                          </a:solidFill>
                        </a:rPr>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These </a:t>
                      </a:r>
                      <a:r>
                        <a:rPr lang="en-IN" sz="1200" b="0" dirty="0" err="1">
                          <a:solidFill>
                            <a:schemeClr val="tx1"/>
                          </a:solidFill>
                        </a:rPr>
                        <a:t>embeddings</a:t>
                      </a:r>
                      <a:r>
                        <a:rPr lang="en-IN" sz="1200" b="0" dirty="0">
                          <a:solidFill>
                            <a:schemeClr val="tx1"/>
                          </a:solidFill>
                        </a:rPr>
                        <a:t> represent words using co-occurrence statistics like word counts or term frequency from large corpora.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A co-occurrence matrix or TF-IDF vector where "apple" and "fruit" often appear together in similar contexts.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IN" sz="1200" b="0" dirty="0">
                          <a:solidFill>
                            <a:schemeClr val="tx1"/>
                          </a:solidFill>
                        </a:rPr>
                        <a:t>Prediction-Based </a:t>
                      </a:r>
                      <a:r>
                        <a:rPr lang="en-IN" sz="1200" b="0" dirty="0" err="1">
                          <a:solidFill>
                            <a:schemeClr val="tx1"/>
                          </a:solidFill>
                        </a:rPr>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These are learned by training a neural network to predict a word from its context (or vice versa) using shallow models.</a:t>
                      </a:r>
                    </a:p>
                    <a:p>
                      <a:r>
                        <a:rPr lang="en-IN" sz="1200" b="0" dirty="0"/>
                        <a:t>Single static vector per word, regardless of context.</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1" dirty="0"/>
                        <a:t>Word2Vec</a:t>
                      </a:r>
                      <a:r>
                        <a:rPr lang="en-IN" sz="1200" dirty="0"/>
                        <a:t> predicts surrounding words of "king" and places "queen" nearby in vector space.</a:t>
                      </a:r>
                    </a:p>
                    <a:p>
                      <a:r>
                        <a:rPr lang="en-IN" sz="1200" dirty="0"/>
                        <a:t>The word </a:t>
                      </a:r>
                      <a:r>
                        <a:rPr lang="en-IN" sz="1200" b="0" dirty="0">
                          <a:solidFill>
                            <a:srgbClr val="0000FF"/>
                          </a:solidFill>
                        </a:rPr>
                        <a:t>“bank”</a:t>
                      </a:r>
                      <a:r>
                        <a:rPr lang="en-IN" sz="1200" b="0" dirty="0"/>
                        <a:t> </a:t>
                      </a:r>
                      <a:r>
                        <a:rPr lang="en-IN" sz="1200" dirty="0"/>
                        <a:t>has the </a:t>
                      </a:r>
                      <a:r>
                        <a:rPr lang="en-IN" sz="1200" b="1" dirty="0"/>
                        <a:t>same embedding </a:t>
                      </a:r>
                      <a:r>
                        <a:rPr lang="en-IN" sz="1200" dirty="0"/>
                        <a:t>in “river bank” and “money bank”.</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lang="en-IN" sz="1200" dirty="0"/>
                        <a:t>Prediction-based </a:t>
                      </a:r>
                      <a:r>
                        <a:rPr lang="en-IN" sz="1200" dirty="0" err="1"/>
                        <a:t>embeddings</a:t>
                      </a:r>
                      <a:r>
                        <a:rPr lang="en-IN" sz="1200" dirty="0"/>
                        <a:t> are </a:t>
                      </a:r>
                      <a:r>
                        <a:rPr lang="en-IN" sz="1200" b="1" dirty="0"/>
                        <a:t>static</a:t>
                      </a:r>
                      <a:r>
                        <a:rPr lang="en-IN" sz="1200" dirty="0"/>
                        <a:t> (context-independent), while contextualized </a:t>
                      </a:r>
                      <a:r>
                        <a:rPr lang="en-IN" sz="1200" dirty="0" err="1"/>
                        <a:t>embeddings</a:t>
                      </a:r>
                      <a:r>
                        <a:rPr lang="en-IN" sz="1200" dirty="0"/>
                        <a:t> are </a:t>
                      </a:r>
                      <a:r>
                        <a:rPr lang="en-IN" sz="1200" b="1" dirty="0"/>
                        <a:t>dynamic</a:t>
                      </a:r>
                      <a:r>
                        <a:rPr lang="en-IN" sz="1200" dirty="0"/>
                        <a:t> (context-dependent).</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IN" sz="1200" b="0" dirty="0"/>
                        <a:t>Contextualized Word </a:t>
                      </a:r>
                      <a:r>
                        <a:rPr lang="en-IN" sz="1200" b="0" dirty="0" err="1"/>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t>These </a:t>
                      </a:r>
                      <a:r>
                        <a:rPr lang="en-IN" sz="1200" b="0" dirty="0" err="1"/>
                        <a:t>embeddings</a:t>
                      </a:r>
                      <a:r>
                        <a:rPr lang="en-IN" sz="1200" b="0" dirty="0"/>
                        <a:t> dynamically change based on context within a sentence, capturing word meaning variations.</a:t>
                      </a:r>
                    </a:p>
                    <a:p>
                      <a:r>
                        <a:rPr lang="en-IN" sz="1200" b="0" dirty="0"/>
                        <a:t>Different vector for the same word depending on context.</a:t>
                      </a:r>
                    </a:p>
                    <a:p>
                      <a:r>
                        <a:rPr lang="en-IN" sz="1200" b="0" dirty="0"/>
                        <a:t>Generated by deep language models (like BERT) that understand sentence-level context during training and inference.</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200" b="0" dirty="0">
                        <a:solidFill>
                          <a:schemeClr val="tx1"/>
                        </a:solidFill>
                      </a:endParaRPr>
                    </a:p>
                    <a:p>
                      <a:r>
                        <a:rPr lang="en-IN" sz="1200" dirty="0"/>
                        <a:t>In </a:t>
                      </a:r>
                      <a:r>
                        <a:rPr lang="en-IN" sz="1200" b="1" dirty="0"/>
                        <a:t>BERT</a:t>
                      </a:r>
                      <a:r>
                        <a:rPr lang="en-IN" sz="1200" dirty="0"/>
                        <a:t>, the word </a:t>
                      </a:r>
                      <a:r>
                        <a:rPr lang="en-IN" sz="1200" dirty="0">
                          <a:solidFill>
                            <a:srgbClr val="0000FF"/>
                          </a:solidFill>
                        </a:rPr>
                        <a:t>“bank” </a:t>
                      </a:r>
                      <a:r>
                        <a:rPr lang="en-IN" sz="1200" dirty="0"/>
                        <a:t>will have </a:t>
                      </a:r>
                      <a:r>
                        <a:rPr lang="en-IN" sz="1200" b="1" dirty="0"/>
                        <a:t>different </a:t>
                      </a:r>
                      <a:r>
                        <a:rPr lang="en-IN" sz="1200" b="1" dirty="0" err="1"/>
                        <a:t>embeddings</a:t>
                      </a:r>
                      <a:r>
                        <a:rPr lang="en-IN" sz="1200" dirty="0"/>
                        <a:t> in “river bank” vs. “money bank”.</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1013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85D0-E0C9-C7A8-0A39-5344E9A157FE}"/>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671229D8-BEA1-7C17-8003-9946FC78D1CD}"/>
              </a:ext>
            </a:extLst>
          </p:cNvPr>
          <p:cNvSpPr>
            <a:spLocks noGrp="1"/>
          </p:cNvSpPr>
          <p:nvPr>
            <p:ph idx="1"/>
          </p:nvPr>
        </p:nvSpPr>
        <p:spPr/>
        <p:txBody>
          <a:bodyPr/>
          <a:lstStyle/>
          <a:p>
            <a:pPr marL="0" indent="0" algn="just">
              <a:buNone/>
            </a:pPr>
            <a:r>
              <a:rPr lang="en-US" sz="1200" dirty="0"/>
              <a:t>Frequency-based word embeddings are a category of techniques that represent words based on their frequency of occurrence and co-occurrence in a given corpus</a:t>
            </a:r>
          </a:p>
          <a:p>
            <a:pPr marL="0" indent="0" algn="just">
              <a:buNone/>
            </a:pPr>
            <a:r>
              <a:rPr lang="en-US" sz="1200" dirty="0"/>
              <a:t>Unlike prediction-based methods that learn embeddings through prediction tasks, frequency-based methods derive embeddings from the statistical properties of the text</a:t>
            </a:r>
          </a:p>
          <a:p>
            <a:pPr marL="0" indent="0" algn="just">
              <a:buNone/>
            </a:pPr>
            <a:r>
              <a:rPr lang="en-US" sz="1200" b="1" dirty="0"/>
              <a:t>1. Count Vectorization (Bag of Words)</a:t>
            </a:r>
          </a:p>
          <a:p>
            <a:pPr marL="0" indent="0" algn="just">
              <a:buNone/>
            </a:pPr>
            <a:r>
              <a:rPr lang="en-US" sz="1200" b="1" dirty="0"/>
              <a:t>Description</a:t>
            </a:r>
            <a:r>
              <a:rPr lang="en-US" sz="1200" dirty="0"/>
              <a:t>: This method creates a vector for each document by counting the number of times each word appears</a:t>
            </a:r>
          </a:p>
          <a:p>
            <a:pPr marL="0" indent="0" algn="just">
              <a:buNone/>
            </a:pPr>
            <a:r>
              <a:rPr lang="en-US" sz="1200" b="1" dirty="0"/>
              <a:t>How Bag of Words Works</a:t>
            </a:r>
            <a:endParaRPr lang="en-US" sz="1200" dirty="0"/>
          </a:p>
          <a:p>
            <a:pPr marL="0" indent="0" algn="just">
              <a:buNone/>
            </a:pPr>
            <a:r>
              <a:rPr lang="en-US" sz="1200" b="1" dirty="0"/>
              <a:t>Tokenization</a:t>
            </a:r>
            <a:r>
              <a:rPr lang="en-US" sz="1200" dirty="0"/>
              <a:t>: Split the text into individual words or tokens.</a:t>
            </a:r>
          </a:p>
          <a:p>
            <a:pPr marL="0" indent="0" algn="just">
              <a:buNone/>
            </a:pPr>
            <a:r>
              <a:rPr lang="en-US" sz="1200" b="1" dirty="0"/>
              <a:t>Vocabulary Creation</a:t>
            </a:r>
            <a:r>
              <a:rPr lang="en-US" sz="1200" dirty="0"/>
              <a:t>: Create a list of all unique words (vocabulary) from the text corpus.</a:t>
            </a:r>
          </a:p>
          <a:p>
            <a:pPr marL="0" indent="0" algn="just">
              <a:buNone/>
            </a:pPr>
            <a:r>
              <a:rPr lang="en-US" sz="1200" b="1" dirty="0"/>
              <a:t>Vectorization</a:t>
            </a:r>
            <a:r>
              <a:rPr lang="en-US" sz="1200" dirty="0"/>
              <a:t>: Convert each document into a vector of numbers where each number represents the count (or frequency) of a word in the document</a:t>
            </a:r>
          </a:p>
          <a:p>
            <a:pPr marL="0" indent="0">
              <a:buNone/>
            </a:pPr>
            <a:endParaRPr lang="en-IN" sz="1200" dirty="0"/>
          </a:p>
        </p:txBody>
      </p:sp>
      <p:sp>
        <p:nvSpPr>
          <p:cNvPr id="4" name="Date Placeholder 3">
            <a:extLst>
              <a:ext uri="{FF2B5EF4-FFF2-40B4-BE49-F238E27FC236}">
                <a16:creationId xmlns:a16="http://schemas.microsoft.com/office/drawing/2014/main" id="{CB236247-3FCD-2828-DE94-9A73810C9831}"/>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278CF3B7-1E4A-1D76-3455-EE5F4C4638F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370A3A1-6DCC-B62C-AEFA-FA8D4ABC1DEF}"/>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8" name="Picture 7">
            <a:extLst>
              <a:ext uri="{FF2B5EF4-FFF2-40B4-BE49-F238E27FC236}">
                <a16:creationId xmlns:a16="http://schemas.microsoft.com/office/drawing/2014/main" id="{3112EEBA-B1CD-D9E2-F0AD-0C34E93D38C2}"/>
              </a:ext>
            </a:extLst>
          </p:cNvPr>
          <p:cNvPicPr>
            <a:picLocks noChangeAspect="1"/>
          </p:cNvPicPr>
          <p:nvPr/>
        </p:nvPicPr>
        <p:blipFill>
          <a:blip r:embed="rId2"/>
          <a:stretch>
            <a:fillRect/>
          </a:stretch>
        </p:blipFill>
        <p:spPr>
          <a:xfrm>
            <a:off x="21771" y="3683453"/>
            <a:ext cx="3886200" cy="1575707"/>
          </a:xfrm>
          <a:prstGeom prst="rect">
            <a:avLst/>
          </a:prstGeom>
        </p:spPr>
      </p:pic>
      <p:pic>
        <p:nvPicPr>
          <p:cNvPr id="10" name="Picture 9">
            <a:extLst>
              <a:ext uri="{FF2B5EF4-FFF2-40B4-BE49-F238E27FC236}">
                <a16:creationId xmlns:a16="http://schemas.microsoft.com/office/drawing/2014/main" id="{CE9D80D8-D90C-DC05-B8CF-31430D97A2AB}"/>
              </a:ext>
            </a:extLst>
          </p:cNvPr>
          <p:cNvPicPr>
            <a:picLocks noChangeAspect="1"/>
          </p:cNvPicPr>
          <p:nvPr/>
        </p:nvPicPr>
        <p:blipFill>
          <a:blip r:embed="rId3"/>
          <a:srcRect t="15728"/>
          <a:stretch>
            <a:fillRect/>
          </a:stretch>
        </p:blipFill>
        <p:spPr>
          <a:xfrm>
            <a:off x="3315041" y="4962641"/>
            <a:ext cx="5715000" cy="1385090"/>
          </a:xfrm>
          <a:prstGeom prst="rect">
            <a:avLst/>
          </a:prstGeom>
        </p:spPr>
      </p:pic>
      <p:sp>
        <p:nvSpPr>
          <p:cNvPr id="11" name="TextBox 10">
            <a:extLst>
              <a:ext uri="{FF2B5EF4-FFF2-40B4-BE49-F238E27FC236}">
                <a16:creationId xmlns:a16="http://schemas.microsoft.com/office/drawing/2014/main" id="{C7369E97-D0F6-4E01-4108-29F2D5F66651}"/>
              </a:ext>
            </a:extLst>
          </p:cNvPr>
          <p:cNvSpPr txBox="1"/>
          <p:nvPr/>
        </p:nvSpPr>
        <p:spPr>
          <a:xfrm>
            <a:off x="5568635" y="4551402"/>
            <a:ext cx="984565" cy="369332"/>
          </a:xfrm>
          <a:prstGeom prst="rect">
            <a:avLst/>
          </a:prstGeom>
          <a:noFill/>
        </p:spPr>
        <p:txBody>
          <a:bodyPr wrap="none" rtlCol="0">
            <a:spAutoFit/>
          </a:bodyPr>
          <a:lstStyle/>
          <a:p>
            <a:r>
              <a:rPr lang="en-US" dirty="0"/>
              <a:t>Output</a:t>
            </a:r>
            <a:endParaRPr lang="en-IN" dirty="0"/>
          </a:p>
        </p:txBody>
      </p:sp>
    </p:spTree>
    <p:extLst>
      <p:ext uri="{BB962C8B-B14F-4D97-AF65-F5344CB8AC3E}">
        <p14:creationId xmlns:p14="http://schemas.microsoft.com/office/powerpoint/2010/main" val="773359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9F3A-3EB5-EDCE-8D26-F492931F2EB3}"/>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C185CA30-2278-A7C8-1AE8-B1B4F830F994}"/>
              </a:ext>
            </a:extLst>
          </p:cNvPr>
          <p:cNvSpPr>
            <a:spLocks noGrp="1"/>
          </p:cNvSpPr>
          <p:nvPr>
            <p:ph idx="1"/>
          </p:nvPr>
        </p:nvSpPr>
        <p:spPr/>
        <p:txBody>
          <a:bodyPr/>
          <a:lstStyle/>
          <a:p>
            <a:pPr marL="0" indent="0">
              <a:buNone/>
            </a:pPr>
            <a:r>
              <a:rPr lang="en-US" sz="1600" b="1" dirty="0"/>
              <a:t>2. TF-IDF (Term Frequency-Inverse Document Frequency)</a:t>
            </a:r>
          </a:p>
          <a:p>
            <a:pPr marL="471487" lvl="1" indent="0">
              <a:buNone/>
            </a:pPr>
            <a:r>
              <a:rPr lang="en-US" sz="1400" b="1" dirty="0"/>
              <a:t>Description</a:t>
            </a:r>
            <a:r>
              <a:rPr lang="en-US" sz="1400" dirty="0"/>
              <a:t>: TF-IDF adjusts the raw word count by considering the importance of words in the context of the entire corpus</a:t>
            </a:r>
          </a:p>
          <a:p>
            <a:pPr marL="471487" lvl="1" indent="0">
              <a:buNone/>
            </a:pPr>
            <a:r>
              <a:rPr lang="en-US" sz="1400" b="1" dirty="0"/>
              <a:t>Components</a:t>
            </a:r>
            <a:r>
              <a:rPr lang="en-US" sz="1400" dirty="0"/>
              <a:t>:</a:t>
            </a:r>
          </a:p>
          <a:p>
            <a:pPr lvl="1"/>
            <a:r>
              <a:rPr lang="en-US" sz="1400" b="1" dirty="0"/>
              <a:t>Term Frequency (TF)</a:t>
            </a:r>
            <a:r>
              <a:rPr lang="en-US" sz="1400" dirty="0"/>
              <a:t>: Measures how frequently a word appears in a document</a:t>
            </a:r>
          </a:p>
          <a:p>
            <a:pPr lvl="1"/>
            <a:r>
              <a:rPr lang="en-US" sz="1400" b="1" dirty="0"/>
              <a:t>Inverse Document Frequency (IDF)</a:t>
            </a:r>
            <a:r>
              <a:rPr lang="en-US" sz="1400" dirty="0"/>
              <a:t>: Measures how important a word is by considering how often it appears across all documents</a:t>
            </a:r>
          </a:p>
          <a:p>
            <a:br>
              <a:rPr lang="en-US" sz="1600" dirty="0"/>
            </a:br>
            <a:endParaRPr lang="en-IN" sz="1600" dirty="0"/>
          </a:p>
        </p:txBody>
      </p:sp>
      <p:sp>
        <p:nvSpPr>
          <p:cNvPr id="4" name="Date Placeholder 3">
            <a:extLst>
              <a:ext uri="{FF2B5EF4-FFF2-40B4-BE49-F238E27FC236}">
                <a16:creationId xmlns:a16="http://schemas.microsoft.com/office/drawing/2014/main" id="{EEA16B05-A89E-76B5-F346-D18ADC1F8270}"/>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1D49C00-FBF1-6F94-D8D6-88B7CC8DE91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049782-E3B5-4049-0BAA-631236790C33}"/>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7" name="Picture 6">
            <a:extLst>
              <a:ext uri="{FF2B5EF4-FFF2-40B4-BE49-F238E27FC236}">
                <a16:creationId xmlns:a16="http://schemas.microsoft.com/office/drawing/2014/main" id="{51CA2726-7A00-1B10-4B11-E44B0AA92D53}"/>
              </a:ext>
            </a:extLst>
          </p:cNvPr>
          <p:cNvPicPr>
            <a:picLocks noChangeAspect="1"/>
          </p:cNvPicPr>
          <p:nvPr/>
        </p:nvPicPr>
        <p:blipFill>
          <a:blip r:embed="rId2"/>
          <a:stretch>
            <a:fillRect/>
          </a:stretch>
        </p:blipFill>
        <p:spPr>
          <a:xfrm>
            <a:off x="1223040" y="3429000"/>
            <a:ext cx="6019800" cy="963168"/>
          </a:xfrm>
          <a:prstGeom prst="rect">
            <a:avLst/>
          </a:prstGeom>
        </p:spPr>
      </p:pic>
      <p:pic>
        <p:nvPicPr>
          <p:cNvPr id="8" name="Picture 7">
            <a:extLst>
              <a:ext uri="{FF2B5EF4-FFF2-40B4-BE49-F238E27FC236}">
                <a16:creationId xmlns:a16="http://schemas.microsoft.com/office/drawing/2014/main" id="{B0C4AB7D-3AF1-E826-C876-8A254C0E3C0E}"/>
              </a:ext>
            </a:extLst>
          </p:cNvPr>
          <p:cNvPicPr>
            <a:picLocks noChangeAspect="1"/>
          </p:cNvPicPr>
          <p:nvPr/>
        </p:nvPicPr>
        <p:blipFill>
          <a:blip r:embed="rId3"/>
          <a:stretch>
            <a:fillRect/>
          </a:stretch>
        </p:blipFill>
        <p:spPr>
          <a:xfrm>
            <a:off x="838200" y="4657755"/>
            <a:ext cx="6941881" cy="1110701"/>
          </a:xfrm>
          <a:prstGeom prst="rect">
            <a:avLst/>
          </a:prstGeom>
        </p:spPr>
      </p:pic>
      <p:sp>
        <p:nvSpPr>
          <p:cNvPr id="9" name="TextBox 8">
            <a:extLst>
              <a:ext uri="{FF2B5EF4-FFF2-40B4-BE49-F238E27FC236}">
                <a16:creationId xmlns:a16="http://schemas.microsoft.com/office/drawing/2014/main" id="{D3D3B208-0A98-D589-E1EC-62FC062AC566}"/>
              </a:ext>
            </a:extLst>
          </p:cNvPr>
          <p:cNvSpPr txBox="1"/>
          <p:nvPr/>
        </p:nvSpPr>
        <p:spPr>
          <a:xfrm>
            <a:off x="585561" y="5757570"/>
            <a:ext cx="8136395" cy="646331"/>
          </a:xfrm>
          <a:prstGeom prst="rect">
            <a:avLst/>
          </a:prstGeom>
          <a:noFill/>
        </p:spPr>
        <p:txBody>
          <a:bodyPr wrap="none" rtlCol="0">
            <a:spAutoFit/>
          </a:bodyPr>
          <a:lstStyle/>
          <a:p>
            <a:pPr algn="ctr"/>
            <a:r>
              <a:rPr lang="en-US" dirty="0"/>
              <a:t>The TF-IDF of a term is calculated by multiplying TF and IDF scores.</a:t>
            </a:r>
          </a:p>
          <a:p>
            <a:pPr algn="ctr"/>
            <a:r>
              <a:rPr lang="en-US" dirty="0"/>
              <a:t>TF-IDF=TF∗IDF</a:t>
            </a:r>
            <a:endParaRPr lang="en-IN" dirty="0"/>
          </a:p>
        </p:txBody>
      </p:sp>
    </p:spTree>
    <p:extLst>
      <p:ext uri="{BB962C8B-B14F-4D97-AF65-F5344CB8AC3E}">
        <p14:creationId xmlns:p14="http://schemas.microsoft.com/office/powerpoint/2010/main" val="2190550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57391-FE1F-A9AD-EDDC-DDB9C6BAA6B4}"/>
              </a:ext>
            </a:extLst>
          </p:cNvPr>
          <p:cNvSpPr>
            <a:spLocks noGrp="1"/>
          </p:cNvSpPr>
          <p:nvPr>
            <p:ph type="title"/>
          </p:nvPr>
        </p:nvSpPr>
        <p:spPr/>
        <p:txBody>
          <a:bodyPr/>
          <a:lstStyle/>
          <a:p>
            <a:r>
              <a:rPr lang="en-US" dirty="0"/>
              <a:t>Numerical Example</a:t>
            </a:r>
            <a:endParaRPr lang="en-IN" dirty="0"/>
          </a:p>
        </p:txBody>
      </p:sp>
      <p:sp>
        <p:nvSpPr>
          <p:cNvPr id="3" name="Content Placeholder 2">
            <a:extLst>
              <a:ext uri="{FF2B5EF4-FFF2-40B4-BE49-F238E27FC236}">
                <a16:creationId xmlns:a16="http://schemas.microsoft.com/office/drawing/2014/main" id="{7268E364-851F-6F59-4027-C9F66613D4E8}"/>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F2FF343-2D9E-3A5B-F826-F4AB6D75EAE6}"/>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806BA0FC-1F64-E884-738B-FE57E74B5A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1C949B-D077-81E5-8A6F-67613F1EF16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8" name="Picture 7">
            <a:extLst>
              <a:ext uri="{FF2B5EF4-FFF2-40B4-BE49-F238E27FC236}">
                <a16:creationId xmlns:a16="http://schemas.microsoft.com/office/drawing/2014/main" id="{DD70BAB4-B6DB-B1BC-658F-16020289083B}"/>
              </a:ext>
            </a:extLst>
          </p:cNvPr>
          <p:cNvPicPr>
            <a:picLocks noChangeAspect="1"/>
          </p:cNvPicPr>
          <p:nvPr/>
        </p:nvPicPr>
        <p:blipFill>
          <a:blip r:embed="rId2"/>
          <a:stretch>
            <a:fillRect/>
          </a:stretch>
        </p:blipFill>
        <p:spPr>
          <a:xfrm>
            <a:off x="441013" y="1219200"/>
            <a:ext cx="8735644" cy="4420217"/>
          </a:xfrm>
          <a:prstGeom prst="rect">
            <a:avLst/>
          </a:prstGeom>
        </p:spPr>
      </p:pic>
    </p:spTree>
    <p:extLst>
      <p:ext uri="{BB962C8B-B14F-4D97-AF65-F5344CB8AC3E}">
        <p14:creationId xmlns:p14="http://schemas.microsoft.com/office/powerpoint/2010/main" val="675353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F225-ACCC-C06A-17C5-6CFE0BD0B7B7}"/>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62C95796-15A6-F477-FAF1-21B227BD3F7D}"/>
              </a:ext>
            </a:extLst>
          </p:cNvPr>
          <p:cNvSpPr>
            <a:spLocks noGrp="1"/>
          </p:cNvSpPr>
          <p:nvPr>
            <p:ph idx="1"/>
          </p:nvPr>
        </p:nvSpPr>
        <p:spPr/>
        <p:txBody>
          <a:bodyPr/>
          <a:lstStyle/>
          <a:p>
            <a:pPr marL="0" indent="0">
              <a:buNone/>
            </a:pPr>
            <a:r>
              <a:rPr lang="en-US" sz="1800" dirty="0">
                <a:solidFill>
                  <a:schemeClr val="tx1"/>
                </a:solidFill>
              </a:rPr>
              <a:t>3. Co-occurrence Matrix</a:t>
            </a:r>
          </a:p>
          <a:p>
            <a:pPr marL="0" indent="0">
              <a:buNone/>
            </a:pPr>
            <a:r>
              <a:rPr lang="en-US" sz="1800" dirty="0">
                <a:solidFill>
                  <a:schemeClr val="tx1"/>
                </a:solidFill>
              </a:rPr>
              <a:t>Example: </a:t>
            </a:r>
          </a:p>
          <a:p>
            <a:pPr marL="0" indent="0">
              <a:buNone/>
            </a:pPr>
            <a:r>
              <a:rPr lang="en-US" sz="1800" dirty="0">
                <a:solidFill>
                  <a:schemeClr val="tx1"/>
                </a:solidFill>
              </a:rPr>
              <a:t>Sentence 1: Apples are green and red.</a:t>
            </a:r>
          </a:p>
          <a:p>
            <a:pPr marL="0" indent="0">
              <a:buNone/>
            </a:pPr>
            <a:r>
              <a:rPr lang="en-US" sz="1800" dirty="0">
                <a:solidFill>
                  <a:schemeClr val="tx1"/>
                </a:solidFill>
              </a:rPr>
              <a:t>Sentence 2: Red apples are sweet.</a:t>
            </a:r>
          </a:p>
          <a:p>
            <a:pPr marL="0" indent="0">
              <a:buNone/>
            </a:pPr>
            <a:r>
              <a:rPr lang="en-US" sz="1800" dirty="0">
                <a:solidFill>
                  <a:schemeClr val="tx1"/>
                </a:solidFill>
              </a:rPr>
              <a:t>Sentence 3: Green oranges are sour.</a:t>
            </a:r>
          </a:p>
          <a:p>
            <a:pPr marL="0" indent="0">
              <a:buNone/>
            </a:pPr>
            <a:endParaRPr lang="en-US" sz="1800" dirty="0">
              <a:solidFill>
                <a:schemeClr val="tx1"/>
              </a:solidFill>
            </a:endParaRPr>
          </a:p>
          <a:p>
            <a:pPr marL="0" indent="0">
              <a:buNone/>
            </a:pPr>
            <a:r>
              <a:rPr lang="en-US" sz="1800" dirty="0">
                <a:solidFill>
                  <a:schemeClr val="tx1"/>
                </a:solidFill>
              </a:rPr>
              <a:t>We want to construct a co-occurrence matrix based on the words in these documents within a </a:t>
            </a:r>
            <a:r>
              <a:rPr lang="en-US" sz="1800" b="1" dirty="0">
                <a:solidFill>
                  <a:schemeClr val="tx1"/>
                </a:solidFill>
              </a:rPr>
              <a:t>window size of 1</a:t>
            </a:r>
            <a:r>
              <a:rPr lang="en-US" sz="1800" dirty="0">
                <a:solidFill>
                  <a:schemeClr val="tx1"/>
                </a:solidFill>
              </a:rPr>
              <a:t>. This means we consider the occurrence of each word with its </a:t>
            </a:r>
            <a:r>
              <a:rPr lang="en-US" sz="1800" i="1" dirty="0">
                <a:solidFill>
                  <a:schemeClr val="tx1"/>
                </a:solidFill>
              </a:rPr>
              <a:t>immediate </a:t>
            </a:r>
            <a:r>
              <a:rPr lang="en-US" sz="1800" i="1" dirty="0" err="1">
                <a:solidFill>
                  <a:schemeClr val="tx1"/>
                </a:solidFill>
              </a:rPr>
              <a:t>neighbouring</a:t>
            </a:r>
            <a:r>
              <a:rPr lang="en-US" sz="1800" i="1" dirty="0">
                <a:solidFill>
                  <a:schemeClr val="tx1"/>
                </a:solidFill>
              </a:rPr>
              <a:t> words. </a:t>
            </a:r>
          </a:p>
          <a:p>
            <a:pPr marL="0" indent="0">
              <a:buNone/>
            </a:pPr>
            <a:r>
              <a:rPr lang="en-US" sz="1800" kern="1200" dirty="0">
                <a:solidFill>
                  <a:schemeClr val="tx1"/>
                </a:solidFill>
              </a:rPr>
              <a:t>Next, we create a co-occurrence matrix where rows and columns represent words from the vocabulary. </a:t>
            </a:r>
            <a:r>
              <a:rPr lang="en-US" sz="1800" kern="1200" dirty="0">
                <a:solidFill>
                  <a:schemeClr val="tx1"/>
                </a:solidFill>
                <a:highlight>
                  <a:srgbClr val="FFFF00"/>
                </a:highlight>
              </a:rPr>
              <a:t>The value in each cell </a:t>
            </a:r>
            <a:r>
              <a:rPr lang="en-US" sz="1800" dirty="0">
                <a:solidFill>
                  <a:schemeClr val="tx1"/>
                </a:solidFill>
                <a:highlight>
                  <a:srgbClr val="FFFF00"/>
                </a:highlight>
              </a:rPr>
              <a:t>(</a:t>
            </a:r>
            <a:r>
              <a:rPr lang="en-US" sz="1800" dirty="0" err="1">
                <a:solidFill>
                  <a:schemeClr val="tx1"/>
                </a:solidFill>
                <a:highlight>
                  <a:srgbClr val="FFFF00"/>
                </a:highlight>
              </a:rPr>
              <a:t>i</a:t>
            </a:r>
            <a:r>
              <a:rPr lang="en-US" sz="1800" dirty="0">
                <a:solidFill>
                  <a:schemeClr val="tx1"/>
                </a:solidFill>
                <a:highlight>
                  <a:srgbClr val="FFFF00"/>
                </a:highlight>
              </a:rPr>
              <a:t>, j)</a:t>
            </a:r>
            <a:r>
              <a:rPr lang="en-US" sz="1800" kern="1200" dirty="0">
                <a:solidFill>
                  <a:schemeClr val="tx1"/>
                </a:solidFill>
                <a:highlight>
                  <a:srgbClr val="FFFF00"/>
                </a:highlight>
              </a:rPr>
              <a:t> of the matrix indicates the number of times the word </a:t>
            </a:r>
            <a:r>
              <a:rPr lang="en-US" sz="1800" dirty="0" err="1">
                <a:solidFill>
                  <a:schemeClr val="tx1"/>
                </a:solidFill>
                <a:highlight>
                  <a:srgbClr val="FFFF00"/>
                </a:highlight>
              </a:rPr>
              <a:t>i</a:t>
            </a:r>
            <a:r>
              <a:rPr lang="en-US" sz="1800" kern="1200" dirty="0">
                <a:solidFill>
                  <a:schemeClr val="tx1"/>
                </a:solidFill>
                <a:highlight>
                  <a:srgbClr val="FFFF00"/>
                </a:highlight>
              </a:rPr>
              <a:t> co-occurs with word </a:t>
            </a:r>
            <a:r>
              <a:rPr lang="en-US" sz="1800" dirty="0">
                <a:solidFill>
                  <a:schemeClr val="tx1"/>
                </a:solidFill>
                <a:highlight>
                  <a:srgbClr val="FFFF00"/>
                </a:highlight>
              </a:rPr>
              <a:t>j</a:t>
            </a:r>
            <a:r>
              <a:rPr lang="en-US" sz="1800" kern="1200" dirty="0">
                <a:solidFill>
                  <a:schemeClr val="tx1"/>
                </a:solidFill>
                <a:highlight>
                  <a:srgbClr val="FFFF00"/>
                </a:highlight>
              </a:rPr>
              <a:t> within the specified window size.</a:t>
            </a:r>
            <a:endParaRPr lang="en-IN" sz="1800" dirty="0">
              <a:solidFill>
                <a:schemeClr val="tx1"/>
              </a:solidFill>
              <a:highlight>
                <a:srgbClr val="FFFF00"/>
              </a:highlight>
            </a:endParaRPr>
          </a:p>
          <a:p>
            <a:pPr marL="0" indent="0">
              <a:buNone/>
            </a:pPr>
            <a:endParaRPr lang="en-US" sz="1800" dirty="0">
              <a:solidFill>
                <a:schemeClr val="tx1"/>
              </a:solidFill>
            </a:endParaRPr>
          </a:p>
          <a:p>
            <a:pPr marL="0" indent="0">
              <a:buNone/>
            </a:pPr>
            <a:endParaRPr lang="en-IN" sz="1800" dirty="0">
              <a:solidFill>
                <a:schemeClr val="tx1"/>
              </a:solidFill>
            </a:endParaRPr>
          </a:p>
        </p:txBody>
      </p:sp>
      <p:sp>
        <p:nvSpPr>
          <p:cNvPr id="4" name="Date Placeholder 3">
            <a:extLst>
              <a:ext uri="{FF2B5EF4-FFF2-40B4-BE49-F238E27FC236}">
                <a16:creationId xmlns:a16="http://schemas.microsoft.com/office/drawing/2014/main" id="{8D8DD4FB-F1DB-37A1-CA73-789F92358D0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CC3FC2DD-41D3-D217-6A44-2FDFFB147B3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5B6E3B4-0753-1573-F314-FEC9410B16CE}"/>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4261009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218D-101D-3F7B-1935-E3E266C27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A3D51-9097-2C0B-14F6-01125D099C9F}"/>
              </a:ext>
            </a:extLst>
          </p:cNvPr>
          <p:cNvSpPr>
            <a:spLocks noGrp="1"/>
          </p:cNvSpPr>
          <p:nvPr>
            <p:ph type="title"/>
          </p:nvPr>
        </p:nvSpPr>
        <p:spPr/>
        <p:txBody>
          <a:bodyPr/>
          <a:lstStyle/>
          <a:p>
            <a:r>
              <a:rPr lang="en-US" sz="2000" dirty="0">
                <a:solidFill>
                  <a:schemeClr val="tx1"/>
                </a:solidFill>
              </a:rPr>
              <a:t>Co-occurrence Matrix</a:t>
            </a:r>
            <a:endParaRPr lang="en-IN" sz="2000" dirty="0"/>
          </a:p>
        </p:txBody>
      </p:sp>
      <p:sp>
        <p:nvSpPr>
          <p:cNvPr id="3" name="Content Placeholder 2">
            <a:extLst>
              <a:ext uri="{FF2B5EF4-FFF2-40B4-BE49-F238E27FC236}">
                <a16:creationId xmlns:a16="http://schemas.microsoft.com/office/drawing/2014/main" id="{00BF00EA-43DC-2D10-E61F-825731C62113}"/>
              </a:ext>
            </a:extLst>
          </p:cNvPr>
          <p:cNvSpPr>
            <a:spLocks noGrp="1"/>
          </p:cNvSpPr>
          <p:nvPr>
            <p:ph idx="1"/>
          </p:nvPr>
        </p:nvSpPr>
        <p:spPr/>
        <p:txBody>
          <a:bodyPr/>
          <a:lstStyle/>
          <a:p>
            <a:pPr marL="0" indent="0">
              <a:buNone/>
            </a:pPr>
            <a:r>
              <a:rPr lang="en-US" sz="1600" dirty="0">
                <a:solidFill>
                  <a:schemeClr val="tx1"/>
                </a:solidFill>
              </a:rPr>
              <a:t>1. Apples are green and red.         2: Red apples are sweet. </a:t>
            </a:r>
          </a:p>
          <a:p>
            <a:pPr marL="0" indent="0">
              <a:buNone/>
            </a:pPr>
            <a:r>
              <a:rPr lang="en-US" sz="1600" dirty="0">
                <a:solidFill>
                  <a:schemeClr val="tx1"/>
                </a:solidFill>
              </a:rPr>
              <a:t>3. Green oranges are sour</a:t>
            </a:r>
            <a:endParaRPr lang="en-IN" sz="1600" dirty="0"/>
          </a:p>
        </p:txBody>
      </p:sp>
      <p:sp>
        <p:nvSpPr>
          <p:cNvPr id="4" name="Date Placeholder 3">
            <a:extLst>
              <a:ext uri="{FF2B5EF4-FFF2-40B4-BE49-F238E27FC236}">
                <a16:creationId xmlns:a16="http://schemas.microsoft.com/office/drawing/2014/main" id="{A45DB8A4-EC99-D215-3C64-933BAFEF82F1}"/>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70305E20-9C49-436B-48FA-221C48F7077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08F6E8A-1753-5548-C96D-772551CCD811}"/>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8" name="Picture 7">
            <a:extLst>
              <a:ext uri="{FF2B5EF4-FFF2-40B4-BE49-F238E27FC236}">
                <a16:creationId xmlns:a16="http://schemas.microsoft.com/office/drawing/2014/main" id="{A8E3AB8F-5737-1CD7-3F62-152EC62BD25D}"/>
              </a:ext>
            </a:extLst>
          </p:cNvPr>
          <p:cNvPicPr>
            <a:picLocks noChangeAspect="1"/>
          </p:cNvPicPr>
          <p:nvPr/>
        </p:nvPicPr>
        <p:blipFill>
          <a:blip r:embed="rId2"/>
          <a:stretch>
            <a:fillRect/>
          </a:stretch>
        </p:blipFill>
        <p:spPr>
          <a:xfrm>
            <a:off x="534081" y="2219252"/>
            <a:ext cx="6401693" cy="523948"/>
          </a:xfrm>
          <a:prstGeom prst="rect">
            <a:avLst/>
          </a:prstGeom>
        </p:spPr>
      </p:pic>
      <p:sp>
        <p:nvSpPr>
          <p:cNvPr id="9" name="TextBox 8">
            <a:extLst>
              <a:ext uri="{FF2B5EF4-FFF2-40B4-BE49-F238E27FC236}">
                <a16:creationId xmlns:a16="http://schemas.microsoft.com/office/drawing/2014/main" id="{F07BC805-A64E-AD61-6F60-97C87EEF68DD}"/>
              </a:ext>
            </a:extLst>
          </p:cNvPr>
          <p:cNvSpPr txBox="1"/>
          <p:nvPr/>
        </p:nvSpPr>
        <p:spPr>
          <a:xfrm>
            <a:off x="609600" y="1895548"/>
            <a:ext cx="1454181" cy="369332"/>
          </a:xfrm>
          <a:prstGeom prst="rect">
            <a:avLst/>
          </a:prstGeom>
          <a:noFill/>
        </p:spPr>
        <p:txBody>
          <a:bodyPr wrap="none" rtlCol="0">
            <a:spAutoFit/>
          </a:bodyPr>
          <a:lstStyle/>
          <a:p>
            <a:r>
              <a:rPr lang="en-IN" dirty="0"/>
              <a:t>Vocabulary</a:t>
            </a:r>
          </a:p>
        </p:txBody>
      </p:sp>
      <p:sp>
        <p:nvSpPr>
          <p:cNvPr id="10" name="TextBox 9">
            <a:extLst>
              <a:ext uri="{FF2B5EF4-FFF2-40B4-BE49-F238E27FC236}">
                <a16:creationId xmlns:a16="http://schemas.microsoft.com/office/drawing/2014/main" id="{D8779732-4D27-DD38-BF8D-7520446F1C5B}"/>
              </a:ext>
            </a:extLst>
          </p:cNvPr>
          <p:cNvSpPr txBox="1"/>
          <p:nvPr/>
        </p:nvSpPr>
        <p:spPr>
          <a:xfrm>
            <a:off x="534081" y="2862943"/>
            <a:ext cx="6896888" cy="523220"/>
          </a:xfrm>
          <a:prstGeom prst="rect">
            <a:avLst/>
          </a:prstGeom>
          <a:noFill/>
        </p:spPr>
        <p:txBody>
          <a:bodyPr wrap="none" rtlCol="0">
            <a:spAutoFit/>
          </a:bodyPr>
          <a:lstStyle/>
          <a:p>
            <a:r>
              <a:rPr lang="en-US" sz="1400" b="1" dirty="0"/>
              <a:t>Window size = 1): </a:t>
            </a:r>
            <a:r>
              <a:rPr lang="en-US" sz="1400" dirty="0"/>
              <a:t>For each word, look at its </a:t>
            </a:r>
            <a:r>
              <a:rPr lang="en-US" sz="1400" b="1" dirty="0"/>
              <a:t>left and right neighbors</a:t>
            </a:r>
            <a:r>
              <a:rPr lang="en-US" sz="1400" dirty="0"/>
              <a:t>.</a:t>
            </a:r>
          </a:p>
          <a:p>
            <a:endParaRPr lang="en-IN" sz="1400" dirty="0"/>
          </a:p>
        </p:txBody>
      </p:sp>
      <p:pic>
        <p:nvPicPr>
          <p:cNvPr id="12" name="Picture 11">
            <a:extLst>
              <a:ext uri="{FF2B5EF4-FFF2-40B4-BE49-F238E27FC236}">
                <a16:creationId xmlns:a16="http://schemas.microsoft.com/office/drawing/2014/main" id="{4ED64507-CAF0-5AA3-D2EB-34D30CA77603}"/>
              </a:ext>
            </a:extLst>
          </p:cNvPr>
          <p:cNvPicPr>
            <a:picLocks noChangeAspect="1"/>
          </p:cNvPicPr>
          <p:nvPr/>
        </p:nvPicPr>
        <p:blipFill>
          <a:blip r:embed="rId3"/>
          <a:stretch>
            <a:fillRect/>
          </a:stretch>
        </p:blipFill>
        <p:spPr>
          <a:xfrm>
            <a:off x="265923" y="3375276"/>
            <a:ext cx="2976455" cy="2034923"/>
          </a:xfrm>
          <a:prstGeom prst="rect">
            <a:avLst/>
          </a:prstGeom>
        </p:spPr>
      </p:pic>
      <p:pic>
        <p:nvPicPr>
          <p:cNvPr id="14" name="Picture 13">
            <a:extLst>
              <a:ext uri="{FF2B5EF4-FFF2-40B4-BE49-F238E27FC236}">
                <a16:creationId xmlns:a16="http://schemas.microsoft.com/office/drawing/2014/main" id="{F88555CF-3A35-1127-44A4-CD267D449379}"/>
              </a:ext>
            </a:extLst>
          </p:cNvPr>
          <p:cNvPicPr>
            <a:picLocks noChangeAspect="1"/>
          </p:cNvPicPr>
          <p:nvPr/>
        </p:nvPicPr>
        <p:blipFill>
          <a:blip r:embed="rId4"/>
          <a:stretch>
            <a:fillRect/>
          </a:stretch>
        </p:blipFill>
        <p:spPr>
          <a:xfrm>
            <a:off x="3402574" y="3386163"/>
            <a:ext cx="2809479" cy="2034923"/>
          </a:xfrm>
          <a:prstGeom prst="rect">
            <a:avLst/>
          </a:prstGeom>
        </p:spPr>
      </p:pic>
      <p:pic>
        <p:nvPicPr>
          <p:cNvPr id="16" name="Picture 15">
            <a:extLst>
              <a:ext uri="{FF2B5EF4-FFF2-40B4-BE49-F238E27FC236}">
                <a16:creationId xmlns:a16="http://schemas.microsoft.com/office/drawing/2014/main" id="{DC31EB8F-4B65-7F40-11A0-5BE7B0131188}"/>
              </a:ext>
            </a:extLst>
          </p:cNvPr>
          <p:cNvPicPr>
            <a:picLocks noChangeAspect="1"/>
          </p:cNvPicPr>
          <p:nvPr/>
        </p:nvPicPr>
        <p:blipFill>
          <a:blip r:embed="rId5"/>
          <a:stretch>
            <a:fillRect/>
          </a:stretch>
        </p:blipFill>
        <p:spPr>
          <a:xfrm>
            <a:off x="6260181" y="3428999"/>
            <a:ext cx="2653869" cy="1981199"/>
          </a:xfrm>
          <a:prstGeom prst="rect">
            <a:avLst/>
          </a:prstGeom>
        </p:spPr>
      </p:pic>
    </p:spTree>
    <p:extLst>
      <p:ext uri="{BB962C8B-B14F-4D97-AF65-F5344CB8AC3E}">
        <p14:creationId xmlns:p14="http://schemas.microsoft.com/office/powerpoint/2010/main" val="139641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30D2-D55E-96E8-4C24-065B8CCA2A7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76DF94-65E7-EA3D-20F2-4019BDC2CCD7}"/>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5DBF8126-3996-4ECD-4986-33A408010DC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E36E3D-DF20-D4C8-C242-397FB0F93E8D}"/>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8" name="Picture 7">
            <a:extLst>
              <a:ext uri="{FF2B5EF4-FFF2-40B4-BE49-F238E27FC236}">
                <a16:creationId xmlns:a16="http://schemas.microsoft.com/office/drawing/2014/main" id="{C8E87AF6-1B8D-C734-C002-E2E26A187FEC}"/>
              </a:ext>
            </a:extLst>
          </p:cNvPr>
          <p:cNvPicPr>
            <a:picLocks noChangeAspect="1"/>
          </p:cNvPicPr>
          <p:nvPr/>
        </p:nvPicPr>
        <p:blipFill>
          <a:blip r:embed="rId2"/>
          <a:stretch>
            <a:fillRect/>
          </a:stretch>
        </p:blipFill>
        <p:spPr>
          <a:xfrm>
            <a:off x="566738" y="5293"/>
            <a:ext cx="6401693" cy="523948"/>
          </a:xfrm>
          <a:prstGeom prst="rect">
            <a:avLst/>
          </a:prstGeom>
        </p:spPr>
      </p:pic>
      <p:pic>
        <p:nvPicPr>
          <p:cNvPr id="12" name="Picture 11">
            <a:extLst>
              <a:ext uri="{FF2B5EF4-FFF2-40B4-BE49-F238E27FC236}">
                <a16:creationId xmlns:a16="http://schemas.microsoft.com/office/drawing/2014/main" id="{CCD153BF-5DFC-843E-55D1-3DD0EBE24127}"/>
              </a:ext>
            </a:extLst>
          </p:cNvPr>
          <p:cNvPicPr>
            <a:picLocks noChangeAspect="1"/>
          </p:cNvPicPr>
          <p:nvPr/>
        </p:nvPicPr>
        <p:blipFill>
          <a:blip r:embed="rId3"/>
          <a:stretch>
            <a:fillRect/>
          </a:stretch>
        </p:blipFill>
        <p:spPr>
          <a:xfrm>
            <a:off x="465263" y="683229"/>
            <a:ext cx="2976455" cy="2034923"/>
          </a:xfrm>
          <a:prstGeom prst="rect">
            <a:avLst/>
          </a:prstGeom>
        </p:spPr>
      </p:pic>
      <p:pic>
        <p:nvPicPr>
          <p:cNvPr id="14" name="Picture 13">
            <a:extLst>
              <a:ext uri="{FF2B5EF4-FFF2-40B4-BE49-F238E27FC236}">
                <a16:creationId xmlns:a16="http://schemas.microsoft.com/office/drawing/2014/main" id="{423E85D9-B208-2B92-063A-874DC12204C4}"/>
              </a:ext>
            </a:extLst>
          </p:cNvPr>
          <p:cNvPicPr>
            <a:picLocks noChangeAspect="1"/>
          </p:cNvPicPr>
          <p:nvPr/>
        </p:nvPicPr>
        <p:blipFill>
          <a:blip r:embed="rId4"/>
          <a:stretch>
            <a:fillRect/>
          </a:stretch>
        </p:blipFill>
        <p:spPr>
          <a:xfrm>
            <a:off x="3543193" y="616736"/>
            <a:ext cx="2809479" cy="2034923"/>
          </a:xfrm>
          <a:prstGeom prst="rect">
            <a:avLst/>
          </a:prstGeom>
        </p:spPr>
      </p:pic>
      <p:pic>
        <p:nvPicPr>
          <p:cNvPr id="16" name="Picture 15">
            <a:extLst>
              <a:ext uri="{FF2B5EF4-FFF2-40B4-BE49-F238E27FC236}">
                <a16:creationId xmlns:a16="http://schemas.microsoft.com/office/drawing/2014/main" id="{DA489EB5-60B2-1C65-ED53-065A4496A6EF}"/>
              </a:ext>
            </a:extLst>
          </p:cNvPr>
          <p:cNvPicPr>
            <a:picLocks noChangeAspect="1"/>
          </p:cNvPicPr>
          <p:nvPr/>
        </p:nvPicPr>
        <p:blipFill>
          <a:blip r:embed="rId5"/>
          <a:stretch>
            <a:fillRect/>
          </a:stretch>
        </p:blipFill>
        <p:spPr>
          <a:xfrm>
            <a:off x="6421122" y="605736"/>
            <a:ext cx="2653869" cy="1981199"/>
          </a:xfrm>
          <a:prstGeom prst="rect">
            <a:avLst/>
          </a:prstGeom>
        </p:spPr>
      </p:pic>
      <p:sp>
        <p:nvSpPr>
          <p:cNvPr id="19" name="TextBox 18">
            <a:extLst>
              <a:ext uri="{FF2B5EF4-FFF2-40B4-BE49-F238E27FC236}">
                <a16:creationId xmlns:a16="http://schemas.microsoft.com/office/drawing/2014/main" id="{A0DC38DF-AF7D-A633-014C-AE1F34480FF6}"/>
              </a:ext>
            </a:extLst>
          </p:cNvPr>
          <p:cNvSpPr txBox="1"/>
          <p:nvPr/>
        </p:nvSpPr>
        <p:spPr>
          <a:xfrm>
            <a:off x="465263" y="2870552"/>
            <a:ext cx="2656496" cy="369332"/>
          </a:xfrm>
          <a:prstGeom prst="rect">
            <a:avLst/>
          </a:prstGeom>
          <a:noFill/>
        </p:spPr>
        <p:txBody>
          <a:bodyPr wrap="none" rtlCol="0">
            <a:spAutoFit/>
          </a:bodyPr>
          <a:lstStyle/>
          <a:p>
            <a:r>
              <a:rPr lang="en-US" dirty="0"/>
              <a:t>Co-occurrence Matrix</a:t>
            </a:r>
            <a:endParaRPr lang="en-IN" dirty="0"/>
          </a:p>
        </p:txBody>
      </p:sp>
      <p:pic>
        <p:nvPicPr>
          <p:cNvPr id="3" name="Picture 2">
            <a:extLst>
              <a:ext uri="{FF2B5EF4-FFF2-40B4-BE49-F238E27FC236}">
                <a16:creationId xmlns:a16="http://schemas.microsoft.com/office/drawing/2014/main" id="{2EAAF4C6-5FF4-A630-6332-9F8B84617A2F}"/>
              </a:ext>
            </a:extLst>
          </p:cNvPr>
          <p:cNvPicPr>
            <a:picLocks noChangeAspect="1"/>
          </p:cNvPicPr>
          <p:nvPr/>
        </p:nvPicPr>
        <p:blipFill rotWithShape="1">
          <a:blip r:embed="rId6"/>
          <a:srcRect b="67313"/>
          <a:stretch/>
        </p:blipFill>
        <p:spPr>
          <a:xfrm>
            <a:off x="0" y="3392284"/>
            <a:ext cx="9144000" cy="1727383"/>
          </a:xfrm>
          <a:prstGeom prst="rect">
            <a:avLst/>
          </a:prstGeom>
        </p:spPr>
      </p:pic>
    </p:spTree>
    <p:extLst>
      <p:ext uri="{BB962C8B-B14F-4D97-AF65-F5344CB8AC3E}">
        <p14:creationId xmlns:p14="http://schemas.microsoft.com/office/powerpoint/2010/main" val="325103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30D2-D55E-96E8-4C24-065B8CCA2A7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76DF94-65E7-EA3D-20F2-4019BDC2CCD7}"/>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5DBF8126-3996-4ECD-4986-33A408010DC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E36E3D-DF20-D4C8-C242-397FB0F93E8D}"/>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8" name="Picture 7">
            <a:extLst>
              <a:ext uri="{FF2B5EF4-FFF2-40B4-BE49-F238E27FC236}">
                <a16:creationId xmlns:a16="http://schemas.microsoft.com/office/drawing/2014/main" id="{C8E87AF6-1B8D-C734-C002-E2E26A187FEC}"/>
              </a:ext>
            </a:extLst>
          </p:cNvPr>
          <p:cNvPicPr>
            <a:picLocks noChangeAspect="1"/>
          </p:cNvPicPr>
          <p:nvPr/>
        </p:nvPicPr>
        <p:blipFill>
          <a:blip r:embed="rId2"/>
          <a:stretch>
            <a:fillRect/>
          </a:stretch>
        </p:blipFill>
        <p:spPr>
          <a:xfrm>
            <a:off x="566738" y="5293"/>
            <a:ext cx="6401693" cy="523948"/>
          </a:xfrm>
          <a:prstGeom prst="rect">
            <a:avLst/>
          </a:prstGeom>
        </p:spPr>
      </p:pic>
      <p:pic>
        <p:nvPicPr>
          <p:cNvPr id="12" name="Picture 11">
            <a:extLst>
              <a:ext uri="{FF2B5EF4-FFF2-40B4-BE49-F238E27FC236}">
                <a16:creationId xmlns:a16="http://schemas.microsoft.com/office/drawing/2014/main" id="{CCD153BF-5DFC-843E-55D1-3DD0EBE24127}"/>
              </a:ext>
            </a:extLst>
          </p:cNvPr>
          <p:cNvPicPr>
            <a:picLocks noChangeAspect="1"/>
          </p:cNvPicPr>
          <p:nvPr/>
        </p:nvPicPr>
        <p:blipFill>
          <a:blip r:embed="rId3"/>
          <a:stretch>
            <a:fillRect/>
          </a:stretch>
        </p:blipFill>
        <p:spPr>
          <a:xfrm>
            <a:off x="465263" y="683229"/>
            <a:ext cx="2976455" cy="2034923"/>
          </a:xfrm>
          <a:prstGeom prst="rect">
            <a:avLst/>
          </a:prstGeom>
        </p:spPr>
      </p:pic>
      <p:pic>
        <p:nvPicPr>
          <p:cNvPr id="14" name="Picture 13">
            <a:extLst>
              <a:ext uri="{FF2B5EF4-FFF2-40B4-BE49-F238E27FC236}">
                <a16:creationId xmlns:a16="http://schemas.microsoft.com/office/drawing/2014/main" id="{423E85D9-B208-2B92-063A-874DC12204C4}"/>
              </a:ext>
            </a:extLst>
          </p:cNvPr>
          <p:cNvPicPr>
            <a:picLocks noChangeAspect="1"/>
          </p:cNvPicPr>
          <p:nvPr/>
        </p:nvPicPr>
        <p:blipFill>
          <a:blip r:embed="rId4"/>
          <a:stretch>
            <a:fillRect/>
          </a:stretch>
        </p:blipFill>
        <p:spPr>
          <a:xfrm>
            <a:off x="3543193" y="616736"/>
            <a:ext cx="2809479" cy="2034923"/>
          </a:xfrm>
          <a:prstGeom prst="rect">
            <a:avLst/>
          </a:prstGeom>
        </p:spPr>
      </p:pic>
      <p:pic>
        <p:nvPicPr>
          <p:cNvPr id="16" name="Picture 15">
            <a:extLst>
              <a:ext uri="{FF2B5EF4-FFF2-40B4-BE49-F238E27FC236}">
                <a16:creationId xmlns:a16="http://schemas.microsoft.com/office/drawing/2014/main" id="{DA489EB5-60B2-1C65-ED53-065A4496A6EF}"/>
              </a:ext>
            </a:extLst>
          </p:cNvPr>
          <p:cNvPicPr>
            <a:picLocks noChangeAspect="1"/>
          </p:cNvPicPr>
          <p:nvPr/>
        </p:nvPicPr>
        <p:blipFill>
          <a:blip r:embed="rId5"/>
          <a:stretch>
            <a:fillRect/>
          </a:stretch>
        </p:blipFill>
        <p:spPr>
          <a:xfrm>
            <a:off x="6421122" y="605736"/>
            <a:ext cx="2653869" cy="1981199"/>
          </a:xfrm>
          <a:prstGeom prst="rect">
            <a:avLst/>
          </a:prstGeom>
        </p:spPr>
      </p:pic>
      <p:sp>
        <p:nvSpPr>
          <p:cNvPr id="19" name="TextBox 18">
            <a:extLst>
              <a:ext uri="{FF2B5EF4-FFF2-40B4-BE49-F238E27FC236}">
                <a16:creationId xmlns:a16="http://schemas.microsoft.com/office/drawing/2014/main" id="{A0DC38DF-AF7D-A633-014C-AE1F34480FF6}"/>
              </a:ext>
            </a:extLst>
          </p:cNvPr>
          <p:cNvSpPr txBox="1"/>
          <p:nvPr/>
        </p:nvSpPr>
        <p:spPr>
          <a:xfrm>
            <a:off x="465263" y="2870552"/>
            <a:ext cx="2656496" cy="369332"/>
          </a:xfrm>
          <a:prstGeom prst="rect">
            <a:avLst/>
          </a:prstGeom>
          <a:noFill/>
        </p:spPr>
        <p:txBody>
          <a:bodyPr wrap="none" rtlCol="0">
            <a:spAutoFit/>
          </a:bodyPr>
          <a:lstStyle/>
          <a:p>
            <a:r>
              <a:rPr lang="en-US" dirty="0"/>
              <a:t>Co-occurrence Matrix</a:t>
            </a:r>
            <a:endParaRPr lang="en-IN" dirty="0"/>
          </a:p>
        </p:txBody>
      </p:sp>
      <p:pic>
        <p:nvPicPr>
          <p:cNvPr id="3" name="Picture 2">
            <a:extLst>
              <a:ext uri="{FF2B5EF4-FFF2-40B4-BE49-F238E27FC236}">
                <a16:creationId xmlns:a16="http://schemas.microsoft.com/office/drawing/2014/main" id="{2EAAF4C6-5FF4-A630-6332-9F8B84617A2F}"/>
              </a:ext>
            </a:extLst>
          </p:cNvPr>
          <p:cNvPicPr>
            <a:picLocks noChangeAspect="1"/>
          </p:cNvPicPr>
          <p:nvPr/>
        </p:nvPicPr>
        <p:blipFill>
          <a:blip r:embed="rId6"/>
          <a:stretch>
            <a:fillRect/>
          </a:stretch>
        </p:blipFill>
        <p:spPr>
          <a:xfrm>
            <a:off x="0" y="3301816"/>
            <a:ext cx="9144000" cy="3419659"/>
          </a:xfrm>
          <a:prstGeom prst="rect">
            <a:avLst/>
          </a:prstGeom>
        </p:spPr>
      </p:pic>
    </p:spTree>
    <p:extLst>
      <p:ext uri="{BB962C8B-B14F-4D97-AF65-F5344CB8AC3E}">
        <p14:creationId xmlns:p14="http://schemas.microsoft.com/office/powerpoint/2010/main" val="2403191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E051-21CF-ED17-678B-3DF4F5728A88}"/>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AAF9498D-A08E-18EC-BE27-BEB54570F345}"/>
              </a:ext>
            </a:extLst>
          </p:cNvPr>
          <p:cNvSpPr>
            <a:spLocks noGrp="1"/>
          </p:cNvSpPr>
          <p:nvPr>
            <p:ph idx="1"/>
          </p:nvPr>
        </p:nvSpPr>
        <p:spPr/>
        <p:txBody>
          <a:bodyPr/>
          <a:lstStyle/>
          <a:p>
            <a:pPr algn="just"/>
            <a:r>
              <a:rPr lang="en-US" sz="2000" dirty="0"/>
              <a:t>Prediction-based word embeddings are techniques that create word representations by predicting the context in which words appear.</a:t>
            </a:r>
          </a:p>
          <a:p>
            <a:pPr algn="just"/>
            <a:r>
              <a:rPr lang="en-US" sz="2000" dirty="0"/>
              <a:t>These methods use </a:t>
            </a:r>
            <a:r>
              <a:rPr lang="en-US" sz="2000" b="1" dirty="0"/>
              <a:t>neural network models </a:t>
            </a:r>
            <a:r>
              <a:rPr lang="en-US" sz="2000" dirty="0"/>
              <a:t>to learn word vectors that </a:t>
            </a:r>
            <a:r>
              <a:rPr lang="en-US" sz="2000" b="1" dirty="0"/>
              <a:t>capture semantic relationships </a:t>
            </a:r>
            <a:r>
              <a:rPr lang="en-US" sz="2000" dirty="0"/>
              <a:t>between words based on their usage patterns in large text corpora.</a:t>
            </a:r>
          </a:p>
          <a:p>
            <a:pPr marL="0" indent="0" algn="just">
              <a:buNone/>
            </a:pPr>
            <a:endParaRPr lang="en-IN" sz="2000" dirty="0"/>
          </a:p>
          <a:p>
            <a:pPr marL="0" indent="0" algn="just">
              <a:buNone/>
            </a:pPr>
            <a:r>
              <a:rPr lang="en-IN" sz="2400" dirty="0"/>
              <a:t>Word2Vec</a:t>
            </a:r>
          </a:p>
          <a:p>
            <a:pPr marL="0" indent="0" algn="just">
              <a:buNone/>
            </a:pPr>
            <a:r>
              <a:rPr lang="en-US" sz="2400" dirty="0" err="1"/>
              <a:t>GloVe</a:t>
            </a:r>
            <a:r>
              <a:rPr lang="en-US" sz="2400" dirty="0"/>
              <a:t> (Global Vectors for Word Representation)</a:t>
            </a:r>
          </a:p>
          <a:p>
            <a:pPr marL="0" indent="0" algn="just">
              <a:buNone/>
            </a:pPr>
            <a:r>
              <a:rPr lang="en-IN" sz="2400" dirty="0" err="1"/>
              <a:t>FastText</a:t>
            </a:r>
            <a:endParaRPr lang="en-IN" sz="2400" dirty="0"/>
          </a:p>
          <a:p>
            <a:pPr marL="0" indent="0" algn="just">
              <a:buNone/>
            </a:pPr>
            <a:endParaRPr lang="en-IN" sz="2000" dirty="0"/>
          </a:p>
        </p:txBody>
      </p:sp>
      <p:sp>
        <p:nvSpPr>
          <p:cNvPr id="4" name="Date Placeholder 3">
            <a:extLst>
              <a:ext uri="{FF2B5EF4-FFF2-40B4-BE49-F238E27FC236}">
                <a16:creationId xmlns:a16="http://schemas.microsoft.com/office/drawing/2014/main" id="{2A4EF27C-0339-0DBA-7B00-6D528740077A}"/>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AB04CE28-5EB1-63BB-404E-A8D1787D960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B051D95-D735-7F6F-F8A8-D2980919220E}"/>
              </a:ext>
            </a:extLst>
          </p:cNvPr>
          <p:cNvSpPr>
            <a:spLocks noGrp="1"/>
          </p:cNvSpPr>
          <p:nvPr>
            <p:ph type="sldNum" sz="quarter" idx="12"/>
          </p:nvPr>
        </p:nvSpPr>
        <p:spPr/>
        <p:txBody>
          <a:bodyPr/>
          <a:lstStyle/>
          <a:p>
            <a:fld id="{BB2CE0DE-867F-455F-B20B-96D381B4AB71}" type="slidenum">
              <a:rPr lang="en-US" smtClean="0"/>
              <a:t>19</a:t>
            </a:fld>
            <a:endParaRPr lang="en-US"/>
          </a:p>
        </p:txBody>
      </p:sp>
    </p:spTree>
    <p:extLst>
      <p:ext uri="{BB962C8B-B14F-4D97-AF65-F5344CB8AC3E}">
        <p14:creationId xmlns:p14="http://schemas.microsoft.com/office/powerpoint/2010/main" val="257614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1654-F360-E426-CF5F-5D2313C59811}"/>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1EE2E234-231D-A757-F115-10EBADC3EA0A}"/>
              </a:ext>
            </a:extLst>
          </p:cNvPr>
          <p:cNvSpPr>
            <a:spLocks noGrp="1"/>
          </p:cNvSpPr>
          <p:nvPr>
            <p:ph idx="1"/>
          </p:nvPr>
        </p:nvSpPr>
        <p:spPr/>
        <p:txBody>
          <a:bodyPr/>
          <a:lstStyle/>
          <a:p>
            <a:pPr marL="0" indent="0" algn="just">
              <a:buNone/>
            </a:pPr>
            <a:r>
              <a:rPr lang="en-US" sz="1600" b="1" dirty="0"/>
              <a:t>Word2Vec</a:t>
            </a:r>
            <a:r>
              <a:rPr lang="en-US" sz="1600" dirty="0"/>
              <a:t> is a neural network-based model that generates dense vector representations of words. The basic idea behind Word2Vec is to train a neural network to predict the context words given a target word, and then use the resulting vector representations to capture the semantic meaning of the words. It captures semantic relationships between words using two main approaches: </a:t>
            </a:r>
          </a:p>
          <a:p>
            <a:pPr marL="0" indent="0" algn="just">
              <a:buNone/>
            </a:pPr>
            <a:r>
              <a:rPr lang="en-US" sz="1600" dirty="0"/>
              <a:t>Continuous Bag of Words (CBOW) </a:t>
            </a:r>
          </a:p>
          <a:p>
            <a:pPr marL="0" indent="0" algn="just">
              <a:buNone/>
            </a:pPr>
            <a:r>
              <a:rPr lang="en-US" sz="1600" dirty="0"/>
              <a:t>Skip-gram</a:t>
            </a:r>
          </a:p>
          <a:p>
            <a:pPr marL="0" indent="0" algn="just">
              <a:buNone/>
            </a:pPr>
            <a:endParaRPr lang="en-US" sz="1600" dirty="0"/>
          </a:p>
          <a:p>
            <a:pPr algn="just"/>
            <a:r>
              <a:rPr lang="en-US" sz="1600" b="1" dirty="0"/>
              <a:t>Continuous Bag of Words (CBOW)</a:t>
            </a:r>
            <a:r>
              <a:rPr lang="en-US" sz="1600" dirty="0"/>
              <a:t>: Predicts the target word based on its surrounding context words. For example, given the context words “the quick brown”, it predicts the target word “fox”</a:t>
            </a:r>
          </a:p>
          <a:p>
            <a:pPr algn="just"/>
            <a:r>
              <a:rPr lang="en-US" sz="1600" b="1" dirty="0"/>
              <a:t>Skip-gram</a:t>
            </a:r>
            <a:r>
              <a:rPr lang="en-US" sz="1600" dirty="0"/>
              <a:t>: Predicts the surrounding context words given the target word. For example, given the target word “fox”, it predicts context words like “the”, “quick”, “brown”</a:t>
            </a:r>
          </a:p>
          <a:p>
            <a:pPr marL="0" indent="0" algn="just">
              <a:buNone/>
            </a:pPr>
            <a:endParaRPr lang="en-IN" sz="1600" dirty="0"/>
          </a:p>
        </p:txBody>
      </p:sp>
      <p:sp>
        <p:nvSpPr>
          <p:cNvPr id="4" name="Date Placeholder 3">
            <a:extLst>
              <a:ext uri="{FF2B5EF4-FFF2-40B4-BE49-F238E27FC236}">
                <a16:creationId xmlns:a16="http://schemas.microsoft.com/office/drawing/2014/main" id="{25908190-F691-63F2-2B1A-6990668DFFD9}"/>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380901A3-DC13-9AC9-753A-15368B88C1C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9C1CDF4-1B7E-C6B0-9A5B-48DBFFEFDA2A}"/>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2996608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8953-582C-208D-1E52-74BCF0C57B3D}"/>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B89DD3E9-1FB4-52DC-51BE-8EDDECE129F2}"/>
              </a:ext>
            </a:extLst>
          </p:cNvPr>
          <p:cNvSpPr>
            <a:spLocks noGrp="1"/>
          </p:cNvSpPr>
          <p:nvPr>
            <p:ph idx="1"/>
          </p:nvPr>
        </p:nvSpPr>
        <p:spPr/>
        <p:txBody>
          <a:bodyPr/>
          <a:lstStyle/>
          <a:p>
            <a:pPr marL="0" indent="0" algn="just">
              <a:buNone/>
            </a:pPr>
            <a:r>
              <a:rPr lang="en-US" sz="1600" b="1" dirty="0"/>
              <a:t>2-GloVe (Global Vectors for Word Representation)</a:t>
            </a:r>
          </a:p>
          <a:p>
            <a:pPr algn="just"/>
            <a:r>
              <a:rPr lang="en-US" sz="1600" dirty="0" err="1"/>
              <a:t>GloVe</a:t>
            </a:r>
            <a:r>
              <a:rPr lang="en-US" sz="1600" dirty="0"/>
              <a:t>, developed by researchers at </a:t>
            </a:r>
            <a:r>
              <a:rPr lang="en-US" sz="1600" b="1" dirty="0"/>
              <a:t>Stanford</a:t>
            </a:r>
            <a:r>
              <a:rPr lang="en-US" sz="1600" dirty="0"/>
              <a:t>, combines the benefits of both global matrix factorization (like LSA) and local context window methods (like Word2Vec).</a:t>
            </a:r>
          </a:p>
          <a:p>
            <a:pPr algn="just"/>
            <a:r>
              <a:rPr lang="en-US" sz="1600" b="1" dirty="0"/>
              <a:t>Method</a:t>
            </a:r>
            <a:r>
              <a:rPr lang="en-US" sz="1600" dirty="0"/>
              <a:t>: Constructs a </a:t>
            </a:r>
            <a:r>
              <a:rPr lang="en-US" sz="1600" b="1" dirty="0"/>
              <a:t>word co-occurrence matrix </a:t>
            </a:r>
            <a:r>
              <a:rPr lang="en-US" sz="1600" dirty="0"/>
              <a:t>from the corpus and then uses </a:t>
            </a:r>
            <a:r>
              <a:rPr lang="en-US" sz="1600" b="1" dirty="0"/>
              <a:t>matrix factorization </a:t>
            </a:r>
            <a:r>
              <a:rPr lang="en-US" sz="1600" dirty="0"/>
              <a:t>to learn word vectors. It captures the global statistical information of the corpus.</a:t>
            </a:r>
          </a:p>
          <a:p>
            <a:pPr marL="0" indent="0" algn="just">
              <a:buNone/>
            </a:pPr>
            <a:endParaRPr lang="en-US" sz="1600" dirty="0"/>
          </a:p>
          <a:p>
            <a:pPr marL="0" indent="0">
              <a:buNone/>
            </a:pPr>
            <a:r>
              <a:rPr lang="en-US" sz="1600" b="1" dirty="0" err="1"/>
              <a:t>FastText</a:t>
            </a:r>
            <a:endParaRPr lang="en-US" sz="1600" b="1" dirty="0"/>
          </a:p>
          <a:p>
            <a:pPr algn="just"/>
            <a:r>
              <a:rPr lang="en-US" sz="1600" dirty="0"/>
              <a:t>Developed by </a:t>
            </a:r>
            <a:r>
              <a:rPr lang="en-US" sz="1600" b="1" dirty="0"/>
              <a:t>Facebook’s </a:t>
            </a:r>
            <a:r>
              <a:rPr lang="en-US" sz="1600" dirty="0"/>
              <a:t>AI Research (FAIR) lab, </a:t>
            </a:r>
            <a:r>
              <a:rPr lang="en-US" sz="1600" dirty="0" err="1"/>
              <a:t>FastText</a:t>
            </a:r>
            <a:r>
              <a:rPr lang="en-US" sz="1600" dirty="0"/>
              <a:t> extends Word2Vec by taking </a:t>
            </a:r>
            <a:r>
              <a:rPr lang="en-US" sz="1600" b="1" dirty="0" err="1"/>
              <a:t>subword</a:t>
            </a:r>
            <a:r>
              <a:rPr lang="en-US" sz="1600" dirty="0"/>
              <a:t> information into account.</a:t>
            </a:r>
          </a:p>
          <a:p>
            <a:pPr algn="just"/>
            <a:r>
              <a:rPr lang="en-US" sz="1600" b="1" dirty="0"/>
              <a:t>Method</a:t>
            </a:r>
            <a:r>
              <a:rPr lang="en-US" sz="1600" dirty="0"/>
              <a:t>: Represents words as bags of character n-grams. For example, the word “where” could be represented by character trigrams like “</a:t>
            </a:r>
            <a:r>
              <a:rPr lang="en-US" sz="1600" dirty="0" err="1"/>
              <a:t>whe</a:t>
            </a:r>
            <a:r>
              <a:rPr lang="en-US" sz="1600" dirty="0"/>
              <a:t>”, “her”, “ere”.</a:t>
            </a:r>
          </a:p>
          <a:p>
            <a:pPr algn="just"/>
            <a:r>
              <a:rPr lang="en-US" sz="1600" b="1" dirty="0"/>
              <a:t>Training</a:t>
            </a:r>
            <a:r>
              <a:rPr lang="en-US" sz="1600" dirty="0"/>
              <a:t>: Similar to Word2Vec, but the model predicts the target word using the sum of its </a:t>
            </a:r>
            <a:r>
              <a:rPr lang="en-US" sz="1600" dirty="0" err="1"/>
              <a:t>subword</a:t>
            </a:r>
            <a:r>
              <a:rPr lang="en-US" sz="1600" dirty="0"/>
              <a:t> n-gram vectors.</a:t>
            </a:r>
            <a:endParaRPr lang="en-US" sz="1050" dirty="0"/>
          </a:p>
          <a:p>
            <a:pPr marL="0" indent="0" algn="just">
              <a:buNone/>
            </a:pPr>
            <a:endParaRPr lang="en-US" sz="1600" dirty="0"/>
          </a:p>
          <a:p>
            <a:pPr marL="0" indent="0" algn="just">
              <a:buNone/>
            </a:pPr>
            <a:endParaRPr lang="en-IN" sz="1600" dirty="0"/>
          </a:p>
        </p:txBody>
      </p:sp>
      <p:sp>
        <p:nvSpPr>
          <p:cNvPr id="4" name="Date Placeholder 3">
            <a:extLst>
              <a:ext uri="{FF2B5EF4-FFF2-40B4-BE49-F238E27FC236}">
                <a16:creationId xmlns:a16="http://schemas.microsoft.com/office/drawing/2014/main" id="{6A647F8C-13AF-5018-623E-3138032ABF36}"/>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82D026B5-917B-CB69-D351-8C2CBD96734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7D6D75C-39F2-3F14-9A9B-2D6253F654E6}"/>
              </a:ext>
            </a:extLst>
          </p:cNvPr>
          <p:cNvSpPr>
            <a:spLocks noGrp="1"/>
          </p:cNvSpPr>
          <p:nvPr>
            <p:ph type="sldNum" sz="quarter" idx="12"/>
          </p:nvPr>
        </p:nvSpPr>
        <p:spPr/>
        <p:txBody>
          <a:bodyPr/>
          <a:lstStyle/>
          <a:p>
            <a:fld id="{BB2CE0DE-867F-455F-B20B-96D381B4AB71}" type="slidenum">
              <a:rPr lang="en-US" smtClean="0"/>
              <a:t>21</a:t>
            </a:fld>
            <a:endParaRPr lang="en-US"/>
          </a:p>
        </p:txBody>
      </p:sp>
    </p:spTree>
    <p:extLst>
      <p:ext uri="{BB962C8B-B14F-4D97-AF65-F5344CB8AC3E}">
        <p14:creationId xmlns:p14="http://schemas.microsoft.com/office/powerpoint/2010/main" val="3695861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9180-DD6A-1EC8-24CD-951F5816C36F}"/>
              </a:ext>
            </a:extLst>
          </p:cNvPr>
          <p:cNvSpPr>
            <a:spLocks noGrp="1"/>
          </p:cNvSpPr>
          <p:nvPr>
            <p:ph type="title"/>
          </p:nvPr>
        </p:nvSpPr>
        <p:spPr/>
        <p:txBody>
          <a:bodyPr/>
          <a:lstStyle/>
          <a:p>
            <a:r>
              <a:rPr lang="en-IN" dirty="0"/>
              <a:t> Contextualized word embeddings</a:t>
            </a:r>
          </a:p>
        </p:txBody>
      </p:sp>
      <p:sp>
        <p:nvSpPr>
          <p:cNvPr id="3" name="Content Placeholder 2">
            <a:extLst>
              <a:ext uri="{FF2B5EF4-FFF2-40B4-BE49-F238E27FC236}">
                <a16:creationId xmlns:a16="http://schemas.microsoft.com/office/drawing/2014/main" id="{E9B3268B-6C23-03E9-A75A-B0555FABA1E6}"/>
              </a:ext>
            </a:extLst>
          </p:cNvPr>
          <p:cNvSpPr>
            <a:spLocks noGrp="1"/>
          </p:cNvSpPr>
          <p:nvPr>
            <p:ph idx="1"/>
          </p:nvPr>
        </p:nvSpPr>
        <p:spPr/>
        <p:txBody>
          <a:bodyPr/>
          <a:lstStyle/>
          <a:p>
            <a:pPr algn="just"/>
            <a:r>
              <a:rPr lang="en-US" sz="2000" dirty="0"/>
              <a:t>Contextualized word embeddings represent a significant advancement in NLP, enabling models to understand and generate language with greater nuance and </a:t>
            </a:r>
            <a:r>
              <a:rPr lang="en-US" sz="2000" b="1" dirty="0"/>
              <a:t>accuracy.</a:t>
            </a:r>
          </a:p>
          <a:p>
            <a:pPr algn="just"/>
            <a:r>
              <a:rPr lang="en-US" sz="2000" dirty="0"/>
              <a:t>By taking context into account, these embeddings provide more meaningful word representations, leading to superior performance across a wide range of NLP tasks.</a:t>
            </a:r>
          </a:p>
          <a:p>
            <a:pPr marL="0" indent="0" algn="just">
              <a:buNone/>
            </a:pPr>
            <a:endParaRPr lang="en-IN" sz="2000" dirty="0"/>
          </a:p>
          <a:p>
            <a:pPr marL="0" indent="0" algn="just">
              <a:buNone/>
            </a:pPr>
            <a:r>
              <a:rPr lang="en-IN" sz="1600" dirty="0" err="1"/>
              <a:t>ELMo</a:t>
            </a:r>
            <a:r>
              <a:rPr lang="en-IN" sz="1600" dirty="0"/>
              <a:t> (Embedding from Language Models)</a:t>
            </a:r>
          </a:p>
          <a:p>
            <a:pPr marL="0" indent="0" algn="just">
              <a:buNone/>
            </a:pPr>
            <a:r>
              <a:rPr lang="en-IN" sz="1600" dirty="0"/>
              <a:t>BERT (Bidirectional Encoder Representations from Transformers)</a:t>
            </a:r>
          </a:p>
          <a:p>
            <a:pPr marL="0" indent="0" algn="just">
              <a:buNone/>
            </a:pPr>
            <a:r>
              <a:rPr lang="en-IN" sz="1600" dirty="0"/>
              <a:t>GPT (</a:t>
            </a:r>
            <a:r>
              <a:rPr lang="en-US" sz="1600" dirty="0"/>
              <a:t>Generative Pre-trained Transformer)</a:t>
            </a:r>
            <a:endParaRPr lang="en-IN" sz="1600" dirty="0"/>
          </a:p>
          <a:p>
            <a:pPr marL="0" indent="0" algn="just">
              <a:buNone/>
            </a:pPr>
            <a:endParaRPr lang="en-IN" sz="2000" dirty="0"/>
          </a:p>
        </p:txBody>
      </p:sp>
      <p:sp>
        <p:nvSpPr>
          <p:cNvPr id="4" name="Date Placeholder 3">
            <a:extLst>
              <a:ext uri="{FF2B5EF4-FFF2-40B4-BE49-F238E27FC236}">
                <a16:creationId xmlns:a16="http://schemas.microsoft.com/office/drawing/2014/main" id="{B856F98D-DD3F-E39A-2496-578CBC922CFC}"/>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32DAC84A-B830-5C78-0940-FC1A5C6936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25BB6D9-216B-5EC0-133E-F17F76EFD37D}"/>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1427072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1AB4-2168-7634-C2A0-D6319D68A30B}"/>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DA21942E-58A3-97FB-56DD-E782D462E71A}"/>
              </a:ext>
            </a:extLst>
          </p:cNvPr>
          <p:cNvSpPr>
            <a:spLocks noGrp="1"/>
          </p:cNvSpPr>
          <p:nvPr>
            <p:ph idx="1"/>
          </p:nvPr>
        </p:nvSpPr>
        <p:spPr/>
        <p:txBody>
          <a:bodyPr/>
          <a:lstStyle/>
          <a:p>
            <a:pPr marL="0" indent="0">
              <a:buNone/>
            </a:pPr>
            <a:r>
              <a:rPr lang="en-US" sz="1400" b="1" dirty="0"/>
              <a:t>1. </a:t>
            </a:r>
            <a:r>
              <a:rPr lang="en-US" sz="1400" b="1" dirty="0" err="1"/>
              <a:t>ELMo</a:t>
            </a:r>
            <a:r>
              <a:rPr lang="en-US" sz="1400" b="1" dirty="0"/>
              <a:t> (</a:t>
            </a:r>
            <a:r>
              <a:rPr lang="en-IN" sz="1400" b="1" dirty="0"/>
              <a:t>Embeddings from Language Models) </a:t>
            </a:r>
            <a:r>
              <a:rPr lang="en-US" sz="1600" dirty="0"/>
              <a:t>is a deeply contextualized word representation that models both complex characteristics of word use (e.g., syntax and semantics) and how these uses vary across linguistic contexts (e.g., to model polysemy). </a:t>
            </a:r>
            <a:r>
              <a:rPr lang="en-US" sz="1600" dirty="0" err="1"/>
              <a:t>ELMo</a:t>
            </a:r>
            <a:r>
              <a:rPr lang="en-US" sz="1600" dirty="0"/>
              <a:t> generates context-sensitive embeddings using deep bi-directional LSTM models. It provides different embeddings for words based on their context.</a:t>
            </a:r>
            <a:br>
              <a:rPr lang="en-US" sz="1100" dirty="0"/>
            </a:br>
            <a:r>
              <a:rPr lang="en-US" sz="1600" dirty="0"/>
              <a:t>Key Features of </a:t>
            </a:r>
            <a:r>
              <a:rPr lang="en-US" sz="1600" dirty="0" err="1"/>
              <a:t>ELMo</a:t>
            </a:r>
            <a:r>
              <a:rPr lang="en-US" sz="1600" dirty="0"/>
              <a:t>:</a:t>
            </a:r>
            <a:br>
              <a:rPr lang="en-US" sz="1100" dirty="0"/>
            </a:br>
            <a:r>
              <a:rPr lang="en-US" sz="1600" dirty="0"/>
              <a:t>1. </a:t>
            </a:r>
            <a:r>
              <a:rPr lang="en-US" sz="1600" b="1" dirty="0"/>
              <a:t>Contextualized Representations:</a:t>
            </a:r>
            <a:r>
              <a:rPr lang="en-US" sz="1600" dirty="0"/>
              <a:t> </a:t>
            </a:r>
            <a:r>
              <a:rPr lang="en-US" sz="1600" dirty="0" err="1"/>
              <a:t>ELMo</a:t>
            </a:r>
            <a:r>
              <a:rPr lang="en-US" sz="1600" dirty="0"/>
              <a:t> embeddings vary depending on the context in which a word appears. This is different from traditional embeddings like Word2Vec or </a:t>
            </a:r>
            <a:r>
              <a:rPr lang="en-US" sz="1600" dirty="0" err="1"/>
              <a:t>GloVe</a:t>
            </a:r>
            <a:r>
              <a:rPr lang="en-US" sz="1600" dirty="0"/>
              <a:t>, which provide a single representation for each word regardless of context.</a:t>
            </a:r>
            <a:br>
              <a:rPr lang="en-US" sz="1100" dirty="0"/>
            </a:br>
            <a:r>
              <a:rPr lang="en-US" sz="1600" dirty="0"/>
              <a:t>2. </a:t>
            </a:r>
            <a:r>
              <a:rPr lang="en-US" sz="1600" b="1" dirty="0"/>
              <a:t>Deep Representations:</a:t>
            </a:r>
            <a:r>
              <a:rPr lang="en-US" sz="1600" dirty="0"/>
              <a:t> </a:t>
            </a:r>
            <a:r>
              <a:rPr lang="en-US" sz="1600" dirty="0" err="1"/>
              <a:t>ELMo</a:t>
            </a:r>
            <a:r>
              <a:rPr lang="en-US" sz="1600" dirty="0"/>
              <a:t> uses deep bidirectional LSTM networks to generate embeddings, capturing complex syntactic and semantic information.</a:t>
            </a:r>
            <a:br>
              <a:rPr lang="en-US" sz="1100" dirty="0"/>
            </a:br>
            <a:r>
              <a:rPr lang="en-US" sz="1600" dirty="0"/>
              <a:t>3. </a:t>
            </a:r>
            <a:r>
              <a:rPr lang="en-US" sz="1600" b="1" dirty="0"/>
              <a:t>Layer-wise Representations:</a:t>
            </a:r>
            <a:r>
              <a:rPr lang="en-US" sz="1600" dirty="0"/>
              <a:t> </a:t>
            </a:r>
            <a:r>
              <a:rPr lang="en-US" sz="1600" dirty="0" err="1"/>
              <a:t>ELMo</a:t>
            </a:r>
            <a:r>
              <a:rPr lang="en-US" sz="1600" dirty="0"/>
              <a:t> combines representations from all the layers of the </a:t>
            </a:r>
            <a:r>
              <a:rPr lang="en-US" sz="1600" dirty="0" err="1"/>
              <a:t>biLSTM</a:t>
            </a:r>
            <a:r>
              <a:rPr lang="en-US" sz="1600" dirty="0"/>
              <a:t>, which allows it to capture different types of information at different layers.</a:t>
            </a:r>
            <a:endParaRPr lang="en-IN" sz="1100" dirty="0"/>
          </a:p>
        </p:txBody>
      </p:sp>
      <p:sp>
        <p:nvSpPr>
          <p:cNvPr id="4" name="Date Placeholder 3">
            <a:extLst>
              <a:ext uri="{FF2B5EF4-FFF2-40B4-BE49-F238E27FC236}">
                <a16:creationId xmlns:a16="http://schemas.microsoft.com/office/drawing/2014/main" id="{1AF69702-A055-854C-96AE-1670BF1A4D1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E4E3529-F69D-73C8-2B61-DDE173E4BC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672C1D2-9001-95ED-5126-DBB79A5FC369}"/>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1529222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C07D-CBEC-6B8E-8DD1-411606462E26}"/>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7B376DE2-85CC-1451-5927-2681CFEB4B2C}"/>
              </a:ext>
            </a:extLst>
          </p:cNvPr>
          <p:cNvSpPr>
            <a:spLocks noGrp="1"/>
          </p:cNvSpPr>
          <p:nvPr>
            <p:ph idx="1"/>
          </p:nvPr>
        </p:nvSpPr>
        <p:spPr/>
        <p:txBody>
          <a:bodyPr/>
          <a:lstStyle/>
          <a:p>
            <a:pPr marL="0" indent="0" algn="just">
              <a:buNone/>
            </a:pPr>
            <a:r>
              <a:rPr lang="en-US" sz="1200" b="1" dirty="0"/>
              <a:t>BERT (Bidirectional Encoder Representations from Transformers)</a:t>
            </a:r>
          </a:p>
          <a:p>
            <a:pPr algn="just"/>
            <a:r>
              <a:rPr lang="en-US" sz="1200" dirty="0"/>
              <a:t>BERT is a transformer-based model that generates context-aware embeddings by considering the entire sentence bidirectionally (i.e., both left-to-right and right-to-left). Unlike traditional word embeddings like Word2Vec or </a:t>
            </a:r>
            <a:r>
              <a:rPr lang="en-US" sz="1200" dirty="0" err="1"/>
              <a:t>GloVe</a:t>
            </a:r>
            <a:r>
              <a:rPr lang="en-US" sz="1200" dirty="0"/>
              <a:t>, which generate a single representation for each word, BERT produces different embeddings for each word based on its context.</a:t>
            </a:r>
            <a:br>
              <a:rPr lang="en-US" sz="1200" dirty="0"/>
            </a:br>
            <a:r>
              <a:rPr lang="en-US" sz="1200" dirty="0"/>
              <a:t>Key Features of BERT:</a:t>
            </a:r>
          </a:p>
          <a:p>
            <a:pPr algn="just"/>
            <a:r>
              <a:rPr lang="en-US" sz="1200" b="1" dirty="0"/>
              <a:t>Encoder:</a:t>
            </a:r>
            <a:r>
              <a:rPr lang="en-US" sz="1200" dirty="0"/>
              <a:t> The encoder is the main component of the BERT architecture, consisting of multiple transformer encoder layers. Each encoder layer has a multi-head self-attention mechanism, which allows the model to attend to different positions in the input sequence when encoding a specific token. The self-attention mechanism is bidirectional, meaning that the encoding of a token can attend to both left and right context in the sequence. Each encoder layer also has a position-wise feed-forward network, which applies non-linear transformations to the output of the self-attention mechanism.</a:t>
            </a:r>
          </a:p>
          <a:p>
            <a:pPr algn="just"/>
            <a:r>
              <a:rPr lang="en-US" sz="1200" b="1" dirty="0"/>
              <a:t>Pre-trained on Large Corpus:</a:t>
            </a:r>
            <a:r>
              <a:rPr lang="en-US" sz="1200" dirty="0"/>
              <a:t> BERT is pre-trained on a large corpus of unlabeled text using two main objectives: a. </a:t>
            </a:r>
            <a:r>
              <a:rPr lang="en-US" sz="1200" b="1" dirty="0"/>
              <a:t>Masked Language Modeling (MLM)</a:t>
            </a:r>
            <a:r>
              <a:rPr lang="en-US" sz="1200" dirty="0"/>
              <a:t>: In this task, some tokens in the input sequence are randomly masked (replaced with a [MASK] token), and the model is trained to predict the masked tokens based on the context. b. </a:t>
            </a:r>
            <a:r>
              <a:rPr lang="en-US" sz="1200" b="1" dirty="0"/>
              <a:t>Next Sentence Prediction (NSP)</a:t>
            </a:r>
            <a:r>
              <a:rPr lang="en-US" sz="1200" dirty="0"/>
              <a:t>: In this task, the model is trained to predict whether two input sentences are consecutive in the original text or not.</a:t>
            </a:r>
          </a:p>
          <a:p>
            <a:pPr algn="just"/>
            <a:r>
              <a:rPr lang="en-US" sz="1200" b="1" dirty="0"/>
              <a:t>Fine-tuning:</a:t>
            </a:r>
            <a:r>
              <a:rPr lang="en-US" sz="1200" dirty="0"/>
              <a:t> After pre-training, BERT can be fine-tuned for specific NLP tasks by adding a task-specific output layer on top of the encoder. The parameters of the pre-trained BERT model are fine-tuned using labeled data for the target task, while the output layer is trained from scratch. This transfer learning approach allows BERT to leverage its pre-trained knowledge and adapt to new tasks with relatively small amounts of labeled data.</a:t>
            </a:r>
          </a:p>
          <a:p>
            <a:pPr marL="0" indent="0" algn="just">
              <a:buNone/>
            </a:pPr>
            <a:endParaRPr lang="en-IN" sz="1200" dirty="0"/>
          </a:p>
        </p:txBody>
      </p:sp>
      <p:sp>
        <p:nvSpPr>
          <p:cNvPr id="4" name="Date Placeholder 3">
            <a:extLst>
              <a:ext uri="{FF2B5EF4-FFF2-40B4-BE49-F238E27FC236}">
                <a16:creationId xmlns:a16="http://schemas.microsoft.com/office/drawing/2014/main" id="{CBED6183-F99A-FDA4-12FE-CD3BCCD4144F}"/>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E10FD79-08B7-D1F5-5E95-A8307C0231A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F36E4FB-65B0-01EF-117E-E2CA5A28F193}"/>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2119000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7703-F39A-B03D-AC16-4F826CCDFC75}"/>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DBFB8C87-E3EF-38D3-4BBA-49B3344ECB7B}"/>
              </a:ext>
            </a:extLst>
          </p:cNvPr>
          <p:cNvSpPr>
            <a:spLocks noGrp="1"/>
          </p:cNvSpPr>
          <p:nvPr>
            <p:ph idx="1"/>
          </p:nvPr>
        </p:nvSpPr>
        <p:spPr/>
        <p:txBody>
          <a:bodyPr/>
          <a:lstStyle/>
          <a:p>
            <a:pPr marL="0" indent="0" algn="just">
              <a:buNone/>
            </a:pPr>
            <a:r>
              <a:rPr lang="en-US" sz="2000" b="1" dirty="0"/>
              <a:t>GPT (Generative Pre-trained Transformer)</a:t>
            </a:r>
          </a:p>
          <a:p>
            <a:pPr algn="just"/>
            <a:r>
              <a:rPr lang="en-US" sz="2000" dirty="0"/>
              <a:t>GPT is a transformer-based model that generates context-aware embeddings by processing text in a unidirectional manner (left-to-right).</a:t>
            </a:r>
            <a:br>
              <a:rPr lang="en-US" sz="2000" dirty="0"/>
            </a:br>
            <a:r>
              <a:rPr lang="en-US" sz="2000" dirty="0"/>
              <a:t>GPT uses the decoder part of the transformer, to process the input text. The model consists of multiple layers of self-attention mechanisms, which allow it to capture dependencies between words in a sentence. This allows GPT to excel in tasks that involve language generation, such as text completion, dialogue generation, and more. The model is pre-trained on a large corpus of text and can be fine-tuned for specific tasks.</a:t>
            </a:r>
          </a:p>
          <a:p>
            <a:pPr algn="just"/>
            <a:endParaRPr lang="en-IN" sz="2000" dirty="0"/>
          </a:p>
        </p:txBody>
      </p:sp>
      <p:sp>
        <p:nvSpPr>
          <p:cNvPr id="4" name="Date Placeholder 3">
            <a:extLst>
              <a:ext uri="{FF2B5EF4-FFF2-40B4-BE49-F238E27FC236}">
                <a16:creationId xmlns:a16="http://schemas.microsoft.com/office/drawing/2014/main" id="{579ECED7-8C28-70A6-D3A2-DA9243495E2C}"/>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F124C1B6-C973-79A4-915B-422A090C80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FBA178-12BD-1145-F1FA-1FC4D1F56C1C}"/>
              </a:ext>
            </a:extLst>
          </p:cNvPr>
          <p:cNvSpPr>
            <a:spLocks noGrp="1"/>
          </p:cNvSpPr>
          <p:nvPr>
            <p:ph type="sldNum" sz="quarter" idx="12"/>
          </p:nvPr>
        </p:nvSpPr>
        <p:spPr/>
        <p:txBody>
          <a:bodyPr/>
          <a:lstStyle/>
          <a:p>
            <a:fld id="{BB2CE0DE-867F-455F-B20B-96D381B4AB71}" type="slidenum">
              <a:rPr lang="en-US" smtClean="0"/>
              <a:t>25</a:t>
            </a:fld>
            <a:endParaRPr lang="en-US"/>
          </a:p>
        </p:txBody>
      </p:sp>
    </p:spTree>
    <p:extLst>
      <p:ext uri="{BB962C8B-B14F-4D97-AF65-F5344CB8AC3E}">
        <p14:creationId xmlns:p14="http://schemas.microsoft.com/office/powerpoint/2010/main" val="2130830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26</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643973485"/>
              </p:ext>
            </p:extLst>
          </p:nvPr>
        </p:nvGraphicFramePr>
        <p:xfrm>
          <a:off x="304800" y="1066800"/>
          <a:ext cx="8686800" cy="4772708"/>
        </p:xfrm>
        <a:graphic>
          <a:graphicData uri="http://schemas.openxmlformats.org/drawingml/2006/table">
            <a:tbl>
              <a:tblPr firstRow="1" bandRow="1">
                <a:tableStyleId>{5C22544A-7EE6-4342-B048-85BDC9FD1C3A}</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990600">
                <a:tc>
                  <a:txBody>
                    <a:bodyPr/>
                    <a:lstStyle/>
                    <a:p>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err="1">
                          <a:solidFill>
                            <a:schemeClr val="tx1"/>
                          </a:solidFill>
                        </a:rPr>
                        <a:t>ELMo</a:t>
                      </a:r>
                      <a:r>
                        <a:rPr lang="en-US" sz="1400" b="0" dirty="0">
                          <a:solidFill>
                            <a:schemeClr val="tx1"/>
                          </a:solidFill>
                        </a:rPr>
                        <a:t> (</a:t>
                      </a:r>
                      <a:r>
                        <a:rPr lang="en-US" sz="1400" b="0" dirty="0" err="1">
                          <a:solidFill>
                            <a:schemeClr val="tx1"/>
                          </a:solidFill>
                        </a:rPr>
                        <a:t>Embeddings</a:t>
                      </a:r>
                      <a:r>
                        <a:rPr lang="en-US" sz="1400" b="0" dirty="0">
                          <a:solidFill>
                            <a:schemeClr val="tx1"/>
                          </a:solidFill>
                        </a:rPr>
                        <a:t> from Language Models)</a:t>
                      </a:r>
                    </a:p>
                    <a:p>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BERT (Bidirectional Encoder Representations from Transformers)</a:t>
                      </a:r>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GPT (Generative Pre-trained Transformer)</a:t>
                      </a:r>
                    </a:p>
                    <a:p>
                      <a:endParaRPr lang="en-IN" sz="1400" b="0" dirty="0">
                        <a:solidFill>
                          <a:schemeClr val="tx1"/>
                        </a:solidFill>
                      </a:endParaRPr>
                    </a:p>
                  </a:txBody>
                  <a:tcPr/>
                </a:tc>
                <a:extLst>
                  <a:ext uri="{0D108BD9-81ED-4DB2-BD59-A6C34878D82A}">
                    <a16:rowId xmlns:a16="http://schemas.microsoft.com/office/drawing/2014/main" val="10000"/>
                  </a:ext>
                </a:extLst>
              </a:tr>
              <a:tr h="429308">
                <a:tc>
                  <a:txBody>
                    <a:bodyPr/>
                    <a:lstStyle/>
                    <a:p>
                      <a:r>
                        <a:rPr lang="en-IN" sz="1400" b="1" dirty="0"/>
                        <a:t>Architecture</a:t>
                      </a:r>
                      <a:endParaRPr lang="en-IN" sz="1400" dirty="0"/>
                    </a:p>
                  </a:txBody>
                  <a:tcPr anchor="ctr"/>
                </a:tc>
                <a:tc>
                  <a:txBody>
                    <a:bodyPr/>
                    <a:lstStyle/>
                    <a:p>
                      <a:r>
                        <a:rPr lang="en-IN" sz="1400"/>
                        <a:t>BiLSTM (RNN-based)</a:t>
                      </a:r>
                    </a:p>
                  </a:txBody>
                  <a:tcPr anchor="ctr"/>
                </a:tc>
                <a:tc>
                  <a:txBody>
                    <a:bodyPr/>
                    <a:lstStyle/>
                    <a:p>
                      <a:r>
                        <a:rPr lang="en-IN" sz="1400"/>
                        <a:t>Transformer Encoder</a:t>
                      </a:r>
                    </a:p>
                  </a:txBody>
                  <a:tcPr anchor="ctr"/>
                </a:tc>
                <a:tc>
                  <a:txBody>
                    <a:bodyPr/>
                    <a:lstStyle/>
                    <a:p>
                      <a:r>
                        <a:rPr lang="en-IN" sz="1400"/>
                        <a:t>Transformer Decoder</a:t>
                      </a:r>
                    </a:p>
                  </a:txBody>
                  <a:tcPr anchor="ctr"/>
                </a:tc>
                <a:extLst>
                  <a:ext uri="{0D108BD9-81ED-4DB2-BD59-A6C34878D82A}">
                    <a16:rowId xmlns:a16="http://schemas.microsoft.com/office/drawing/2014/main" val="10001"/>
                  </a:ext>
                </a:extLst>
              </a:tr>
              <a:tr h="429308">
                <a:tc>
                  <a:txBody>
                    <a:bodyPr/>
                    <a:lstStyle/>
                    <a:p>
                      <a:r>
                        <a:rPr lang="en-IN" sz="1400" b="1"/>
                        <a:t>Directionality</a:t>
                      </a:r>
                      <a:endParaRPr lang="en-IN" sz="1400"/>
                    </a:p>
                  </a:txBody>
                  <a:tcPr anchor="ctr"/>
                </a:tc>
                <a:tc>
                  <a:txBody>
                    <a:bodyPr/>
                    <a:lstStyle/>
                    <a:p>
                      <a:r>
                        <a:rPr lang="en-IN" sz="1400" dirty="0"/>
                        <a:t>Bidirectional (but shallow – forward &amp; backward LSTMs separately)</a:t>
                      </a:r>
                    </a:p>
                  </a:txBody>
                  <a:tcPr anchor="ctr"/>
                </a:tc>
                <a:tc>
                  <a:txBody>
                    <a:bodyPr/>
                    <a:lstStyle/>
                    <a:p>
                      <a:r>
                        <a:rPr lang="en-IN" sz="1400"/>
                        <a:t>Deeply Bidirectional (full context both sides)</a:t>
                      </a:r>
                    </a:p>
                  </a:txBody>
                  <a:tcPr anchor="ctr"/>
                </a:tc>
                <a:tc>
                  <a:txBody>
                    <a:bodyPr/>
                    <a:lstStyle/>
                    <a:p>
                      <a:r>
                        <a:rPr lang="en-IN" sz="1400"/>
                        <a:t>Unidirectional (left-to-right)</a:t>
                      </a:r>
                    </a:p>
                  </a:txBody>
                  <a:tcPr anchor="ctr"/>
                </a:tc>
                <a:extLst>
                  <a:ext uri="{0D108BD9-81ED-4DB2-BD59-A6C34878D82A}">
                    <a16:rowId xmlns:a16="http://schemas.microsoft.com/office/drawing/2014/main" val="10002"/>
                  </a:ext>
                </a:extLst>
              </a:tr>
              <a:tr h="429308">
                <a:tc>
                  <a:txBody>
                    <a:bodyPr/>
                    <a:lstStyle/>
                    <a:p>
                      <a:r>
                        <a:rPr lang="en-IN" sz="1400" b="1" dirty="0"/>
                        <a:t>Training Objective</a:t>
                      </a:r>
                      <a:endParaRPr lang="en-IN" sz="1400" dirty="0"/>
                    </a:p>
                  </a:txBody>
                  <a:tcPr anchor="ctr"/>
                </a:tc>
                <a:tc>
                  <a:txBody>
                    <a:bodyPr/>
                    <a:lstStyle/>
                    <a:p>
                      <a:r>
                        <a:rPr lang="en-IN" sz="1400"/>
                        <a:t>Language modeling: predict words forward and backward</a:t>
                      </a:r>
                    </a:p>
                  </a:txBody>
                  <a:tcPr anchor="ctr"/>
                </a:tc>
                <a:tc>
                  <a:txBody>
                    <a:bodyPr/>
                    <a:lstStyle/>
                    <a:p>
                      <a:r>
                        <a:rPr lang="en-IN" sz="1400"/>
                        <a:t>Masked Language Modeling + Next Sentence Prediction</a:t>
                      </a:r>
                    </a:p>
                  </a:txBody>
                  <a:tcPr anchor="ctr"/>
                </a:tc>
                <a:tc>
                  <a:txBody>
                    <a:bodyPr/>
                    <a:lstStyle/>
                    <a:p>
                      <a:r>
                        <a:rPr lang="en-IN" sz="1400"/>
                        <a:t>Causal Language Modeling (next word prediction)</a:t>
                      </a:r>
                    </a:p>
                  </a:txBody>
                  <a:tcPr anchor="ctr"/>
                </a:tc>
                <a:extLst>
                  <a:ext uri="{0D108BD9-81ED-4DB2-BD59-A6C34878D82A}">
                    <a16:rowId xmlns:a16="http://schemas.microsoft.com/office/drawing/2014/main" val="10003"/>
                  </a:ext>
                </a:extLst>
              </a:tr>
              <a:tr h="429308">
                <a:tc>
                  <a:txBody>
                    <a:bodyPr/>
                    <a:lstStyle/>
                    <a:p>
                      <a:r>
                        <a:rPr lang="en-IN" sz="1400" b="1"/>
                        <a:t>Embedding Output</a:t>
                      </a:r>
                      <a:endParaRPr lang="en-IN" sz="1400"/>
                    </a:p>
                  </a:txBody>
                  <a:tcPr anchor="ctr"/>
                </a:tc>
                <a:tc>
                  <a:txBody>
                    <a:bodyPr/>
                    <a:lstStyle/>
                    <a:p>
                      <a:r>
                        <a:rPr lang="en-IN" sz="1400"/>
                        <a:t>Contextualized embeddings (can be used as features)</a:t>
                      </a:r>
                    </a:p>
                  </a:txBody>
                  <a:tcPr anchor="ctr"/>
                </a:tc>
                <a:tc>
                  <a:txBody>
                    <a:bodyPr/>
                    <a:lstStyle/>
                    <a:p>
                      <a:r>
                        <a:rPr lang="en-IN" sz="1400"/>
                        <a:t>Contextualized token representations (fine-tuned or pooled)</a:t>
                      </a:r>
                    </a:p>
                  </a:txBody>
                  <a:tcPr anchor="ctr"/>
                </a:tc>
                <a:tc>
                  <a:txBody>
                    <a:bodyPr/>
                    <a:lstStyle/>
                    <a:p>
                      <a:r>
                        <a:rPr lang="en-IN" sz="1400"/>
                        <a:t>Contextualized token outputs (mainly for generation)</a:t>
                      </a:r>
                    </a:p>
                  </a:txBody>
                  <a:tcPr anchor="ctr"/>
                </a:tc>
                <a:extLst>
                  <a:ext uri="{0D108BD9-81ED-4DB2-BD59-A6C34878D82A}">
                    <a16:rowId xmlns:a16="http://schemas.microsoft.com/office/drawing/2014/main" val="10004"/>
                  </a:ext>
                </a:extLst>
              </a:tr>
              <a:tr h="429308">
                <a:tc>
                  <a:txBody>
                    <a:bodyPr/>
                    <a:lstStyle/>
                    <a:p>
                      <a:r>
                        <a:rPr lang="en-IN" sz="1400" b="1" dirty="0"/>
                        <a:t>Best Suited For</a:t>
                      </a:r>
                      <a:endParaRPr lang="en-IN" sz="1400" dirty="0"/>
                    </a:p>
                  </a:txBody>
                  <a:tcPr anchor="ctr"/>
                </a:tc>
                <a:tc>
                  <a:txBody>
                    <a:bodyPr/>
                    <a:lstStyle/>
                    <a:p>
                      <a:r>
                        <a:rPr lang="en-IN" sz="1400"/>
                        <a:t>Feature extraction for NLP tasks</a:t>
                      </a:r>
                    </a:p>
                  </a:txBody>
                  <a:tcPr anchor="ctr"/>
                </a:tc>
                <a:tc>
                  <a:txBody>
                    <a:bodyPr/>
                    <a:lstStyle/>
                    <a:p>
                      <a:r>
                        <a:rPr lang="en-IN" sz="1400" dirty="0"/>
                        <a:t>Understanding tasks (QA, Sentiment Analysis  classification)</a:t>
                      </a:r>
                    </a:p>
                  </a:txBody>
                  <a:tcPr anchor="ctr"/>
                </a:tc>
                <a:tc>
                  <a:txBody>
                    <a:bodyPr/>
                    <a:lstStyle/>
                    <a:p>
                      <a:r>
                        <a:rPr lang="en-IN" sz="1400" dirty="0"/>
                        <a:t>Text generation (completion, story writing)</a:t>
                      </a:r>
                    </a:p>
                  </a:txBody>
                  <a:tcPr anchor="ctr"/>
                </a:tc>
                <a:extLst>
                  <a:ext uri="{0D108BD9-81ED-4DB2-BD59-A6C34878D82A}">
                    <a16:rowId xmlns:a16="http://schemas.microsoft.com/office/drawing/2014/main" val="10005"/>
                  </a:ext>
                </a:extLst>
              </a:tr>
            </a:tbl>
          </a:graphicData>
        </a:graphic>
      </p:graphicFrame>
      <p:sp>
        <p:nvSpPr>
          <p:cNvPr id="9" name="TextBox 8"/>
          <p:cNvSpPr txBox="1"/>
          <p:nvPr/>
        </p:nvSpPr>
        <p:spPr>
          <a:xfrm>
            <a:off x="457200" y="533400"/>
            <a:ext cx="5758564" cy="369332"/>
          </a:xfrm>
          <a:prstGeom prst="rect">
            <a:avLst/>
          </a:prstGeom>
          <a:noFill/>
        </p:spPr>
        <p:txBody>
          <a:bodyPr wrap="none" rtlCol="0">
            <a:spAutoFit/>
          </a:bodyPr>
          <a:lstStyle/>
          <a:p>
            <a:r>
              <a:rPr lang="en-IN" dirty="0"/>
              <a:t>Contextualized word </a:t>
            </a:r>
            <a:r>
              <a:rPr lang="en-IN" dirty="0" err="1"/>
              <a:t>embeddings</a:t>
            </a:r>
            <a:r>
              <a:rPr lang="en-IN" dirty="0"/>
              <a:t>: </a:t>
            </a:r>
            <a:r>
              <a:rPr lang="en-US" dirty="0"/>
              <a:t>Summarizing</a:t>
            </a:r>
            <a:endParaRPr lang="en-IN" dirty="0"/>
          </a:p>
        </p:txBody>
      </p:sp>
    </p:spTree>
    <p:extLst>
      <p:ext uri="{BB962C8B-B14F-4D97-AF65-F5344CB8AC3E}">
        <p14:creationId xmlns:p14="http://schemas.microsoft.com/office/powerpoint/2010/main" val="1508780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Attention Mechanisms</a:t>
            </a:r>
          </a:p>
        </p:txBody>
      </p:sp>
      <p:sp>
        <p:nvSpPr>
          <p:cNvPr id="3" name="Content Placeholder 2"/>
          <p:cNvSpPr>
            <a:spLocks noGrp="1"/>
          </p:cNvSpPr>
          <p:nvPr>
            <p:ph idx="1"/>
          </p:nvPr>
        </p:nvSpPr>
        <p:spPr/>
        <p:txBody>
          <a:bodyPr/>
          <a:lstStyle/>
          <a:p>
            <a:pPr marL="0" indent="0" algn="just">
              <a:buNone/>
            </a:pPr>
            <a:r>
              <a:rPr lang="en-IN" sz="1400" b="1" dirty="0"/>
              <a:t>Self-Attention</a:t>
            </a:r>
          </a:p>
          <a:p>
            <a:pPr marL="0" indent="0" algn="just">
              <a:buNone/>
            </a:pPr>
            <a:r>
              <a:rPr lang="en-IN" sz="1400" dirty="0"/>
              <a:t>Self-attention allows each token in a sequence to </a:t>
            </a:r>
            <a:r>
              <a:rPr lang="en-IN" sz="1400" b="1" dirty="0"/>
              <a:t>attend to all other tokens</a:t>
            </a:r>
            <a:r>
              <a:rPr lang="en-IN" sz="1400" dirty="0"/>
              <a:t>, capturing dependencies regardless of their position. This is crucial in transformer models for understanding </a:t>
            </a:r>
            <a:r>
              <a:rPr lang="en-IN" sz="1400" b="1" dirty="0"/>
              <a:t>context across the entire sentence</a:t>
            </a:r>
            <a:r>
              <a:rPr lang="en-IN" sz="1400" dirty="0"/>
              <a:t>.</a:t>
            </a:r>
          </a:p>
          <a:p>
            <a:pPr marL="0" indent="0" algn="just">
              <a:buNone/>
            </a:pPr>
            <a:r>
              <a:rPr lang="en-IN" sz="1400" b="1" dirty="0"/>
              <a:t>Cross-Attention</a:t>
            </a:r>
          </a:p>
          <a:p>
            <a:pPr marL="0" indent="0" algn="just">
              <a:buNone/>
            </a:pPr>
            <a:r>
              <a:rPr lang="en-IN" sz="1400" dirty="0"/>
              <a:t>Cross-attention is used in </a:t>
            </a:r>
            <a:r>
              <a:rPr lang="en-IN" sz="1400" b="1" dirty="0"/>
              <a:t>encoder-decoder models</a:t>
            </a:r>
            <a:r>
              <a:rPr lang="en-IN" sz="1400" dirty="0"/>
              <a:t> where the decoder focuses on relevant parts of the encoder's output. It enables the model to </a:t>
            </a:r>
            <a:r>
              <a:rPr lang="en-IN" sz="1400" b="1" dirty="0"/>
              <a:t>align generated words with input features</a:t>
            </a:r>
            <a:r>
              <a:rPr lang="en-IN" sz="1400" dirty="0"/>
              <a:t>, essential for tasks like translation and summarization.</a:t>
            </a:r>
          </a:p>
          <a:p>
            <a:pPr marL="0" indent="0" algn="just">
              <a:buNone/>
            </a:pPr>
            <a:r>
              <a:rPr lang="en-IN" sz="1400" b="1" dirty="0"/>
              <a:t>Query-Key-Value (QKV)</a:t>
            </a:r>
          </a:p>
          <a:p>
            <a:pPr marL="0" indent="0" algn="just">
              <a:buNone/>
            </a:pPr>
            <a:r>
              <a:rPr lang="en-IN" sz="1400" dirty="0"/>
              <a:t>Attention is computed using </a:t>
            </a:r>
            <a:r>
              <a:rPr lang="en-IN" sz="1400" b="1" dirty="0"/>
              <a:t>queries, keys, and values</a:t>
            </a:r>
            <a:r>
              <a:rPr lang="en-IN" sz="1400" dirty="0"/>
              <a:t>, where the </a:t>
            </a:r>
            <a:r>
              <a:rPr lang="en-IN" sz="1400" b="1" dirty="0"/>
              <a:t>query</a:t>
            </a:r>
            <a:r>
              <a:rPr lang="en-IN" sz="1400" dirty="0"/>
              <a:t> interacts with </a:t>
            </a:r>
            <a:r>
              <a:rPr lang="en-IN" sz="1400" b="1" dirty="0"/>
              <a:t>keys</a:t>
            </a:r>
            <a:r>
              <a:rPr lang="en-IN" sz="1400" dirty="0"/>
              <a:t> to produce attention weights that are applied to </a:t>
            </a:r>
            <a:r>
              <a:rPr lang="en-IN" sz="1400" b="1" dirty="0"/>
              <a:t>values</a:t>
            </a:r>
            <a:r>
              <a:rPr lang="en-IN" sz="1400" dirty="0"/>
              <a:t>. This mechanism enables the model to dynamically decide </a:t>
            </a:r>
            <a:r>
              <a:rPr lang="en-IN" sz="1400" b="1" dirty="0"/>
              <a:t>what to focus on</a:t>
            </a:r>
            <a:r>
              <a:rPr lang="en-IN" sz="1400" dirty="0"/>
              <a:t>.</a:t>
            </a:r>
          </a:p>
          <a:p>
            <a:pPr marL="0" indent="0" algn="just">
              <a:buNone/>
            </a:pPr>
            <a:r>
              <a:rPr lang="en-IN" sz="1400" b="1" dirty="0"/>
              <a:t>Multi-Head Attention</a:t>
            </a:r>
          </a:p>
          <a:p>
            <a:pPr marL="0" indent="0" algn="just">
              <a:buNone/>
            </a:pPr>
            <a:r>
              <a:rPr lang="en-IN" sz="1400" dirty="0"/>
              <a:t>Multi-head attention runs multiple self-attention operations in </a:t>
            </a:r>
            <a:r>
              <a:rPr lang="en-IN" sz="1400" b="1" dirty="0"/>
              <a:t>parallel with different learned projections</a:t>
            </a:r>
            <a:r>
              <a:rPr lang="en-IN" sz="1400" dirty="0"/>
              <a:t>, allowing the model to capture </a:t>
            </a:r>
            <a:r>
              <a:rPr lang="en-IN" sz="1400" b="1" dirty="0"/>
              <a:t>diverse types of relationships</a:t>
            </a:r>
            <a:r>
              <a:rPr lang="en-IN" sz="1400" dirty="0"/>
              <a:t> simultaneously. It enhances the expressiveness and depth of the attention mechanism.</a:t>
            </a:r>
          </a:p>
          <a:p>
            <a:pPr marL="0" indent="0" algn="just">
              <a:buNone/>
            </a:pPr>
            <a:endParaRPr lang="en-IN" sz="1400" dirty="0"/>
          </a:p>
          <a:p>
            <a:pPr marL="0" indent="0" algn="just">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16717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F450F-E9D6-7189-AB80-902D36EDE1F9}"/>
              </a:ext>
            </a:extLst>
          </p:cNvPr>
          <p:cNvSpPr>
            <a:spLocks noGrp="1"/>
          </p:cNvSpPr>
          <p:nvPr>
            <p:ph type="title"/>
          </p:nvPr>
        </p:nvSpPr>
        <p:spPr/>
        <p:txBody>
          <a:bodyPr/>
          <a:lstStyle/>
          <a:p>
            <a:r>
              <a:rPr lang="en-US" dirty="0"/>
              <a:t>Language AI</a:t>
            </a:r>
            <a:endParaRPr lang="en-IN" dirty="0"/>
          </a:p>
        </p:txBody>
      </p:sp>
      <p:sp>
        <p:nvSpPr>
          <p:cNvPr id="3" name="Content Placeholder 2">
            <a:extLst>
              <a:ext uri="{FF2B5EF4-FFF2-40B4-BE49-F238E27FC236}">
                <a16:creationId xmlns:a16="http://schemas.microsoft.com/office/drawing/2014/main" id="{194433E2-CC58-4804-00D6-F3A155875E43}"/>
              </a:ext>
            </a:extLst>
          </p:cNvPr>
          <p:cNvSpPr>
            <a:spLocks noGrp="1"/>
          </p:cNvSpPr>
          <p:nvPr>
            <p:ph idx="1"/>
          </p:nvPr>
        </p:nvSpPr>
        <p:spPr/>
        <p:txBody>
          <a:bodyPr/>
          <a:lstStyle/>
          <a:p>
            <a:pPr marL="0" indent="0" algn="just">
              <a:buNone/>
            </a:pPr>
            <a:r>
              <a:rPr lang="en-US" sz="1800" dirty="0"/>
              <a:t>Language AI is a subfield of AI that focuses on developing technologies capable of understanding, processing, and generating human language. </a:t>
            </a:r>
            <a:r>
              <a:rPr lang="en-US" sz="1800" i="1" dirty="0"/>
              <a:t>Language AI</a:t>
            </a:r>
            <a:r>
              <a:rPr lang="en-US" sz="1800" dirty="0"/>
              <a:t> can often be used interchangeably with </a:t>
            </a:r>
            <a:r>
              <a:rPr lang="en-US" sz="1800" i="1" dirty="0"/>
              <a:t>natural language processing</a:t>
            </a:r>
            <a:r>
              <a:rPr lang="en-US" sz="1800" dirty="0"/>
              <a:t> (NLP) as machine learning methods struggle to tackle language processing problems.</a:t>
            </a:r>
            <a:endParaRPr lang="en-IN" sz="1800" dirty="0"/>
          </a:p>
        </p:txBody>
      </p:sp>
      <p:sp>
        <p:nvSpPr>
          <p:cNvPr id="4" name="Date Placeholder 3">
            <a:extLst>
              <a:ext uri="{FF2B5EF4-FFF2-40B4-BE49-F238E27FC236}">
                <a16:creationId xmlns:a16="http://schemas.microsoft.com/office/drawing/2014/main" id="{C022360F-2099-EDFD-A2E3-B2FFAAF71AD2}"/>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C11EC4F3-EF27-034F-D16D-3D94A9A35CC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C4046-F7C8-61C9-7E11-2814A3BD3470}"/>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7" name="Picture 6">
            <a:extLst>
              <a:ext uri="{FF2B5EF4-FFF2-40B4-BE49-F238E27FC236}">
                <a16:creationId xmlns:a16="http://schemas.microsoft.com/office/drawing/2014/main" id="{ECBF01EA-D220-2E2F-E34D-03806F7B2D5C}"/>
              </a:ext>
            </a:extLst>
          </p:cNvPr>
          <p:cNvPicPr>
            <a:picLocks noChangeAspect="1"/>
          </p:cNvPicPr>
          <p:nvPr/>
        </p:nvPicPr>
        <p:blipFill>
          <a:blip r:embed="rId2"/>
          <a:stretch>
            <a:fillRect/>
          </a:stretch>
        </p:blipFill>
        <p:spPr>
          <a:xfrm>
            <a:off x="1143000" y="2862943"/>
            <a:ext cx="6429375" cy="2743200"/>
          </a:xfrm>
          <a:prstGeom prst="rect">
            <a:avLst/>
          </a:prstGeom>
        </p:spPr>
      </p:pic>
      <p:sp>
        <p:nvSpPr>
          <p:cNvPr id="8" name="TextBox 7">
            <a:extLst>
              <a:ext uri="{FF2B5EF4-FFF2-40B4-BE49-F238E27FC236}">
                <a16:creationId xmlns:a16="http://schemas.microsoft.com/office/drawing/2014/main" id="{387C313E-99F2-5189-5774-CBA738D14A2F}"/>
              </a:ext>
            </a:extLst>
          </p:cNvPr>
          <p:cNvSpPr txBox="1"/>
          <p:nvPr/>
        </p:nvSpPr>
        <p:spPr>
          <a:xfrm>
            <a:off x="3048000" y="5781488"/>
            <a:ext cx="2850460" cy="369332"/>
          </a:xfrm>
          <a:prstGeom prst="rect">
            <a:avLst/>
          </a:prstGeom>
          <a:noFill/>
        </p:spPr>
        <p:txBody>
          <a:bodyPr wrap="none" rtlCol="0">
            <a:spAutoFit/>
          </a:bodyPr>
          <a:lstStyle/>
          <a:p>
            <a:r>
              <a:rPr lang="en-IN" dirty="0"/>
              <a:t>History of Language AI</a:t>
            </a:r>
          </a:p>
        </p:txBody>
      </p:sp>
    </p:spTree>
    <p:extLst>
      <p:ext uri="{BB962C8B-B14F-4D97-AF65-F5344CB8AC3E}">
        <p14:creationId xmlns:p14="http://schemas.microsoft.com/office/powerpoint/2010/main" val="2024340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AC7E-33CE-3587-76CE-82662C6582E1}"/>
              </a:ext>
            </a:extLst>
          </p:cNvPr>
          <p:cNvSpPr>
            <a:spLocks noGrp="1"/>
          </p:cNvSpPr>
          <p:nvPr>
            <p:ph type="title"/>
          </p:nvPr>
        </p:nvSpPr>
        <p:spPr/>
        <p:txBody>
          <a:bodyPr/>
          <a:lstStyle/>
          <a:p>
            <a:r>
              <a:rPr lang="en-US" dirty="0"/>
              <a:t>Encode</a:t>
            </a:r>
            <a:endParaRPr lang="en-IN" dirty="0"/>
          </a:p>
        </p:txBody>
      </p:sp>
      <p:sp>
        <p:nvSpPr>
          <p:cNvPr id="3" name="Content Placeholder 2">
            <a:extLst>
              <a:ext uri="{FF2B5EF4-FFF2-40B4-BE49-F238E27FC236}">
                <a16:creationId xmlns:a16="http://schemas.microsoft.com/office/drawing/2014/main" id="{BB3C3571-7C25-9FAB-EBF0-0BD6BEFF74C2}"/>
              </a:ext>
            </a:extLst>
          </p:cNvPr>
          <p:cNvSpPr>
            <a:spLocks noGrp="1"/>
          </p:cNvSpPr>
          <p:nvPr>
            <p:ph idx="1"/>
          </p:nvPr>
        </p:nvSpPr>
        <p:spPr/>
        <p:txBody>
          <a:bodyPr/>
          <a:lstStyle/>
          <a:p>
            <a:pPr marL="0" indent="0" algn="just">
              <a:buNone/>
            </a:pPr>
            <a:r>
              <a:rPr lang="en-US" sz="1600" dirty="0"/>
              <a:t>Think of the </a:t>
            </a:r>
            <a:r>
              <a:rPr lang="en-US" sz="1600" b="1" dirty="0"/>
              <a:t>encoder</a:t>
            </a:r>
            <a:r>
              <a:rPr lang="en-US" sz="1600" dirty="0"/>
              <a:t> as a “translator” that takes raw input (like a sentence or piece of text) and turns it into something the machine can understand — like a condensed summary or code. The encoder doesn’t produce a final result (like a translation or answer) but instead creates a blueprint or map with which the system can work.</a:t>
            </a:r>
          </a:p>
          <a:p>
            <a:pPr marL="0" indent="0" algn="just">
              <a:buNone/>
            </a:pPr>
            <a:r>
              <a:rPr lang="en-US" sz="1600" dirty="0"/>
              <a:t>For example, in language translation:</a:t>
            </a:r>
          </a:p>
          <a:p>
            <a:pPr marL="0" indent="0" algn="just">
              <a:buNone/>
            </a:pPr>
            <a:r>
              <a:rPr lang="en-US" sz="1600" dirty="0"/>
              <a:t>The encoder reads a sentence in English, understands its meaning, and converts it into an internal format (a bunch of numbers) that the machine can manipulate.</a:t>
            </a:r>
          </a:p>
        </p:txBody>
      </p:sp>
      <p:sp>
        <p:nvSpPr>
          <p:cNvPr id="4" name="Date Placeholder 3">
            <a:extLst>
              <a:ext uri="{FF2B5EF4-FFF2-40B4-BE49-F238E27FC236}">
                <a16:creationId xmlns:a16="http://schemas.microsoft.com/office/drawing/2014/main" id="{63861CB2-C437-C431-16D5-37E19A76A55F}"/>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C6B4D0AF-5757-EA22-F7C2-007B1B568AB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DC27EEB-5101-DC5A-BA0A-9B4239750385}"/>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3914727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A52AC-FA76-CAA1-3990-2619433C1D99}"/>
              </a:ext>
            </a:extLst>
          </p:cNvPr>
          <p:cNvSpPr>
            <a:spLocks noGrp="1"/>
          </p:cNvSpPr>
          <p:nvPr>
            <p:ph type="title"/>
          </p:nvPr>
        </p:nvSpPr>
        <p:spPr/>
        <p:txBody>
          <a:bodyPr/>
          <a:lstStyle/>
          <a:p>
            <a:r>
              <a:rPr lang="en-US" dirty="0"/>
              <a:t>Decoder</a:t>
            </a:r>
            <a:endParaRPr lang="en-IN" dirty="0"/>
          </a:p>
        </p:txBody>
      </p:sp>
      <p:sp>
        <p:nvSpPr>
          <p:cNvPr id="3" name="Content Placeholder 2">
            <a:extLst>
              <a:ext uri="{FF2B5EF4-FFF2-40B4-BE49-F238E27FC236}">
                <a16:creationId xmlns:a16="http://schemas.microsoft.com/office/drawing/2014/main" id="{4AC8F357-8A8F-F3F8-4764-92C7B65026D2}"/>
              </a:ext>
            </a:extLst>
          </p:cNvPr>
          <p:cNvSpPr>
            <a:spLocks noGrp="1"/>
          </p:cNvSpPr>
          <p:nvPr>
            <p:ph idx="1"/>
          </p:nvPr>
        </p:nvSpPr>
        <p:spPr/>
        <p:txBody>
          <a:bodyPr/>
          <a:lstStyle/>
          <a:p>
            <a:pPr algn="just"/>
            <a:r>
              <a:rPr lang="en-US" sz="2400" dirty="0"/>
              <a:t>The </a:t>
            </a:r>
            <a:r>
              <a:rPr lang="en-US" sz="2400" b="1" dirty="0"/>
              <a:t>decoder</a:t>
            </a:r>
            <a:r>
              <a:rPr lang="en-US" sz="2400" dirty="0"/>
              <a:t> is like the “creator” that takes this encoded information and turns it into something useful — like an output sentence. So in our translation example:</a:t>
            </a:r>
          </a:p>
          <a:p>
            <a:pPr algn="just"/>
            <a:r>
              <a:rPr lang="en-US" sz="2400" dirty="0"/>
              <a:t>The decoder takes the encoded English sentence and turns it into a French sentence. It generates the translation word by word.</a:t>
            </a:r>
          </a:p>
          <a:p>
            <a:pPr algn="just"/>
            <a:r>
              <a:rPr lang="en-US" sz="2400" dirty="0"/>
              <a:t>The encoder is the brainy part that thinks, while the decoder is the hands-on part that does the actual talking (or writing).</a:t>
            </a:r>
          </a:p>
          <a:p>
            <a:pPr marL="0" indent="0" algn="just">
              <a:buNone/>
            </a:pPr>
            <a:endParaRPr lang="en-IN" sz="2400" dirty="0"/>
          </a:p>
        </p:txBody>
      </p:sp>
      <p:sp>
        <p:nvSpPr>
          <p:cNvPr id="4" name="Date Placeholder 3">
            <a:extLst>
              <a:ext uri="{FF2B5EF4-FFF2-40B4-BE49-F238E27FC236}">
                <a16:creationId xmlns:a16="http://schemas.microsoft.com/office/drawing/2014/main" id="{7B5DE84A-6085-7C57-8920-9ADC730FA6D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16ECDD5-530E-BE90-B340-1BCDB93E3BA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1EAD700-EA60-668C-B258-8367277CD95C}"/>
              </a:ext>
            </a:extLst>
          </p:cNvPr>
          <p:cNvSpPr>
            <a:spLocks noGrp="1"/>
          </p:cNvSpPr>
          <p:nvPr>
            <p:ph type="sldNum" sz="quarter" idx="12"/>
          </p:nvPr>
        </p:nvSpPr>
        <p:spPr/>
        <p:txBody>
          <a:bodyPr/>
          <a:lstStyle/>
          <a:p>
            <a:fld id="{BB2CE0DE-867F-455F-B20B-96D381B4AB71}" type="slidenum">
              <a:rPr lang="en-US" smtClean="0"/>
              <a:t>30</a:t>
            </a:fld>
            <a:endParaRPr lang="en-US"/>
          </a:p>
        </p:txBody>
      </p:sp>
    </p:spTree>
    <p:extLst>
      <p:ext uri="{BB962C8B-B14F-4D97-AF65-F5344CB8AC3E}">
        <p14:creationId xmlns:p14="http://schemas.microsoft.com/office/powerpoint/2010/main" val="2102632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170BB-6077-E3C6-A367-76960059A0AB}"/>
              </a:ext>
            </a:extLst>
          </p:cNvPr>
          <p:cNvSpPr>
            <a:spLocks noGrp="1"/>
          </p:cNvSpPr>
          <p:nvPr>
            <p:ph type="title"/>
          </p:nvPr>
        </p:nvSpPr>
        <p:spPr/>
        <p:txBody>
          <a:bodyPr/>
          <a:lstStyle/>
          <a:p>
            <a:r>
              <a:rPr lang="en-IN" dirty="0"/>
              <a:t>Transformers</a:t>
            </a:r>
          </a:p>
        </p:txBody>
      </p:sp>
      <p:sp>
        <p:nvSpPr>
          <p:cNvPr id="3" name="Content Placeholder 2">
            <a:extLst>
              <a:ext uri="{FF2B5EF4-FFF2-40B4-BE49-F238E27FC236}">
                <a16:creationId xmlns:a16="http://schemas.microsoft.com/office/drawing/2014/main" id="{1AA813F2-AA5A-09D9-716B-E36BAC62A486}"/>
              </a:ext>
            </a:extLst>
          </p:cNvPr>
          <p:cNvSpPr>
            <a:spLocks noGrp="1"/>
          </p:cNvSpPr>
          <p:nvPr>
            <p:ph idx="1"/>
          </p:nvPr>
        </p:nvSpPr>
        <p:spPr/>
        <p:txBody>
          <a:bodyPr/>
          <a:lstStyle/>
          <a:p>
            <a:pPr algn="just"/>
            <a:r>
              <a:rPr lang="en-US" sz="1400" b="1" dirty="0"/>
              <a:t>Transformers</a:t>
            </a:r>
            <a:r>
              <a:rPr lang="en-US" sz="1400" dirty="0"/>
              <a:t> are a new, super-powerful way of handling language. Instead of working word by word (like older models), transformers look at everything simultaneously. This means they can understand the relationships between words much better, especially in longer sentences or paragraphs.</a:t>
            </a:r>
          </a:p>
          <a:p>
            <a:pPr algn="just"/>
            <a:r>
              <a:rPr lang="en-US" sz="1400" dirty="0"/>
              <a:t>Transformers work using </a:t>
            </a:r>
            <a:r>
              <a:rPr lang="en-US" sz="1400" b="1" dirty="0"/>
              <a:t>attention</a:t>
            </a:r>
            <a:r>
              <a:rPr lang="en-US" sz="1400" dirty="0"/>
              <a:t>, which means they focus more on the essential parts of the text. If you’re reading a sentence like “I went to the store because I needed milk,” the transformer might focus on “store” and “milk” to understand the main idea. It doesn’t waste time on unimportant words like “I” and “to.”</a:t>
            </a:r>
          </a:p>
          <a:p>
            <a:pPr marL="0" indent="0" algn="just">
              <a:buNone/>
            </a:pPr>
            <a:endParaRPr lang="en-US" sz="1400" dirty="0"/>
          </a:p>
          <a:p>
            <a:pPr marL="0" indent="0" algn="just">
              <a:buNone/>
            </a:pPr>
            <a:r>
              <a:rPr lang="en-US" sz="1400" dirty="0"/>
              <a:t>There are two main types:</a:t>
            </a:r>
          </a:p>
          <a:p>
            <a:pPr algn="just"/>
            <a:r>
              <a:rPr lang="en-US" sz="1400" b="1" dirty="0"/>
              <a:t>Encoder-Decoder Models</a:t>
            </a:r>
            <a:r>
              <a:rPr lang="en-US" sz="1400" dirty="0"/>
              <a:t>: These use both an encoder and a decoder. The encoder figures out what’s going on in the input, and the decoder turns that understanding into something useful (like a translation or a summary). Examples include </a:t>
            </a:r>
            <a:r>
              <a:rPr lang="en-US" sz="1400" b="1" dirty="0"/>
              <a:t>T5</a:t>
            </a:r>
            <a:r>
              <a:rPr lang="en-US" sz="1400" dirty="0"/>
              <a:t> and </a:t>
            </a:r>
            <a:r>
              <a:rPr lang="en-US" sz="1400" b="1" dirty="0"/>
              <a:t>BART</a:t>
            </a:r>
            <a:r>
              <a:rPr lang="en-US" sz="1400" dirty="0"/>
              <a:t>.</a:t>
            </a:r>
          </a:p>
          <a:p>
            <a:pPr algn="just"/>
            <a:r>
              <a:rPr lang="en-US" sz="1400" b="1" dirty="0"/>
              <a:t>Decoder-only Models</a:t>
            </a:r>
            <a:r>
              <a:rPr lang="en-US" sz="1400" dirty="0"/>
              <a:t>: These are mainly used for generating text. They don’t have a separate encoder; instead, the decoder does all the work, using previously generated words to predict the next ones. This is how </a:t>
            </a:r>
            <a:r>
              <a:rPr lang="en-US" sz="1400" b="1" dirty="0"/>
              <a:t>GPT</a:t>
            </a:r>
            <a:r>
              <a:rPr lang="en-US" sz="1400" dirty="0"/>
              <a:t> works and why it’s good at generating human-like text.</a:t>
            </a:r>
          </a:p>
          <a:p>
            <a:pPr marL="0" indent="0" algn="just">
              <a:buNone/>
            </a:pPr>
            <a:endParaRPr lang="en-IN" sz="1400" dirty="0"/>
          </a:p>
        </p:txBody>
      </p:sp>
      <p:sp>
        <p:nvSpPr>
          <p:cNvPr id="4" name="Date Placeholder 3">
            <a:extLst>
              <a:ext uri="{FF2B5EF4-FFF2-40B4-BE49-F238E27FC236}">
                <a16:creationId xmlns:a16="http://schemas.microsoft.com/office/drawing/2014/main" id="{9C6ACEAC-548B-D07E-DDC9-597C2EDF8FAF}"/>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0B55FD4E-678A-BE56-6FFD-8D81263203E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ABEA32D-DFA5-6A57-C635-4AD0D70DDDA5}"/>
              </a:ext>
            </a:extLst>
          </p:cNvPr>
          <p:cNvSpPr>
            <a:spLocks noGrp="1"/>
          </p:cNvSpPr>
          <p:nvPr>
            <p:ph type="sldNum" sz="quarter" idx="12"/>
          </p:nvPr>
        </p:nvSpPr>
        <p:spPr/>
        <p:txBody>
          <a:bodyPr/>
          <a:lstStyle/>
          <a:p>
            <a:fld id="{BB2CE0DE-867F-455F-B20B-96D381B4AB71}" type="slidenum">
              <a:rPr lang="en-US" smtClean="0"/>
              <a:t>31</a:t>
            </a:fld>
            <a:endParaRPr lang="en-US"/>
          </a:p>
        </p:txBody>
      </p:sp>
    </p:spTree>
    <p:extLst>
      <p:ext uri="{BB962C8B-B14F-4D97-AF65-F5344CB8AC3E}">
        <p14:creationId xmlns:p14="http://schemas.microsoft.com/office/powerpoint/2010/main" val="224893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80E6A-9D7E-E856-E11D-91CA96CF52CC}"/>
              </a:ext>
            </a:extLst>
          </p:cNvPr>
          <p:cNvSpPr>
            <a:spLocks noGrp="1"/>
          </p:cNvSpPr>
          <p:nvPr>
            <p:ph type="title"/>
          </p:nvPr>
        </p:nvSpPr>
        <p:spPr/>
        <p:txBody>
          <a:bodyPr/>
          <a:lstStyle/>
          <a:p>
            <a:r>
              <a:rPr lang="en-IN" dirty="0"/>
              <a:t>Non-Transformational Models</a:t>
            </a:r>
          </a:p>
        </p:txBody>
      </p:sp>
      <p:sp>
        <p:nvSpPr>
          <p:cNvPr id="3" name="Content Placeholder 2">
            <a:extLst>
              <a:ext uri="{FF2B5EF4-FFF2-40B4-BE49-F238E27FC236}">
                <a16:creationId xmlns:a16="http://schemas.microsoft.com/office/drawing/2014/main" id="{A90D135F-27FA-4CCB-8407-5673BCE782BA}"/>
              </a:ext>
            </a:extLst>
          </p:cNvPr>
          <p:cNvSpPr>
            <a:spLocks noGrp="1"/>
          </p:cNvSpPr>
          <p:nvPr>
            <p:ph idx="1"/>
          </p:nvPr>
        </p:nvSpPr>
        <p:spPr/>
        <p:txBody>
          <a:bodyPr/>
          <a:lstStyle/>
          <a:p>
            <a:pPr algn="just"/>
            <a:r>
              <a:rPr lang="en-US" sz="1600" dirty="0"/>
              <a:t>Before transformers, there were older models like </a:t>
            </a:r>
            <a:r>
              <a:rPr lang="en-US" sz="1600" b="1" dirty="0"/>
              <a:t>Recurrent Neural Networks (RNNs)</a:t>
            </a:r>
            <a:r>
              <a:rPr lang="en-US" sz="1600" dirty="0"/>
              <a:t> and </a:t>
            </a:r>
            <a:r>
              <a:rPr lang="en-US" sz="1600" b="1" dirty="0"/>
              <a:t>LSTMs</a:t>
            </a:r>
            <a:r>
              <a:rPr lang="en-US" sz="1600" dirty="0"/>
              <a:t>. These models processed language more step-by-step, handling each word in a sequence one at a time. The problem with these models is that they struggled to remember things when sentences got long.</a:t>
            </a:r>
          </a:p>
          <a:p>
            <a:pPr algn="just"/>
            <a:r>
              <a:rPr lang="en-US" sz="1600" b="1" dirty="0"/>
              <a:t>RNNs</a:t>
            </a:r>
            <a:r>
              <a:rPr lang="en-US" sz="1600" dirty="0"/>
              <a:t>: These models try to remember the previous words as they process each new word, but if the sentence is too long, they kind of “forget” important information.</a:t>
            </a:r>
          </a:p>
          <a:p>
            <a:pPr algn="just"/>
            <a:r>
              <a:rPr lang="en-US" sz="1600" b="1" dirty="0"/>
              <a:t>LSTMs</a:t>
            </a:r>
            <a:r>
              <a:rPr lang="en-US" sz="1600" dirty="0"/>
              <a:t>: A bit better at remembering, but still not as good as transformers.</a:t>
            </a:r>
          </a:p>
          <a:p>
            <a:pPr algn="just"/>
            <a:r>
              <a:rPr lang="en-US" sz="1600" dirty="0"/>
              <a:t>The key difference is that transformers look at the entire sentence (or even the entire paragraph) at once, so they don’t forget things like RNNs and LSTMs tend to.</a:t>
            </a:r>
          </a:p>
          <a:p>
            <a:pPr marL="0" indent="0" algn="just">
              <a:buNone/>
            </a:pPr>
            <a:endParaRPr lang="en-IN" sz="1600" dirty="0"/>
          </a:p>
        </p:txBody>
      </p:sp>
      <p:sp>
        <p:nvSpPr>
          <p:cNvPr id="4" name="Date Placeholder 3">
            <a:extLst>
              <a:ext uri="{FF2B5EF4-FFF2-40B4-BE49-F238E27FC236}">
                <a16:creationId xmlns:a16="http://schemas.microsoft.com/office/drawing/2014/main" id="{E35B7D3E-9D2F-E5A8-1252-0A3DD98EE79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47EFC69F-F113-17FE-8368-D169E2A2683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26E6066-FAC4-0A14-DAE8-E704A37ED0D8}"/>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3170145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B98B-F2D3-507F-E4EA-27035524536E}"/>
              </a:ext>
            </a:extLst>
          </p:cNvPr>
          <p:cNvSpPr>
            <a:spLocks noGrp="1"/>
          </p:cNvSpPr>
          <p:nvPr>
            <p:ph type="title"/>
          </p:nvPr>
        </p:nvSpPr>
        <p:spPr/>
        <p:txBody>
          <a:bodyPr/>
          <a:lstStyle/>
          <a:p>
            <a:r>
              <a:rPr lang="en-US" dirty="0"/>
              <a:t>To Summarize </a:t>
            </a:r>
            <a:endParaRPr lang="en-IN" dirty="0"/>
          </a:p>
        </p:txBody>
      </p:sp>
      <p:sp>
        <p:nvSpPr>
          <p:cNvPr id="3" name="Content Placeholder 2">
            <a:extLst>
              <a:ext uri="{FF2B5EF4-FFF2-40B4-BE49-F238E27FC236}">
                <a16:creationId xmlns:a16="http://schemas.microsoft.com/office/drawing/2014/main" id="{15995F81-CF05-A777-6283-8482C6FF8196}"/>
              </a:ext>
            </a:extLst>
          </p:cNvPr>
          <p:cNvSpPr>
            <a:spLocks noGrp="1"/>
          </p:cNvSpPr>
          <p:nvPr>
            <p:ph idx="1"/>
          </p:nvPr>
        </p:nvSpPr>
        <p:spPr/>
        <p:txBody>
          <a:bodyPr/>
          <a:lstStyle/>
          <a:p>
            <a:pPr algn="just"/>
            <a:r>
              <a:rPr lang="en-US" sz="1600" b="1" i="1" kern="1200" dirty="0">
                <a:solidFill>
                  <a:schemeClr val="tx1"/>
                </a:solidFill>
              </a:rPr>
              <a:t>Encoder</a:t>
            </a:r>
            <a:r>
              <a:rPr lang="en-US" sz="1600" i="1" kern="1200" dirty="0">
                <a:solidFill>
                  <a:schemeClr val="tx1"/>
                </a:solidFill>
              </a:rPr>
              <a:t>: Breaks down input into something the machine can understand.</a:t>
            </a:r>
          </a:p>
          <a:p>
            <a:pPr algn="just"/>
            <a:r>
              <a:rPr lang="en-US" sz="1600" b="1" i="1" kern="1200" dirty="0">
                <a:solidFill>
                  <a:schemeClr val="tx1"/>
                </a:solidFill>
              </a:rPr>
              <a:t>Decoder</a:t>
            </a:r>
            <a:r>
              <a:rPr lang="en-US" sz="1600" i="1" kern="1200" dirty="0">
                <a:solidFill>
                  <a:schemeClr val="tx1"/>
                </a:solidFill>
              </a:rPr>
              <a:t>: Takes that understanding and turns it into useful output (like a sentence or translation).</a:t>
            </a:r>
          </a:p>
          <a:p>
            <a:pPr algn="just"/>
            <a:r>
              <a:rPr lang="en-US" sz="1600" b="1" i="1" kern="1200" dirty="0">
                <a:solidFill>
                  <a:schemeClr val="tx1"/>
                </a:solidFill>
              </a:rPr>
              <a:t>Transformers</a:t>
            </a:r>
            <a:r>
              <a:rPr lang="en-US" sz="1600" i="1" kern="1200" dirty="0">
                <a:solidFill>
                  <a:schemeClr val="tx1"/>
                </a:solidFill>
              </a:rPr>
              <a:t>: Powerful models that handle language better by focusing on important words and processing everything at once.</a:t>
            </a:r>
          </a:p>
          <a:p>
            <a:pPr algn="just"/>
            <a:r>
              <a:rPr lang="en-US" sz="1600" b="1" i="1" kern="1200" dirty="0">
                <a:solidFill>
                  <a:schemeClr val="tx1"/>
                </a:solidFill>
              </a:rPr>
              <a:t>Non-Transformational Models</a:t>
            </a:r>
            <a:r>
              <a:rPr lang="en-US" sz="1600" i="1" kern="1200" dirty="0">
                <a:solidFill>
                  <a:schemeClr val="tx1"/>
                </a:solidFill>
              </a:rPr>
              <a:t>: Older models (like RNNs and LSTMs) that process text word by word, which can cause them to lose track of information in long sentences.</a:t>
            </a:r>
          </a:p>
          <a:p>
            <a:pPr marL="0" indent="0" algn="just">
              <a:buNone/>
            </a:pPr>
            <a:r>
              <a:rPr lang="en-US" sz="1600" b="1" kern="1200" dirty="0">
                <a:solidFill>
                  <a:schemeClr val="tx1"/>
                </a:solidFill>
              </a:rPr>
              <a:t>In layman’s terms-</a:t>
            </a:r>
            <a:endParaRPr lang="en-US" sz="1600" kern="1200" dirty="0">
              <a:solidFill>
                <a:schemeClr val="tx1"/>
              </a:solidFill>
            </a:endParaRPr>
          </a:p>
          <a:p>
            <a:pPr algn="just"/>
            <a:r>
              <a:rPr lang="en-US" sz="1600" b="1" kern="1200" dirty="0">
                <a:solidFill>
                  <a:schemeClr val="tx1"/>
                </a:solidFill>
              </a:rPr>
              <a:t>Encoder</a:t>
            </a:r>
            <a:r>
              <a:rPr lang="en-US" sz="1600" kern="1200" dirty="0">
                <a:solidFill>
                  <a:schemeClr val="tx1"/>
                </a:solidFill>
              </a:rPr>
              <a:t>: Like a chef who writes down a detailed recipe — organizing the ingredients and steps.</a:t>
            </a:r>
          </a:p>
          <a:p>
            <a:pPr algn="just"/>
            <a:r>
              <a:rPr lang="en-US" sz="1600" b="1" kern="1200" dirty="0">
                <a:solidFill>
                  <a:schemeClr val="tx1"/>
                </a:solidFill>
              </a:rPr>
              <a:t>Decoder</a:t>
            </a:r>
            <a:r>
              <a:rPr lang="en-US" sz="1600" kern="1200" dirty="0">
                <a:solidFill>
                  <a:schemeClr val="tx1"/>
                </a:solidFill>
              </a:rPr>
              <a:t>: Like the cook who follows the recipe and prepares the meal.</a:t>
            </a:r>
          </a:p>
          <a:p>
            <a:pPr algn="just"/>
            <a:r>
              <a:rPr lang="en-US" sz="1600" b="1" kern="1200" dirty="0">
                <a:solidFill>
                  <a:schemeClr val="tx1"/>
                </a:solidFill>
              </a:rPr>
              <a:t>Transformer</a:t>
            </a:r>
            <a:r>
              <a:rPr lang="en-US" sz="1600" kern="1200" dirty="0">
                <a:solidFill>
                  <a:schemeClr val="tx1"/>
                </a:solidFill>
              </a:rPr>
              <a:t>: A master chef who can see all the ingredients at once and quickly decide what’s most important</a:t>
            </a:r>
          </a:p>
          <a:p>
            <a:pPr algn="just"/>
            <a:endParaRPr lang="en-IN" sz="1600" dirty="0"/>
          </a:p>
          <a:p>
            <a:pPr marL="0" indent="0" algn="just">
              <a:buNone/>
            </a:pPr>
            <a:endParaRPr lang="en-IN" sz="1600" dirty="0"/>
          </a:p>
        </p:txBody>
      </p:sp>
      <p:sp>
        <p:nvSpPr>
          <p:cNvPr id="4" name="Date Placeholder 3">
            <a:extLst>
              <a:ext uri="{FF2B5EF4-FFF2-40B4-BE49-F238E27FC236}">
                <a16:creationId xmlns:a16="http://schemas.microsoft.com/office/drawing/2014/main" id="{0BC96195-C823-67E7-3B32-40A7E88A3DF2}"/>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1EF094F-9485-F4A7-0D91-42B0B6CF6AE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3AC3C23-3570-9B16-B7C8-8EFBCA372241}"/>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3213789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BERT (Bidirectional Encoder Representations from Transformers)</a:t>
            </a:r>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34</a:t>
            </a:fld>
            <a:endParaRPr lang="en-US"/>
          </a:p>
        </p:txBody>
      </p:sp>
      <p:sp>
        <p:nvSpPr>
          <p:cNvPr id="7" name="TextBox 6"/>
          <p:cNvSpPr txBox="1"/>
          <p:nvPr/>
        </p:nvSpPr>
        <p:spPr>
          <a:xfrm>
            <a:off x="76200" y="1066800"/>
            <a:ext cx="9283311" cy="577081"/>
          </a:xfrm>
          <a:prstGeom prst="rect">
            <a:avLst/>
          </a:prstGeom>
          <a:noFill/>
        </p:spPr>
        <p:txBody>
          <a:bodyPr wrap="none" rtlCol="0">
            <a:spAutoFit/>
          </a:bodyPr>
          <a:lstStyle/>
          <a:p>
            <a:r>
              <a:rPr lang="en-IN" sz="1050" dirty="0"/>
              <a:t>Devlin, J., Chang, M.W., Lee, K. and </a:t>
            </a:r>
            <a:r>
              <a:rPr lang="en-IN" sz="1050" dirty="0" err="1"/>
              <a:t>Toutanova</a:t>
            </a:r>
            <a:r>
              <a:rPr lang="en-IN" sz="1050" dirty="0"/>
              <a:t>, K., 2019, June. Bert: Pre-training of deep bidirectional transformers for language</a:t>
            </a:r>
          </a:p>
          <a:p>
            <a:r>
              <a:rPr lang="en-IN" sz="1050" dirty="0"/>
              <a:t>understanding. In </a:t>
            </a:r>
            <a:r>
              <a:rPr lang="en-IN" sz="1050" i="1" dirty="0"/>
              <a:t>Proceedings of the 2019 conference of the North American chapter of the association for computational linguistics: </a:t>
            </a:r>
          </a:p>
          <a:p>
            <a:r>
              <a:rPr lang="en-IN" sz="1050" i="1" dirty="0"/>
              <a:t>human language technologies, volume 1 (long and short papers)</a:t>
            </a:r>
            <a:r>
              <a:rPr lang="en-IN" sz="1050" dirty="0"/>
              <a:t> (pp. 4171-4186).</a:t>
            </a:r>
          </a:p>
        </p:txBody>
      </p:sp>
      <p:pic>
        <p:nvPicPr>
          <p:cNvPr id="8" name="Picture 7"/>
          <p:cNvPicPr>
            <a:picLocks noChangeAspect="1"/>
          </p:cNvPicPr>
          <p:nvPr/>
        </p:nvPicPr>
        <p:blipFill>
          <a:blip r:embed="rId2"/>
          <a:stretch>
            <a:fillRect/>
          </a:stretch>
        </p:blipFill>
        <p:spPr>
          <a:xfrm>
            <a:off x="1447800" y="1643881"/>
            <a:ext cx="5791200" cy="4465776"/>
          </a:xfrm>
          <a:prstGeom prst="rect">
            <a:avLst/>
          </a:prstGeom>
        </p:spPr>
      </p:pic>
    </p:spTree>
    <p:extLst>
      <p:ext uri="{BB962C8B-B14F-4D97-AF65-F5344CB8AC3E}">
        <p14:creationId xmlns:p14="http://schemas.microsoft.com/office/powerpoint/2010/main" val="2708482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600" dirty="0"/>
              <a:t>Traditional Language Models vs BERT in “Understanding Human Language”</a:t>
            </a:r>
          </a:p>
        </p:txBody>
      </p:sp>
      <p:sp>
        <p:nvSpPr>
          <p:cNvPr id="3" name="Content Placeholder 2"/>
          <p:cNvSpPr>
            <a:spLocks noGrp="1"/>
          </p:cNvSpPr>
          <p:nvPr>
            <p:ph idx="1"/>
          </p:nvPr>
        </p:nvSpPr>
        <p:spPr/>
        <p:txBody>
          <a:bodyPr/>
          <a:lstStyle/>
          <a:p>
            <a:pPr marL="0" indent="0" algn="just">
              <a:buNone/>
            </a:pPr>
            <a:r>
              <a:rPr lang="en-IN" sz="1400" b="1" dirty="0"/>
              <a:t>Traditional LM: </a:t>
            </a:r>
          </a:p>
          <a:p>
            <a:pPr marL="0" indent="0" algn="just">
              <a:buNone/>
            </a:pPr>
            <a:r>
              <a:rPr lang="en-IN" sz="1400" dirty="0"/>
              <a:t>Unidirectional Context: Traditional models like GPT and LSTM read left-to-right (or right-to-left), so they don’t see future words when predicting the current word. This leads to incomplete understanding of sentence context.</a:t>
            </a:r>
          </a:p>
          <a:p>
            <a:pPr marL="0" indent="0" algn="just">
              <a:buNone/>
            </a:pPr>
            <a:r>
              <a:rPr lang="en-IN" sz="1400" dirty="0"/>
              <a:t>Static Word </a:t>
            </a:r>
            <a:r>
              <a:rPr lang="en-IN" sz="1400" dirty="0" err="1"/>
              <a:t>Embeddings</a:t>
            </a:r>
            <a:r>
              <a:rPr lang="en-IN" sz="1400" dirty="0"/>
              <a:t>: Earlier models used </a:t>
            </a:r>
            <a:r>
              <a:rPr lang="en-IN" sz="1400" dirty="0" err="1"/>
              <a:t>embeddings</a:t>
            </a:r>
            <a:r>
              <a:rPr lang="en-IN" sz="1400" dirty="0"/>
              <a:t> like Word2Vec, which give the same vector for a word regardless of context (e.g., "bank" in "river bank" vs "money bank").</a:t>
            </a:r>
          </a:p>
          <a:p>
            <a:pPr marL="0" indent="0" algn="just">
              <a:buNone/>
            </a:pPr>
            <a:endParaRPr lang="en-IN" sz="1400" dirty="0"/>
          </a:p>
          <a:p>
            <a:pPr marL="0" indent="0" algn="just">
              <a:buNone/>
            </a:pPr>
            <a:r>
              <a:rPr lang="en-IN" sz="1400" b="1" dirty="0"/>
              <a:t>BERT: </a:t>
            </a:r>
          </a:p>
          <a:p>
            <a:pPr marL="0" indent="0" algn="just">
              <a:buNone/>
            </a:pPr>
            <a:r>
              <a:rPr lang="en-IN" sz="1400" dirty="0"/>
              <a:t>Bidirectional Contextual Understanding: BERT uses a deep bidirectional transformer encoder that considers both left and right context at once using Masked Language </a:t>
            </a:r>
            <a:r>
              <a:rPr lang="en-IN" sz="1400" dirty="0" err="1"/>
              <a:t>Modeling</a:t>
            </a:r>
            <a:r>
              <a:rPr lang="en-IN" sz="1400" dirty="0"/>
              <a:t> (MLM). This allows it to understand the full context of a word in a sentence.</a:t>
            </a:r>
          </a:p>
          <a:p>
            <a:pPr marL="0" indent="0" algn="just">
              <a:buNone/>
            </a:pPr>
            <a:r>
              <a:rPr lang="en-IN" sz="1400" dirty="0"/>
              <a:t>Contextualized Word </a:t>
            </a:r>
            <a:r>
              <a:rPr lang="en-IN" sz="1400" dirty="0" err="1"/>
              <a:t>Embeddings</a:t>
            </a:r>
            <a:r>
              <a:rPr lang="en-IN" sz="1400" dirty="0"/>
              <a:t>: BERT generates different </a:t>
            </a:r>
            <a:r>
              <a:rPr lang="en-IN" sz="1400" dirty="0" err="1"/>
              <a:t>embeddings</a:t>
            </a:r>
            <a:r>
              <a:rPr lang="en-IN" sz="1400" dirty="0"/>
              <a:t> for the same word based on its sentence context, improving semantic understanding.</a:t>
            </a:r>
          </a:p>
          <a:p>
            <a:pPr marL="0" indent="0" algn="just">
              <a:buNone/>
            </a:pPr>
            <a:endParaRPr lang="en-IN" sz="1400" dirty="0"/>
          </a:p>
          <a:p>
            <a:pPr marL="0" indent="0">
              <a:buNone/>
            </a:pPr>
            <a:r>
              <a:rPr lang="en-IN" sz="1400" b="1" dirty="0"/>
              <a:t>Example</a:t>
            </a:r>
          </a:p>
          <a:p>
            <a:pPr marL="0" indent="0">
              <a:buNone/>
            </a:pPr>
            <a:r>
              <a:rPr lang="en-IN" sz="1400" dirty="0"/>
              <a:t>Traditional LM:</a:t>
            </a:r>
            <a:br>
              <a:rPr lang="en-IN" sz="1400" dirty="0"/>
            </a:br>
            <a:r>
              <a:rPr lang="en-IN" sz="1400" dirty="0"/>
              <a:t>Predict "bank" in “He sat by the ___” → only sees left context.</a:t>
            </a:r>
          </a:p>
          <a:p>
            <a:pPr marL="0" indent="0">
              <a:buNone/>
            </a:pPr>
            <a:r>
              <a:rPr lang="en-IN" sz="1400" dirty="0"/>
              <a:t>BERT:</a:t>
            </a:r>
            <a:br>
              <a:rPr lang="en-IN" sz="1400" dirty="0"/>
            </a:br>
            <a:r>
              <a:rPr lang="en-IN" sz="1400" dirty="0"/>
              <a:t>Sees </a:t>
            </a:r>
            <a:r>
              <a:rPr lang="en-IN" sz="1400" b="1" dirty="0"/>
              <a:t>both sides</a:t>
            </a:r>
            <a:r>
              <a:rPr lang="en-IN" sz="1400" dirty="0"/>
              <a:t> (“He sat by the ___ of the river”) → learns correct meaning of “bank”.</a:t>
            </a:r>
          </a:p>
          <a:p>
            <a:endParaRPr lang="en-IN" sz="1400" dirty="0"/>
          </a:p>
          <a:p>
            <a:pPr marL="0" indent="0" algn="just">
              <a:buNone/>
            </a:pPr>
            <a:endParaRPr lang="en-IN" sz="1400" dirty="0"/>
          </a:p>
          <a:p>
            <a:pPr algn="just"/>
            <a:endParaRPr lang="en-IN" sz="1400" dirty="0"/>
          </a:p>
          <a:p>
            <a:pPr marL="0" indent="0" algn="just">
              <a:buNone/>
            </a:pPr>
            <a:endParaRPr lang="en-IN" sz="1400" dirty="0"/>
          </a:p>
          <a:p>
            <a:pPr marL="0" indent="0" algn="just">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1074648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BERT</a:t>
            </a:r>
          </a:p>
        </p:txBody>
      </p:sp>
      <p:sp>
        <p:nvSpPr>
          <p:cNvPr id="3" name="Content Placeholder 2"/>
          <p:cNvSpPr>
            <a:spLocks noGrp="1"/>
          </p:cNvSpPr>
          <p:nvPr>
            <p:ph idx="1"/>
          </p:nvPr>
        </p:nvSpPr>
        <p:spPr/>
        <p:txBody>
          <a:bodyPr/>
          <a:lstStyle/>
          <a:p>
            <a:pPr marL="0" indent="0" algn="just">
              <a:buNone/>
            </a:pPr>
            <a:r>
              <a:rPr lang="en-IN" sz="1600" b="1" dirty="0"/>
              <a:t>BERT </a:t>
            </a:r>
            <a:r>
              <a:rPr lang="en-IN" sz="1600" dirty="0"/>
              <a:t>(</a:t>
            </a:r>
            <a:r>
              <a:rPr lang="en-IN" sz="1600" b="1" dirty="0"/>
              <a:t>Bidirectional Encoder Representations from Transformers) </a:t>
            </a:r>
            <a:r>
              <a:rPr lang="en-IN" sz="1600" dirty="0"/>
              <a:t>stands as an open-source </a:t>
            </a:r>
            <a:r>
              <a:rPr lang="en-IN" sz="1600" b="1" dirty="0"/>
              <a:t>machine learning framework </a:t>
            </a:r>
            <a:r>
              <a:rPr lang="en-IN" sz="1600" dirty="0"/>
              <a:t>designed for the </a:t>
            </a:r>
            <a:r>
              <a:rPr lang="en-IN" sz="1600" b="1" dirty="0"/>
              <a:t>natural language processing (NLP)</a:t>
            </a:r>
            <a:r>
              <a:rPr lang="en-IN" sz="1600" dirty="0"/>
              <a:t>. Originating in 2018, this framework was crafted by researchers from Google AI Language.</a:t>
            </a:r>
          </a:p>
          <a:p>
            <a:pPr marL="0" indent="0" algn="just">
              <a:buNone/>
            </a:pPr>
            <a:r>
              <a:rPr lang="en-IN" sz="1600" dirty="0"/>
              <a:t> BERT employs an encoder-only architecture. </a:t>
            </a:r>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1492347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lgn="just">
              <a:buNone/>
            </a:pPr>
            <a:r>
              <a:rPr lang="en-IN" sz="2000" kern="1200" dirty="0">
                <a:solidFill>
                  <a:schemeClr val="tx1"/>
                </a:solidFill>
              </a:rPr>
              <a:t>The BERT model undergoes a two-step process:</a:t>
            </a:r>
          </a:p>
          <a:p>
            <a:pPr algn="just"/>
            <a:r>
              <a:rPr lang="en-IN" sz="2000" b="1" kern="1200" dirty="0">
                <a:solidFill>
                  <a:srgbClr val="FF00FF"/>
                </a:solidFill>
              </a:rPr>
              <a:t>Pre-training</a:t>
            </a:r>
            <a:r>
              <a:rPr lang="en-IN" sz="2000" kern="1200" dirty="0">
                <a:solidFill>
                  <a:schemeClr val="tx1"/>
                </a:solidFill>
              </a:rPr>
              <a:t> on Large amounts of </a:t>
            </a:r>
            <a:r>
              <a:rPr lang="en-IN" sz="2000" kern="1200" dirty="0" err="1">
                <a:solidFill>
                  <a:srgbClr val="FF00FF"/>
                </a:solidFill>
              </a:rPr>
              <a:t>unlabeled</a:t>
            </a:r>
            <a:r>
              <a:rPr lang="en-IN" sz="2000" kern="1200" dirty="0">
                <a:solidFill>
                  <a:schemeClr val="tx1"/>
                </a:solidFill>
              </a:rPr>
              <a:t> text to learn contextual embeddings.</a:t>
            </a:r>
          </a:p>
          <a:p>
            <a:pPr algn="just"/>
            <a:r>
              <a:rPr lang="en-IN" sz="2000" b="1" kern="1200" dirty="0">
                <a:solidFill>
                  <a:srgbClr val="00B050"/>
                </a:solidFill>
              </a:rPr>
              <a:t>Fine-tuning</a:t>
            </a:r>
            <a:r>
              <a:rPr lang="en-IN" sz="2000" kern="1200" dirty="0">
                <a:solidFill>
                  <a:schemeClr val="tx1"/>
                </a:solidFill>
              </a:rPr>
              <a:t> on </a:t>
            </a:r>
            <a:r>
              <a:rPr lang="en-IN" sz="2000" kern="1200" dirty="0" err="1">
                <a:solidFill>
                  <a:srgbClr val="00B050"/>
                </a:solidFill>
              </a:rPr>
              <a:t>labeled</a:t>
            </a:r>
            <a:r>
              <a:rPr lang="en-IN" sz="2000" kern="1200" dirty="0">
                <a:solidFill>
                  <a:schemeClr val="tx1"/>
                </a:solidFill>
              </a:rPr>
              <a:t> data for specific NLP tasks.</a:t>
            </a:r>
          </a:p>
          <a:p>
            <a:pPr marL="0" indent="0">
              <a:buNone/>
            </a:pPr>
            <a:endParaRPr lang="en-IN" sz="2000" kern="1200" dirty="0">
              <a:solidFill>
                <a:schemeClr val="tx1"/>
              </a:solidFill>
            </a:endParaRPr>
          </a:p>
          <a:p>
            <a:pPr marL="0" indent="0">
              <a:buNone/>
            </a:pPr>
            <a:endParaRPr lang="en-IN" sz="20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3345463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lgn="just">
              <a:buNone/>
            </a:pPr>
            <a:r>
              <a:rPr lang="en-IN" sz="2000" kern="1200" dirty="0">
                <a:solidFill>
                  <a:schemeClr val="tx1"/>
                </a:solidFill>
              </a:rPr>
              <a:t>The BERT model undergoes a two-step process:</a:t>
            </a:r>
          </a:p>
          <a:p>
            <a:pPr algn="just"/>
            <a:r>
              <a:rPr lang="en-IN" sz="2000" b="1" kern="1200" dirty="0">
                <a:solidFill>
                  <a:srgbClr val="FF00FF"/>
                </a:solidFill>
              </a:rPr>
              <a:t>Pre-training</a:t>
            </a:r>
            <a:r>
              <a:rPr lang="en-IN" sz="2000" kern="1200" dirty="0">
                <a:solidFill>
                  <a:schemeClr val="tx1"/>
                </a:solidFill>
              </a:rPr>
              <a:t> on Large amounts of </a:t>
            </a:r>
            <a:r>
              <a:rPr lang="en-IN" sz="2000" kern="1200" dirty="0" err="1">
                <a:solidFill>
                  <a:srgbClr val="FF00FF"/>
                </a:solidFill>
              </a:rPr>
              <a:t>unlabeled</a:t>
            </a:r>
            <a:r>
              <a:rPr lang="en-IN" sz="2000" kern="1200" dirty="0">
                <a:solidFill>
                  <a:schemeClr val="tx1"/>
                </a:solidFill>
              </a:rPr>
              <a:t> text to learn contextual embeddings.</a:t>
            </a:r>
          </a:p>
          <a:p>
            <a:pPr algn="just"/>
            <a:r>
              <a:rPr lang="en-IN" sz="2000" b="1" kern="1200" dirty="0">
                <a:solidFill>
                  <a:srgbClr val="00B050"/>
                </a:solidFill>
              </a:rPr>
              <a:t>Fine-tuning</a:t>
            </a:r>
            <a:r>
              <a:rPr lang="en-IN" sz="2000" kern="1200" dirty="0">
                <a:solidFill>
                  <a:schemeClr val="tx1"/>
                </a:solidFill>
              </a:rPr>
              <a:t> on </a:t>
            </a:r>
            <a:r>
              <a:rPr lang="en-IN" sz="2000" kern="1200" dirty="0" err="1">
                <a:solidFill>
                  <a:srgbClr val="00B050"/>
                </a:solidFill>
              </a:rPr>
              <a:t>labeled</a:t>
            </a:r>
            <a:r>
              <a:rPr lang="en-IN" sz="2000" kern="1200" dirty="0">
                <a:solidFill>
                  <a:schemeClr val="tx1"/>
                </a:solidFill>
              </a:rPr>
              <a:t> data for specific NLP tasks.</a:t>
            </a:r>
          </a:p>
          <a:p>
            <a:pPr marL="0" indent="0">
              <a:buNone/>
            </a:pPr>
            <a:endParaRPr lang="en-IN" sz="2000" kern="1200" dirty="0">
              <a:solidFill>
                <a:schemeClr val="tx1"/>
              </a:solidFill>
            </a:endParaRPr>
          </a:p>
          <a:p>
            <a:pPr marL="0" indent="0">
              <a:buNone/>
            </a:pPr>
            <a:r>
              <a:rPr lang="en-IN" sz="2000" b="1" dirty="0"/>
              <a:t>Pre-Training on Large Data</a:t>
            </a:r>
          </a:p>
          <a:p>
            <a:pPr algn="just"/>
            <a:r>
              <a:rPr lang="en-IN" sz="1600" dirty="0"/>
              <a:t>BERT is pre-trained on large amount of </a:t>
            </a:r>
            <a:r>
              <a:rPr lang="en-IN" sz="1600" dirty="0" err="1"/>
              <a:t>unlabeled</a:t>
            </a:r>
            <a:r>
              <a:rPr lang="en-IN" sz="1600" dirty="0"/>
              <a:t> text data. The model learns </a:t>
            </a:r>
            <a:r>
              <a:rPr lang="en-IN" sz="1600" b="1" dirty="0"/>
              <a:t>contextual </a:t>
            </a:r>
            <a:r>
              <a:rPr lang="en-IN" sz="1600" b="1" dirty="0" err="1"/>
              <a:t>embeddings</a:t>
            </a:r>
            <a:r>
              <a:rPr lang="en-IN" sz="1600" dirty="0"/>
              <a:t>, which are the representations of words that take into account their surrounding context in a sentence.</a:t>
            </a:r>
          </a:p>
          <a:p>
            <a:pPr algn="just"/>
            <a:r>
              <a:rPr lang="en-IN" sz="1600" dirty="0"/>
              <a:t>BERT engages in various unsupervised pre-training tasks. For instance, it might learn to predict missing words in a sentence</a:t>
            </a:r>
            <a:r>
              <a:rPr lang="en-IN" sz="1600" b="1" dirty="0"/>
              <a:t> (Masked Language Model or MLM task)</a:t>
            </a:r>
            <a:r>
              <a:rPr lang="en-IN" sz="1600" dirty="0"/>
              <a:t>, understand the relationship between two sentences, or predict the next sentence in a pair.</a:t>
            </a:r>
          </a:p>
          <a:p>
            <a:pPr marL="0" indent="0">
              <a:buNone/>
            </a:pPr>
            <a:endParaRPr lang="en-IN" sz="2000" kern="1200" dirty="0">
              <a:solidFill>
                <a:schemeClr val="tx1"/>
              </a:solidFill>
            </a:endParaRPr>
          </a:p>
          <a:p>
            <a:pPr marL="0" indent="0">
              <a:buNone/>
            </a:pPr>
            <a:endParaRPr lang="en-IN" sz="20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4245082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lgn="just">
              <a:buNone/>
            </a:pPr>
            <a:r>
              <a:rPr lang="en-IN" sz="1600" kern="1200" dirty="0">
                <a:solidFill>
                  <a:schemeClr val="tx1"/>
                </a:solidFill>
              </a:rPr>
              <a:t>The BERT model undergoes a two-step process:</a:t>
            </a:r>
          </a:p>
          <a:p>
            <a:pPr algn="just"/>
            <a:r>
              <a:rPr lang="en-IN" sz="1600" b="1" kern="1200" dirty="0">
                <a:solidFill>
                  <a:srgbClr val="FF00FF"/>
                </a:solidFill>
              </a:rPr>
              <a:t>Pre-training</a:t>
            </a:r>
            <a:r>
              <a:rPr lang="en-IN" sz="1600" kern="1200" dirty="0">
                <a:solidFill>
                  <a:schemeClr val="tx1"/>
                </a:solidFill>
              </a:rPr>
              <a:t> on Large amounts of </a:t>
            </a:r>
            <a:r>
              <a:rPr lang="en-IN" sz="1600" kern="1200" dirty="0" err="1">
                <a:solidFill>
                  <a:srgbClr val="FF00FF"/>
                </a:solidFill>
              </a:rPr>
              <a:t>unlabeled</a:t>
            </a:r>
            <a:r>
              <a:rPr lang="en-IN" sz="1600" kern="1200" dirty="0">
                <a:solidFill>
                  <a:schemeClr val="tx1"/>
                </a:solidFill>
              </a:rPr>
              <a:t> text to learn contextual </a:t>
            </a:r>
            <a:r>
              <a:rPr lang="en-IN" sz="1600" kern="1200" dirty="0" err="1">
                <a:solidFill>
                  <a:schemeClr val="tx1"/>
                </a:solidFill>
              </a:rPr>
              <a:t>embeddings</a:t>
            </a:r>
            <a:r>
              <a:rPr lang="en-IN" sz="1600" kern="1200" dirty="0">
                <a:solidFill>
                  <a:schemeClr val="tx1"/>
                </a:solidFill>
              </a:rPr>
              <a:t>.</a:t>
            </a:r>
          </a:p>
          <a:p>
            <a:pPr algn="just"/>
            <a:r>
              <a:rPr lang="en-IN" sz="1600" b="1" kern="1200" dirty="0">
                <a:solidFill>
                  <a:srgbClr val="00B050"/>
                </a:solidFill>
              </a:rPr>
              <a:t>Fine-tuning</a:t>
            </a:r>
            <a:r>
              <a:rPr lang="en-IN" sz="1600" kern="1200" dirty="0">
                <a:solidFill>
                  <a:schemeClr val="tx1"/>
                </a:solidFill>
              </a:rPr>
              <a:t> on </a:t>
            </a:r>
            <a:r>
              <a:rPr lang="en-IN" sz="1600" kern="1200" dirty="0" err="1">
                <a:solidFill>
                  <a:srgbClr val="00B050"/>
                </a:solidFill>
              </a:rPr>
              <a:t>labeled</a:t>
            </a:r>
            <a:r>
              <a:rPr lang="en-IN" sz="1600" kern="1200" dirty="0">
                <a:solidFill>
                  <a:schemeClr val="tx1"/>
                </a:solidFill>
              </a:rPr>
              <a:t> data for specific NLP tasks.</a:t>
            </a:r>
          </a:p>
          <a:p>
            <a:pPr algn="just"/>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r>
              <a:rPr lang="en-IN" sz="1600" b="1" kern="1200" dirty="0">
                <a:solidFill>
                  <a:schemeClr val="tx1"/>
                </a:solidFill>
              </a:rPr>
              <a:t>Fine-Tuning on </a:t>
            </a:r>
            <a:r>
              <a:rPr lang="en-IN" sz="1600" b="1" kern="1200" dirty="0" err="1">
                <a:solidFill>
                  <a:schemeClr val="tx1"/>
                </a:solidFill>
              </a:rPr>
              <a:t>Labeled</a:t>
            </a:r>
            <a:r>
              <a:rPr lang="en-IN" sz="1600" b="1" kern="1200" dirty="0">
                <a:solidFill>
                  <a:schemeClr val="tx1"/>
                </a:solidFill>
              </a:rPr>
              <a:t> Data</a:t>
            </a:r>
          </a:p>
          <a:p>
            <a:pPr algn="just"/>
            <a:r>
              <a:rPr lang="en-IN" sz="1600" kern="1200" dirty="0">
                <a:solidFill>
                  <a:schemeClr val="tx1"/>
                </a:solidFill>
              </a:rPr>
              <a:t>After the pre-training phase, the BERT model, armed with its contextual </a:t>
            </a:r>
            <a:r>
              <a:rPr lang="en-IN" sz="1600" kern="1200" dirty="0" err="1">
                <a:solidFill>
                  <a:schemeClr val="tx1"/>
                </a:solidFill>
              </a:rPr>
              <a:t>embeddings</a:t>
            </a:r>
            <a:r>
              <a:rPr lang="en-IN" sz="1600" kern="1200" dirty="0">
                <a:solidFill>
                  <a:schemeClr val="tx1"/>
                </a:solidFill>
              </a:rPr>
              <a:t>, is then </a:t>
            </a:r>
            <a:r>
              <a:rPr lang="en-IN" sz="1600" kern="1200" dirty="0">
                <a:solidFill>
                  <a:srgbClr val="0000FF"/>
                </a:solidFill>
              </a:rPr>
              <a:t>fine-tuned for specific natural language processing (NLP) tasks. This step tailors the model to more targeted applications </a:t>
            </a:r>
            <a:r>
              <a:rPr lang="en-IN" sz="1600" kern="1200" dirty="0">
                <a:solidFill>
                  <a:schemeClr val="tx1"/>
                </a:solidFill>
              </a:rPr>
              <a:t>by adapting its general language understanding to the nuances of the particular task.</a:t>
            </a:r>
          </a:p>
          <a:p>
            <a:pPr algn="just"/>
            <a:r>
              <a:rPr lang="en-IN" sz="1600" kern="1200" dirty="0">
                <a:solidFill>
                  <a:schemeClr val="tx1"/>
                </a:solidFill>
              </a:rPr>
              <a:t>BERT is fine-tuned using </a:t>
            </a:r>
            <a:r>
              <a:rPr lang="en-IN" sz="1600" b="1" kern="1200" dirty="0" err="1">
                <a:solidFill>
                  <a:schemeClr val="tx1"/>
                </a:solidFill>
              </a:rPr>
              <a:t>labeled</a:t>
            </a:r>
            <a:r>
              <a:rPr lang="en-IN" sz="1600" b="1" kern="1200" dirty="0">
                <a:solidFill>
                  <a:schemeClr val="tx1"/>
                </a:solidFill>
              </a:rPr>
              <a:t> data </a:t>
            </a:r>
            <a:r>
              <a:rPr lang="en-IN" sz="1600" kern="1200" dirty="0">
                <a:solidFill>
                  <a:schemeClr val="tx1"/>
                </a:solidFill>
              </a:rPr>
              <a:t>specific to the downstream tasks of interest. These tasks could include </a:t>
            </a:r>
            <a:r>
              <a:rPr lang="en-IN" sz="1600" i="1" kern="1200" dirty="0">
                <a:solidFill>
                  <a:schemeClr val="tx1"/>
                </a:solidFill>
              </a:rPr>
              <a:t>sentiment analysis, question-answering, named entity recognition</a:t>
            </a:r>
            <a:r>
              <a:rPr lang="en-IN" sz="1600" kern="1200" dirty="0">
                <a:solidFill>
                  <a:schemeClr val="tx1"/>
                </a:solidFill>
              </a:rPr>
              <a:t>, or any other NLP application. The model's parameters are adjusted to optimize its performance for the particular requirements of the task at hand.</a:t>
            </a:r>
          </a:p>
          <a:p>
            <a:pPr algn="just"/>
            <a:endParaRPr lang="en-IN" sz="1600" dirty="0"/>
          </a:p>
          <a:p>
            <a:pPr marL="0" indent="0" algn="just">
              <a:buNone/>
            </a:pPr>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948078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893-DD3C-4E65-B859-F5B1D57C9D6E}"/>
              </a:ext>
            </a:extLst>
          </p:cNvPr>
          <p:cNvSpPr>
            <a:spLocks noGrp="1"/>
          </p:cNvSpPr>
          <p:nvPr>
            <p:ph type="title"/>
          </p:nvPr>
        </p:nvSpPr>
        <p:spPr/>
        <p:txBody>
          <a:bodyPr/>
          <a:lstStyle/>
          <a:p>
            <a:r>
              <a:rPr lang="en-US" dirty="0"/>
              <a:t>BERT: Bidirectional</a:t>
            </a:r>
            <a:endParaRPr lang="en-IN" dirty="0"/>
          </a:p>
        </p:txBody>
      </p:sp>
      <p:sp>
        <p:nvSpPr>
          <p:cNvPr id="3" name="Content Placeholder 2">
            <a:extLst>
              <a:ext uri="{FF2B5EF4-FFF2-40B4-BE49-F238E27FC236}">
                <a16:creationId xmlns:a16="http://schemas.microsoft.com/office/drawing/2014/main" id="{B6E45270-7BF6-4039-8B1B-D75D277921AC}"/>
              </a:ext>
            </a:extLst>
          </p:cNvPr>
          <p:cNvSpPr>
            <a:spLocks noGrp="1"/>
          </p:cNvSpPr>
          <p:nvPr>
            <p:ph idx="1"/>
          </p:nvPr>
        </p:nvSpPr>
        <p:spPr/>
        <p:txBody>
          <a:bodyPr/>
          <a:lstStyle/>
          <a:p>
            <a:pPr marL="0" indent="0" algn="just">
              <a:buNone/>
            </a:pPr>
            <a:r>
              <a:rPr lang="en-US" sz="1800" b="0" i="0" dirty="0">
                <a:solidFill>
                  <a:srgbClr val="242424"/>
                </a:solidFill>
                <a:effectLst/>
                <a:latin typeface="source-serif-pro"/>
              </a:rPr>
              <a:t>Language models could only read text input sequentially — either left-to-right or right-to-left — but couldn’t do both at the same time. BERT is different because it is designed to read in both directions at once. This capability, enabled by the introduction of Transformers, is known as bi-directionality.</a:t>
            </a:r>
          </a:p>
          <a:p>
            <a:pPr marL="0" indent="0" algn="just">
              <a:buNone/>
            </a:pPr>
            <a:endParaRPr lang="en-IN" sz="1800" dirty="0"/>
          </a:p>
        </p:txBody>
      </p:sp>
      <p:sp>
        <p:nvSpPr>
          <p:cNvPr id="4" name="Date Placeholder 3">
            <a:extLst>
              <a:ext uri="{FF2B5EF4-FFF2-40B4-BE49-F238E27FC236}">
                <a16:creationId xmlns:a16="http://schemas.microsoft.com/office/drawing/2014/main" id="{51F20E86-41EE-4476-BE16-3B36F4B9F4AF}"/>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838AF0D-F1CB-4138-AE49-55D9E4A49C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B939DDF-469D-4E3A-8072-4851A74B43B0}"/>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7" name="Picture 6">
            <a:extLst>
              <a:ext uri="{FF2B5EF4-FFF2-40B4-BE49-F238E27FC236}">
                <a16:creationId xmlns:a16="http://schemas.microsoft.com/office/drawing/2014/main" id="{B8B69346-1F64-4A58-A5D8-D9D9AA81592E}"/>
              </a:ext>
            </a:extLst>
          </p:cNvPr>
          <p:cNvPicPr>
            <a:picLocks noChangeAspect="1"/>
          </p:cNvPicPr>
          <p:nvPr/>
        </p:nvPicPr>
        <p:blipFill>
          <a:blip r:embed="rId2"/>
          <a:stretch>
            <a:fillRect/>
          </a:stretch>
        </p:blipFill>
        <p:spPr>
          <a:xfrm>
            <a:off x="762000" y="2590800"/>
            <a:ext cx="6858000" cy="2895600"/>
          </a:xfrm>
          <a:prstGeom prst="rect">
            <a:avLst/>
          </a:prstGeom>
        </p:spPr>
      </p:pic>
    </p:spTree>
    <p:extLst>
      <p:ext uri="{BB962C8B-B14F-4D97-AF65-F5344CB8AC3E}">
        <p14:creationId xmlns:p14="http://schemas.microsoft.com/office/powerpoint/2010/main" val="230197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09EA-1F53-4E52-A6A9-F2C9A735CBDB}"/>
              </a:ext>
            </a:extLst>
          </p:cNvPr>
          <p:cNvSpPr>
            <a:spLocks noGrp="1"/>
          </p:cNvSpPr>
          <p:nvPr>
            <p:ph type="title"/>
          </p:nvPr>
        </p:nvSpPr>
        <p:spPr/>
        <p:txBody>
          <a:bodyPr/>
          <a:lstStyle/>
          <a:p>
            <a:r>
              <a:rPr lang="en-IN" dirty="0"/>
              <a:t>BERT Model Architecture</a:t>
            </a:r>
          </a:p>
        </p:txBody>
      </p:sp>
      <p:sp>
        <p:nvSpPr>
          <p:cNvPr id="3" name="Content Placeholder 2">
            <a:extLst>
              <a:ext uri="{FF2B5EF4-FFF2-40B4-BE49-F238E27FC236}">
                <a16:creationId xmlns:a16="http://schemas.microsoft.com/office/drawing/2014/main" id="{5F7A3143-B44B-4F05-80C6-DD0679A17615}"/>
              </a:ext>
            </a:extLst>
          </p:cNvPr>
          <p:cNvSpPr>
            <a:spLocks noGrp="1"/>
          </p:cNvSpPr>
          <p:nvPr>
            <p:ph idx="1"/>
          </p:nvPr>
        </p:nvSpPr>
        <p:spPr/>
        <p:txBody>
          <a:bodyPr/>
          <a:lstStyle/>
          <a:p>
            <a:pPr marL="0" indent="0" algn="l">
              <a:buNone/>
            </a:pPr>
            <a:r>
              <a:rPr lang="en-US" sz="1600" b="0" i="0" dirty="0">
                <a:solidFill>
                  <a:srgbClr val="242424"/>
                </a:solidFill>
                <a:effectLst/>
                <a:latin typeface="source-serif-pro"/>
              </a:rPr>
              <a:t>BERT is basically an Encoder stack of transformer architecture.</a:t>
            </a:r>
          </a:p>
          <a:p>
            <a:pPr marL="0" indent="0">
              <a:buNone/>
            </a:pPr>
            <a:r>
              <a:rPr lang="en-US" sz="1600" b="0" i="0" dirty="0">
                <a:solidFill>
                  <a:srgbClr val="242424"/>
                </a:solidFill>
                <a:effectLst/>
                <a:latin typeface="source-serif-pro"/>
              </a:rPr>
              <a:t>BERT is released in two versions of the pre-trained model, which is trained on a huge dataset.</a:t>
            </a:r>
          </a:p>
          <a:p>
            <a:pPr algn="l"/>
            <a:r>
              <a:rPr lang="en-US" sz="1100" b="1" i="0" dirty="0">
                <a:solidFill>
                  <a:srgbClr val="242424"/>
                </a:solidFill>
                <a:effectLst/>
                <a:latin typeface="source-serif-pro"/>
              </a:rPr>
              <a:t>BERT BASE Model </a:t>
            </a:r>
            <a:r>
              <a:rPr lang="en-US" sz="1100" b="0" i="0" dirty="0">
                <a:solidFill>
                  <a:srgbClr val="242424"/>
                </a:solidFill>
                <a:effectLst/>
                <a:latin typeface="source-serif-pro"/>
              </a:rPr>
              <a:t>— </a:t>
            </a:r>
            <a:r>
              <a:rPr lang="en-US" sz="1100" b="0" i="1" dirty="0">
                <a:solidFill>
                  <a:srgbClr val="242424"/>
                </a:solidFill>
                <a:effectLst/>
                <a:latin typeface="source-serif-pro"/>
              </a:rPr>
              <a:t>It has 12 layers in the Encoder stack, 12 Attention Heads, 110 million parameters, </a:t>
            </a:r>
            <a:r>
              <a:rPr lang="en-US" sz="1100" b="0" i="0" dirty="0">
                <a:solidFill>
                  <a:srgbClr val="242424"/>
                </a:solidFill>
                <a:effectLst/>
                <a:latin typeface="source-serif-pro"/>
              </a:rPr>
              <a:t>768 Hidden Sizes</a:t>
            </a:r>
          </a:p>
          <a:p>
            <a:pPr algn="l"/>
            <a:r>
              <a:rPr lang="en-US" sz="1100" b="1" i="0" dirty="0">
                <a:solidFill>
                  <a:srgbClr val="242424"/>
                </a:solidFill>
                <a:effectLst/>
                <a:latin typeface="source-serif-pro"/>
              </a:rPr>
              <a:t>BERT LARGE Model </a:t>
            </a:r>
            <a:r>
              <a:rPr lang="en-US" sz="1100" b="0" i="0" dirty="0">
                <a:solidFill>
                  <a:srgbClr val="242424"/>
                </a:solidFill>
                <a:effectLst/>
                <a:latin typeface="source-serif-pro"/>
              </a:rPr>
              <a:t>— </a:t>
            </a:r>
            <a:r>
              <a:rPr lang="en-US" sz="1100" b="0" i="1" dirty="0">
                <a:solidFill>
                  <a:srgbClr val="242424"/>
                </a:solidFill>
                <a:effectLst/>
                <a:latin typeface="source-serif-pro"/>
              </a:rPr>
              <a:t>It has 24 layers in the Encoder stack, 16 Attention Heads, 340 million parameters, </a:t>
            </a:r>
            <a:r>
              <a:rPr lang="en-US" sz="1100" b="0" i="0" dirty="0">
                <a:solidFill>
                  <a:srgbClr val="242424"/>
                </a:solidFill>
                <a:effectLst/>
                <a:latin typeface="source-serif-pro"/>
              </a:rPr>
              <a:t>1024 Hidden Sizes</a:t>
            </a:r>
          </a:p>
          <a:p>
            <a:pPr marL="0" indent="0">
              <a:buNone/>
            </a:pPr>
            <a:endParaRPr lang="en-IN" sz="1600" dirty="0"/>
          </a:p>
        </p:txBody>
      </p:sp>
      <p:sp>
        <p:nvSpPr>
          <p:cNvPr id="4" name="Date Placeholder 3">
            <a:extLst>
              <a:ext uri="{FF2B5EF4-FFF2-40B4-BE49-F238E27FC236}">
                <a16:creationId xmlns:a16="http://schemas.microsoft.com/office/drawing/2014/main" id="{FE8CF148-5CAE-45E3-B38F-EFDB430B211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806FDC3F-B385-4AEC-9F10-59D00B77019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ABDE80F-676D-4EEB-8978-BAD9DBB97498}"/>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7" name="Picture 6">
            <a:extLst>
              <a:ext uri="{FF2B5EF4-FFF2-40B4-BE49-F238E27FC236}">
                <a16:creationId xmlns:a16="http://schemas.microsoft.com/office/drawing/2014/main" id="{912F3454-3E1B-43B1-A6DB-00D3614F323C}"/>
              </a:ext>
            </a:extLst>
          </p:cNvPr>
          <p:cNvPicPr>
            <a:picLocks noChangeAspect="1"/>
          </p:cNvPicPr>
          <p:nvPr/>
        </p:nvPicPr>
        <p:blipFill rotWithShape="1">
          <a:blip r:embed="rId3"/>
          <a:srcRect t="11947"/>
          <a:stretch/>
        </p:blipFill>
        <p:spPr>
          <a:xfrm>
            <a:off x="1742273" y="2558664"/>
            <a:ext cx="4987496" cy="2927736"/>
          </a:xfrm>
          <a:prstGeom prst="rect">
            <a:avLst/>
          </a:prstGeom>
        </p:spPr>
      </p:pic>
    </p:spTree>
    <p:extLst>
      <p:ext uri="{BB962C8B-B14F-4D97-AF65-F5344CB8AC3E}">
        <p14:creationId xmlns:p14="http://schemas.microsoft.com/office/powerpoint/2010/main" val="2432168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518B-6DCD-4F94-B238-D801088F31BD}"/>
              </a:ext>
            </a:extLst>
          </p:cNvPr>
          <p:cNvSpPr>
            <a:spLocks noGrp="1"/>
          </p:cNvSpPr>
          <p:nvPr>
            <p:ph type="title"/>
          </p:nvPr>
        </p:nvSpPr>
        <p:spPr/>
        <p:txBody>
          <a:bodyPr/>
          <a:lstStyle/>
          <a:p>
            <a:r>
              <a:rPr lang="en-IN" sz="2800" dirty="0"/>
              <a:t>BERT: Model Input/Output Representation</a:t>
            </a:r>
          </a:p>
        </p:txBody>
      </p:sp>
      <p:sp>
        <p:nvSpPr>
          <p:cNvPr id="3" name="Content Placeholder 2">
            <a:extLst>
              <a:ext uri="{FF2B5EF4-FFF2-40B4-BE49-F238E27FC236}">
                <a16:creationId xmlns:a16="http://schemas.microsoft.com/office/drawing/2014/main" id="{36B4C1A1-D94F-4288-9DC1-69B3AC2A8186}"/>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6E8562C-6D98-4876-8A8A-AE5609A39904}"/>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DB87321-46FB-442A-B970-4F3A13DC696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26FC0A-83C5-4B12-B25D-35E86D34D5A0}"/>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7" name="Picture 6">
            <a:extLst>
              <a:ext uri="{FF2B5EF4-FFF2-40B4-BE49-F238E27FC236}">
                <a16:creationId xmlns:a16="http://schemas.microsoft.com/office/drawing/2014/main" id="{304F1BB4-A31F-414C-89E5-41903F338BA8}"/>
              </a:ext>
            </a:extLst>
          </p:cNvPr>
          <p:cNvPicPr>
            <a:picLocks noChangeAspect="1"/>
          </p:cNvPicPr>
          <p:nvPr/>
        </p:nvPicPr>
        <p:blipFill>
          <a:blip r:embed="rId2"/>
          <a:stretch>
            <a:fillRect/>
          </a:stretch>
        </p:blipFill>
        <p:spPr>
          <a:xfrm>
            <a:off x="457200" y="1371600"/>
            <a:ext cx="3810000" cy="4533900"/>
          </a:xfrm>
          <a:prstGeom prst="rect">
            <a:avLst/>
          </a:prstGeom>
        </p:spPr>
      </p:pic>
      <p:sp>
        <p:nvSpPr>
          <p:cNvPr id="8" name="TextBox 7">
            <a:extLst>
              <a:ext uri="{FF2B5EF4-FFF2-40B4-BE49-F238E27FC236}">
                <a16:creationId xmlns:a16="http://schemas.microsoft.com/office/drawing/2014/main" id="{9E88ACF0-2E10-4259-A733-DB861DFED2CA}"/>
              </a:ext>
            </a:extLst>
          </p:cNvPr>
          <p:cNvSpPr txBox="1"/>
          <p:nvPr/>
        </p:nvSpPr>
        <p:spPr>
          <a:xfrm>
            <a:off x="4419600" y="2964359"/>
            <a:ext cx="4834850" cy="954107"/>
          </a:xfrm>
          <a:prstGeom prst="rect">
            <a:avLst/>
          </a:prstGeom>
          <a:noFill/>
        </p:spPr>
        <p:txBody>
          <a:bodyPr wrap="none" rtlCol="0">
            <a:spAutoFit/>
          </a:bodyPr>
          <a:lstStyle/>
          <a:p>
            <a:r>
              <a:rPr lang="en-US" sz="1400" dirty="0"/>
              <a:t>When BERT is pre-trained, it builds a vocabulary of</a:t>
            </a:r>
          </a:p>
          <a:p>
            <a:r>
              <a:rPr lang="en-US" sz="1400" dirty="0"/>
              <a:t>around 30,000 unique tokens.</a:t>
            </a:r>
          </a:p>
          <a:p>
            <a:r>
              <a:rPr lang="en-US" sz="1400" dirty="0"/>
              <a:t>Each token maps to a 768-dimensional embedding </a:t>
            </a:r>
          </a:p>
          <a:p>
            <a:r>
              <a:rPr lang="en-US" sz="1400" dirty="0"/>
              <a:t>vector (for BERT-base).</a:t>
            </a:r>
            <a:endParaRPr lang="en-IN" sz="1400" dirty="0"/>
          </a:p>
        </p:txBody>
      </p:sp>
    </p:spTree>
    <p:extLst>
      <p:ext uri="{BB962C8B-B14F-4D97-AF65-F5344CB8AC3E}">
        <p14:creationId xmlns:p14="http://schemas.microsoft.com/office/powerpoint/2010/main" val="3713941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C8F4A-81BF-47CA-B907-A306B2DC9D0F}"/>
              </a:ext>
            </a:extLst>
          </p:cNvPr>
          <p:cNvSpPr>
            <a:spLocks noGrp="1"/>
          </p:cNvSpPr>
          <p:nvPr>
            <p:ph type="title"/>
          </p:nvPr>
        </p:nvSpPr>
        <p:spPr/>
        <p:txBody>
          <a:bodyPr/>
          <a:lstStyle/>
          <a:p>
            <a:r>
              <a:rPr lang="en-IN" sz="2400" dirty="0"/>
              <a:t>BERT: Model Input/Output Representation</a:t>
            </a:r>
          </a:p>
        </p:txBody>
      </p:sp>
      <p:sp>
        <p:nvSpPr>
          <p:cNvPr id="3" name="Content Placeholder 2">
            <a:extLst>
              <a:ext uri="{FF2B5EF4-FFF2-40B4-BE49-F238E27FC236}">
                <a16:creationId xmlns:a16="http://schemas.microsoft.com/office/drawing/2014/main" id="{9D676A79-3202-4D28-BA7A-16FAC00130F3}"/>
              </a:ext>
            </a:extLst>
          </p:cNvPr>
          <p:cNvSpPr>
            <a:spLocks noGrp="1"/>
          </p:cNvSpPr>
          <p:nvPr>
            <p:ph idx="1"/>
          </p:nvPr>
        </p:nvSpPr>
        <p:spPr/>
        <p:txBody>
          <a:bodyPr/>
          <a:lstStyle/>
          <a:p>
            <a:pPr marL="0" indent="0" algn="just">
              <a:buNone/>
            </a:pPr>
            <a:r>
              <a:rPr lang="en-US" sz="1600" b="0" i="0" dirty="0">
                <a:solidFill>
                  <a:srgbClr val="242424"/>
                </a:solidFill>
                <a:effectLst/>
                <a:latin typeface="source-serif-pro"/>
              </a:rPr>
              <a:t>BERT uses </a:t>
            </a:r>
            <a:r>
              <a:rPr lang="en-US" sz="1600" b="0" i="0" dirty="0" err="1">
                <a:solidFill>
                  <a:srgbClr val="242424"/>
                </a:solidFill>
                <a:effectLst/>
                <a:latin typeface="source-serif-pro"/>
              </a:rPr>
              <a:t>WordPiece</a:t>
            </a:r>
            <a:r>
              <a:rPr lang="en-US" sz="1600" b="0" i="0" dirty="0">
                <a:solidFill>
                  <a:srgbClr val="242424"/>
                </a:solidFill>
                <a:effectLst/>
                <a:latin typeface="source-serif-pro"/>
              </a:rPr>
              <a:t> embeddings with a 30,000 token vocabulary.</a:t>
            </a:r>
          </a:p>
          <a:p>
            <a:pPr algn="just">
              <a:buFont typeface="+mj-lt"/>
              <a:buAutoNum type="arabicPeriod"/>
            </a:pPr>
            <a:r>
              <a:rPr lang="en-US" sz="1600" b="0" i="0" dirty="0">
                <a:solidFill>
                  <a:srgbClr val="242424"/>
                </a:solidFill>
                <a:effectLst/>
                <a:latin typeface="source-serif-pro"/>
              </a:rPr>
              <a:t>The first token of every sequence of input is always a[CLS], which means the classification token.</a:t>
            </a:r>
          </a:p>
          <a:p>
            <a:pPr algn="just">
              <a:buFont typeface="+mj-lt"/>
              <a:buAutoNum type="arabicPeriod"/>
            </a:pPr>
            <a:r>
              <a:rPr lang="en-US" sz="1600" b="0" i="0" dirty="0">
                <a:solidFill>
                  <a:srgbClr val="242424"/>
                </a:solidFill>
                <a:effectLst/>
                <a:latin typeface="source-serif-pro"/>
              </a:rPr>
              <a:t>The final hidden state corresponding to this token is used as the aggregate sequence representation for classification tasks.</a:t>
            </a:r>
          </a:p>
          <a:p>
            <a:pPr algn="just">
              <a:buFont typeface="+mj-lt"/>
              <a:buAutoNum type="arabicPeriod"/>
            </a:pPr>
            <a:r>
              <a:rPr lang="en-US" sz="1600" b="0" i="0" dirty="0">
                <a:solidFill>
                  <a:srgbClr val="242424"/>
                </a:solidFill>
                <a:effectLst/>
                <a:latin typeface="source-serif-pro"/>
              </a:rPr>
              <a:t>If the Sentence pairs are packed together into a single sequence, they will differentiate the sentence in two ways. First, using [SEP] token. Second, add a learned embedding to every token indicating whether it belongs to sentence A or sentence B.</a:t>
            </a:r>
          </a:p>
          <a:p>
            <a:pPr marL="0" indent="0" algn="just">
              <a:buNone/>
            </a:pPr>
            <a:endParaRPr lang="en-IN" sz="1600" dirty="0"/>
          </a:p>
        </p:txBody>
      </p:sp>
      <p:sp>
        <p:nvSpPr>
          <p:cNvPr id="4" name="Date Placeholder 3">
            <a:extLst>
              <a:ext uri="{FF2B5EF4-FFF2-40B4-BE49-F238E27FC236}">
                <a16:creationId xmlns:a16="http://schemas.microsoft.com/office/drawing/2014/main" id="{D9B86B50-8589-4A51-9C39-34031E47D15B}"/>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17AA28F1-BB84-4516-8E44-D5A1A6C656A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32C4817-7FE4-4912-87EF-3ADFD87F195C}"/>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7" name="Picture 6">
            <a:extLst>
              <a:ext uri="{FF2B5EF4-FFF2-40B4-BE49-F238E27FC236}">
                <a16:creationId xmlns:a16="http://schemas.microsoft.com/office/drawing/2014/main" id="{30E46A64-D46A-468A-9380-C16EFE1D2240}"/>
              </a:ext>
            </a:extLst>
          </p:cNvPr>
          <p:cNvPicPr>
            <a:picLocks noChangeAspect="1"/>
          </p:cNvPicPr>
          <p:nvPr/>
        </p:nvPicPr>
        <p:blipFill>
          <a:blip r:embed="rId2"/>
          <a:stretch>
            <a:fillRect/>
          </a:stretch>
        </p:blipFill>
        <p:spPr>
          <a:xfrm>
            <a:off x="915097" y="3505200"/>
            <a:ext cx="7313806" cy="2397303"/>
          </a:xfrm>
          <a:prstGeom prst="rect">
            <a:avLst/>
          </a:prstGeom>
        </p:spPr>
      </p:pic>
    </p:spTree>
    <p:extLst>
      <p:ext uri="{BB962C8B-B14F-4D97-AF65-F5344CB8AC3E}">
        <p14:creationId xmlns:p14="http://schemas.microsoft.com/office/powerpoint/2010/main" val="3162909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B342-1635-4A8B-8339-9FD02C8EDA61}"/>
              </a:ext>
            </a:extLst>
          </p:cNvPr>
          <p:cNvSpPr>
            <a:spLocks noGrp="1"/>
          </p:cNvSpPr>
          <p:nvPr>
            <p:ph type="title"/>
          </p:nvPr>
        </p:nvSpPr>
        <p:spPr/>
        <p:txBody>
          <a:bodyPr/>
          <a:lstStyle/>
          <a:p>
            <a:r>
              <a:rPr lang="en-IN" dirty="0"/>
              <a:t>How does BERT work?</a:t>
            </a:r>
          </a:p>
        </p:txBody>
      </p:sp>
      <p:sp>
        <p:nvSpPr>
          <p:cNvPr id="3" name="Content Placeholder 2">
            <a:extLst>
              <a:ext uri="{FF2B5EF4-FFF2-40B4-BE49-F238E27FC236}">
                <a16:creationId xmlns:a16="http://schemas.microsoft.com/office/drawing/2014/main" id="{73EDCB90-D1C4-4398-A65F-B22F757DBB32}"/>
              </a:ext>
            </a:extLst>
          </p:cNvPr>
          <p:cNvSpPr>
            <a:spLocks noGrp="1"/>
          </p:cNvSpPr>
          <p:nvPr>
            <p:ph idx="1"/>
          </p:nvPr>
        </p:nvSpPr>
        <p:spPr/>
        <p:txBody>
          <a:bodyPr/>
          <a:lstStyle/>
          <a:p>
            <a:pPr marL="0" indent="0" algn="l">
              <a:buNone/>
            </a:pPr>
            <a:r>
              <a:rPr lang="en-US" sz="1400" b="0" i="0" dirty="0">
                <a:solidFill>
                  <a:srgbClr val="242424"/>
                </a:solidFill>
                <a:effectLst/>
                <a:latin typeface="source-serif-pro"/>
              </a:rPr>
              <a:t>The new model features an important improvement when it comes to </a:t>
            </a:r>
            <a:r>
              <a:rPr lang="en-US" sz="1400" b="1" i="0" dirty="0">
                <a:solidFill>
                  <a:srgbClr val="242424"/>
                </a:solidFill>
                <a:effectLst/>
                <a:latin typeface="source-serif-pro"/>
              </a:rPr>
              <a:t>context understanding</a:t>
            </a:r>
            <a:r>
              <a:rPr lang="en-US" sz="1400" b="0" i="0" dirty="0">
                <a:solidFill>
                  <a:srgbClr val="242424"/>
                </a:solidFill>
                <a:effectLst/>
                <a:latin typeface="source-serif-pro"/>
              </a:rPr>
              <a:t>. Especially with certain texts which are “context-heavy,” for which context understanding is so important for analytics purposes, BERT is a great solution.</a:t>
            </a:r>
          </a:p>
          <a:p>
            <a:pPr marL="0" indent="0" algn="l">
              <a:buNone/>
            </a:pPr>
            <a:r>
              <a:rPr lang="en-US" sz="1400" b="0" i="0" dirty="0">
                <a:solidFill>
                  <a:srgbClr val="242424"/>
                </a:solidFill>
                <a:effectLst/>
                <a:latin typeface="source-serif-pro"/>
              </a:rPr>
              <a:t>Say we have two sentences like:</a:t>
            </a:r>
          </a:p>
          <a:p>
            <a:pPr marL="438150" lvl="1" indent="0">
              <a:buNone/>
            </a:pPr>
            <a:r>
              <a:rPr lang="en-US" sz="1600" b="0" i="0" dirty="0">
                <a:solidFill>
                  <a:srgbClr val="242424"/>
                </a:solidFill>
                <a:effectLst/>
                <a:highlight>
                  <a:srgbClr val="FFFF00"/>
                </a:highlight>
                <a:latin typeface="source-serif-pro"/>
              </a:rPr>
              <a:t>You were </a:t>
            </a:r>
            <a:r>
              <a:rPr lang="en-US" sz="1600" b="1" i="0" dirty="0">
                <a:solidFill>
                  <a:srgbClr val="242424"/>
                </a:solidFill>
                <a:effectLst/>
                <a:highlight>
                  <a:srgbClr val="FFFF00"/>
                </a:highlight>
                <a:latin typeface="source-serif-pro"/>
              </a:rPr>
              <a:t>right</a:t>
            </a:r>
            <a:r>
              <a:rPr lang="en-US" sz="1600" b="0" i="0" dirty="0">
                <a:solidFill>
                  <a:srgbClr val="242424"/>
                </a:solidFill>
                <a:effectLst/>
                <a:highlight>
                  <a:srgbClr val="FFFF00"/>
                </a:highlight>
                <a:latin typeface="source-serif-pro"/>
              </a:rPr>
              <a:t>.</a:t>
            </a:r>
          </a:p>
          <a:p>
            <a:pPr marL="438150" lvl="1" indent="0">
              <a:buNone/>
            </a:pPr>
            <a:r>
              <a:rPr lang="en-US" sz="1600" b="0" i="0" dirty="0">
                <a:solidFill>
                  <a:srgbClr val="242424"/>
                </a:solidFill>
                <a:effectLst/>
                <a:highlight>
                  <a:srgbClr val="FFFF00"/>
                </a:highlight>
                <a:latin typeface="source-serif-pro"/>
              </a:rPr>
              <a:t>Make a </a:t>
            </a:r>
            <a:r>
              <a:rPr lang="en-US" sz="1600" b="1" i="0" dirty="0">
                <a:solidFill>
                  <a:srgbClr val="242424"/>
                </a:solidFill>
                <a:effectLst/>
                <a:highlight>
                  <a:srgbClr val="FFFF00"/>
                </a:highlight>
                <a:latin typeface="source-serif-pro"/>
              </a:rPr>
              <a:t>right</a:t>
            </a:r>
            <a:r>
              <a:rPr lang="en-US" sz="1600" b="0" i="0" dirty="0">
                <a:solidFill>
                  <a:srgbClr val="242424"/>
                </a:solidFill>
                <a:effectLst/>
                <a:highlight>
                  <a:srgbClr val="FFFF00"/>
                </a:highlight>
                <a:latin typeface="source-serif-pro"/>
              </a:rPr>
              <a:t> turn at the light.</a:t>
            </a:r>
          </a:p>
          <a:p>
            <a:pPr marL="0" indent="0" algn="l">
              <a:buNone/>
            </a:pPr>
            <a:r>
              <a:rPr lang="en-US" sz="1400" b="0" i="0" dirty="0">
                <a:solidFill>
                  <a:srgbClr val="242424"/>
                </a:solidFill>
                <a:effectLst/>
                <a:latin typeface="source-serif-pro"/>
              </a:rPr>
              <a:t>In the first sentence, the word “</a:t>
            </a:r>
            <a:r>
              <a:rPr lang="en-US" sz="1400" b="1" i="0" dirty="0">
                <a:solidFill>
                  <a:srgbClr val="242424"/>
                </a:solidFill>
                <a:effectLst/>
                <a:latin typeface="source-serif-pro"/>
              </a:rPr>
              <a:t>right</a:t>
            </a:r>
            <a:r>
              <a:rPr lang="en-US" sz="1400" b="0" i="0" dirty="0">
                <a:solidFill>
                  <a:srgbClr val="242424"/>
                </a:solidFill>
                <a:effectLst/>
                <a:latin typeface="source-serif-pro"/>
              </a:rPr>
              <a:t>” refers to a decision; in the second sentence, “</a:t>
            </a:r>
            <a:r>
              <a:rPr lang="en-US" sz="1400" b="1" i="0" dirty="0">
                <a:solidFill>
                  <a:srgbClr val="242424"/>
                </a:solidFill>
                <a:effectLst/>
                <a:latin typeface="source-serif-pro"/>
              </a:rPr>
              <a:t>right</a:t>
            </a:r>
            <a:r>
              <a:rPr lang="en-US" sz="1400" b="0" i="0" dirty="0">
                <a:solidFill>
                  <a:srgbClr val="242424"/>
                </a:solidFill>
                <a:effectLst/>
                <a:latin typeface="source-serif-pro"/>
              </a:rPr>
              <a:t>” refers to direction. We know that because of the context.</a:t>
            </a:r>
          </a:p>
          <a:p>
            <a:pPr marL="0" indent="0" algn="l">
              <a:buNone/>
            </a:pPr>
            <a:r>
              <a:rPr lang="en-US" sz="1400" b="0" i="0" dirty="0">
                <a:solidFill>
                  <a:srgbClr val="242424"/>
                </a:solidFill>
                <a:effectLst/>
                <a:latin typeface="source-serif-pro"/>
              </a:rPr>
              <a:t>Another example:</a:t>
            </a:r>
          </a:p>
          <a:p>
            <a:pPr marL="438150" lvl="1" indent="0">
              <a:buNone/>
            </a:pPr>
            <a:r>
              <a:rPr lang="en-US" sz="1600" b="0" i="0" dirty="0">
                <a:solidFill>
                  <a:srgbClr val="242424"/>
                </a:solidFill>
                <a:effectLst/>
                <a:highlight>
                  <a:srgbClr val="FFFF00"/>
                </a:highlight>
                <a:latin typeface="source-serif-pro"/>
              </a:rPr>
              <a:t>My favorite flower is a </a:t>
            </a:r>
            <a:r>
              <a:rPr lang="en-US" sz="1600" b="1" i="0" dirty="0">
                <a:solidFill>
                  <a:srgbClr val="242424"/>
                </a:solidFill>
                <a:effectLst/>
                <a:highlight>
                  <a:srgbClr val="FFFF00"/>
                </a:highlight>
                <a:latin typeface="source-serif-pro"/>
              </a:rPr>
              <a:t>rose</a:t>
            </a:r>
            <a:r>
              <a:rPr lang="en-US" sz="1600" b="0" i="0" dirty="0">
                <a:solidFill>
                  <a:srgbClr val="242424"/>
                </a:solidFill>
                <a:effectLst/>
                <a:highlight>
                  <a:srgbClr val="FFFF00"/>
                </a:highlight>
                <a:latin typeface="source-serif-pro"/>
              </a:rPr>
              <a:t>.</a:t>
            </a:r>
          </a:p>
          <a:p>
            <a:pPr marL="438150" lvl="1" indent="0">
              <a:buNone/>
            </a:pPr>
            <a:r>
              <a:rPr lang="en-US" sz="1600" b="0" i="0" dirty="0">
                <a:solidFill>
                  <a:srgbClr val="242424"/>
                </a:solidFill>
                <a:effectLst/>
                <a:highlight>
                  <a:srgbClr val="FFFF00"/>
                </a:highlight>
                <a:latin typeface="source-serif-pro"/>
              </a:rPr>
              <a:t>He quickly </a:t>
            </a:r>
            <a:r>
              <a:rPr lang="en-US" sz="1600" b="1" i="0" dirty="0">
                <a:solidFill>
                  <a:srgbClr val="242424"/>
                </a:solidFill>
                <a:effectLst/>
                <a:highlight>
                  <a:srgbClr val="FFFF00"/>
                </a:highlight>
                <a:latin typeface="source-serif-pro"/>
              </a:rPr>
              <a:t>rose</a:t>
            </a:r>
            <a:r>
              <a:rPr lang="en-US" sz="1600" b="0" i="0" dirty="0">
                <a:solidFill>
                  <a:srgbClr val="242424"/>
                </a:solidFill>
                <a:effectLst/>
                <a:highlight>
                  <a:srgbClr val="FFFF00"/>
                </a:highlight>
                <a:latin typeface="source-serif-pro"/>
              </a:rPr>
              <a:t> from his seat.</a:t>
            </a:r>
          </a:p>
          <a:p>
            <a:pPr marL="0" indent="0" algn="l">
              <a:buNone/>
            </a:pPr>
            <a:r>
              <a:rPr lang="en-US" sz="1400" b="0" i="0" dirty="0">
                <a:solidFill>
                  <a:srgbClr val="242424"/>
                </a:solidFill>
                <a:effectLst/>
                <a:latin typeface="source-serif-pro"/>
              </a:rPr>
              <a:t>In the first sentence, the word “</a:t>
            </a:r>
            <a:r>
              <a:rPr lang="en-US" sz="1400" b="1" i="0" dirty="0">
                <a:solidFill>
                  <a:srgbClr val="242424"/>
                </a:solidFill>
                <a:effectLst/>
                <a:latin typeface="source-serif-pro"/>
              </a:rPr>
              <a:t>rose</a:t>
            </a:r>
            <a:r>
              <a:rPr lang="en-US" sz="1400" b="0" i="0" dirty="0">
                <a:solidFill>
                  <a:srgbClr val="242424"/>
                </a:solidFill>
                <a:effectLst/>
                <a:latin typeface="source-serif-pro"/>
              </a:rPr>
              <a:t>” refers to a flower; in the second one, it’s referred to the past tense of rise. Again, we know that because of the context.</a:t>
            </a:r>
          </a:p>
          <a:p>
            <a:pPr marL="0" indent="0" algn="l">
              <a:buNone/>
            </a:pPr>
            <a:r>
              <a:rPr lang="en-US" sz="1400" b="0" i="0" dirty="0">
                <a:solidFill>
                  <a:srgbClr val="242424"/>
                </a:solidFill>
                <a:effectLst/>
                <a:latin typeface="source-serif-pro"/>
              </a:rPr>
              <a:t>Because BERT practices to predict missing words in the text, and because it analyzes every sentence with no specific direction, it does a better job at understanding the meaning of homonyms than previous NLP methodologies, such as embedding methods.</a:t>
            </a:r>
          </a:p>
          <a:p>
            <a:pPr marL="0" indent="0" algn="l">
              <a:buNone/>
            </a:pPr>
            <a:r>
              <a:rPr lang="en-US" sz="1400" b="0" i="0" dirty="0">
                <a:solidFill>
                  <a:srgbClr val="242424"/>
                </a:solidFill>
                <a:effectLst/>
                <a:latin typeface="source-serif-pro"/>
              </a:rPr>
              <a:t>To overcome this challenge, BERT is </a:t>
            </a:r>
            <a:r>
              <a:rPr lang="en-US" sz="1800" b="1" i="0" dirty="0">
                <a:solidFill>
                  <a:srgbClr val="00B050"/>
                </a:solidFill>
                <a:effectLst/>
                <a:latin typeface="source-serif-pro"/>
              </a:rPr>
              <a:t>pre-trained</a:t>
            </a:r>
            <a:r>
              <a:rPr lang="en-US" sz="1400" b="0" i="0" dirty="0">
                <a:solidFill>
                  <a:srgbClr val="242424"/>
                </a:solidFill>
                <a:effectLst/>
                <a:latin typeface="source-serif-pro"/>
              </a:rPr>
              <a:t> on two different NLP tasks:</a:t>
            </a:r>
          </a:p>
          <a:p>
            <a:pPr marL="342900" indent="-342900" algn="l">
              <a:buFont typeface="+mj-lt"/>
              <a:buAutoNum type="arabicPeriod"/>
            </a:pPr>
            <a:r>
              <a:rPr lang="en-US" sz="1800" b="1" i="0" dirty="0">
                <a:solidFill>
                  <a:srgbClr val="242424"/>
                </a:solidFill>
                <a:effectLst/>
                <a:latin typeface="source-serif-pro"/>
              </a:rPr>
              <a:t>MLM (Masked Language Modeling)</a:t>
            </a:r>
          </a:p>
          <a:p>
            <a:pPr marL="342900" indent="-342900" algn="l">
              <a:buFont typeface="+mj-lt"/>
              <a:buAutoNum type="arabicPeriod"/>
            </a:pPr>
            <a:r>
              <a:rPr lang="en-US" sz="1800" b="1" i="0" dirty="0">
                <a:solidFill>
                  <a:srgbClr val="242424"/>
                </a:solidFill>
                <a:effectLst/>
                <a:latin typeface="source-serif-pro"/>
              </a:rPr>
              <a:t>Next Sentence Prediction (NSP)</a:t>
            </a:r>
          </a:p>
        </p:txBody>
      </p:sp>
      <p:sp>
        <p:nvSpPr>
          <p:cNvPr id="4" name="Date Placeholder 3">
            <a:extLst>
              <a:ext uri="{FF2B5EF4-FFF2-40B4-BE49-F238E27FC236}">
                <a16:creationId xmlns:a16="http://schemas.microsoft.com/office/drawing/2014/main" id="{8A8BD6E4-B02E-4D40-BD1C-19DBA7385EBA}"/>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3DA4830-F19F-4F24-BC24-77C2BED7796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33E67A-7A21-446A-B61B-9A4FD5674DF7}"/>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1539274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79BA2-4254-4870-821C-839052999352}"/>
              </a:ext>
            </a:extLst>
          </p:cNvPr>
          <p:cNvSpPr>
            <a:spLocks noGrp="1"/>
          </p:cNvSpPr>
          <p:nvPr>
            <p:ph type="title"/>
          </p:nvPr>
        </p:nvSpPr>
        <p:spPr/>
        <p:txBody>
          <a:bodyPr/>
          <a:lstStyle/>
          <a:p>
            <a:r>
              <a:rPr lang="en-IN" sz="2400" dirty="0"/>
              <a:t>MLM (Masked Language </a:t>
            </a:r>
            <a:r>
              <a:rPr lang="en-IN" sz="2400" dirty="0" err="1"/>
              <a:t>Modeling</a:t>
            </a:r>
            <a:r>
              <a:rPr lang="en-IN" sz="2400" dirty="0"/>
              <a:t>)</a:t>
            </a:r>
          </a:p>
        </p:txBody>
      </p:sp>
      <p:sp>
        <p:nvSpPr>
          <p:cNvPr id="3" name="Content Placeholder 2">
            <a:extLst>
              <a:ext uri="{FF2B5EF4-FFF2-40B4-BE49-F238E27FC236}">
                <a16:creationId xmlns:a16="http://schemas.microsoft.com/office/drawing/2014/main" id="{6263024A-A3A5-4722-81D9-E8C6CFDBE0AD}"/>
              </a:ext>
            </a:extLst>
          </p:cNvPr>
          <p:cNvSpPr>
            <a:spLocks noGrp="1"/>
          </p:cNvSpPr>
          <p:nvPr>
            <p:ph idx="1"/>
          </p:nvPr>
        </p:nvSpPr>
        <p:spPr/>
        <p:txBody>
          <a:bodyPr/>
          <a:lstStyle/>
          <a:p>
            <a:pPr marL="0" indent="0" algn="just">
              <a:buNone/>
            </a:pPr>
            <a:r>
              <a:rPr lang="en-US" sz="1400" b="0" i="0" dirty="0">
                <a:solidFill>
                  <a:srgbClr val="242424"/>
                </a:solidFill>
                <a:effectLst/>
                <a:latin typeface="source-serif-pro"/>
              </a:rPr>
              <a:t>Usually, Language Model can only be trained in one specific direction. BERT can handle this issue with </a:t>
            </a:r>
            <a:r>
              <a:rPr lang="en-US" sz="1400" b="1" i="0" dirty="0">
                <a:solidFill>
                  <a:srgbClr val="242424"/>
                </a:solidFill>
                <a:effectLst/>
                <a:latin typeface="source-serif-pro"/>
              </a:rPr>
              <a:t>MLM.</a:t>
            </a:r>
            <a:endParaRPr lang="en-US" sz="1400" b="0" i="0" dirty="0">
              <a:solidFill>
                <a:srgbClr val="242424"/>
              </a:solidFill>
              <a:effectLst/>
              <a:latin typeface="source-serif-pro"/>
            </a:endParaRPr>
          </a:p>
          <a:p>
            <a:pPr marL="0" indent="0" algn="just">
              <a:buNone/>
            </a:pPr>
            <a:r>
              <a:rPr lang="en-US" sz="1400" b="0" i="1" dirty="0">
                <a:solidFill>
                  <a:srgbClr val="242424"/>
                </a:solidFill>
                <a:effectLst/>
                <a:latin typeface="source-serif-pro"/>
              </a:rPr>
              <a:t>Masked Language Modeling(MLM) training is to hide a word in a sentence and have the program predict what word has hidden(masked) based on the context of the hidden words.</a:t>
            </a:r>
          </a:p>
          <a:p>
            <a:pPr marL="0" indent="0" algn="just">
              <a:buNone/>
            </a:pPr>
            <a:r>
              <a:rPr lang="en-US" sz="1400" b="0" i="0" dirty="0">
                <a:solidFill>
                  <a:srgbClr val="242424"/>
                </a:solidFill>
                <a:effectLst/>
                <a:latin typeface="source-serif-pro"/>
              </a:rPr>
              <a:t>BERT does this by masking 15% of all </a:t>
            </a:r>
            <a:r>
              <a:rPr lang="en-US" sz="1400" b="0" i="0" dirty="0" err="1">
                <a:solidFill>
                  <a:srgbClr val="242424"/>
                </a:solidFill>
                <a:effectLst/>
                <a:latin typeface="source-serif-pro"/>
              </a:rPr>
              <a:t>WordPiece</a:t>
            </a:r>
            <a:r>
              <a:rPr lang="en-US" sz="1400" b="0" i="0" dirty="0">
                <a:solidFill>
                  <a:srgbClr val="242424"/>
                </a:solidFill>
                <a:effectLst/>
                <a:latin typeface="source-serif-pro"/>
              </a:rPr>
              <a:t> tokens in each sequence at random.</a:t>
            </a:r>
          </a:p>
          <a:p>
            <a:pPr marL="0" indent="0" algn="just">
              <a:buNone/>
            </a:pPr>
            <a:r>
              <a:rPr lang="en-US" sz="1400" b="0" i="1" dirty="0">
                <a:solidFill>
                  <a:srgbClr val="242424"/>
                </a:solidFill>
                <a:effectLst/>
                <a:latin typeface="source-serif-pro"/>
              </a:rPr>
              <a:t>Note: [mask] token appear only in the pre-training and not during the fine-tuning.</a:t>
            </a:r>
            <a:endParaRPr lang="en-US" sz="1400" b="0" i="0" dirty="0">
              <a:solidFill>
                <a:srgbClr val="242424"/>
              </a:solidFill>
              <a:effectLst/>
              <a:latin typeface="source-serif-pro"/>
            </a:endParaRPr>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B477F30D-A216-4EB6-BC52-0CBA39A0C1B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717B354-7AF1-4C18-8BCE-84712F066E6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BDF961-1888-4813-B870-DB8535E81E61}"/>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8" name="Picture 7">
            <a:extLst>
              <a:ext uri="{FF2B5EF4-FFF2-40B4-BE49-F238E27FC236}">
                <a16:creationId xmlns:a16="http://schemas.microsoft.com/office/drawing/2014/main" id="{B0E4931A-3956-4B88-921C-6BF35D1DD231}"/>
              </a:ext>
            </a:extLst>
          </p:cNvPr>
          <p:cNvPicPr>
            <a:picLocks noChangeAspect="1"/>
          </p:cNvPicPr>
          <p:nvPr/>
        </p:nvPicPr>
        <p:blipFill>
          <a:blip r:embed="rId3"/>
          <a:stretch>
            <a:fillRect/>
          </a:stretch>
        </p:blipFill>
        <p:spPr>
          <a:xfrm>
            <a:off x="1676400" y="2770883"/>
            <a:ext cx="5334000" cy="3911600"/>
          </a:xfrm>
          <a:prstGeom prst="rect">
            <a:avLst/>
          </a:prstGeom>
        </p:spPr>
      </p:pic>
    </p:spTree>
    <p:extLst>
      <p:ext uri="{BB962C8B-B14F-4D97-AF65-F5344CB8AC3E}">
        <p14:creationId xmlns:p14="http://schemas.microsoft.com/office/powerpoint/2010/main" val="3221683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678A-19D9-41BC-A849-45D4C6F450B9}"/>
              </a:ext>
            </a:extLst>
          </p:cNvPr>
          <p:cNvSpPr>
            <a:spLocks noGrp="1"/>
          </p:cNvSpPr>
          <p:nvPr>
            <p:ph type="title"/>
          </p:nvPr>
        </p:nvSpPr>
        <p:spPr/>
        <p:txBody>
          <a:bodyPr/>
          <a:lstStyle/>
          <a:p>
            <a:r>
              <a:rPr lang="en-IN" sz="3200" dirty="0"/>
              <a:t>MLM (Masked Language </a:t>
            </a:r>
            <a:r>
              <a:rPr lang="en-IN" sz="3200" dirty="0" err="1"/>
              <a:t>Modeling</a:t>
            </a:r>
            <a:r>
              <a:rPr lang="en-IN" sz="3200" dirty="0"/>
              <a:t>)</a:t>
            </a:r>
            <a:endParaRPr lang="en-IN" dirty="0"/>
          </a:p>
        </p:txBody>
      </p:sp>
      <p:sp>
        <p:nvSpPr>
          <p:cNvPr id="3" name="Content Placeholder 2">
            <a:extLst>
              <a:ext uri="{FF2B5EF4-FFF2-40B4-BE49-F238E27FC236}">
                <a16:creationId xmlns:a16="http://schemas.microsoft.com/office/drawing/2014/main" id="{60E5BA1F-2B26-46AD-9180-6104363EFA9A}"/>
              </a:ext>
            </a:extLst>
          </p:cNvPr>
          <p:cNvSpPr>
            <a:spLocks noGrp="1"/>
          </p:cNvSpPr>
          <p:nvPr>
            <p:ph idx="1"/>
          </p:nvPr>
        </p:nvSpPr>
        <p:spPr/>
        <p:txBody>
          <a:bodyPr/>
          <a:lstStyle/>
          <a:p>
            <a:pPr marL="0" indent="0" algn="l">
              <a:buNone/>
            </a:pPr>
            <a:r>
              <a:rPr lang="en-US" sz="1800" b="0" i="0" dirty="0">
                <a:solidFill>
                  <a:srgbClr val="242424"/>
                </a:solidFill>
                <a:effectLst/>
                <a:latin typeface="source-serif-pro"/>
              </a:rPr>
              <a:t>For every mask input sequence,</a:t>
            </a:r>
          </a:p>
          <a:p>
            <a:pPr algn="l"/>
            <a:r>
              <a:rPr lang="en-US" sz="1800" b="0" i="0" dirty="0">
                <a:solidFill>
                  <a:srgbClr val="242424"/>
                </a:solidFill>
                <a:effectLst/>
                <a:latin typeface="source-serif-pro"/>
              </a:rPr>
              <a:t>Randomly select 15% of tokens (not all masked in the same way) and don’t replace them with [MASK] 100% of the time</a:t>
            </a:r>
          </a:p>
          <a:p>
            <a:pPr marL="0" indent="0" algn="l">
              <a:buNone/>
            </a:pPr>
            <a:r>
              <a:rPr lang="en-US" sz="1800" b="1" i="0" dirty="0">
                <a:solidFill>
                  <a:srgbClr val="242424"/>
                </a:solidFill>
                <a:effectLst/>
                <a:latin typeface="source-serif-pro"/>
              </a:rPr>
              <a:t>Example Sentence: This is going to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80% of the time: Replace the word with the [MASK] token.</a:t>
            </a:r>
          </a:p>
          <a:p>
            <a:pPr algn="l"/>
            <a:r>
              <a:rPr lang="en-US" sz="1800" b="1" i="0" dirty="0">
                <a:solidFill>
                  <a:srgbClr val="242424"/>
                </a:solidFill>
                <a:effectLst/>
                <a:latin typeface="source-serif-pro"/>
              </a:rPr>
              <a:t>This is going to be so long → This is going [MASK]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10% of the time: Replace the word with a random word</a:t>
            </a:r>
          </a:p>
          <a:p>
            <a:pPr algn="l"/>
            <a:r>
              <a:rPr lang="en-US" sz="1800" b="1" i="0" dirty="0">
                <a:solidFill>
                  <a:srgbClr val="242424"/>
                </a:solidFill>
                <a:effectLst/>
                <a:latin typeface="source-serif-pro"/>
              </a:rPr>
              <a:t>This is going to be so long → This is going the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10% of the time: Keep the word unchanged</a:t>
            </a:r>
          </a:p>
          <a:p>
            <a:pPr algn="l"/>
            <a:r>
              <a:rPr lang="en-US" sz="1800" b="1" i="0" dirty="0">
                <a:solidFill>
                  <a:srgbClr val="242424"/>
                </a:solidFill>
                <a:effectLst/>
                <a:latin typeface="source-serif-pro"/>
              </a:rPr>
              <a:t>This is going to be so long → This is going to be so long</a:t>
            </a:r>
            <a:endParaRPr lang="en-US" sz="1800" b="0" i="0" dirty="0">
              <a:solidFill>
                <a:srgbClr val="242424"/>
              </a:solidFill>
              <a:effectLst/>
              <a:latin typeface="source-serif-pro"/>
            </a:endParaRPr>
          </a:p>
          <a:p>
            <a:pPr marL="0" indent="0">
              <a:buNone/>
            </a:pPr>
            <a:endParaRPr lang="en-IN" sz="1800" dirty="0"/>
          </a:p>
        </p:txBody>
      </p:sp>
      <p:sp>
        <p:nvSpPr>
          <p:cNvPr id="4" name="Date Placeholder 3">
            <a:extLst>
              <a:ext uri="{FF2B5EF4-FFF2-40B4-BE49-F238E27FC236}">
                <a16:creationId xmlns:a16="http://schemas.microsoft.com/office/drawing/2014/main" id="{374FFBAF-BD41-4F8C-BCC2-44B20FB84E5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5ABAA7D7-37BA-4347-B1A0-ED832EBD43B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A035CA5-6839-45AD-A796-D6EFF94F4C6B}"/>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2434241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DD6C-0D0F-4743-84F9-573DD19E7F1F}"/>
              </a:ext>
            </a:extLst>
          </p:cNvPr>
          <p:cNvSpPr>
            <a:spLocks noGrp="1"/>
          </p:cNvSpPr>
          <p:nvPr>
            <p:ph type="title"/>
          </p:nvPr>
        </p:nvSpPr>
        <p:spPr/>
        <p:txBody>
          <a:bodyPr/>
          <a:lstStyle/>
          <a:p>
            <a:r>
              <a:rPr lang="en-IN" dirty="0"/>
              <a:t>Next Sentence Prediction (NSP)</a:t>
            </a:r>
          </a:p>
        </p:txBody>
      </p:sp>
      <p:sp>
        <p:nvSpPr>
          <p:cNvPr id="3" name="Content Placeholder 2">
            <a:extLst>
              <a:ext uri="{FF2B5EF4-FFF2-40B4-BE49-F238E27FC236}">
                <a16:creationId xmlns:a16="http://schemas.microsoft.com/office/drawing/2014/main" id="{B2291E39-AEFA-4DDD-8EBC-09553E65B004}"/>
              </a:ext>
            </a:extLst>
          </p:cNvPr>
          <p:cNvSpPr>
            <a:spLocks noGrp="1"/>
          </p:cNvSpPr>
          <p:nvPr>
            <p:ph idx="1"/>
          </p:nvPr>
        </p:nvSpPr>
        <p:spPr/>
        <p:txBody>
          <a:bodyPr/>
          <a:lstStyle/>
          <a:p>
            <a:pPr algn="just"/>
            <a:r>
              <a:rPr lang="en-US" sz="1400" b="0" i="0" dirty="0">
                <a:solidFill>
                  <a:srgbClr val="242424"/>
                </a:solidFill>
                <a:effectLst/>
                <a:latin typeface="source-serif-pro"/>
              </a:rPr>
              <a:t>Most downstream tasks such as Question and Answer(QA) and Natural Language Inference (NLI) are based on understanding the relationship between two sentences. It is not directly captured by language modeling.</a:t>
            </a:r>
          </a:p>
          <a:p>
            <a:pPr algn="just"/>
            <a:r>
              <a:rPr lang="en-US" sz="1400" b="0" i="0" dirty="0">
                <a:solidFill>
                  <a:srgbClr val="242424"/>
                </a:solidFill>
                <a:effectLst/>
                <a:latin typeface="source-serif-pro"/>
              </a:rPr>
              <a:t>In the BERT training process, the model receives a pair of sentences as an input and it will be trained to predict whether the second sentence is subsequent to the first sentence.</a:t>
            </a:r>
          </a:p>
          <a:p>
            <a:pPr algn="just"/>
            <a:r>
              <a:rPr lang="en-US" sz="1400" b="0" i="0" dirty="0">
                <a:solidFill>
                  <a:srgbClr val="242424"/>
                </a:solidFill>
                <a:effectLst/>
                <a:latin typeface="source-serif-pro"/>
              </a:rPr>
              <a:t>It is Binary Classification, having two labels </a:t>
            </a:r>
            <a:r>
              <a:rPr lang="en-US" sz="1400" b="1" i="0" dirty="0" err="1">
                <a:solidFill>
                  <a:srgbClr val="242424"/>
                </a:solidFill>
                <a:effectLst/>
                <a:latin typeface="source-serif-pro"/>
              </a:rPr>
              <a:t>IsNext</a:t>
            </a:r>
            <a:r>
              <a:rPr lang="en-US" sz="1400" b="1" i="0" dirty="0">
                <a:solidFill>
                  <a:srgbClr val="242424"/>
                </a:solidFill>
                <a:effectLst/>
                <a:latin typeface="source-serif-pro"/>
              </a:rPr>
              <a:t>, </a:t>
            </a:r>
            <a:r>
              <a:rPr lang="en-US" sz="1400" b="1" i="0" dirty="0" err="1">
                <a:solidFill>
                  <a:srgbClr val="242424"/>
                </a:solidFill>
                <a:effectLst/>
                <a:latin typeface="source-serif-pro"/>
              </a:rPr>
              <a:t>NotNext</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algn="just"/>
            <a:r>
              <a:rPr lang="en-US" sz="1400" b="0" i="0" dirty="0">
                <a:solidFill>
                  <a:srgbClr val="242424"/>
                </a:solidFill>
                <a:effectLst/>
                <a:latin typeface="source-serif-pro"/>
              </a:rPr>
              <a:t>When choosing the sentences A and B for each pre-training example, 50% of the time Sentence B is an actual sentence that follows Sentence A and it is labeled as </a:t>
            </a:r>
            <a:r>
              <a:rPr lang="en-US" sz="1400" b="1" i="0" dirty="0" err="1">
                <a:solidFill>
                  <a:srgbClr val="242424"/>
                </a:solidFill>
                <a:effectLst/>
                <a:latin typeface="source-serif-pro"/>
              </a:rPr>
              <a:t>IsNext</a:t>
            </a:r>
            <a:r>
              <a:rPr lang="en-US" sz="1400" b="1" i="0" dirty="0">
                <a:solidFill>
                  <a:srgbClr val="242424"/>
                </a:solidFill>
                <a:effectLst/>
                <a:latin typeface="source-serif-pro"/>
              </a:rPr>
              <a:t>. </a:t>
            </a:r>
            <a:r>
              <a:rPr lang="en-US" sz="1400" b="0" i="0" dirty="0">
                <a:solidFill>
                  <a:srgbClr val="242424"/>
                </a:solidFill>
                <a:effectLst/>
                <a:latin typeface="source-serif-pro"/>
              </a:rPr>
              <a:t>Next 50% of the time Sentence B will be random sentences from the corpus and it is labeled as </a:t>
            </a:r>
            <a:r>
              <a:rPr lang="en-US" sz="1400" b="1" i="0" dirty="0" err="1">
                <a:solidFill>
                  <a:srgbClr val="242424"/>
                </a:solidFill>
                <a:effectLst/>
                <a:latin typeface="source-serif-pro"/>
              </a:rPr>
              <a:t>NotNext</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marL="0" indent="0" algn="l">
              <a:buNone/>
            </a:pPr>
            <a:r>
              <a:rPr lang="en-US" sz="1800" b="1" i="0" dirty="0">
                <a:solidFill>
                  <a:srgbClr val="242424"/>
                </a:solidFill>
                <a:effectLst/>
                <a:latin typeface="source-serif-pro"/>
              </a:rPr>
              <a:t>Example:</a:t>
            </a:r>
            <a:endParaRPr lang="en-US" sz="1800" b="0" i="0" dirty="0">
              <a:solidFill>
                <a:srgbClr val="242424"/>
              </a:solidFill>
              <a:effectLst/>
              <a:latin typeface="source-serif-pro"/>
            </a:endParaRPr>
          </a:p>
          <a:p>
            <a:pPr algn="l"/>
            <a:r>
              <a:rPr lang="en-US" sz="1800" b="1" i="0" dirty="0">
                <a:solidFill>
                  <a:srgbClr val="242424"/>
                </a:solidFill>
                <a:effectLst/>
                <a:highlight>
                  <a:srgbClr val="FFFF00"/>
                </a:highlight>
                <a:latin typeface="source-serif-pro"/>
              </a:rPr>
              <a:t>Input</a:t>
            </a:r>
            <a:r>
              <a:rPr lang="en-US" sz="1800" b="0" i="0" dirty="0">
                <a:solidFill>
                  <a:srgbClr val="242424"/>
                </a:solidFill>
                <a:effectLst/>
                <a:highlight>
                  <a:srgbClr val="FFFF00"/>
                </a:highlight>
                <a:latin typeface="source-serif-pro"/>
              </a:rPr>
              <a:t>: [CLS] the man went to [</a:t>
            </a:r>
            <a:r>
              <a:rPr lang="en-US" sz="1800" b="0" i="0" dirty="0" err="1">
                <a:solidFill>
                  <a:srgbClr val="242424"/>
                </a:solidFill>
                <a:effectLst/>
                <a:highlight>
                  <a:srgbClr val="FFFF00"/>
                </a:highlight>
                <a:latin typeface="source-serif-pro"/>
              </a:rPr>
              <a:t>MASk</a:t>
            </a:r>
            <a:r>
              <a:rPr lang="en-US" sz="1800" b="0" i="0" dirty="0">
                <a:solidFill>
                  <a:srgbClr val="242424"/>
                </a:solidFill>
                <a:effectLst/>
                <a:highlight>
                  <a:srgbClr val="FFFF00"/>
                </a:highlight>
                <a:latin typeface="source-serif-pro"/>
              </a:rPr>
              <a:t>] store [SEP] he bought a gallon [MASK] milk [SEP]</a:t>
            </a:r>
          </a:p>
          <a:p>
            <a:pPr algn="l"/>
            <a:r>
              <a:rPr lang="en-US" sz="1800" b="1" i="0" dirty="0">
                <a:solidFill>
                  <a:srgbClr val="242424"/>
                </a:solidFill>
                <a:effectLst/>
                <a:highlight>
                  <a:srgbClr val="FFFF00"/>
                </a:highlight>
                <a:latin typeface="source-serif-pro"/>
              </a:rPr>
              <a:t>Output</a:t>
            </a:r>
            <a:r>
              <a:rPr lang="en-US" sz="1800" b="0" i="0" dirty="0">
                <a:solidFill>
                  <a:srgbClr val="242424"/>
                </a:solidFill>
                <a:effectLst/>
                <a:highlight>
                  <a:srgbClr val="FFFF00"/>
                </a:highlight>
                <a:latin typeface="source-serif-pro"/>
              </a:rPr>
              <a:t>: </a:t>
            </a:r>
            <a:r>
              <a:rPr lang="en-US" sz="1800" b="1" i="0" dirty="0" err="1">
                <a:solidFill>
                  <a:srgbClr val="242424"/>
                </a:solidFill>
                <a:effectLst/>
                <a:highlight>
                  <a:srgbClr val="FFFF00"/>
                </a:highlight>
                <a:latin typeface="source-serif-pro"/>
              </a:rPr>
              <a:t>IsNext</a:t>
            </a:r>
            <a:endParaRPr lang="en-US" sz="1800" b="0" i="0" dirty="0">
              <a:solidFill>
                <a:srgbClr val="242424"/>
              </a:solidFill>
              <a:effectLst/>
              <a:highlight>
                <a:srgbClr val="FFFF00"/>
              </a:highlight>
              <a:latin typeface="source-serif-pro"/>
            </a:endParaRPr>
          </a:p>
          <a:p>
            <a:pPr marL="0" indent="0" algn="l">
              <a:buNone/>
            </a:pPr>
            <a:endParaRPr lang="en-US" sz="1800" b="1" i="0" dirty="0">
              <a:solidFill>
                <a:srgbClr val="242424"/>
              </a:solidFill>
              <a:effectLst/>
              <a:latin typeface="source-serif-pro"/>
            </a:endParaRPr>
          </a:p>
          <a:p>
            <a:pPr marL="0" indent="0" algn="l">
              <a:buNone/>
            </a:pPr>
            <a:r>
              <a:rPr lang="en-US" sz="1800" b="1" i="0" dirty="0">
                <a:solidFill>
                  <a:srgbClr val="242424"/>
                </a:solidFill>
                <a:effectLst/>
                <a:latin typeface="source-serif-pro"/>
              </a:rPr>
              <a:t>Another Example:</a:t>
            </a:r>
            <a:endParaRPr lang="en-US" sz="1800" b="0" i="0" dirty="0">
              <a:solidFill>
                <a:srgbClr val="242424"/>
              </a:solidFill>
              <a:effectLst/>
              <a:latin typeface="source-serif-pro"/>
            </a:endParaRPr>
          </a:p>
          <a:p>
            <a:pPr algn="l"/>
            <a:r>
              <a:rPr lang="en-US" sz="1800" b="1" i="0" dirty="0">
                <a:solidFill>
                  <a:srgbClr val="242424"/>
                </a:solidFill>
                <a:effectLst/>
                <a:highlight>
                  <a:srgbClr val="FFFF00"/>
                </a:highlight>
                <a:latin typeface="source-serif-pro"/>
              </a:rPr>
              <a:t>Input</a:t>
            </a:r>
            <a:r>
              <a:rPr lang="en-US" sz="1800" b="0" i="0" dirty="0">
                <a:solidFill>
                  <a:srgbClr val="242424"/>
                </a:solidFill>
                <a:effectLst/>
                <a:highlight>
                  <a:srgbClr val="FFFF00"/>
                </a:highlight>
                <a:latin typeface="source-serif-pro"/>
              </a:rPr>
              <a:t>: [CLS] the man [</a:t>
            </a:r>
            <a:r>
              <a:rPr lang="en-US" sz="1800" b="0" i="0" dirty="0" err="1">
                <a:solidFill>
                  <a:srgbClr val="242424"/>
                </a:solidFill>
                <a:effectLst/>
                <a:highlight>
                  <a:srgbClr val="FFFF00"/>
                </a:highlight>
                <a:latin typeface="source-serif-pro"/>
              </a:rPr>
              <a:t>MASk</a:t>
            </a:r>
            <a:r>
              <a:rPr lang="en-US" sz="1800" b="0" i="0" dirty="0">
                <a:solidFill>
                  <a:srgbClr val="242424"/>
                </a:solidFill>
                <a:effectLst/>
                <a:highlight>
                  <a:srgbClr val="FFFF00"/>
                </a:highlight>
                <a:latin typeface="source-serif-pro"/>
              </a:rPr>
              <a:t>] to the store [SEP] penguin [MASK] are flight ##less birds [SEP]</a:t>
            </a:r>
          </a:p>
          <a:p>
            <a:pPr algn="l"/>
            <a:r>
              <a:rPr lang="en-US" sz="1800" b="1" i="0" dirty="0">
                <a:solidFill>
                  <a:srgbClr val="242424"/>
                </a:solidFill>
                <a:effectLst/>
                <a:highlight>
                  <a:srgbClr val="FFFF00"/>
                </a:highlight>
                <a:latin typeface="source-serif-pro"/>
              </a:rPr>
              <a:t>Output</a:t>
            </a:r>
            <a:r>
              <a:rPr lang="en-US" sz="1800" b="0" i="0" dirty="0">
                <a:solidFill>
                  <a:srgbClr val="242424"/>
                </a:solidFill>
                <a:effectLst/>
                <a:highlight>
                  <a:srgbClr val="FFFF00"/>
                </a:highlight>
                <a:latin typeface="source-serif-pro"/>
              </a:rPr>
              <a:t>: </a:t>
            </a:r>
            <a:r>
              <a:rPr lang="en-US" sz="1800" b="1" i="0" dirty="0" err="1">
                <a:solidFill>
                  <a:srgbClr val="242424"/>
                </a:solidFill>
                <a:effectLst/>
                <a:highlight>
                  <a:srgbClr val="FFFF00"/>
                </a:highlight>
                <a:latin typeface="source-serif-pro"/>
              </a:rPr>
              <a:t>NotNext</a:t>
            </a:r>
            <a:endParaRPr lang="en-US" sz="1800" b="0" i="0" dirty="0">
              <a:solidFill>
                <a:srgbClr val="242424"/>
              </a:solidFill>
              <a:effectLst/>
              <a:highlight>
                <a:srgbClr val="FFFF00"/>
              </a:highlight>
              <a:latin typeface="source-serif-pro"/>
            </a:endParaRPr>
          </a:p>
          <a:p>
            <a:pPr marL="0" indent="0" algn="just">
              <a:buNone/>
            </a:pPr>
            <a:endParaRPr lang="en-IN" sz="1400" dirty="0"/>
          </a:p>
        </p:txBody>
      </p:sp>
      <p:sp>
        <p:nvSpPr>
          <p:cNvPr id="4" name="Date Placeholder 3">
            <a:extLst>
              <a:ext uri="{FF2B5EF4-FFF2-40B4-BE49-F238E27FC236}">
                <a16:creationId xmlns:a16="http://schemas.microsoft.com/office/drawing/2014/main" id="{1E5C3938-51C7-4F35-AED9-E36312A825CA}"/>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F8D67AE3-086A-4814-9B30-EE1BB4B124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6A4D3F9-81ED-461F-9A82-C1F145FC24F1}"/>
              </a:ext>
            </a:extLst>
          </p:cNvPr>
          <p:cNvSpPr>
            <a:spLocks noGrp="1"/>
          </p:cNvSpPr>
          <p:nvPr>
            <p:ph type="sldNum" sz="quarter" idx="12"/>
          </p:nvPr>
        </p:nvSpPr>
        <p:spPr/>
        <p:txBody>
          <a:bodyPr/>
          <a:lstStyle/>
          <a:p>
            <a:fld id="{BB2CE0DE-867F-455F-B20B-96D381B4AB71}" type="slidenum">
              <a:rPr lang="en-US" smtClean="0"/>
              <a:t>47</a:t>
            </a:fld>
            <a:endParaRPr lang="en-US"/>
          </a:p>
        </p:txBody>
      </p:sp>
    </p:spTree>
    <p:extLst>
      <p:ext uri="{BB962C8B-B14F-4D97-AF65-F5344CB8AC3E}">
        <p14:creationId xmlns:p14="http://schemas.microsoft.com/office/powerpoint/2010/main" val="3364645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DD6C-0D0F-4743-84F9-573DD19E7F1F}"/>
              </a:ext>
            </a:extLst>
          </p:cNvPr>
          <p:cNvSpPr>
            <a:spLocks noGrp="1"/>
          </p:cNvSpPr>
          <p:nvPr>
            <p:ph type="title"/>
          </p:nvPr>
        </p:nvSpPr>
        <p:spPr/>
        <p:txBody>
          <a:bodyPr/>
          <a:lstStyle/>
          <a:p>
            <a:r>
              <a:rPr lang="en-IN" dirty="0"/>
              <a:t>Next Sentence Prediction (NSP)</a:t>
            </a:r>
          </a:p>
        </p:txBody>
      </p:sp>
      <p:sp>
        <p:nvSpPr>
          <p:cNvPr id="3" name="Content Placeholder 2">
            <a:extLst>
              <a:ext uri="{FF2B5EF4-FFF2-40B4-BE49-F238E27FC236}">
                <a16:creationId xmlns:a16="http://schemas.microsoft.com/office/drawing/2014/main" id="{B2291E39-AEFA-4DDD-8EBC-09553E65B004}"/>
              </a:ext>
            </a:extLst>
          </p:cNvPr>
          <p:cNvSpPr>
            <a:spLocks noGrp="1"/>
          </p:cNvSpPr>
          <p:nvPr>
            <p:ph idx="1"/>
          </p:nvPr>
        </p:nvSpPr>
        <p:spPr/>
        <p:txBody>
          <a:bodyPr/>
          <a:lstStyle/>
          <a:p>
            <a:pPr marL="0" indent="0" algn="just">
              <a:buNone/>
            </a:pPr>
            <a:endParaRPr lang="en-IN" sz="1400" dirty="0"/>
          </a:p>
        </p:txBody>
      </p:sp>
      <p:sp>
        <p:nvSpPr>
          <p:cNvPr id="4" name="Date Placeholder 3">
            <a:extLst>
              <a:ext uri="{FF2B5EF4-FFF2-40B4-BE49-F238E27FC236}">
                <a16:creationId xmlns:a16="http://schemas.microsoft.com/office/drawing/2014/main" id="{1E5C3938-51C7-4F35-AED9-E36312A825CA}"/>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F8D67AE3-086A-4814-9B30-EE1BB4B124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6A4D3F9-81ED-461F-9A82-C1F145FC24F1}"/>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7" name="Picture 6">
            <a:extLst>
              <a:ext uri="{FF2B5EF4-FFF2-40B4-BE49-F238E27FC236}">
                <a16:creationId xmlns:a16="http://schemas.microsoft.com/office/drawing/2014/main" id="{9CF1176E-8216-4C1E-9D38-49A85510CCBB}"/>
              </a:ext>
            </a:extLst>
          </p:cNvPr>
          <p:cNvPicPr>
            <a:picLocks noChangeAspect="1"/>
          </p:cNvPicPr>
          <p:nvPr/>
        </p:nvPicPr>
        <p:blipFill>
          <a:blip r:embed="rId2"/>
          <a:stretch>
            <a:fillRect/>
          </a:stretch>
        </p:blipFill>
        <p:spPr>
          <a:xfrm>
            <a:off x="685800" y="1219200"/>
            <a:ext cx="6858000" cy="5029200"/>
          </a:xfrm>
          <a:prstGeom prst="rect">
            <a:avLst/>
          </a:prstGeom>
        </p:spPr>
      </p:pic>
    </p:spTree>
    <p:extLst>
      <p:ext uri="{BB962C8B-B14F-4D97-AF65-F5344CB8AC3E}">
        <p14:creationId xmlns:p14="http://schemas.microsoft.com/office/powerpoint/2010/main" val="3068146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CF46-411F-42DB-A0CF-2E8A4CCDE420}"/>
              </a:ext>
            </a:extLst>
          </p:cNvPr>
          <p:cNvSpPr>
            <a:spLocks noGrp="1"/>
          </p:cNvSpPr>
          <p:nvPr>
            <p:ph type="title"/>
          </p:nvPr>
        </p:nvSpPr>
        <p:spPr/>
        <p:txBody>
          <a:bodyPr/>
          <a:lstStyle/>
          <a:p>
            <a:r>
              <a:rPr lang="en-IN" dirty="0"/>
              <a:t>Fine-Tuning with BERT</a:t>
            </a:r>
          </a:p>
        </p:txBody>
      </p:sp>
      <p:sp>
        <p:nvSpPr>
          <p:cNvPr id="3" name="Content Placeholder 2">
            <a:extLst>
              <a:ext uri="{FF2B5EF4-FFF2-40B4-BE49-F238E27FC236}">
                <a16:creationId xmlns:a16="http://schemas.microsoft.com/office/drawing/2014/main" id="{8B39F47E-937F-444A-AB6B-20381791D5D8}"/>
              </a:ext>
            </a:extLst>
          </p:cNvPr>
          <p:cNvSpPr>
            <a:spLocks noGrp="1"/>
          </p:cNvSpPr>
          <p:nvPr>
            <p:ph idx="1"/>
          </p:nvPr>
        </p:nvSpPr>
        <p:spPr/>
        <p:txBody>
          <a:bodyPr/>
          <a:lstStyle/>
          <a:p>
            <a:pPr marL="0" indent="0" algn="l">
              <a:buNone/>
            </a:pPr>
            <a:r>
              <a:rPr lang="en-US" sz="2000" b="0" i="0" dirty="0">
                <a:solidFill>
                  <a:srgbClr val="242424"/>
                </a:solidFill>
                <a:effectLst/>
                <a:latin typeface="source-serif-pro"/>
              </a:rPr>
              <a:t>Using BERT for a specific task is relatively straightforward:</a:t>
            </a:r>
          </a:p>
          <a:p>
            <a:pPr marL="0" indent="0" algn="l">
              <a:buNone/>
            </a:pPr>
            <a:r>
              <a:rPr lang="en-US" sz="2000" dirty="0">
                <a:solidFill>
                  <a:srgbClr val="242424"/>
                </a:solidFill>
                <a:latin typeface="source-serif-pro"/>
              </a:rPr>
              <a:t>B</a:t>
            </a:r>
            <a:r>
              <a:rPr lang="en-US" sz="2000" b="0" i="0" dirty="0">
                <a:solidFill>
                  <a:srgbClr val="242424"/>
                </a:solidFill>
                <a:effectLst/>
                <a:latin typeface="source-serif-pro"/>
              </a:rPr>
              <a:t>ERT can be used for a wide variety of language tasks, while only adding a small layer to the core model:</a:t>
            </a:r>
          </a:p>
          <a:p>
            <a:pPr algn="l">
              <a:buFont typeface="+mj-lt"/>
              <a:buAutoNum type="arabicPeriod"/>
            </a:pPr>
            <a:r>
              <a:rPr lang="en-US" sz="2000" b="0" i="0" dirty="0">
                <a:solidFill>
                  <a:srgbClr val="242424"/>
                </a:solidFill>
                <a:effectLst/>
                <a:latin typeface="source-serif-pro"/>
              </a:rPr>
              <a:t>For Classification Tasks(</a:t>
            </a:r>
            <a:r>
              <a:rPr lang="en-US" sz="2000" b="0" i="0" dirty="0" err="1">
                <a:solidFill>
                  <a:srgbClr val="242424"/>
                </a:solidFill>
                <a:effectLst/>
                <a:latin typeface="source-serif-pro"/>
              </a:rPr>
              <a:t>eg.</a:t>
            </a:r>
            <a:r>
              <a:rPr lang="en-US" sz="2000" b="0" i="0" dirty="0">
                <a:solidFill>
                  <a:srgbClr val="242424"/>
                </a:solidFill>
                <a:effectLst/>
                <a:latin typeface="source-serif-pro"/>
              </a:rPr>
              <a:t> Sentiment Analysis), add a classification (FFN) layer on top of the Transformer output for the [CLS] token.</a:t>
            </a:r>
          </a:p>
          <a:p>
            <a:pPr algn="l">
              <a:buFont typeface="+mj-lt"/>
              <a:buAutoNum type="arabicPeriod"/>
            </a:pPr>
            <a:r>
              <a:rPr lang="en-US" sz="2000" b="0" i="0" dirty="0">
                <a:solidFill>
                  <a:srgbClr val="242424"/>
                </a:solidFill>
                <a:effectLst/>
                <a:latin typeface="source-serif-pro"/>
              </a:rPr>
              <a:t>For Question Answering Tasks (e.g. </a:t>
            </a:r>
            <a:r>
              <a:rPr lang="en-US" sz="2000" b="0" i="0" dirty="0" err="1">
                <a:solidFill>
                  <a:srgbClr val="242424"/>
                </a:solidFill>
                <a:effectLst/>
                <a:latin typeface="source-serif-pro"/>
              </a:rPr>
              <a:t>SQuAD</a:t>
            </a:r>
            <a:r>
              <a:rPr lang="en-US" sz="2000" b="0" i="0" dirty="0">
                <a:solidFill>
                  <a:srgbClr val="242424"/>
                </a:solidFill>
                <a:effectLst/>
                <a:latin typeface="source-serif-pro"/>
              </a:rPr>
              <a:t> v1.1), BERT train two extra vectors that are responsible for marking the beginning and the end of the answer.</a:t>
            </a:r>
          </a:p>
          <a:p>
            <a:endParaRPr lang="en-IN" sz="2000" dirty="0"/>
          </a:p>
        </p:txBody>
      </p:sp>
      <p:sp>
        <p:nvSpPr>
          <p:cNvPr id="4" name="Date Placeholder 3">
            <a:extLst>
              <a:ext uri="{FF2B5EF4-FFF2-40B4-BE49-F238E27FC236}">
                <a16:creationId xmlns:a16="http://schemas.microsoft.com/office/drawing/2014/main" id="{15E741C4-72D5-4194-9DA6-F5F54ADB7882}"/>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3C99E987-D24A-45DD-AD22-31348E7AE62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82FC9B-280C-4443-B5AD-0A23B6CDB68F}"/>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23440021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C6C3-55C4-4A68-8896-16F6EDB9A43B}"/>
              </a:ext>
            </a:extLst>
          </p:cNvPr>
          <p:cNvSpPr>
            <a:spLocks noGrp="1"/>
          </p:cNvSpPr>
          <p:nvPr>
            <p:ph type="title"/>
          </p:nvPr>
        </p:nvSpPr>
        <p:spPr/>
        <p:txBody>
          <a:bodyPr/>
          <a:lstStyle/>
          <a:p>
            <a:r>
              <a:rPr lang="en-IN" sz="2000" dirty="0"/>
              <a:t>Generative Pre-trained Transformer (GPT)</a:t>
            </a:r>
          </a:p>
        </p:txBody>
      </p:sp>
      <p:sp>
        <p:nvSpPr>
          <p:cNvPr id="3" name="Content Placeholder 2">
            <a:extLst>
              <a:ext uri="{FF2B5EF4-FFF2-40B4-BE49-F238E27FC236}">
                <a16:creationId xmlns:a16="http://schemas.microsoft.com/office/drawing/2014/main" id="{62174DC5-A59E-4BFB-AE6D-A67ED1F51FCE}"/>
              </a:ext>
            </a:extLst>
          </p:cNvPr>
          <p:cNvSpPr>
            <a:spLocks noGrp="1"/>
          </p:cNvSpPr>
          <p:nvPr>
            <p:ph idx="1"/>
          </p:nvPr>
        </p:nvSpPr>
        <p:spPr/>
        <p:txBody>
          <a:bodyPr/>
          <a:lstStyle/>
          <a:p>
            <a:pPr marL="0" indent="0">
              <a:buNone/>
            </a:pPr>
            <a:r>
              <a:rPr lang="en-US" sz="1600" dirty="0"/>
              <a:t>Radford, A., Narasimhan, K., Salimans, T. and </a:t>
            </a:r>
            <a:r>
              <a:rPr lang="en-US" sz="1600" dirty="0" err="1"/>
              <a:t>Sutskever</a:t>
            </a:r>
            <a:r>
              <a:rPr lang="en-US" sz="1600" dirty="0"/>
              <a:t>, I., 2018. Improving language understanding by generative pre-training. Published at URL: https://www.mikecaptain.com/resources/pdf/GPT-1.pdf</a:t>
            </a:r>
            <a:endParaRPr lang="en-IN" sz="1600" dirty="0"/>
          </a:p>
        </p:txBody>
      </p:sp>
      <p:sp>
        <p:nvSpPr>
          <p:cNvPr id="4" name="Date Placeholder 3">
            <a:extLst>
              <a:ext uri="{FF2B5EF4-FFF2-40B4-BE49-F238E27FC236}">
                <a16:creationId xmlns:a16="http://schemas.microsoft.com/office/drawing/2014/main" id="{D1C5212A-9DB4-4000-BAE6-C381228063DB}"/>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3104315-C133-41AE-A80B-9B7715CABFB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C875744-ED77-4044-9B83-305C83B32AFF}"/>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8" name="Picture 7">
            <a:extLst>
              <a:ext uri="{FF2B5EF4-FFF2-40B4-BE49-F238E27FC236}">
                <a16:creationId xmlns:a16="http://schemas.microsoft.com/office/drawing/2014/main" id="{05739717-137F-791B-BE1C-F44A3BF7FD75}"/>
              </a:ext>
            </a:extLst>
          </p:cNvPr>
          <p:cNvPicPr>
            <a:picLocks noChangeAspect="1"/>
          </p:cNvPicPr>
          <p:nvPr/>
        </p:nvPicPr>
        <p:blipFill>
          <a:blip r:embed="rId2"/>
          <a:stretch>
            <a:fillRect/>
          </a:stretch>
        </p:blipFill>
        <p:spPr>
          <a:xfrm>
            <a:off x="1447800" y="1984259"/>
            <a:ext cx="5486400" cy="4568941"/>
          </a:xfrm>
          <a:prstGeom prst="rect">
            <a:avLst/>
          </a:prstGeom>
        </p:spPr>
      </p:pic>
    </p:spTree>
    <p:extLst>
      <p:ext uri="{BB962C8B-B14F-4D97-AF65-F5344CB8AC3E}">
        <p14:creationId xmlns:p14="http://schemas.microsoft.com/office/powerpoint/2010/main" val="4232252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BERT and GPT</a:t>
            </a:r>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51</a:t>
            </a:fld>
            <a:endParaRPr lang="en-US"/>
          </a:p>
        </p:txBody>
      </p:sp>
      <p:pic>
        <p:nvPicPr>
          <p:cNvPr id="7" name="Picture 6"/>
          <p:cNvPicPr>
            <a:picLocks noChangeAspect="1"/>
          </p:cNvPicPr>
          <p:nvPr/>
        </p:nvPicPr>
        <p:blipFill>
          <a:blip r:embed="rId3"/>
          <a:stretch>
            <a:fillRect/>
          </a:stretch>
        </p:blipFill>
        <p:spPr>
          <a:xfrm>
            <a:off x="561423" y="1219200"/>
            <a:ext cx="7980000" cy="2895600"/>
          </a:xfrm>
          <a:prstGeom prst="rect">
            <a:avLst/>
          </a:prstGeom>
        </p:spPr>
      </p:pic>
      <p:sp>
        <p:nvSpPr>
          <p:cNvPr id="8" name="TextBox 7"/>
          <p:cNvSpPr txBox="1"/>
          <p:nvPr/>
        </p:nvSpPr>
        <p:spPr>
          <a:xfrm>
            <a:off x="77479" y="4655439"/>
            <a:ext cx="9066521" cy="1754326"/>
          </a:xfrm>
          <a:prstGeom prst="rect">
            <a:avLst/>
          </a:prstGeom>
          <a:noFill/>
        </p:spPr>
        <p:txBody>
          <a:bodyPr wrap="none" rtlCol="0">
            <a:spAutoFit/>
          </a:bodyPr>
          <a:lstStyle/>
          <a:p>
            <a:r>
              <a:rPr lang="en-IN" sz="1600" b="1" dirty="0"/>
              <a:t>BERT (Encoder)</a:t>
            </a:r>
            <a:r>
              <a:rPr lang="en-IN" sz="1600" dirty="0"/>
              <a:t> is like a reader who has the </a:t>
            </a:r>
            <a:r>
              <a:rPr lang="en-IN" sz="1600" b="1" dirty="0"/>
              <a:t>whole sentence in front</a:t>
            </a:r>
            <a:r>
              <a:rPr lang="en-IN" sz="1600" dirty="0"/>
              <a:t> and tries to </a:t>
            </a:r>
          </a:p>
          <a:p>
            <a:r>
              <a:rPr lang="en-IN" sz="1600" dirty="0"/>
              <a:t>understand what a missing word might be.</a:t>
            </a:r>
          </a:p>
          <a:p>
            <a:endParaRPr lang="en-IN" sz="1600" dirty="0"/>
          </a:p>
          <a:p>
            <a:r>
              <a:rPr lang="en-IN" sz="1600" b="1" dirty="0"/>
              <a:t>GPT (Decoder)</a:t>
            </a:r>
            <a:r>
              <a:rPr lang="en-IN" sz="1600" dirty="0"/>
              <a:t> is like a writer who </a:t>
            </a:r>
            <a:r>
              <a:rPr lang="en-IN" sz="1600" b="1" dirty="0"/>
              <a:t>completes a sentence word by word</a:t>
            </a:r>
            <a:r>
              <a:rPr lang="en-IN" sz="1600" dirty="0"/>
              <a:t>, only </a:t>
            </a:r>
          </a:p>
          <a:p>
            <a:r>
              <a:rPr lang="en-IN" sz="1600" dirty="0"/>
              <a:t>seeing what they’ve already written.</a:t>
            </a:r>
          </a:p>
          <a:p>
            <a:endParaRPr lang="en-IN" sz="1400" dirty="0"/>
          </a:p>
          <a:p>
            <a:endParaRPr lang="en-IN" sz="1400" dirty="0"/>
          </a:p>
        </p:txBody>
      </p:sp>
    </p:spTree>
    <p:extLst>
      <p:ext uri="{BB962C8B-B14F-4D97-AF65-F5344CB8AC3E}">
        <p14:creationId xmlns:p14="http://schemas.microsoft.com/office/powerpoint/2010/main" val="3097128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800" dirty="0"/>
              <a:t>GPT Training has two Main Stages</a:t>
            </a:r>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52</a:t>
            </a:fld>
            <a:endParaRPr lang="en-US"/>
          </a:p>
        </p:txBody>
      </p:sp>
      <p:pic>
        <p:nvPicPr>
          <p:cNvPr id="7" name="Picture 6"/>
          <p:cNvPicPr>
            <a:picLocks noChangeAspect="1"/>
          </p:cNvPicPr>
          <p:nvPr/>
        </p:nvPicPr>
        <p:blipFill>
          <a:blip r:embed="rId2"/>
          <a:stretch>
            <a:fillRect/>
          </a:stretch>
        </p:blipFill>
        <p:spPr>
          <a:xfrm>
            <a:off x="109355" y="1752600"/>
            <a:ext cx="8931639" cy="1828800"/>
          </a:xfrm>
          <a:prstGeom prst="rect">
            <a:avLst/>
          </a:prstGeom>
        </p:spPr>
      </p:pic>
    </p:spTree>
    <p:extLst>
      <p:ext uri="{BB962C8B-B14F-4D97-AF65-F5344CB8AC3E}">
        <p14:creationId xmlns:p14="http://schemas.microsoft.com/office/powerpoint/2010/main" val="3960954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200" dirty="0"/>
              <a:t>Input: "The sun rises in the"</a:t>
            </a:r>
            <a:br>
              <a:rPr lang="en-IN" sz="1200" dirty="0"/>
            </a:br>
            <a:r>
              <a:rPr lang="en-IN" sz="1200" dirty="0"/>
              <a:t>Target: "east"</a:t>
            </a:r>
          </a:p>
          <a:p>
            <a:pPr marL="0" indent="0">
              <a:buNone/>
            </a:pPr>
            <a:r>
              <a:rPr lang="en-IN" sz="1200" dirty="0"/>
              <a:t>GPT sees:</a:t>
            </a:r>
          </a:p>
          <a:p>
            <a:pPr marL="0" indent="0">
              <a:buNone/>
            </a:pPr>
            <a:r>
              <a:rPr lang="en-IN" sz="1200" dirty="0"/>
              <a:t>"The" → predicts "sun"</a:t>
            </a:r>
          </a:p>
          <a:p>
            <a:pPr marL="0" indent="0">
              <a:buNone/>
            </a:pPr>
            <a:r>
              <a:rPr lang="en-IN" sz="1200" dirty="0"/>
              <a:t>"The sun" → predicts "rises"</a:t>
            </a:r>
          </a:p>
          <a:p>
            <a:pPr marL="0" indent="0">
              <a:buNone/>
            </a:pPr>
            <a:r>
              <a:rPr lang="en-IN" sz="1200" dirty="0"/>
              <a:t>… and so on</a:t>
            </a:r>
          </a:p>
          <a:p>
            <a:pPr marL="0" indent="0">
              <a:buNone/>
            </a:pPr>
            <a:r>
              <a:rPr lang="en-IN" sz="1200" dirty="0"/>
              <a:t>Each token is predicted </a:t>
            </a:r>
            <a:r>
              <a:rPr lang="en-IN" sz="1200" b="1" dirty="0"/>
              <a:t>given only its left context</a:t>
            </a:r>
            <a:r>
              <a:rPr lang="en-IN" sz="120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34209971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r>
              <a:rPr lang="en-IN" sz="1400" b="1" dirty="0"/>
              <a:t>Loss Function: </a:t>
            </a:r>
            <a:r>
              <a:rPr lang="en-IN" sz="1400" dirty="0"/>
              <a:t>GPT minimizes </a:t>
            </a:r>
            <a:r>
              <a:rPr lang="en-IN" sz="1400" b="1" dirty="0"/>
              <a:t>cross-entropy loss</a:t>
            </a:r>
            <a:r>
              <a:rPr lang="en-IN" sz="1400" dirty="0"/>
              <a:t> for predicting the next token:</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050" dirty="0"/>
              <a:t>Input: "The sun rises in the"</a:t>
            </a:r>
            <a:br>
              <a:rPr lang="en-IN" sz="1050" dirty="0"/>
            </a:br>
            <a:r>
              <a:rPr lang="en-IN" sz="1050" dirty="0"/>
              <a:t>Target: "east"</a:t>
            </a:r>
          </a:p>
          <a:p>
            <a:pPr marL="0" indent="0">
              <a:buNone/>
            </a:pPr>
            <a:r>
              <a:rPr lang="en-IN" sz="1050" dirty="0"/>
              <a:t>GPT sees:</a:t>
            </a:r>
          </a:p>
          <a:p>
            <a:pPr marL="0" indent="0">
              <a:buNone/>
            </a:pPr>
            <a:r>
              <a:rPr lang="en-IN" sz="1050" dirty="0"/>
              <a:t>"The" → predicts "sun"</a:t>
            </a:r>
          </a:p>
          <a:p>
            <a:pPr marL="0" indent="0">
              <a:buNone/>
            </a:pPr>
            <a:r>
              <a:rPr lang="en-IN" sz="1050" dirty="0"/>
              <a:t>"The sun" → predicts "rises"</a:t>
            </a:r>
          </a:p>
          <a:p>
            <a:pPr marL="0" indent="0">
              <a:buNone/>
            </a:pPr>
            <a:r>
              <a:rPr lang="en-IN" sz="1050" dirty="0"/>
              <a:t>… and so on</a:t>
            </a:r>
          </a:p>
          <a:p>
            <a:pPr marL="0" indent="0">
              <a:buNone/>
            </a:pPr>
            <a:r>
              <a:rPr lang="en-IN" sz="1050" dirty="0"/>
              <a:t>Each token is predicted </a:t>
            </a:r>
            <a:r>
              <a:rPr lang="en-IN" sz="1050" b="1" dirty="0"/>
              <a:t>given only its left context</a:t>
            </a:r>
            <a:r>
              <a:rPr lang="en-IN" sz="105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p:cNvPicPr>
            <a:picLocks noChangeAspect="1"/>
          </p:cNvPicPr>
          <p:nvPr/>
        </p:nvPicPr>
        <p:blipFill>
          <a:blip r:embed="rId3"/>
          <a:stretch>
            <a:fillRect/>
          </a:stretch>
        </p:blipFill>
        <p:spPr>
          <a:xfrm>
            <a:off x="914400" y="3962400"/>
            <a:ext cx="2438400" cy="562099"/>
          </a:xfrm>
          <a:prstGeom prst="rect">
            <a:avLst/>
          </a:prstGeom>
        </p:spPr>
      </p:pic>
    </p:spTree>
    <p:extLst>
      <p:ext uri="{BB962C8B-B14F-4D97-AF65-F5344CB8AC3E}">
        <p14:creationId xmlns:p14="http://schemas.microsoft.com/office/powerpoint/2010/main" val="3921705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r>
              <a:rPr lang="en-IN" sz="1400" b="1" dirty="0"/>
              <a:t>Loss Function: </a:t>
            </a:r>
            <a:r>
              <a:rPr lang="en-IN" sz="1400" dirty="0"/>
              <a:t>GPT minimizes </a:t>
            </a:r>
            <a:r>
              <a:rPr lang="en-IN" sz="1400" b="1" dirty="0"/>
              <a:t>cross-entropy loss</a:t>
            </a:r>
            <a:r>
              <a:rPr lang="en-IN" sz="1400" dirty="0"/>
              <a:t> for predicting the next token:</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050" dirty="0"/>
              <a:t>Input: "The sun rises in the"</a:t>
            </a:r>
            <a:br>
              <a:rPr lang="en-IN" sz="1050" dirty="0"/>
            </a:br>
            <a:r>
              <a:rPr lang="en-IN" sz="1050" dirty="0"/>
              <a:t>Target: "east"</a:t>
            </a:r>
          </a:p>
          <a:p>
            <a:pPr marL="0" indent="0">
              <a:buNone/>
            </a:pPr>
            <a:r>
              <a:rPr lang="en-IN" sz="1050" dirty="0"/>
              <a:t>GPT sees:</a:t>
            </a:r>
          </a:p>
          <a:p>
            <a:pPr marL="0" indent="0">
              <a:buNone/>
            </a:pPr>
            <a:r>
              <a:rPr lang="en-IN" sz="1050" dirty="0"/>
              <a:t>"The" → predicts "sun"</a:t>
            </a:r>
          </a:p>
          <a:p>
            <a:pPr marL="0" indent="0">
              <a:buNone/>
            </a:pPr>
            <a:r>
              <a:rPr lang="en-IN" sz="1050" dirty="0"/>
              <a:t>"The sun" → predicts "rises"</a:t>
            </a:r>
          </a:p>
          <a:p>
            <a:pPr marL="0" indent="0">
              <a:buNone/>
            </a:pPr>
            <a:r>
              <a:rPr lang="en-IN" sz="1050" dirty="0"/>
              <a:t>… and so on</a:t>
            </a:r>
          </a:p>
          <a:p>
            <a:pPr marL="0" indent="0">
              <a:buNone/>
            </a:pPr>
            <a:r>
              <a:rPr lang="en-IN" sz="1050" dirty="0"/>
              <a:t>Each token is predicted </a:t>
            </a:r>
            <a:r>
              <a:rPr lang="en-IN" sz="1050" b="1" dirty="0"/>
              <a:t>given only its left context</a:t>
            </a:r>
            <a:r>
              <a:rPr lang="en-IN" sz="105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p:cNvPicPr>
            <a:picLocks noChangeAspect="1"/>
          </p:cNvPicPr>
          <p:nvPr/>
        </p:nvPicPr>
        <p:blipFill>
          <a:blip r:embed="rId3"/>
          <a:stretch>
            <a:fillRect/>
          </a:stretch>
        </p:blipFill>
        <p:spPr>
          <a:xfrm>
            <a:off x="914400" y="3962400"/>
            <a:ext cx="2438400" cy="562099"/>
          </a:xfrm>
          <a:prstGeom prst="rect">
            <a:avLst/>
          </a:prstGeom>
        </p:spPr>
      </p:pic>
      <p:sp>
        <p:nvSpPr>
          <p:cNvPr id="12" name="TextBox 11"/>
          <p:cNvSpPr txBox="1"/>
          <p:nvPr/>
        </p:nvSpPr>
        <p:spPr>
          <a:xfrm>
            <a:off x="4876800" y="4648200"/>
            <a:ext cx="4131259" cy="938719"/>
          </a:xfrm>
          <a:prstGeom prst="rect">
            <a:avLst/>
          </a:prstGeom>
          <a:noFill/>
        </p:spPr>
        <p:txBody>
          <a:bodyPr wrap="none" rtlCol="0">
            <a:spAutoFit/>
          </a:bodyPr>
          <a:lstStyle/>
          <a:p>
            <a:r>
              <a:rPr lang="en-IN" sz="1100" b="1" dirty="0"/>
              <a:t>Key Characteristics:</a:t>
            </a:r>
          </a:p>
          <a:p>
            <a:r>
              <a:rPr lang="en-IN" sz="1100" b="1" dirty="0"/>
              <a:t>Causal masking in attention: </a:t>
            </a:r>
            <a:r>
              <a:rPr lang="en-IN" sz="1100" dirty="0"/>
              <a:t>Model can’t look ahead</a:t>
            </a:r>
          </a:p>
          <a:p>
            <a:r>
              <a:rPr lang="en-IN" sz="1100" dirty="0"/>
              <a:t>GPT is </a:t>
            </a:r>
            <a:r>
              <a:rPr lang="en-IN" sz="1100" b="1" dirty="0"/>
              <a:t>auto-regressive</a:t>
            </a:r>
            <a:r>
              <a:rPr lang="en-IN" sz="1100" dirty="0"/>
              <a:t>: Each token prediction </a:t>
            </a:r>
          </a:p>
          <a:p>
            <a:r>
              <a:rPr lang="en-IN" sz="1100" dirty="0"/>
              <a:t>depends on the previous ones.</a:t>
            </a:r>
          </a:p>
          <a:p>
            <a:endParaRPr lang="en-IN" sz="1100" dirty="0"/>
          </a:p>
        </p:txBody>
      </p:sp>
    </p:spTree>
    <p:extLst>
      <p:ext uri="{BB962C8B-B14F-4D97-AF65-F5344CB8AC3E}">
        <p14:creationId xmlns:p14="http://schemas.microsoft.com/office/powerpoint/2010/main" val="2443968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600" b="1" dirty="0"/>
              <a:t>2. Fine-tuning Phase (Optional)</a:t>
            </a:r>
          </a:p>
          <a:p>
            <a:pPr marL="0" indent="0">
              <a:buNone/>
            </a:pPr>
            <a:r>
              <a:rPr lang="en-IN" sz="1600" dirty="0"/>
              <a:t>Fine-tuning is </a:t>
            </a:r>
            <a:r>
              <a:rPr lang="en-IN" sz="1600" b="1" dirty="0"/>
              <a:t>task-specific adaptation</a:t>
            </a:r>
            <a:r>
              <a:rPr lang="en-IN" sz="1600" dirty="0"/>
              <a:t> or </a:t>
            </a:r>
            <a:r>
              <a:rPr lang="en-IN" sz="1600" b="1" dirty="0" err="1"/>
              <a:t>behavior</a:t>
            </a:r>
            <a:r>
              <a:rPr lang="en-IN" sz="1600" b="1" dirty="0"/>
              <a:t> tuning</a:t>
            </a:r>
            <a:r>
              <a:rPr lang="en-IN" sz="1600" dirty="0"/>
              <a:t>.</a:t>
            </a:r>
          </a:p>
          <a:p>
            <a:pPr marL="0" indent="0">
              <a:buNone/>
            </a:pPr>
            <a:r>
              <a:rPr lang="en-IN" sz="1600" b="1" dirty="0"/>
              <a:t>Use Cases: </a:t>
            </a:r>
            <a:r>
              <a:rPr lang="en-IN" sz="1600" dirty="0"/>
              <a:t>Code generation, medical Q&amp;A, sentiment classification, </a:t>
            </a:r>
            <a:r>
              <a:rPr lang="en-IN" sz="1600" dirty="0" err="1"/>
              <a:t>chatbot</a:t>
            </a:r>
            <a:r>
              <a:rPr lang="en-IN" sz="1600" dirty="0"/>
              <a:t> personalities</a:t>
            </a:r>
          </a:p>
          <a:p>
            <a:pPr marL="0" indent="0">
              <a:buNone/>
            </a:pPr>
            <a:r>
              <a:rPr lang="en-IN" sz="1600" b="1" dirty="0"/>
              <a:t>Example</a:t>
            </a:r>
          </a:p>
          <a:p>
            <a:pPr marL="0" indent="0">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56</a:t>
            </a:fld>
            <a:endParaRPr lang="en-US"/>
          </a:p>
        </p:txBody>
      </p:sp>
      <p:pic>
        <p:nvPicPr>
          <p:cNvPr id="7" name="Picture 6"/>
          <p:cNvPicPr>
            <a:picLocks noChangeAspect="1"/>
          </p:cNvPicPr>
          <p:nvPr/>
        </p:nvPicPr>
        <p:blipFill>
          <a:blip r:embed="rId2"/>
          <a:stretch>
            <a:fillRect/>
          </a:stretch>
        </p:blipFill>
        <p:spPr>
          <a:xfrm>
            <a:off x="309562" y="2743200"/>
            <a:ext cx="8531225" cy="2286001"/>
          </a:xfrm>
          <a:prstGeom prst="rect">
            <a:avLst/>
          </a:prstGeom>
        </p:spPr>
      </p:pic>
    </p:spTree>
    <p:extLst>
      <p:ext uri="{BB962C8B-B14F-4D97-AF65-F5344CB8AC3E}">
        <p14:creationId xmlns:p14="http://schemas.microsoft.com/office/powerpoint/2010/main" val="32811268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F214-0B53-4779-B9AF-ADCD4F344BF2}"/>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795FF591-EF54-452F-9E4D-EB5A61D2C391}"/>
              </a:ext>
            </a:extLst>
          </p:cNvPr>
          <p:cNvSpPr>
            <a:spLocks noGrp="1"/>
          </p:cNvSpPr>
          <p:nvPr>
            <p:ph idx="1"/>
          </p:nvPr>
        </p:nvSpPr>
        <p:spPr/>
        <p:txBody>
          <a:bodyPr/>
          <a:lstStyle/>
          <a:p>
            <a:pPr marL="0" indent="0" algn="l" fontAlgn="ctr">
              <a:buNone/>
            </a:pPr>
            <a:r>
              <a:rPr lang="en-US" sz="1600" b="0" i="0" dirty="0">
                <a:solidFill>
                  <a:srgbClr val="001D35"/>
                </a:solidFill>
                <a:effectLst/>
                <a:latin typeface="Google Sans"/>
              </a:rPr>
              <a:t>Causal Language Modeling (CLM) is a type of language model that predicts the next word in a sequence based on the preceding words, without access to future context. This unidirectional approach mimics how humans process language, making it suitable for tasks like text generation and autocomplete. </a:t>
            </a:r>
            <a:endParaRPr lang="en-US" sz="1600" b="0" i="0" dirty="0">
              <a:solidFill>
                <a:srgbClr val="0B57D0"/>
              </a:solidFill>
              <a:effectLst/>
              <a:latin typeface="Google Sans"/>
            </a:endParaRPr>
          </a:p>
          <a:p>
            <a:pPr marL="0" indent="0" algn="l">
              <a:buNone/>
            </a:pPr>
            <a:r>
              <a:rPr lang="en-US" sz="1600" b="0" i="0" dirty="0">
                <a:solidFill>
                  <a:srgbClr val="001D35"/>
                </a:solidFill>
                <a:effectLst/>
                <a:latin typeface="Google Sans"/>
              </a:rPr>
              <a:t>Here's a more detailed explanation:</a:t>
            </a:r>
          </a:p>
          <a:p>
            <a:pPr marL="0" indent="0" algn="l">
              <a:buNone/>
            </a:pPr>
            <a:r>
              <a:rPr lang="en-US" sz="1600" b="1" i="0" dirty="0">
                <a:solidFill>
                  <a:srgbClr val="001D35"/>
                </a:solidFill>
                <a:effectLst/>
                <a:latin typeface="Google Sans"/>
              </a:rPr>
              <a:t>Unidirectional Prediction:</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CLMs are trained to predict the next token in a sequence, moving from left to right (or right to left), and only considering the tokens that have already appeared.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Causality:</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The "causal" aspect refers to the dependency of each predicted token on the tokens that precede it, establishing a cause-and-effect relationship in the language generation process.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Autoregressive Models:</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CLMs are also known as autoregressive models, as they generate text by predicting one token at a time, using the previously generated tokens as input.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Examples:</a:t>
            </a:r>
            <a:endParaRPr lang="en-US" sz="1600" b="0" i="0" dirty="0">
              <a:solidFill>
                <a:srgbClr val="001D35"/>
              </a:solidFill>
              <a:effectLst/>
              <a:latin typeface="Google Sans"/>
            </a:endParaRPr>
          </a:p>
          <a:p>
            <a:pPr marL="0" indent="0" algn="l">
              <a:buNone/>
            </a:pPr>
            <a:r>
              <a:rPr lang="en-US" sz="1600" b="0" i="0" dirty="0">
                <a:solidFill>
                  <a:srgbClr val="545D7E"/>
                </a:solidFill>
                <a:effectLst/>
                <a:latin typeface="Google Sans"/>
              </a:rPr>
              <a:t>Common examples of models using causal language modeling include the GPT (Generative Pre-trained Transformer) series of models. </a:t>
            </a:r>
          </a:p>
          <a:p>
            <a:pPr marL="0" indent="0">
              <a:buNone/>
            </a:pPr>
            <a:endParaRPr lang="en-IN" sz="1600" dirty="0"/>
          </a:p>
        </p:txBody>
      </p:sp>
      <p:sp>
        <p:nvSpPr>
          <p:cNvPr id="4" name="Date Placeholder 3">
            <a:extLst>
              <a:ext uri="{FF2B5EF4-FFF2-40B4-BE49-F238E27FC236}">
                <a16:creationId xmlns:a16="http://schemas.microsoft.com/office/drawing/2014/main" id="{1171E5CF-8B08-4D23-ACF6-A9639222340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F6D5CA3F-3C0C-4B1B-981E-4E74D6C55BD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A1202CF-3C72-4177-8EFA-A802B723969E}"/>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2208920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78D48-8369-47A3-8234-BAB192B9D8DC}"/>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171DE7FD-AEB1-4985-9DDA-AFB258395A32}"/>
              </a:ext>
            </a:extLst>
          </p:cNvPr>
          <p:cNvSpPr>
            <a:spLocks noGrp="1"/>
          </p:cNvSpPr>
          <p:nvPr>
            <p:ph idx="1"/>
          </p:nvPr>
        </p:nvSpPr>
        <p:spPr/>
        <p:txBody>
          <a:bodyPr/>
          <a:lstStyle/>
          <a:p>
            <a:pPr marL="0" indent="0" algn="l">
              <a:buNone/>
            </a:pPr>
            <a:r>
              <a:rPr lang="en-US" sz="1800" b="1" i="0" dirty="0">
                <a:solidFill>
                  <a:srgbClr val="001D35"/>
                </a:solidFill>
                <a:effectLst/>
                <a:latin typeface="Google Sans"/>
              </a:rPr>
              <a:t>Applications:</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CLMs are well-suited for tasks </a:t>
            </a:r>
            <a:r>
              <a:rPr lang="en-US" sz="1800" b="0" i="0" dirty="0" err="1">
                <a:solidFill>
                  <a:srgbClr val="545D7E"/>
                </a:solidFill>
                <a:effectLst/>
                <a:latin typeface="Google Sans"/>
              </a:rPr>
              <a:t>like:</a:t>
            </a:r>
            <a:r>
              <a:rPr lang="en-US" sz="1800" b="1" i="0" dirty="0" err="1">
                <a:solidFill>
                  <a:srgbClr val="545D7E"/>
                </a:solidFill>
                <a:effectLst/>
                <a:latin typeface="Google Sans"/>
              </a:rPr>
              <a:t>Text</a:t>
            </a:r>
            <a:r>
              <a:rPr lang="en-US" sz="1800" b="1" i="0" dirty="0">
                <a:solidFill>
                  <a:srgbClr val="545D7E"/>
                </a:solidFill>
                <a:effectLst/>
                <a:latin typeface="Google Sans"/>
              </a:rPr>
              <a:t> Generation:</a:t>
            </a:r>
            <a:r>
              <a:rPr lang="en-US" sz="1800" b="0" i="0" dirty="0">
                <a:solidFill>
                  <a:srgbClr val="545D7E"/>
                </a:solidFill>
                <a:effectLst/>
                <a:latin typeface="Google Sans"/>
              </a:rPr>
              <a:t> Generating coherent and contextually relevant text. </a:t>
            </a:r>
            <a:endParaRPr lang="en-US" sz="1800" b="0" i="0" dirty="0">
              <a:solidFill>
                <a:srgbClr val="0B57D0"/>
              </a:solidFill>
              <a:effectLst/>
              <a:latin typeface="Google Sans"/>
            </a:endParaRPr>
          </a:p>
          <a:p>
            <a:pPr marL="0" indent="0" algn="l" fontAlgn="ctr">
              <a:buNone/>
            </a:pPr>
            <a:r>
              <a:rPr lang="en-US" sz="1800" b="1" i="0" dirty="0">
                <a:solidFill>
                  <a:srgbClr val="545D7E"/>
                </a:solidFill>
                <a:effectLst/>
                <a:latin typeface="Google Sans"/>
              </a:rPr>
              <a:t>Chatbots:</a:t>
            </a:r>
            <a:r>
              <a:rPr lang="en-US" sz="1800" b="0" i="0" dirty="0">
                <a:solidFill>
                  <a:srgbClr val="545D7E"/>
                </a:solidFill>
                <a:effectLst/>
                <a:latin typeface="Google Sans"/>
              </a:rPr>
              <a:t> Creating conversational AI that responds to user input. </a:t>
            </a:r>
            <a:endParaRPr lang="en-US" sz="1800" b="0" i="0" dirty="0">
              <a:solidFill>
                <a:srgbClr val="0B57D0"/>
              </a:solidFill>
              <a:effectLst/>
              <a:latin typeface="Google Sans"/>
            </a:endParaRPr>
          </a:p>
          <a:p>
            <a:pPr marL="0" indent="0" algn="l" fontAlgn="ctr">
              <a:buNone/>
            </a:pPr>
            <a:r>
              <a:rPr lang="en-US" sz="1800" b="1" i="0" dirty="0">
                <a:solidFill>
                  <a:srgbClr val="545D7E"/>
                </a:solidFill>
                <a:effectLst/>
                <a:latin typeface="Google Sans"/>
              </a:rPr>
              <a:t>Autocomplete:</a:t>
            </a:r>
            <a:r>
              <a:rPr lang="en-US" sz="1800" b="0" i="0" dirty="0">
                <a:solidFill>
                  <a:srgbClr val="545D7E"/>
                </a:solidFill>
                <a:effectLst/>
                <a:latin typeface="Google Sans"/>
              </a:rPr>
              <a:t> Predicting the continuation of a partially written text.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Training:</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CLMs are typically trained on large amounts of text data, where the model learns to predict the next token in a sequence given the preceding tokens.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Evaluation:</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Metrics like cross-entropy and perplexity are used to evaluate the performance of CLMs, assessing how well the model predicts the distribution of text.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Key Difference from Masked Language Models (MLM):</a:t>
            </a:r>
            <a:endParaRPr lang="en-US" sz="1800" b="0" i="0" dirty="0">
              <a:solidFill>
                <a:srgbClr val="001D35"/>
              </a:solidFill>
              <a:effectLst/>
              <a:latin typeface="Google Sans"/>
            </a:endParaRPr>
          </a:p>
          <a:p>
            <a:pPr marL="0" indent="0" algn="l">
              <a:buNone/>
            </a:pPr>
            <a:r>
              <a:rPr lang="en-US" sz="1800" b="0" i="0" dirty="0">
                <a:solidFill>
                  <a:srgbClr val="545D7E"/>
                </a:solidFill>
                <a:effectLst/>
                <a:latin typeface="Google Sans"/>
              </a:rPr>
              <a:t>Unlike CLMs, MLM models predict missing words in a sentence by looking at both preceding and succeeding words. </a:t>
            </a:r>
          </a:p>
          <a:p>
            <a:pPr marL="0" indent="0">
              <a:buNone/>
            </a:pPr>
            <a:endParaRPr lang="en-IN" sz="1800" dirty="0"/>
          </a:p>
        </p:txBody>
      </p:sp>
      <p:sp>
        <p:nvSpPr>
          <p:cNvPr id="4" name="Date Placeholder 3">
            <a:extLst>
              <a:ext uri="{FF2B5EF4-FFF2-40B4-BE49-F238E27FC236}">
                <a16:creationId xmlns:a16="http://schemas.microsoft.com/office/drawing/2014/main" id="{2EA9426F-540A-401C-A784-39B7E6ECE3D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0289B4CB-3E2C-4AB9-8417-C3633552E9D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129C30E-6CAF-49F5-8D54-56B58DE1F48A}"/>
              </a:ext>
            </a:extLst>
          </p:cNvPr>
          <p:cNvSpPr>
            <a:spLocks noGrp="1"/>
          </p:cNvSpPr>
          <p:nvPr>
            <p:ph type="sldNum" sz="quarter" idx="12"/>
          </p:nvPr>
        </p:nvSpPr>
        <p:spPr/>
        <p:txBody>
          <a:bodyPr/>
          <a:lstStyle/>
          <a:p>
            <a:fld id="{BB2CE0DE-867F-455F-B20B-96D381B4AB71}" type="slidenum">
              <a:rPr lang="en-US" smtClean="0"/>
              <a:t>58</a:t>
            </a:fld>
            <a:endParaRPr lang="en-US"/>
          </a:p>
        </p:txBody>
      </p:sp>
    </p:spTree>
    <p:extLst>
      <p:ext uri="{BB962C8B-B14F-4D97-AF65-F5344CB8AC3E}">
        <p14:creationId xmlns:p14="http://schemas.microsoft.com/office/powerpoint/2010/main" val="2454496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67C1-2A57-4474-8C00-95392C157B70}"/>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3D3263B6-B712-482E-96F7-DE78350E4D59}"/>
              </a:ext>
            </a:extLst>
          </p:cNvPr>
          <p:cNvSpPr>
            <a:spLocks noGrp="1"/>
          </p:cNvSpPr>
          <p:nvPr>
            <p:ph idx="1"/>
          </p:nvPr>
        </p:nvSpPr>
        <p:spPr/>
        <p:txBody>
          <a:bodyPr/>
          <a:lstStyle/>
          <a:p>
            <a:pPr marL="0" indent="0" algn="just">
              <a:buNone/>
            </a:pPr>
            <a:r>
              <a:rPr lang="en-US" sz="1800" b="0" i="0" dirty="0">
                <a:solidFill>
                  <a:srgbClr val="273239"/>
                </a:solidFill>
                <a:effectLst/>
                <a:latin typeface="Nunito" pitchFamily="2" charset="0"/>
              </a:rPr>
              <a:t>These models are called "causal" because they rely on a </a:t>
            </a:r>
            <a:r>
              <a:rPr lang="en-US" sz="1800" b="1" i="0" dirty="0">
                <a:solidFill>
                  <a:srgbClr val="273239"/>
                </a:solidFill>
                <a:effectLst/>
                <a:latin typeface="Nunito" pitchFamily="2" charset="0"/>
              </a:rPr>
              <a:t>causal relationship</a:t>
            </a:r>
            <a:r>
              <a:rPr lang="en-US" sz="1800" b="0" i="0" dirty="0">
                <a:solidFill>
                  <a:srgbClr val="273239"/>
                </a:solidFill>
                <a:effectLst/>
                <a:latin typeface="Nunito" pitchFamily="2" charset="0"/>
              </a:rPr>
              <a:t>: each word depends only on the words that came before it not on any future words. This approach mimics how humans naturally process language as they read or speak.</a:t>
            </a: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r>
              <a:rPr lang="en-US" sz="1800" dirty="0"/>
              <a:t>The image explains how a Causal Language Model (CLM) predicts the next word using only previous words. The model takes "All," "the," "very," and "MASK" as input and predicts "best" for the masked word.</a:t>
            </a:r>
            <a:endParaRPr lang="en-IN" sz="1800" dirty="0"/>
          </a:p>
        </p:txBody>
      </p:sp>
      <p:sp>
        <p:nvSpPr>
          <p:cNvPr id="4" name="Date Placeholder 3">
            <a:extLst>
              <a:ext uri="{FF2B5EF4-FFF2-40B4-BE49-F238E27FC236}">
                <a16:creationId xmlns:a16="http://schemas.microsoft.com/office/drawing/2014/main" id="{F1427911-81AF-4562-8DB2-24C4BC82D72D}"/>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7884841D-4E9D-479B-A932-6746D6E698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8D0D35-8644-4D34-85B3-CFE19F46046B}"/>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7" name="Picture 6">
            <a:extLst>
              <a:ext uri="{FF2B5EF4-FFF2-40B4-BE49-F238E27FC236}">
                <a16:creationId xmlns:a16="http://schemas.microsoft.com/office/drawing/2014/main" id="{8E7FDCF1-4825-4EB9-BC56-7EF26C69FC4F}"/>
              </a:ext>
            </a:extLst>
          </p:cNvPr>
          <p:cNvPicPr>
            <a:picLocks noChangeAspect="1"/>
          </p:cNvPicPr>
          <p:nvPr/>
        </p:nvPicPr>
        <p:blipFill>
          <a:blip r:embed="rId2"/>
          <a:stretch>
            <a:fillRect/>
          </a:stretch>
        </p:blipFill>
        <p:spPr>
          <a:xfrm>
            <a:off x="2658035" y="2552700"/>
            <a:ext cx="2828925" cy="2514600"/>
          </a:xfrm>
          <a:prstGeom prst="rect">
            <a:avLst/>
          </a:prstGeom>
        </p:spPr>
      </p:pic>
    </p:spTree>
    <p:extLst>
      <p:ext uri="{BB962C8B-B14F-4D97-AF65-F5344CB8AC3E}">
        <p14:creationId xmlns:p14="http://schemas.microsoft.com/office/powerpoint/2010/main" val="1378254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3EF17-74FE-46C8-B943-10E4E1F43B07}"/>
              </a:ext>
            </a:extLst>
          </p:cNvPr>
          <p:cNvSpPr>
            <a:spLocks noGrp="1"/>
          </p:cNvSpPr>
          <p:nvPr>
            <p:ph type="title"/>
          </p:nvPr>
        </p:nvSpPr>
        <p:spPr/>
        <p:txBody>
          <a:bodyPr/>
          <a:lstStyle/>
          <a:p>
            <a:r>
              <a:rPr lang="en-US" sz="2400" dirty="0"/>
              <a:t>How Do Causal Language Models Work?</a:t>
            </a:r>
            <a:endParaRPr lang="en-IN" sz="2400" dirty="0"/>
          </a:p>
        </p:txBody>
      </p:sp>
      <p:sp>
        <p:nvSpPr>
          <p:cNvPr id="3" name="Content Placeholder 2">
            <a:extLst>
              <a:ext uri="{FF2B5EF4-FFF2-40B4-BE49-F238E27FC236}">
                <a16:creationId xmlns:a16="http://schemas.microsoft.com/office/drawing/2014/main" id="{9709AEED-ADB6-4151-84DB-2D5B6F69E54C}"/>
              </a:ext>
            </a:extLst>
          </p:cNvPr>
          <p:cNvSpPr>
            <a:spLocks noGrp="1"/>
          </p:cNvSpPr>
          <p:nvPr>
            <p:ph idx="1"/>
          </p:nvPr>
        </p:nvSpPr>
        <p:spPr/>
        <p:txBody>
          <a:bodyPr/>
          <a:lstStyle/>
          <a:p>
            <a:pPr marL="0" indent="0" algn="just" rtl="0" fontAlgn="base">
              <a:buNone/>
            </a:pPr>
            <a:r>
              <a:rPr lang="en-US" sz="1800" b="0" i="0" dirty="0">
                <a:solidFill>
                  <a:srgbClr val="273239"/>
                </a:solidFill>
                <a:effectLst/>
                <a:latin typeface="Nunito" pitchFamily="2" charset="0"/>
              </a:rPr>
              <a:t>The training process for causal language models involves two key steps:</a:t>
            </a:r>
          </a:p>
          <a:p>
            <a:pPr marL="0" indent="0" algn="just" fontAlgn="base">
              <a:buNone/>
            </a:pPr>
            <a:r>
              <a:rPr lang="en-US" sz="1800" b="1" i="0" dirty="0">
                <a:solidFill>
                  <a:srgbClr val="273239"/>
                </a:solidFill>
                <a:effectLst/>
                <a:latin typeface="Nunito" pitchFamily="2" charset="0"/>
              </a:rPr>
              <a:t>Step 1: Tokenization</a:t>
            </a:r>
          </a:p>
          <a:p>
            <a:pPr marL="0" indent="0" algn="just" rtl="0" fontAlgn="base">
              <a:buNone/>
            </a:pPr>
            <a:r>
              <a:rPr lang="en-US" sz="1800" b="0" i="0" dirty="0">
                <a:solidFill>
                  <a:srgbClr val="273239"/>
                </a:solidFill>
                <a:effectLst/>
                <a:latin typeface="Nunito" pitchFamily="2" charset="0"/>
              </a:rPr>
              <a:t>The input text is broken down into smaller units called tokens, which can be words, </a:t>
            </a:r>
            <a:r>
              <a:rPr lang="en-US" sz="1800" b="0" i="0" dirty="0" err="1">
                <a:solidFill>
                  <a:srgbClr val="273239"/>
                </a:solidFill>
                <a:effectLst/>
                <a:latin typeface="Nunito" pitchFamily="2" charset="0"/>
              </a:rPr>
              <a:t>subwords</a:t>
            </a:r>
            <a:r>
              <a:rPr lang="en-US" sz="1800" b="0" i="0" dirty="0">
                <a:solidFill>
                  <a:srgbClr val="273239"/>
                </a:solidFill>
                <a:effectLst/>
                <a:latin typeface="Nunito" pitchFamily="2" charset="0"/>
              </a:rPr>
              <a:t> or even individual characters. For instance the sentence "The cat sleeps" might be tokenized into ["The", "cat", "sleeps"].</a:t>
            </a:r>
          </a:p>
          <a:p>
            <a:pPr marL="0" indent="0" algn="just">
              <a:buNone/>
            </a:pPr>
            <a:endParaRPr lang="en-IN" sz="1800" dirty="0"/>
          </a:p>
        </p:txBody>
      </p:sp>
      <p:sp>
        <p:nvSpPr>
          <p:cNvPr id="4" name="Date Placeholder 3">
            <a:extLst>
              <a:ext uri="{FF2B5EF4-FFF2-40B4-BE49-F238E27FC236}">
                <a16:creationId xmlns:a16="http://schemas.microsoft.com/office/drawing/2014/main" id="{86F0586F-BEFE-4FE7-8EDD-363D97C50CF7}"/>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3FF4E13C-1EDE-4CD2-8795-9894F0A977C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BB88996-ECF4-4035-A991-E5188DDBABE4}"/>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3124854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3F98-75A4-4483-94B8-D75DCDCA10C0}"/>
              </a:ext>
            </a:extLst>
          </p:cNvPr>
          <p:cNvSpPr>
            <a:spLocks noGrp="1"/>
          </p:cNvSpPr>
          <p:nvPr>
            <p:ph type="title"/>
          </p:nvPr>
        </p:nvSpPr>
        <p:spPr/>
        <p:txBody>
          <a:bodyPr/>
          <a:lstStyle/>
          <a:p>
            <a:r>
              <a:rPr lang="en-US" sz="2400" dirty="0"/>
              <a:t>How Do Causal Language Models Work?</a:t>
            </a:r>
            <a:endParaRPr lang="en-IN" sz="2400" dirty="0"/>
          </a:p>
        </p:txBody>
      </p:sp>
      <p:sp>
        <p:nvSpPr>
          <p:cNvPr id="3" name="Content Placeholder 2">
            <a:extLst>
              <a:ext uri="{FF2B5EF4-FFF2-40B4-BE49-F238E27FC236}">
                <a16:creationId xmlns:a16="http://schemas.microsoft.com/office/drawing/2014/main" id="{EC1152DD-7299-4E5B-925E-A73956ABEEFF}"/>
              </a:ext>
            </a:extLst>
          </p:cNvPr>
          <p:cNvSpPr>
            <a:spLocks noGrp="1"/>
          </p:cNvSpPr>
          <p:nvPr>
            <p:ph idx="1"/>
          </p:nvPr>
        </p:nvSpPr>
        <p:spPr/>
        <p:txBody>
          <a:bodyPr/>
          <a:lstStyle/>
          <a:p>
            <a:pPr algn="just" rtl="0" fontAlgn="base"/>
            <a:r>
              <a:rPr lang="en-US" sz="1800" b="0" i="0" dirty="0">
                <a:solidFill>
                  <a:srgbClr val="273239"/>
                </a:solidFill>
                <a:effectLst/>
                <a:latin typeface="Nunito" pitchFamily="2" charset="0"/>
              </a:rPr>
              <a:t>During training the model learns to predict the next token in a sequence based on the preceding tokens. It does this by analyzing patterns in large datasets of text. Over time, the model becomes adept at understanding grammar, syntax and context allowing it to generate fluent and meaningful sentences. Once trained causal language models can generate text by iteratively predicting one word at a time.</a:t>
            </a:r>
          </a:p>
          <a:p>
            <a:pPr marL="0" indent="0" algn="just" rtl="0" fontAlgn="base">
              <a:buNone/>
            </a:pPr>
            <a:r>
              <a:rPr lang="en-US" sz="1800" dirty="0">
                <a:effectLst/>
              </a:rPr>
              <a:t>For example:</a:t>
            </a:r>
          </a:p>
          <a:p>
            <a:pPr algn="just" fontAlgn="base">
              <a:buFont typeface="Arial" panose="020B0604020202020204" pitchFamily="34" charset="0"/>
              <a:buChar char="•"/>
            </a:pPr>
            <a:r>
              <a:rPr lang="en-US" sz="1800" b="1" dirty="0">
                <a:solidFill>
                  <a:srgbClr val="273239"/>
                </a:solidFill>
                <a:effectLst/>
              </a:rPr>
              <a:t>Input: </a:t>
            </a:r>
            <a:r>
              <a:rPr lang="en-US" sz="1800" dirty="0">
                <a:solidFill>
                  <a:srgbClr val="273239"/>
                </a:solidFill>
                <a:effectLst/>
              </a:rPr>
              <a:t>"The weather is"</a:t>
            </a:r>
          </a:p>
          <a:p>
            <a:pPr algn="just" fontAlgn="base">
              <a:buFont typeface="Arial" panose="020B0604020202020204" pitchFamily="34" charset="0"/>
              <a:buChar char="•"/>
            </a:pPr>
            <a:r>
              <a:rPr lang="en-US" sz="1800" b="1" dirty="0">
                <a:solidFill>
                  <a:srgbClr val="273239"/>
                </a:solidFill>
                <a:effectLst/>
              </a:rPr>
              <a:t>Prediction: </a:t>
            </a:r>
            <a:r>
              <a:rPr lang="en-US" sz="1800" dirty="0">
                <a:solidFill>
                  <a:srgbClr val="273239"/>
                </a:solidFill>
                <a:effectLst/>
              </a:rPr>
              <a:t>"sunny" </a:t>
            </a:r>
          </a:p>
          <a:p>
            <a:pPr marL="0" indent="0" algn="just" rtl="0" fontAlgn="base">
              <a:buNone/>
            </a:pPr>
            <a:r>
              <a:rPr lang="en-US" sz="1800" dirty="0">
                <a:effectLst/>
              </a:rPr>
              <a:t>The model analyzes the input and predicts the next word, resulting in:</a:t>
            </a:r>
          </a:p>
          <a:p>
            <a:pPr algn="just" fontAlgn="base">
              <a:buFont typeface="Arial" panose="020B0604020202020204" pitchFamily="34" charset="0"/>
              <a:buChar char="•"/>
            </a:pPr>
            <a:r>
              <a:rPr lang="en-US" sz="1800" b="1" dirty="0">
                <a:solidFill>
                  <a:srgbClr val="273239"/>
                </a:solidFill>
                <a:effectLst/>
              </a:rPr>
              <a:t>New Input: </a:t>
            </a:r>
            <a:r>
              <a:rPr lang="en-US" sz="1800" dirty="0">
                <a:solidFill>
                  <a:srgbClr val="273239"/>
                </a:solidFill>
                <a:effectLst/>
              </a:rPr>
              <a:t>"The weather is sunny"</a:t>
            </a:r>
          </a:p>
          <a:p>
            <a:pPr algn="just" fontAlgn="base">
              <a:buFont typeface="Arial" panose="020B0604020202020204" pitchFamily="34" charset="0"/>
              <a:buChar char="•"/>
            </a:pPr>
            <a:r>
              <a:rPr lang="en-US" sz="1800" b="1" dirty="0">
                <a:solidFill>
                  <a:srgbClr val="273239"/>
                </a:solidFill>
                <a:effectLst/>
              </a:rPr>
              <a:t>Next Prediction: </a:t>
            </a:r>
            <a:r>
              <a:rPr lang="en-US" sz="1800" dirty="0">
                <a:solidFill>
                  <a:srgbClr val="273239"/>
                </a:solidFill>
                <a:effectLst/>
              </a:rPr>
              <a:t>"today" </a:t>
            </a:r>
          </a:p>
          <a:p>
            <a:pPr marL="0" indent="0" algn="just" rtl="0" fontAlgn="base">
              <a:buNone/>
            </a:pPr>
            <a:endParaRPr lang="en-US" sz="1800" dirty="0">
              <a:effectLst/>
            </a:endParaRPr>
          </a:p>
          <a:p>
            <a:pPr marL="0" indent="0" algn="just" rtl="0" fontAlgn="base">
              <a:buNone/>
            </a:pPr>
            <a:r>
              <a:rPr lang="en-US" sz="1800" dirty="0">
                <a:effectLst/>
              </a:rPr>
              <a:t>Finally the model completes the sentence:</a:t>
            </a:r>
            <a:r>
              <a:rPr lang="en-US" sz="1800" b="1" dirty="0">
                <a:effectLst/>
              </a:rPr>
              <a:t> </a:t>
            </a:r>
            <a:r>
              <a:rPr lang="en-US" sz="1800" dirty="0">
                <a:effectLst/>
              </a:rPr>
              <a:t>"The weather is sunny today." </a:t>
            </a:r>
          </a:p>
          <a:p>
            <a:pPr algn="just"/>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4373F484-1BEA-4019-9C4A-058447ABAE7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844A73F7-F192-492F-B0F7-B240420BE2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274592-E183-4C40-9986-90B1DC800154}"/>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19894061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92D30-E45C-489B-8523-2D9E882BC4C1}"/>
              </a:ext>
            </a:extLst>
          </p:cNvPr>
          <p:cNvSpPr>
            <a:spLocks noGrp="1"/>
          </p:cNvSpPr>
          <p:nvPr>
            <p:ph type="title"/>
          </p:nvPr>
        </p:nvSpPr>
        <p:spPr/>
        <p:txBody>
          <a:bodyPr/>
          <a:lstStyle/>
          <a:p>
            <a:r>
              <a:rPr lang="en-IN" dirty="0"/>
              <a:t>Popular Causal Language Models</a:t>
            </a:r>
          </a:p>
        </p:txBody>
      </p:sp>
      <p:sp>
        <p:nvSpPr>
          <p:cNvPr id="3" name="Content Placeholder 2">
            <a:extLst>
              <a:ext uri="{FF2B5EF4-FFF2-40B4-BE49-F238E27FC236}">
                <a16:creationId xmlns:a16="http://schemas.microsoft.com/office/drawing/2014/main" id="{64538737-D888-4B70-AEEE-C58BC6C5BCCD}"/>
              </a:ext>
            </a:extLst>
          </p:cNvPr>
          <p:cNvSpPr>
            <a:spLocks noGrp="1"/>
          </p:cNvSpPr>
          <p:nvPr>
            <p:ph idx="1"/>
          </p:nvPr>
        </p:nvSpPr>
        <p:spPr/>
        <p:txBody>
          <a:bodyPr/>
          <a:lstStyle/>
          <a:p>
            <a:pPr marL="0" indent="0" algn="just">
              <a:buNone/>
            </a:pPr>
            <a:r>
              <a:rPr lang="en-US" sz="1800" b="1" dirty="0"/>
              <a:t>GPT (Generative Pre-trained Transformer): </a:t>
            </a:r>
            <a:r>
              <a:rPr lang="en-US" sz="1800" dirty="0"/>
              <a:t>It is developed by </a:t>
            </a:r>
            <a:r>
              <a:rPr lang="en-US" sz="1800" dirty="0" err="1"/>
              <a:t>OpenAI</a:t>
            </a:r>
            <a:r>
              <a:rPr lang="en-US" sz="1800" dirty="0"/>
              <a:t> GPT is one of the most well-known causal language models. It has been used to generate human-like text, answer questions, and even write code. Versions like GPT-3 and GPT-4 have demonstrated remarkable capabilities in creative and technical writing. </a:t>
            </a:r>
          </a:p>
          <a:p>
            <a:pPr marL="0" indent="0" algn="just">
              <a:buNone/>
            </a:pPr>
            <a:r>
              <a:rPr lang="en-US" sz="1800" b="1" dirty="0" err="1"/>
              <a:t>PaLM</a:t>
            </a:r>
            <a:r>
              <a:rPr lang="en-US" sz="1800" b="1" dirty="0"/>
              <a:t> (Pathways Language Model): </a:t>
            </a:r>
            <a:r>
              <a:rPr lang="en-US" sz="1800" dirty="0"/>
              <a:t>Developed by Google, </a:t>
            </a:r>
            <a:r>
              <a:rPr lang="en-US" sz="1800" dirty="0" err="1"/>
              <a:t>PaLM</a:t>
            </a:r>
            <a:r>
              <a:rPr lang="en-US" sz="1800" dirty="0"/>
              <a:t> is a large-scale causal language model capable of performing a wide range of tasks, including reasoning and multi-language translation.</a:t>
            </a:r>
          </a:p>
          <a:p>
            <a:pPr marL="0" indent="0" algn="just">
              <a:buNone/>
            </a:pPr>
            <a:r>
              <a:rPr lang="en-US" sz="1800" b="1" dirty="0" err="1"/>
              <a:t>LLaMA</a:t>
            </a:r>
            <a:r>
              <a:rPr lang="en-US" sz="1800" b="1" dirty="0"/>
              <a:t> (Large Language Model Meta AI): </a:t>
            </a:r>
            <a:r>
              <a:rPr lang="en-US" sz="1800" dirty="0"/>
              <a:t>Created by Meta, </a:t>
            </a:r>
            <a:r>
              <a:rPr lang="en-US" sz="1800" dirty="0" err="1"/>
              <a:t>LLaMA</a:t>
            </a:r>
            <a:r>
              <a:rPr lang="en-US" sz="1800" dirty="0"/>
              <a:t> is another powerful causal language model designed for research purposes, with impressive text generation capabilities.</a:t>
            </a:r>
            <a:endParaRPr lang="en-IN" sz="1800" dirty="0"/>
          </a:p>
        </p:txBody>
      </p:sp>
      <p:sp>
        <p:nvSpPr>
          <p:cNvPr id="4" name="Date Placeholder 3">
            <a:extLst>
              <a:ext uri="{FF2B5EF4-FFF2-40B4-BE49-F238E27FC236}">
                <a16:creationId xmlns:a16="http://schemas.microsoft.com/office/drawing/2014/main" id="{7D7CF56A-EB2E-402E-A2CD-8FEAC5D07E21}"/>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3CF29D26-7A1E-4461-A315-FF2954F3901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51ABB05-2405-44A1-A352-15805C6C8083}"/>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16972362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8242-4B15-4029-8923-2E7FCE0A2554}"/>
              </a:ext>
            </a:extLst>
          </p:cNvPr>
          <p:cNvSpPr>
            <a:spLocks noGrp="1"/>
          </p:cNvSpPr>
          <p:nvPr>
            <p:ph type="title"/>
          </p:nvPr>
        </p:nvSpPr>
        <p:spPr/>
        <p:txBody>
          <a:bodyPr/>
          <a:lstStyle/>
          <a:p>
            <a:r>
              <a:rPr lang="en-US" sz="2800" dirty="0"/>
              <a:t>Applications of Causal Language Models</a:t>
            </a:r>
            <a:endParaRPr lang="en-IN" sz="2800" dirty="0"/>
          </a:p>
        </p:txBody>
      </p:sp>
      <p:sp>
        <p:nvSpPr>
          <p:cNvPr id="3" name="Content Placeholder 2">
            <a:extLst>
              <a:ext uri="{FF2B5EF4-FFF2-40B4-BE49-F238E27FC236}">
                <a16:creationId xmlns:a16="http://schemas.microsoft.com/office/drawing/2014/main" id="{4F691986-D6DD-47DD-835A-BCBF080C4DA2}"/>
              </a:ext>
            </a:extLst>
          </p:cNvPr>
          <p:cNvSpPr>
            <a:spLocks noGrp="1"/>
          </p:cNvSpPr>
          <p:nvPr>
            <p:ph idx="1"/>
          </p:nvPr>
        </p:nvSpPr>
        <p:spPr/>
        <p:txBody>
          <a:bodyPr/>
          <a:lstStyle/>
          <a:p>
            <a:pPr marL="0" indent="0" algn="just" rtl="0" fontAlgn="base">
              <a:buNone/>
            </a:pPr>
            <a:r>
              <a:rPr lang="en-US" sz="1600" b="0" i="0" dirty="0">
                <a:solidFill>
                  <a:srgbClr val="273239"/>
                </a:solidFill>
                <a:effectLst/>
                <a:latin typeface="Nunito" pitchFamily="2" charset="0"/>
              </a:rPr>
              <a:t>Causal language models have a wide range of practical applications across industries. Some common use cases include:</a:t>
            </a:r>
          </a:p>
          <a:p>
            <a:pPr algn="just" fontAlgn="base">
              <a:buFont typeface="+mj-lt"/>
              <a:buAutoNum type="arabicPeriod"/>
            </a:pPr>
            <a:r>
              <a:rPr lang="en-US" sz="1600" b="1" i="0" dirty="0">
                <a:solidFill>
                  <a:srgbClr val="273239"/>
                </a:solidFill>
                <a:effectLst/>
                <a:latin typeface="Nunito" pitchFamily="2" charset="0"/>
              </a:rPr>
              <a:t>Content Creation </a:t>
            </a:r>
            <a:r>
              <a:rPr lang="en-US" sz="1600" b="0" i="0" dirty="0">
                <a:solidFill>
                  <a:srgbClr val="273239"/>
                </a:solidFill>
                <a:effectLst/>
                <a:latin typeface="Nunito" pitchFamily="2" charset="0"/>
              </a:rPr>
              <a:t>: Writers and marketers use these models to generate blog posts, social media updates, and marketing copy.</a:t>
            </a:r>
          </a:p>
          <a:p>
            <a:pPr algn="just" fontAlgn="base">
              <a:buFont typeface="+mj-lt"/>
              <a:buAutoNum type="arabicPeriod" startAt="2"/>
            </a:pPr>
            <a:r>
              <a:rPr lang="en-US" sz="1600" b="1" i="0" dirty="0">
                <a:solidFill>
                  <a:srgbClr val="273239"/>
                </a:solidFill>
                <a:effectLst/>
                <a:latin typeface="Nunito" pitchFamily="2" charset="0"/>
              </a:rPr>
              <a:t>Chatbots and Virtual Assistants </a:t>
            </a:r>
            <a:r>
              <a:rPr lang="en-US" sz="1600" b="0" i="0" dirty="0">
                <a:solidFill>
                  <a:srgbClr val="273239"/>
                </a:solidFill>
                <a:effectLst/>
                <a:latin typeface="Nunito" pitchFamily="2" charset="0"/>
              </a:rPr>
              <a:t>: Causal models power conversational AI systems like Siri, Alexa, and customer service chatbots, enabling them to provide relevant responses in real time.</a:t>
            </a:r>
          </a:p>
          <a:p>
            <a:pPr algn="just" fontAlgn="base">
              <a:buFont typeface="+mj-lt"/>
              <a:buAutoNum type="arabicPeriod" startAt="3"/>
            </a:pPr>
            <a:r>
              <a:rPr lang="en-US" sz="1600" b="1" i="0" dirty="0">
                <a:solidFill>
                  <a:srgbClr val="273239"/>
                </a:solidFill>
                <a:effectLst/>
                <a:latin typeface="Nunito" pitchFamily="2" charset="0"/>
              </a:rPr>
              <a:t>Code Generation </a:t>
            </a:r>
            <a:r>
              <a:rPr lang="en-US" sz="1600" b="0" i="0" dirty="0">
                <a:solidFill>
                  <a:srgbClr val="273239"/>
                </a:solidFill>
                <a:effectLst/>
                <a:latin typeface="Nunito" pitchFamily="2" charset="0"/>
              </a:rPr>
              <a:t>: Tools like GitHub Copilot leverage causal language models to assist developers in writing code snippets and debugging programs.</a:t>
            </a:r>
          </a:p>
          <a:p>
            <a:pPr algn="just" fontAlgn="base">
              <a:buFont typeface="+mj-lt"/>
              <a:buAutoNum type="arabicPeriod" startAt="4"/>
            </a:pPr>
            <a:r>
              <a:rPr lang="en-US" sz="1600" b="1" i="0" dirty="0">
                <a:solidFill>
                  <a:srgbClr val="273239"/>
                </a:solidFill>
                <a:effectLst/>
                <a:latin typeface="Nunito" pitchFamily="2" charset="0"/>
              </a:rPr>
              <a:t>Creative Writing </a:t>
            </a:r>
            <a:r>
              <a:rPr lang="en-US" sz="1600" b="0" i="0" dirty="0">
                <a:solidFill>
                  <a:srgbClr val="273239"/>
                </a:solidFill>
                <a:effectLst/>
                <a:latin typeface="Nunito" pitchFamily="2" charset="0"/>
              </a:rPr>
              <a:t>: Authors and screenwriters use these models to brainstorm ideas, outline plots, or even draft entire stories.</a:t>
            </a:r>
          </a:p>
          <a:p>
            <a:pPr algn="just" fontAlgn="base">
              <a:buFont typeface="+mj-lt"/>
              <a:buAutoNum type="arabicPeriod" startAt="5"/>
            </a:pPr>
            <a:r>
              <a:rPr lang="en-US" sz="1600" b="1" i="0" dirty="0">
                <a:solidFill>
                  <a:srgbClr val="273239"/>
                </a:solidFill>
                <a:effectLst/>
                <a:latin typeface="Nunito" pitchFamily="2" charset="0"/>
              </a:rPr>
              <a:t>Language Translation </a:t>
            </a:r>
            <a:r>
              <a:rPr lang="en-US" sz="1600" b="0" i="0" dirty="0">
                <a:solidFill>
                  <a:srgbClr val="273239"/>
                </a:solidFill>
                <a:effectLst/>
                <a:latin typeface="Nunito" pitchFamily="2" charset="0"/>
              </a:rPr>
              <a:t>: While masked models are often preferred for translation tasks, causal models can also contribute by generating fluent translations in a sequential manner.</a:t>
            </a:r>
          </a:p>
          <a:p>
            <a:pPr algn="just" fontAlgn="base">
              <a:buFont typeface="+mj-lt"/>
              <a:buAutoNum type="arabicPeriod" startAt="6"/>
            </a:pPr>
            <a:r>
              <a:rPr lang="en-US" sz="1600" b="1" i="0" dirty="0">
                <a:solidFill>
                  <a:srgbClr val="273239"/>
                </a:solidFill>
                <a:effectLst/>
                <a:latin typeface="Nunito" pitchFamily="2" charset="0"/>
              </a:rPr>
              <a:t>Education </a:t>
            </a:r>
            <a:r>
              <a:rPr lang="en-US" sz="1600" b="0" i="0" dirty="0">
                <a:solidFill>
                  <a:srgbClr val="273239"/>
                </a:solidFill>
                <a:effectLst/>
                <a:latin typeface="Nunito" pitchFamily="2" charset="0"/>
              </a:rPr>
              <a:t>: Causal models can help students by providing explanations, summarizing texts, or generating practice questions.</a:t>
            </a:r>
          </a:p>
          <a:p>
            <a:pPr algn="just" fontAlgn="base">
              <a:buFont typeface="+mj-lt"/>
              <a:buAutoNum type="arabicPeriod" startAt="7"/>
            </a:pPr>
            <a:r>
              <a:rPr lang="en-US" sz="1600" b="1" i="0" dirty="0">
                <a:solidFill>
                  <a:srgbClr val="273239"/>
                </a:solidFill>
                <a:effectLst/>
                <a:latin typeface="Nunito" pitchFamily="2" charset="0"/>
              </a:rPr>
              <a:t>Accessibility </a:t>
            </a:r>
            <a:r>
              <a:rPr lang="en-US" sz="1600" b="0" i="0" dirty="0">
                <a:solidFill>
                  <a:srgbClr val="273239"/>
                </a:solidFill>
                <a:effectLst/>
                <a:latin typeface="Nunito" pitchFamily="2" charset="0"/>
              </a:rPr>
              <a:t>: These models can assist individuals with disabilities by transcribing speech, generating captions, or converting text into simpler language.</a:t>
            </a:r>
          </a:p>
          <a:p>
            <a:pPr marL="0" indent="0" algn="just">
              <a:buNone/>
            </a:pPr>
            <a:endParaRPr lang="en-IN" sz="1600" dirty="0"/>
          </a:p>
        </p:txBody>
      </p:sp>
      <p:sp>
        <p:nvSpPr>
          <p:cNvPr id="4" name="Date Placeholder 3">
            <a:extLst>
              <a:ext uri="{FF2B5EF4-FFF2-40B4-BE49-F238E27FC236}">
                <a16:creationId xmlns:a16="http://schemas.microsoft.com/office/drawing/2014/main" id="{05B29D77-B32A-4943-A5F8-69AE0D4CB387}"/>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5F85CDC1-839D-4016-AE01-6259165C37C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86202BF-1547-46B0-84C4-586595959E3A}"/>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12252345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b="1" dirty="0"/>
              <a:t>Architecture of Generative Pre-trained Transformer</a:t>
            </a:r>
          </a:p>
        </p:txBody>
      </p:sp>
      <p:sp>
        <p:nvSpPr>
          <p:cNvPr id="3" name="Content Placeholder 2"/>
          <p:cNvSpPr>
            <a:spLocks noGrp="1"/>
          </p:cNvSpPr>
          <p:nvPr>
            <p:ph idx="1"/>
          </p:nvPr>
        </p:nvSpPr>
        <p:spPr/>
        <p:txBody>
          <a:bodyPr/>
          <a:lstStyle/>
          <a:p>
            <a:pPr marL="0" indent="0" algn="just">
              <a:buNone/>
            </a:pPr>
            <a:r>
              <a:rPr lang="en-IN" sz="1600" dirty="0"/>
              <a:t>The transformer architecture which is the foundation of GPT models is made up of </a:t>
            </a:r>
            <a:r>
              <a:rPr lang="en-IN" sz="1600" dirty="0" err="1"/>
              <a:t>feedforward</a:t>
            </a:r>
            <a:r>
              <a:rPr lang="en-IN" sz="1600" dirty="0"/>
              <a:t> neural networks and layers of self-attention processes. Important elements of this architecture consist of:</a:t>
            </a:r>
          </a:p>
          <a:p>
            <a:pPr algn="just"/>
            <a:r>
              <a:rPr lang="en-IN" sz="1600" b="1" dirty="0"/>
              <a:t>Self-Attention System: </a:t>
            </a:r>
            <a:r>
              <a:rPr lang="en-IN" sz="1600" dirty="0"/>
              <a:t>This enables the model to evaluate each word's significance within the context of the complete input sequence. It makes it possible for the model to comprehend word linkages and dependencies which is essential for producing content that is logical and suitable for its context.</a:t>
            </a:r>
          </a:p>
          <a:p>
            <a:pPr algn="just"/>
            <a:r>
              <a:rPr lang="en-IN" sz="1600" b="1" dirty="0"/>
              <a:t>Layer normalization and residual connections:</a:t>
            </a:r>
            <a:r>
              <a:rPr lang="en-IN" sz="1600" dirty="0"/>
              <a:t> By reducing problems such as disappearing and exploding gradients, these characteristics aid in training stabilization and enhance network convergence.</a:t>
            </a:r>
          </a:p>
          <a:p>
            <a:pPr algn="just"/>
            <a:r>
              <a:rPr lang="en-IN" sz="1600" b="1" dirty="0" err="1"/>
              <a:t>Feedforward</a:t>
            </a:r>
            <a:r>
              <a:rPr lang="en-IN" sz="1600" b="1" dirty="0"/>
              <a:t> Neural Networks: </a:t>
            </a:r>
            <a:r>
              <a:rPr lang="en-IN" sz="1600" dirty="0"/>
              <a:t>These networks process the output of the attention mechanism and add another layer of abstraction and learning capability. They are positioned between self-attention layers.</a:t>
            </a:r>
          </a:p>
          <a:p>
            <a:pPr marL="0" indent="0" algn="just">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29023687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GPT Architecture</a:t>
            </a:r>
            <a:endParaRPr lang="en-IN" dirty="0"/>
          </a:p>
        </p:txBody>
      </p:sp>
      <p:sp>
        <p:nvSpPr>
          <p:cNvPr id="3" name="Content Placeholder 2"/>
          <p:cNvSpPr>
            <a:spLocks noGrp="1"/>
          </p:cNvSpPr>
          <p:nvPr>
            <p:ph idx="1"/>
          </p:nvPr>
        </p:nvSpPr>
        <p:spPr/>
        <p:txBody>
          <a:bodyPr/>
          <a:lstStyle/>
          <a:p>
            <a:endParaRPr lang="en-IN" dirty="0"/>
          </a:p>
        </p:txBody>
      </p:sp>
      <p:sp>
        <p:nvSpPr>
          <p:cNvPr id="4" name="Date Placeholder 3"/>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65</a:t>
            </a:fld>
            <a:endParaRPr lang="en-US"/>
          </a:p>
        </p:txBody>
      </p:sp>
      <p:pic>
        <p:nvPicPr>
          <p:cNvPr id="7" name="Picture 6"/>
          <p:cNvPicPr>
            <a:picLocks noChangeAspect="1"/>
          </p:cNvPicPr>
          <p:nvPr/>
        </p:nvPicPr>
        <p:blipFill rotWithShape="1">
          <a:blip r:embed="rId2"/>
          <a:srcRect l="17234" t="10050" r="17232"/>
          <a:stretch/>
        </p:blipFill>
        <p:spPr>
          <a:xfrm>
            <a:off x="573741" y="1146175"/>
            <a:ext cx="4930209" cy="5414962"/>
          </a:xfrm>
          <a:prstGeom prst="rect">
            <a:avLst/>
          </a:prstGeom>
        </p:spPr>
      </p:pic>
    </p:spTree>
    <p:extLst>
      <p:ext uri="{BB962C8B-B14F-4D97-AF65-F5344CB8AC3E}">
        <p14:creationId xmlns:p14="http://schemas.microsoft.com/office/powerpoint/2010/main" val="21190996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68F4A-BC97-4CF6-9852-5E54DCE36508}"/>
              </a:ext>
            </a:extLst>
          </p:cNvPr>
          <p:cNvSpPr>
            <a:spLocks noGrp="1"/>
          </p:cNvSpPr>
          <p:nvPr>
            <p:ph type="title"/>
          </p:nvPr>
        </p:nvSpPr>
        <p:spPr/>
        <p:txBody>
          <a:bodyPr/>
          <a:lstStyle/>
          <a:p>
            <a:r>
              <a:rPr lang="en-US" sz="2000" dirty="0"/>
              <a:t>Detailed Explanation of the GPT Architecture</a:t>
            </a:r>
            <a:endParaRPr lang="en-IN" sz="2000" dirty="0"/>
          </a:p>
        </p:txBody>
      </p:sp>
      <p:sp>
        <p:nvSpPr>
          <p:cNvPr id="3" name="Content Placeholder 2">
            <a:extLst>
              <a:ext uri="{FF2B5EF4-FFF2-40B4-BE49-F238E27FC236}">
                <a16:creationId xmlns:a16="http://schemas.microsoft.com/office/drawing/2014/main" id="{B43E5CE7-0D74-4FCB-AAC1-EECAA469F9CB}"/>
              </a:ext>
            </a:extLst>
          </p:cNvPr>
          <p:cNvSpPr>
            <a:spLocks noGrp="1"/>
          </p:cNvSpPr>
          <p:nvPr>
            <p:ph idx="1"/>
          </p:nvPr>
        </p:nvSpPr>
        <p:spPr/>
        <p:txBody>
          <a:bodyPr/>
          <a:lstStyle/>
          <a:p>
            <a:pPr marL="0" indent="0" algn="l" rtl="0" fontAlgn="base">
              <a:buNone/>
            </a:pPr>
            <a:r>
              <a:rPr lang="en-US" sz="1300" b="1" i="0" dirty="0">
                <a:solidFill>
                  <a:schemeClr val="tx1"/>
                </a:solidFill>
                <a:effectLst/>
                <a:latin typeface="Nunito" pitchFamily="2" charset="0"/>
              </a:rPr>
              <a:t>1. Input Embedding</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Input</a:t>
            </a:r>
            <a:r>
              <a:rPr lang="en-US" sz="1300" b="0" i="0" dirty="0">
                <a:solidFill>
                  <a:schemeClr val="tx1"/>
                </a:solidFill>
                <a:effectLst/>
                <a:latin typeface="Nunito" pitchFamily="2" charset="0"/>
              </a:rPr>
              <a:t>: The raw text input is tokenized into individual tokens (words or </a:t>
            </a:r>
            <a:r>
              <a:rPr lang="en-US" sz="1300" b="0" i="0" dirty="0" err="1">
                <a:solidFill>
                  <a:schemeClr val="tx1"/>
                </a:solidFill>
                <a:effectLst/>
                <a:latin typeface="Nunito" pitchFamily="2" charset="0"/>
              </a:rPr>
              <a:t>subwords</a:t>
            </a:r>
            <a:r>
              <a:rPr lang="en-US" sz="1300" b="0" i="0" dirty="0">
                <a:solidFill>
                  <a:schemeClr val="tx1"/>
                </a:solidFill>
                <a:effectLst/>
                <a:latin typeface="Nunito" pitchFamily="2" charset="0"/>
              </a:rPr>
              <a:t>).</a:t>
            </a:r>
          </a:p>
          <a:p>
            <a:pPr marL="0" indent="0" algn="l" fontAlgn="base">
              <a:buNone/>
            </a:pPr>
            <a:r>
              <a:rPr lang="en-US" sz="1300" b="1" i="0" dirty="0">
                <a:solidFill>
                  <a:schemeClr val="tx1"/>
                </a:solidFill>
                <a:effectLst/>
                <a:latin typeface="Nunito" pitchFamily="2" charset="0"/>
              </a:rPr>
              <a:t>Embedding</a:t>
            </a:r>
            <a:r>
              <a:rPr lang="en-US" sz="1300" b="0" i="0" dirty="0">
                <a:solidFill>
                  <a:schemeClr val="tx1"/>
                </a:solidFill>
                <a:effectLst/>
                <a:latin typeface="Nunito" pitchFamily="2" charset="0"/>
              </a:rPr>
              <a:t>: Each token is converted into a dense vector representation using an embedding layer.</a:t>
            </a:r>
          </a:p>
          <a:p>
            <a:pPr marL="0" indent="0" algn="l" rtl="0" fontAlgn="base">
              <a:buNone/>
            </a:pPr>
            <a:r>
              <a:rPr lang="en-US" sz="1300" b="1" i="0" dirty="0">
                <a:solidFill>
                  <a:schemeClr val="tx1"/>
                </a:solidFill>
                <a:effectLst/>
                <a:latin typeface="Nunito" pitchFamily="2" charset="0"/>
              </a:rPr>
              <a:t>2. Positional Encoding</a:t>
            </a:r>
            <a:r>
              <a:rPr lang="en-US" sz="1300" b="0" i="0" dirty="0">
                <a:solidFill>
                  <a:schemeClr val="tx1"/>
                </a:solidFill>
                <a:effectLst/>
                <a:latin typeface="Nunito" pitchFamily="2" charset="0"/>
              </a:rPr>
              <a:t>: Since transformers do not inherently understand the order of tokens, positional encodings are added to the input embeddings to retain the sequence information.</a:t>
            </a:r>
          </a:p>
          <a:p>
            <a:pPr marL="0" indent="0" algn="l" rtl="0" fontAlgn="base">
              <a:buNone/>
            </a:pPr>
            <a:r>
              <a:rPr lang="en-US" sz="1300" b="1" i="0" dirty="0">
                <a:solidFill>
                  <a:schemeClr val="tx1"/>
                </a:solidFill>
                <a:effectLst/>
                <a:latin typeface="Nunito" pitchFamily="2" charset="0"/>
              </a:rPr>
              <a:t>3. Dropout Layer</a:t>
            </a:r>
            <a:r>
              <a:rPr lang="en-US" sz="1300" b="0" i="0" dirty="0">
                <a:solidFill>
                  <a:schemeClr val="tx1"/>
                </a:solidFill>
                <a:effectLst/>
                <a:latin typeface="Nunito" pitchFamily="2" charset="0"/>
              </a:rPr>
              <a:t>: A dropout layer is applied to the embeddings to prevent overfitting during training.</a:t>
            </a:r>
          </a:p>
          <a:p>
            <a:pPr marL="0" indent="0" algn="l" rtl="0" fontAlgn="base">
              <a:buNone/>
            </a:pPr>
            <a:r>
              <a:rPr lang="en-US" sz="1300" b="1" i="0" dirty="0">
                <a:solidFill>
                  <a:schemeClr val="tx1"/>
                </a:solidFill>
                <a:effectLst/>
                <a:latin typeface="Nunito" pitchFamily="2" charset="0"/>
              </a:rPr>
              <a:t>4. Transformer Blocks</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LayerNorm</a:t>
            </a:r>
            <a:r>
              <a:rPr lang="en-US" sz="1300" b="0" i="0" dirty="0">
                <a:solidFill>
                  <a:schemeClr val="tx1"/>
                </a:solidFill>
                <a:effectLst/>
                <a:latin typeface="Nunito" pitchFamily="2" charset="0"/>
              </a:rPr>
              <a:t>: Each transformer block starts with a layer normalization.</a:t>
            </a:r>
          </a:p>
          <a:p>
            <a:pPr marL="0" indent="0" algn="l" fontAlgn="base">
              <a:buNone/>
            </a:pPr>
            <a:r>
              <a:rPr lang="en-US" sz="1300" b="1" i="0" dirty="0">
                <a:solidFill>
                  <a:schemeClr val="tx1"/>
                </a:solidFill>
                <a:effectLst/>
                <a:latin typeface="Nunito" pitchFamily="2" charset="0"/>
              </a:rPr>
              <a:t>Multi-Head Self-Attention</a:t>
            </a:r>
            <a:r>
              <a:rPr lang="en-US" sz="1300" b="0" i="0" dirty="0">
                <a:solidFill>
                  <a:schemeClr val="tx1"/>
                </a:solidFill>
                <a:effectLst/>
                <a:latin typeface="Nunito" pitchFamily="2" charset="0"/>
              </a:rPr>
              <a:t>: Multi-Head Self-Attention are core component, where the input passes through multiple attention heads.</a:t>
            </a:r>
          </a:p>
          <a:p>
            <a:pPr marL="0" indent="0" algn="l" fontAlgn="base">
              <a:buNone/>
            </a:pPr>
            <a:r>
              <a:rPr lang="en-US" sz="1300" b="1" i="0" dirty="0">
                <a:solidFill>
                  <a:schemeClr val="tx1"/>
                </a:solidFill>
                <a:effectLst/>
                <a:latin typeface="Nunito" pitchFamily="2" charset="0"/>
              </a:rPr>
              <a:t>Add &amp; Norm</a:t>
            </a:r>
            <a:r>
              <a:rPr lang="en-US" sz="1300" b="0" i="0" dirty="0">
                <a:solidFill>
                  <a:schemeClr val="tx1"/>
                </a:solidFill>
                <a:effectLst/>
                <a:latin typeface="Nunito" pitchFamily="2" charset="0"/>
              </a:rPr>
              <a:t>: The output of the attention mechanism is added back to the input (residual connection) and normalized again.</a:t>
            </a:r>
          </a:p>
          <a:p>
            <a:pPr marL="0" indent="0" algn="l" fontAlgn="base">
              <a:buNone/>
            </a:pPr>
            <a:r>
              <a:rPr lang="en-US" sz="1300" b="1" i="0" dirty="0">
                <a:solidFill>
                  <a:schemeClr val="tx1"/>
                </a:solidFill>
                <a:effectLst/>
                <a:latin typeface="Nunito" pitchFamily="2" charset="0"/>
              </a:rPr>
              <a:t>Feed-Forward Network</a:t>
            </a:r>
            <a:r>
              <a:rPr lang="en-US" sz="1300" b="0" i="0" dirty="0">
                <a:solidFill>
                  <a:schemeClr val="tx1"/>
                </a:solidFill>
                <a:effectLst/>
                <a:latin typeface="Nunito" pitchFamily="2" charset="0"/>
              </a:rPr>
              <a:t>: A position-wise Feed-Forward Network is applied, typically consisting of two linear transformations with a </a:t>
            </a:r>
            <a:r>
              <a:rPr lang="en-US" sz="1300" b="0" i="0" dirty="0" err="1">
                <a:solidFill>
                  <a:schemeClr val="tx1"/>
                </a:solidFill>
                <a:effectLst/>
                <a:latin typeface="Nunito" pitchFamily="2" charset="0"/>
              </a:rPr>
              <a:t>GeLU</a:t>
            </a:r>
            <a:r>
              <a:rPr lang="en-US" sz="1300" b="0" i="0" dirty="0">
                <a:solidFill>
                  <a:schemeClr val="tx1"/>
                </a:solidFill>
                <a:effectLst/>
                <a:latin typeface="Nunito" pitchFamily="2" charset="0"/>
              </a:rPr>
              <a:t> activation in between.</a:t>
            </a:r>
          </a:p>
          <a:p>
            <a:pPr marL="0" indent="0" algn="l" fontAlgn="base">
              <a:buNone/>
            </a:pPr>
            <a:r>
              <a:rPr lang="en-US" sz="1300" b="1" i="0" dirty="0">
                <a:solidFill>
                  <a:schemeClr val="tx1"/>
                </a:solidFill>
                <a:effectLst/>
                <a:latin typeface="Nunito" pitchFamily="2" charset="0"/>
              </a:rPr>
              <a:t>Dropout</a:t>
            </a:r>
            <a:r>
              <a:rPr lang="en-US" sz="1300" b="0" i="0" dirty="0">
                <a:solidFill>
                  <a:schemeClr val="tx1"/>
                </a:solidFill>
                <a:effectLst/>
                <a:latin typeface="Nunito" pitchFamily="2" charset="0"/>
              </a:rPr>
              <a:t>: Dropout is applied to the feed-forward network output.</a:t>
            </a:r>
          </a:p>
          <a:p>
            <a:pPr marL="0" indent="0" algn="l" rtl="0" fontAlgn="base">
              <a:buNone/>
            </a:pPr>
            <a:r>
              <a:rPr lang="en-US" sz="1300" b="1" i="0" dirty="0">
                <a:solidFill>
                  <a:schemeClr val="tx1"/>
                </a:solidFill>
                <a:effectLst/>
                <a:latin typeface="Nunito" pitchFamily="2" charset="0"/>
              </a:rPr>
              <a:t>5. Layer Stack: </a:t>
            </a:r>
            <a:r>
              <a:rPr lang="en-US" sz="1300" b="0" i="0" dirty="0">
                <a:solidFill>
                  <a:schemeClr val="tx1"/>
                </a:solidFill>
                <a:effectLst/>
                <a:latin typeface="Nunito" pitchFamily="2" charset="0"/>
              </a:rPr>
              <a:t>The transformer blocks are stacked to form a deeper model, allowing the network to capture more complex patterns and dependencies in the input.</a:t>
            </a:r>
          </a:p>
          <a:p>
            <a:pPr marL="0" indent="0" algn="l" rtl="0" fontAlgn="base">
              <a:buNone/>
            </a:pPr>
            <a:r>
              <a:rPr lang="en-US" sz="1300" b="1" i="0" dirty="0">
                <a:solidFill>
                  <a:schemeClr val="tx1"/>
                </a:solidFill>
                <a:effectLst/>
                <a:latin typeface="Nunito" pitchFamily="2" charset="0"/>
              </a:rPr>
              <a:t>6. Final Layers</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LayerNorm</a:t>
            </a:r>
            <a:r>
              <a:rPr lang="en-US" sz="1300" b="0" i="0" dirty="0">
                <a:solidFill>
                  <a:schemeClr val="tx1"/>
                </a:solidFill>
                <a:effectLst/>
                <a:latin typeface="Nunito" pitchFamily="2" charset="0"/>
              </a:rPr>
              <a:t>: LayerNorm is final layer normalization is applied.</a:t>
            </a:r>
          </a:p>
          <a:p>
            <a:pPr marL="0" indent="0" algn="l" fontAlgn="base">
              <a:buNone/>
            </a:pPr>
            <a:r>
              <a:rPr lang="en-US" sz="1300" b="1" i="0" dirty="0">
                <a:solidFill>
                  <a:schemeClr val="tx1"/>
                </a:solidFill>
                <a:effectLst/>
                <a:latin typeface="Nunito" pitchFamily="2" charset="0"/>
              </a:rPr>
              <a:t>Linear</a:t>
            </a:r>
            <a:r>
              <a:rPr lang="en-US" sz="1300" b="0" i="0" dirty="0">
                <a:solidFill>
                  <a:schemeClr val="tx1"/>
                </a:solidFill>
                <a:effectLst/>
                <a:latin typeface="Nunito" pitchFamily="2" charset="0"/>
              </a:rPr>
              <a:t>: The output is passed through a linear layer to map it to the vocabulary size.</a:t>
            </a:r>
          </a:p>
          <a:p>
            <a:pPr marL="0" indent="0" algn="l" fontAlgn="base">
              <a:buNone/>
            </a:pPr>
            <a:r>
              <a:rPr lang="en-US" sz="1300" b="1" i="0" dirty="0" err="1">
                <a:solidFill>
                  <a:schemeClr val="tx1"/>
                </a:solidFill>
                <a:effectLst/>
                <a:latin typeface="Nunito" pitchFamily="2" charset="0"/>
              </a:rPr>
              <a:t>Softmax</a:t>
            </a:r>
            <a:r>
              <a:rPr lang="en-US" sz="1300" b="0" i="0" dirty="0">
                <a:solidFill>
                  <a:schemeClr val="tx1"/>
                </a:solidFill>
                <a:effectLst/>
                <a:latin typeface="Nunito" pitchFamily="2" charset="0"/>
              </a:rPr>
              <a:t>: A Softmax:layer is applied to produce the final probabilities for each token in the vocabulary.</a:t>
            </a:r>
          </a:p>
          <a:p>
            <a:pPr marL="0" indent="0">
              <a:buNone/>
            </a:pPr>
            <a:endParaRPr lang="en-IN" sz="1300" dirty="0">
              <a:solidFill>
                <a:schemeClr val="tx1"/>
              </a:solidFill>
            </a:endParaRPr>
          </a:p>
        </p:txBody>
      </p:sp>
      <p:sp>
        <p:nvSpPr>
          <p:cNvPr id="4" name="Date Placeholder 3">
            <a:extLst>
              <a:ext uri="{FF2B5EF4-FFF2-40B4-BE49-F238E27FC236}">
                <a16:creationId xmlns:a16="http://schemas.microsoft.com/office/drawing/2014/main" id="{9B9F6426-2B66-46D9-BBE5-5225C4771D52}"/>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06776E26-BBDE-48D4-9E77-8A7FEF1E591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EAA38D0-8083-490F-AAE0-943D1D660D3A}"/>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7480451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220E4-FA6C-4EB2-A255-DE05FBB4C5E2}"/>
              </a:ext>
            </a:extLst>
          </p:cNvPr>
          <p:cNvSpPr>
            <a:spLocks noGrp="1"/>
          </p:cNvSpPr>
          <p:nvPr>
            <p:ph type="title"/>
          </p:nvPr>
        </p:nvSpPr>
        <p:spPr/>
        <p:txBody>
          <a:bodyPr/>
          <a:lstStyle/>
          <a:p>
            <a:r>
              <a:rPr lang="en-IN" dirty="0"/>
              <a:t>Exploring </a:t>
            </a:r>
            <a:r>
              <a:rPr lang="en-IN" dirty="0" err="1"/>
              <a:t>ChatGPT</a:t>
            </a:r>
            <a:endParaRPr lang="en-IN" dirty="0"/>
          </a:p>
        </p:txBody>
      </p:sp>
      <p:sp>
        <p:nvSpPr>
          <p:cNvPr id="3" name="Content Placeholder 2">
            <a:extLst>
              <a:ext uri="{FF2B5EF4-FFF2-40B4-BE49-F238E27FC236}">
                <a16:creationId xmlns:a16="http://schemas.microsoft.com/office/drawing/2014/main" id="{A6BB285D-F209-45AD-B1C2-C733EC805CCD}"/>
              </a:ext>
            </a:extLst>
          </p:cNvPr>
          <p:cNvSpPr>
            <a:spLocks noGrp="1"/>
          </p:cNvSpPr>
          <p:nvPr>
            <p:ph idx="1"/>
          </p:nvPr>
        </p:nvSpPr>
        <p:spPr/>
        <p:txBody>
          <a:bodyPr/>
          <a:lstStyle/>
          <a:p>
            <a:pPr marL="0" indent="0">
              <a:buNone/>
            </a:pPr>
            <a:r>
              <a:rPr lang="en-US" sz="1400" b="1" dirty="0"/>
              <a:t>What is </a:t>
            </a:r>
            <a:r>
              <a:rPr lang="en-US" sz="1400" b="1" dirty="0" err="1"/>
              <a:t>ChatGPT</a:t>
            </a:r>
            <a:r>
              <a:rPr lang="en-US" sz="1400" b="1" dirty="0"/>
              <a:t>?</a:t>
            </a:r>
          </a:p>
          <a:p>
            <a:pPr marL="0" indent="0">
              <a:buNone/>
            </a:pPr>
            <a:r>
              <a:rPr lang="en-US" sz="1400" b="1" dirty="0" err="1"/>
              <a:t>ChatGPT</a:t>
            </a:r>
            <a:r>
              <a:rPr lang="en-US" sz="1400" dirty="0"/>
              <a:t> is an AI chatbot developed by </a:t>
            </a:r>
            <a:r>
              <a:rPr lang="en-US" sz="1400" b="1" dirty="0" err="1"/>
              <a:t>OpenAI</a:t>
            </a:r>
            <a:r>
              <a:rPr lang="en-US" sz="1400" dirty="0"/>
              <a:t>, built on top of </a:t>
            </a:r>
            <a:r>
              <a:rPr lang="en-US" sz="1400" b="1" dirty="0"/>
              <a:t>GPT-3.5</a:t>
            </a:r>
            <a:r>
              <a:rPr lang="en-US" sz="1400" dirty="0"/>
              <a:t> and </a:t>
            </a:r>
            <a:r>
              <a:rPr lang="en-US" sz="1400" b="1" dirty="0"/>
              <a:t>GPT-4</a:t>
            </a:r>
            <a:r>
              <a:rPr lang="en-US" sz="1400" dirty="0"/>
              <a:t>.</a:t>
            </a:r>
          </a:p>
          <a:p>
            <a:pPr marL="0" indent="0">
              <a:buNone/>
            </a:pPr>
            <a:r>
              <a:rPr lang="en-US" sz="1400" dirty="0"/>
              <a:t>It uses </a:t>
            </a:r>
            <a:r>
              <a:rPr lang="en-US" sz="1400" b="1" dirty="0"/>
              <a:t>transformer-based language models</a:t>
            </a:r>
            <a:r>
              <a:rPr lang="en-US" sz="1400" dirty="0"/>
              <a:t> designed to understand and generate human-like text.</a:t>
            </a:r>
          </a:p>
          <a:p>
            <a:pPr marL="0" indent="0">
              <a:buNone/>
            </a:pPr>
            <a:endParaRPr lang="en-US" sz="1400" b="1" dirty="0"/>
          </a:p>
          <a:p>
            <a:pPr marL="0" indent="0">
              <a:buNone/>
            </a:pPr>
            <a:r>
              <a:rPr lang="en-US" sz="1400" b="1" dirty="0"/>
              <a:t>Model Architecture</a:t>
            </a:r>
          </a:p>
          <a:p>
            <a:pPr marL="0" indent="0">
              <a:buNone/>
            </a:pPr>
            <a:r>
              <a:rPr lang="en-US" sz="1400" dirty="0"/>
              <a:t>Based on </a:t>
            </a:r>
            <a:r>
              <a:rPr lang="en-US" sz="1400" b="1" dirty="0"/>
              <a:t>GPT (Generative Pre-trained Transformer)</a:t>
            </a:r>
            <a:r>
              <a:rPr lang="en-US" sz="1400" dirty="0"/>
              <a:t> – a </a:t>
            </a:r>
            <a:r>
              <a:rPr lang="en-US" sz="1400" b="1" dirty="0"/>
              <a:t>decoder-only transformer model</a:t>
            </a:r>
            <a:r>
              <a:rPr lang="en-US" sz="1400" dirty="0"/>
              <a:t>.</a:t>
            </a:r>
          </a:p>
          <a:p>
            <a:pPr marL="0" indent="0">
              <a:buNone/>
            </a:pPr>
            <a:r>
              <a:rPr lang="en-US" sz="1400" dirty="0"/>
              <a:t>Trained with </a:t>
            </a:r>
            <a:r>
              <a:rPr lang="en-US" sz="1400" b="1" dirty="0"/>
              <a:t>causal language modeling</a:t>
            </a:r>
            <a:r>
              <a:rPr lang="en-US" sz="1400" dirty="0"/>
              <a:t>: Predicts the next word given the previous context.</a:t>
            </a:r>
          </a:p>
          <a:p>
            <a:pPr marL="0" indent="0">
              <a:buNone/>
            </a:pPr>
            <a:endParaRPr lang="en-IN" sz="1400" dirty="0"/>
          </a:p>
          <a:p>
            <a:pPr marL="0" indent="0">
              <a:buNone/>
            </a:pPr>
            <a:r>
              <a:rPr lang="en-IN" sz="1000" dirty="0"/>
              <a:t>Enhancements Over GPT</a:t>
            </a:r>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212BBC36-3D08-4176-9C04-3B33064B4F9D}"/>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CB399AD-A880-451A-BC05-3F7DCCD8834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2AEC632-DC1D-4E62-885C-AF23DFFF8879}"/>
              </a:ext>
            </a:extLst>
          </p:cNvPr>
          <p:cNvSpPr>
            <a:spLocks noGrp="1"/>
          </p:cNvSpPr>
          <p:nvPr>
            <p:ph type="sldNum" sz="quarter" idx="12"/>
          </p:nvPr>
        </p:nvSpPr>
        <p:spPr/>
        <p:txBody>
          <a:bodyPr/>
          <a:lstStyle/>
          <a:p>
            <a:fld id="{BB2CE0DE-867F-455F-B20B-96D381B4AB71}" type="slidenum">
              <a:rPr lang="en-US" smtClean="0"/>
              <a:t>67</a:t>
            </a:fld>
            <a:endParaRPr lang="en-US"/>
          </a:p>
        </p:txBody>
      </p:sp>
      <p:pic>
        <p:nvPicPr>
          <p:cNvPr id="8" name="Picture 7">
            <a:extLst>
              <a:ext uri="{FF2B5EF4-FFF2-40B4-BE49-F238E27FC236}">
                <a16:creationId xmlns:a16="http://schemas.microsoft.com/office/drawing/2014/main" id="{2DFC54F4-F010-4FDF-8907-E599C84417E3}"/>
              </a:ext>
            </a:extLst>
          </p:cNvPr>
          <p:cNvPicPr>
            <a:picLocks noChangeAspect="1"/>
          </p:cNvPicPr>
          <p:nvPr/>
        </p:nvPicPr>
        <p:blipFill>
          <a:blip r:embed="rId3"/>
          <a:stretch>
            <a:fillRect/>
          </a:stretch>
        </p:blipFill>
        <p:spPr>
          <a:xfrm>
            <a:off x="553271" y="4246239"/>
            <a:ext cx="7621064" cy="2314898"/>
          </a:xfrm>
          <a:prstGeom prst="rect">
            <a:avLst/>
          </a:prstGeom>
        </p:spPr>
      </p:pic>
    </p:spTree>
    <p:extLst>
      <p:ext uri="{BB962C8B-B14F-4D97-AF65-F5344CB8AC3E}">
        <p14:creationId xmlns:p14="http://schemas.microsoft.com/office/powerpoint/2010/main" val="4863099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20E8-4A08-4B2F-AA19-482D33B77D49}"/>
              </a:ext>
            </a:extLst>
          </p:cNvPr>
          <p:cNvSpPr>
            <a:spLocks noGrp="1"/>
          </p:cNvSpPr>
          <p:nvPr>
            <p:ph type="title"/>
          </p:nvPr>
        </p:nvSpPr>
        <p:spPr/>
        <p:txBody>
          <a:bodyPr/>
          <a:lstStyle/>
          <a:p>
            <a:r>
              <a:rPr lang="en-IN" dirty="0"/>
              <a:t>Exploring </a:t>
            </a:r>
            <a:r>
              <a:rPr lang="en-IN" dirty="0" err="1"/>
              <a:t>ChatGPT</a:t>
            </a:r>
            <a:endParaRPr lang="en-IN" dirty="0"/>
          </a:p>
        </p:txBody>
      </p:sp>
      <p:sp>
        <p:nvSpPr>
          <p:cNvPr id="3" name="Content Placeholder 2">
            <a:extLst>
              <a:ext uri="{FF2B5EF4-FFF2-40B4-BE49-F238E27FC236}">
                <a16:creationId xmlns:a16="http://schemas.microsoft.com/office/drawing/2014/main" id="{FCA773A4-16E8-4DD7-BAE0-851A9662D9A8}"/>
              </a:ext>
            </a:extLst>
          </p:cNvPr>
          <p:cNvSpPr>
            <a:spLocks noGrp="1"/>
          </p:cNvSpPr>
          <p:nvPr>
            <p:ph idx="1"/>
          </p:nvPr>
        </p:nvSpPr>
        <p:spPr/>
        <p:txBody>
          <a:bodyPr/>
          <a:lstStyle/>
          <a:p>
            <a:pPr marL="0" indent="0">
              <a:buNone/>
            </a:pPr>
            <a:r>
              <a:rPr lang="en-IN" sz="1400" b="1" dirty="0"/>
              <a:t>Training Pipeline of </a:t>
            </a:r>
            <a:r>
              <a:rPr lang="en-IN" sz="1400" b="1" dirty="0" err="1"/>
              <a:t>ChatGPT</a:t>
            </a:r>
            <a:endParaRPr lang="en-IN" sz="1400" b="1" dirty="0"/>
          </a:p>
          <a:p>
            <a:pPr marL="0" indent="0">
              <a:buNone/>
            </a:pPr>
            <a:r>
              <a:rPr lang="en-IN" sz="1400" b="1" dirty="0"/>
              <a:t>Pre-training</a:t>
            </a:r>
            <a:r>
              <a:rPr lang="en-IN" sz="1400" dirty="0"/>
              <a:t> on massive internet text (like GPT-3).</a:t>
            </a:r>
          </a:p>
          <a:p>
            <a:pPr marL="0" indent="0">
              <a:buNone/>
            </a:pPr>
            <a:r>
              <a:rPr lang="en-IN" sz="1400" b="1" dirty="0"/>
              <a:t>Instruction tuning</a:t>
            </a:r>
            <a:r>
              <a:rPr lang="en-IN" sz="1400" dirty="0"/>
              <a:t> with supervised fine-tuning (SFT) on task-specific datasets.</a:t>
            </a:r>
          </a:p>
          <a:p>
            <a:pPr marL="0" indent="0">
              <a:buNone/>
            </a:pPr>
            <a:r>
              <a:rPr lang="en-IN" sz="1400" b="1" dirty="0"/>
              <a:t>RLHF</a:t>
            </a:r>
            <a:r>
              <a:rPr lang="en-IN" sz="1400" dirty="0"/>
              <a:t>:</a:t>
            </a:r>
          </a:p>
          <a:p>
            <a:pPr marL="457200" lvl="1" indent="0">
              <a:buNone/>
            </a:pPr>
            <a:r>
              <a:rPr lang="en-IN" sz="1200" dirty="0"/>
              <a:t>Human annotators rank multiple responses.</a:t>
            </a:r>
          </a:p>
          <a:p>
            <a:pPr marL="457200" lvl="1" indent="0">
              <a:buNone/>
            </a:pPr>
            <a:r>
              <a:rPr lang="en-IN" sz="1200" dirty="0"/>
              <a:t>A reward model is trained.</a:t>
            </a:r>
          </a:p>
          <a:p>
            <a:pPr marL="457200" lvl="1" indent="0">
              <a:buNone/>
            </a:pPr>
            <a:r>
              <a:rPr lang="en-IN" sz="1200" dirty="0"/>
              <a:t>Final model is optimized using reinforcement learning</a:t>
            </a:r>
          </a:p>
          <a:p>
            <a:pPr marL="19050" indent="0">
              <a:buNone/>
            </a:pPr>
            <a:endParaRPr lang="en-IN" sz="1400" dirty="0"/>
          </a:p>
          <a:p>
            <a:pPr marL="19050" indent="0">
              <a:buNone/>
            </a:pPr>
            <a:r>
              <a:rPr lang="en-IN" sz="1400" dirty="0"/>
              <a:t>Core Capabilities</a:t>
            </a:r>
          </a:p>
          <a:p>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DAEB5A7F-E883-4460-8B5D-7CCC45DFE1A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790B2A5F-41AB-4519-93DC-61431C6DEC8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B8F8BAA-B2A7-4389-A7B3-7FE98924EA5C}"/>
              </a:ext>
            </a:extLst>
          </p:cNvPr>
          <p:cNvSpPr>
            <a:spLocks noGrp="1"/>
          </p:cNvSpPr>
          <p:nvPr>
            <p:ph type="sldNum" sz="quarter" idx="12"/>
          </p:nvPr>
        </p:nvSpPr>
        <p:spPr/>
        <p:txBody>
          <a:bodyPr/>
          <a:lstStyle/>
          <a:p>
            <a:fld id="{BB2CE0DE-867F-455F-B20B-96D381B4AB71}" type="slidenum">
              <a:rPr lang="en-US" smtClean="0"/>
              <a:t>68</a:t>
            </a:fld>
            <a:endParaRPr lang="en-US"/>
          </a:p>
        </p:txBody>
      </p:sp>
      <p:pic>
        <p:nvPicPr>
          <p:cNvPr id="8" name="Picture 7">
            <a:extLst>
              <a:ext uri="{FF2B5EF4-FFF2-40B4-BE49-F238E27FC236}">
                <a16:creationId xmlns:a16="http://schemas.microsoft.com/office/drawing/2014/main" id="{82852D30-0250-4383-9C43-652C0DE79517}"/>
              </a:ext>
            </a:extLst>
          </p:cNvPr>
          <p:cNvPicPr>
            <a:picLocks noChangeAspect="1"/>
          </p:cNvPicPr>
          <p:nvPr/>
        </p:nvPicPr>
        <p:blipFill>
          <a:blip r:embed="rId3"/>
          <a:stretch>
            <a:fillRect/>
          </a:stretch>
        </p:blipFill>
        <p:spPr>
          <a:xfrm>
            <a:off x="628436" y="3453829"/>
            <a:ext cx="6630325" cy="2372056"/>
          </a:xfrm>
          <a:prstGeom prst="rect">
            <a:avLst/>
          </a:prstGeom>
        </p:spPr>
      </p:pic>
    </p:spTree>
    <p:extLst>
      <p:ext uri="{BB962C8B-B14F-4D97-AF65-F5344CB8AC3E}">
        <p14:creationId xmlns:p14="http://schemas.microsoft.com/office/powerpoint/2010/main" val="2490260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8F61F-8037-4123-B961-0ADB2415FF87}"/>
              </a:ext>
            </a:extLst>
          </p:cNvPr>
          <p:cNvSpPr>
            <a:spLocks noGrp="1"/>
          </p:cNvSpPr>
          <p:nvPr>
            <p:ph type="title"/>
          </p:nvPr>
        </p:nvSpPr>
        <p:spPr/>
        <p:txBody>
          <a:bodyPr/>
          <a:lstStyle/>
          <a:p>
            <a:r>
              <a:rPr lang="en-US" dirty="0"/>
              <a:t>What is Prompt ?</a:t>
            </a:r>
            <a:endParaRPr lang="en-IN" dirty="0"/>
          </a:p>
        </p:txBody>
      </p:sp>
      <p:sp>
        <p:nvSpPr>
          <p:cNvPr id="3" name="Content Placeholder 2">
            <a:extLst>
              <a:ext uri="{FF2B5EF4-FFF2-40B4-BE49-F238E27FC236}">
                <a16:creationId xmlns:a16="http://schemas.microsoft.com/office/drawing/2014/main" id="{972FE541-5D8B-43C8-A3E4-C91B835CE3D8}"/>
              </a:ext>
            </a:extLst>
          </p:cNvPr>
          <p:cNvSpPr>
            <a:spLocks noGrp="1"/>
          </p:cNvSpPr>
          <p:nvPr>
            <p:ph idx="1"/>
          </p:nvPr>
        </p:nvSpPr>
        <p:spPr/>
        <p:txBody>
          <a:bodyPr/>
          <a:lstStyle/>
          <a:p>
            <a:pPr marL="0" indent="0" algn="just">
              <a:buNone/>
            </a:pPr>
            <a:r>
              <a:rPr lang="en-US" sz="1800" b="0" i="0" dirty="0">
                <a:solidFill>
                  <a:srgbClr val="242424"/>
                </a:solidFill>
                <a:effectLst/>
                <a:latin typeface="source-serif-pro"/>
              </a:rPr>
              <a:t>A </a:t>
            </a:r>
            <a:r>
              <a:rPr lang="en-US" sz="1800" b="1" i="0" dirty="0">
                <a:solidFill>
                  <a:srgbClr val="242424"/>
                </a:solidFill>
                <a:effectLst/>
                <a:latin typeface="source-serif-pro"/>
              </a:rPr>
              <a:t>prompt</a:t>
            </a:r>
            <a:r>
              <a:rPr lang="en-US" sz="1800" b="0" i="0" dirty="0">
                <a:solidFill>
                  <a:srgbClr val="242424"/>
                </a:solidFill>
                <a:effectLst/>
                <a:latin typeface="source-serif-pro"/>
              </a:rPr>
              <a:t> is the text or instruction given to an AI/LLM model to perform a specific task. It serves as the starting point for interaction, providing context and direction for the AI to generate a response. A well-crafted prompt clearly communicates the task’s objective and expected outcome.</a:t>
            </a:r>
          </a:p>
          <a:p>
            <a:pPr marL="0" indent="0" algn="just">
              <a:buNone/>
            </a:pPr>
            <a:r>
              <a:rPr lang="en-US" sz="1800" b="1" i="0" dirty="0">
                <a:solidFill>
                  <a:srgbClr val="242424"/>
                </a:solidFill>
                <a:effectLst/>
                <a:latin typeface="source-serif-pro"/>
              </a:rPr>
              <a:t>For example:</a:t>
            </a:r>
            <a:endParaRPr lang="en-US" sz="1800" b="0" i="0" dirty="0">
              <a:solidFill>
                <a:srgbClr val="242424"/>
              </a:solidFill>
              <a:effectLst/>
              <a:latin typeface="source-serif-pro"/>
            </a:endParaRPr>
          </a:p>
          <a:p>
            <a:pPr marL="0" indent="0" algn="just">
              <a:buNone/>
            </a:pPr>
            <a:r>
              <a:rPr lang="en-US" sz="1800" b="1" i="0" dirty="0">
                <a:solidFill>
                  <a:srgbClr val="242424"/>
                </a:solidFill>
                <a:effectLst/>
                <a:latin typeface="source-serif-pro"/>
              </a:rPr>
              <a:t>Task:</a:t>
            </a:r>
            <a:r>
              <a:rPr lang="en-US" sz="1800" b="0" i="0" dirty="0">
                <a:solidFill>
                  <a:srgbClr val="242424"/>
                </a:solidFill>
                <a:effectLst/>
                <a:latin typeface="source-serif-pro"/>
              </a:rPr>
              <a:t> Summarize an article.</a:t>
            </a:r>
          </a:p>
          <a:p>
            <a:pPr marL="0" indent="0" algn="just">
              <a:buNone/>
            </a:pPr>
            <a:r>
              <a:rPr lang="en-US" sz="1800" b="1" i="0" dirty="0">
                <a:solidFill>
                  <a:srgbClr val="242424"/>
                </a:solidFill>
                <a:effectLst/>
                <a:latin typeface="source-serif-pro"/>
              </a:rPr>
              <a:t>Prompt:</a:t>
            </a:r>
            <a:r>
              <a:rPr lang="en-US" sz="1800" b="0" i="0" dirty="0">
                <a:solidFill>
                  <a:srgbClr val="242424"/>
                </a:solidFill>
                <a:effectLst/>
                <a:latin typeface="source-serif-pro"/>
              </a:rPr>
              <a:t> “Please summarize the following article in one paragraph.”</a:t>
            </a:r>
          </a:p>
          <a:p>
            <a:pPr marL="0" indent="0" algn="just">
              <a:buNone/>
            </a:pPr>
            <a:endParaRPr lang="en-US" sz="1800" b="0" i="0" dirty="0">
              <a:solidFill>
                <a:srgbClr val="242424"/>
              </a:solidFill>
              <a:effectLst/>
              <a:latin typeface="source-serif-pro"/>
            </a:endParaRPr>
          </a:p>
          <a:p>
            <a:pPr marL="0" indent="0" algn="just">
              <a:buNone/>
            </a:pPr>
            <a:r>
              <a:rPr lang="en-US" sz="1800" b="0" i="0" dirty="0">
                <a:solidFill>
                  <a:srgbClr val="242424"/>
                </a:solidFill>
                <a:effectLst/>
                <a:latin typeface="source-serif-pro"/>
              </a:rPr>
              <a:t>The AI/LLM model uses this prompt to understand that the response should be a concise summary of the article provided.</a:t>
            </a:r>
          </a:p>
          <a:p>
            <a:pPr marL="0" indent="0" algn="just">
              <a:buNone/>
            </a:pPr>
            <a:r>
              <a:rPr lang="en-US" sz="1800" b="0" i="0" dirty="0">
                <a:solidFill>
                  <a:srgbClr val="242424"/>
                </a:solidFill>
                <a:effectLst/>
                <a:latin typeface="source-serif-pro"/>
              </a:rPr>
              <a:t>Prompts are central to interacting with AI models like GPT because they determine the quality and relevance of the output. Poorly designed prompts can lead to irrelevant or ambiguous responses, while clear and specific prompts can produce high-quality outputs.</a:t>
            </a:r>
          </a:p>
          <a:p>
            <a:pPr marL="0" indent="0" algn="just">
              <a:buNone/>
            </a:pPr>
            <a:endParaRPr lang="en-IN" sz="1800" dirty="0"/>
          </a:p>
        </p:txBody>
      </p:sp>
      <p:sp>
        <p:nvSpPr>
          <p:cNvPr id="4" name="Date Placeholder 3">
            <a:extLst>
              <a:ext uri="{FF2B5EF4-FFF2-40B4-BE49-F238E27FC236}">
                <a16:creationId xmlns:a16="http://schemas.microsoft.com/office/drawing/2014/main" id="{2FC47943-A679-4504-A526-EED18FAD5F9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003D096-183E-48F0-AAC1-FCCEAEE44AE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9AC21BB-8BB3-4318-ABBA-5CA226349E58}"/>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865748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0FC92-5323-4B5E-95DD-2B2654CAE312}"/>
              </a:ext>
            </a:extLst>
          </p:cNvPr>
          <p:cNvSpPr>
            <a:spLocks noGrp="1"/>
          </p:cNvSpPr>
          <p:nvPr>
            <p:ph type="title"/>
          </p:nvPr>
        </p:nvSpPr>
        <p:spPr/>
        <p:txBody>
          <a:bodyPr/>
          <a:lstStyle/>
          <a:p>
            <a:r>
              <a:rPr lang="en-IN" dirty="0"/>
              <a:t>What is Prompt Engineering?</a:t>
            </a:r>
          </a:p>
        </p:txBody>
      </p:sp>
      <p:sp>
        <p:nvSpPr>
          <p:cNvPr id="3" name="Content Placeholder 2">
            <a:extLst>
              <a:ext uri="{FF2B5EF4-FFF2-40B4-BE49-F238E27FC236}">
                <a16:creationId xmlns:a16="http://schemas.microsoft.com/office/drawing/2014/main" id="{8623D145-6846-44DD-A718-4E0DF11356FF}"/>
              </a:ext>
            </a:extLst>
          </p:cNvPr>
          <p:cNvSpPr>
            <a:spLocks noGrp="1"/>
          </p:cNvSpPr>
          <p:nvPr>
            <p:ph idx="1"/>
          </p:nvPr>
        </p:nvSpPr>
        <p:spPr/>
        <p:txBody>
          <a:bodyPr/>
          <a:lstStyle/>
          <a:p>
            <a:pPr marL="0" indent="0" algn="l">
              <a:buNone/>
            </a:pPr>
            <a:r>
              <a:rPr lang="en-US" sz="1800" b="1" i="0" dirty="0">
                <a:solidFill>
                  <a:srgbClr val="242424"/>
                </a:solidFill>
                <a:effectLst/>
                <a:latin typeface="source-serif-pro"/>
              </a:rPr>
              <a:t>Prompt engineering</a:t>
            </a:r>
            <a:r>
              <a:rPr lang="en-US" sz="1800" b="0" i="0" dirty="0">
                <a:solidFill>
                  <a:srgbClr val="242424"/>
                </a:solidFill>
                <a:effectLst/>
                <a:latin typeface="source-serif-pro"/>
              </a:rPr>
              <a:t> is the discipline of </a:t>
            </a:r>
            <a:r>
              <a:rPr lang="en-US" sz="1800" b="1" i="0" dirty="0">
                <a:solidFill>
                  <a:srgbClr val="0000FF"/>
                </a:solidFill>
                <a:effectLst/>
                <a:latin typeface="source-serif-pro"/>
              </a:rPr>
              <a:t>designing and refining</a:t>
            </a:r>
            <a:r>
              <a:rPr lang="en-US" sz="1800" b="0" i="0" dirty="0">
                <a:solidFill>
                  <a:srgbClr val="242424"/>
                </a:solidFill>
                <a:effectLst/>
                <a:latin typeface="source-serif-pro"/>
              </a:rPr>
              <a:t> prompts to guide AI/LLM models in generating desired outputs. It combines </a:t>
            </a:r>
            <a:r>
              <a:rPr lang="en-US" sz="1800" b="1" i="0" dirty="0">
                <a:solidFill>
                  <a:srgbClr val="242424"/>
                </a:solidFill>
                <a:effectLst/>
                <a:latin typeface="source-serif-pro"/>
              </a:rPr>
              <a:t>creativity, language skills, and technical knowledge</a:t>
            </a:r>
            <a:r>
              <a:rPr lang="en-US" sz="1800" b="0" i="0" dirty="0">
                <a:solidFill>
                  <a:srgbClr val="242424"/>
                </a:solidFill>
                <a:effectLst/>
                <a:latin typeface="source-serif-pro"/>
              </a:rPr>
              <a:t> to craft instructions that are both clear and effective.</a:t>
            </a:r>
          </a:p>
          <a:p>
            <a:pPr marL="0" indent="0" algn="l">
              <a:buNone/>
            </a:pPr>
            <a:r>
              <a:rPr lang="en-US" sz="1800" b="1" i="0" dirty="0">
                <a:solidFill>
                  <a:srgbClr val="242424"/>
                </a:solidFill>
                <a:effectLst/>
                <a:latin typeface="source-serif-pro"/>
              </a:rPr>
              <a:t>Key aspects include:</a:t>
            </a:r>
            <a:endParaRPr lang="en-US" sz="1800" b="0" i="0" dirty="0">
              <a:solidFill>
                <a:srgbClr val="242424"/>
              </a:solidFill>
              <a:effectLst/>
              <a:latin typeface="source-serif-pro"/>
            </a:endParaRPr>
          </a:p>
          <a:p>
            <a:pPr algn="l">
              <a:buFont typeface="Arial" panose="020B0604020202020204" pitchFamily="34" charset="0"/>
              <a:buChar char="•"/>
            </a:pPr>
            <a:r>
              <a:rPr lang="en-US" sz="1800" b="1" i="0" dirty="0">
                <a:solidFill>
                  <a:srgbClr val="242424"/>
                </a:solidFill>
                <a:effectLst/>
                <a:latin typeface="source-serif-pro"/>
              </a:rPr>
              <a:t>Experimentation:</a:t>
            </a:r>
            <a:r>
              <a:rPr lang="en-US" sz="1800" b="0" i="0" dirty="0">
                <a:solidFill>
                  <a:srgbClr val="242424"/>
                </a:solidFill>
                <a:effectLst/>
                <a:latin typeface="source-serif-pro"/>
              </a:rPr>
              <a:t> Testing different phrasing and structures.</a:t>
            </a:r>
          </a:p>
          <a:p>
            <a:pPr algn="l">
              <a:buFont typeface="Arial" panose="020B0604020202020204" pitchFamily="34" charset="0"/>
              <a:buChar char="•"/>
            </a:pPr>
            <a:r>
              <a:rPr lang="en-US" sz="1800" b="1" i="0" dirty="0">
                <a:solidFill>
                  <a:srgbClr val="242424"/>
                </a:solidFill>
                <a:effectLst/>
                <a:latin typeface="source-serif-pro"/>
              </a:rPr>
              <a:t>Iteration:</a:t>
            </a:r>
            <a:r>
              <a:rPr lang="en-US" sz="1800" b="0" i="0" dirty="0">
                <a:solidFill>
                  <a:srgbClr val="242424"/>
                </a:solidFill>
                <a:effectLst/>
                <a:latin typeface="source-serif-pro"/>
              </a:rPr>
              <a:t> Continuously improving prompts based on outputs.</a:t>
            </a:r>
          </a:p>
          <a:p>
            <a:pPr algn="l">
              <a:buFont typeface="Arial" panose="020B0604020202020204" pitchFamily="34" charset="0"/>
              <a:buChar char="•"/>
            </a:pPr>
            <a:r>
              <a:rPr lang="en-US" sz="1800" b="1" i="0" dirty="0">
                <a:solidFill>
                  <a:srgbClr val="242424"/>
                </a:solidFill>
                <a:effectLst/>
                <a:latin typeface="source-serif-pro"/>
              </a:rPr>
              <a:t>Clarity:</a:t>
            </a:r>
            <a:r>
              <a:rPr lang="en-US" sz="1800" b="0" i="0" dirty="0">
                <a:solidFill>
                  <a:srgbClr val="242424"/>
                </a:solidFill>
                <a:effectLst/>
                <a:latin typeface="source-serif-pro"/>
              </a:rPr>
              <a:t> Avoiding ambiguity and misinterpretation.</a:t>
            </a:r>
          </a:p>
          <a:p>
            <a:pPr marL="0" indent="0" algn="l">
              <a:buNone/>
            </a:pPr>
            <a:endParaRPr lang="en-US" sz="1800" b="1" i="0" dirty="0">
              <a:solidFill>
                <a:srgbClr val="242424"/>
              </a:solidFill>
              <a:effectLst/>
              <a:latin typeface="source-serif-pro"/>
            </a:endParaRPr>
          </a:p>
          <a:p>
            <a:pPr marL="0" indent="0" algn="l">
              <a:buNone/>
            </a:pPr>
            <a:r>
              <a:rPr lang="en-US" sz="1800" b="1" i="0" dirty="0">
                <a:solidFill>
                  <a:srgbClr val="242424"/>
                </a:solidFill>
                <a:effectLst/>
                <a:latin typeface="source-serif-pro"/>
              </a:rPr>
              <a:t>Analogy:</a:t>
            </a:r>
            <a:r>
              <a:rPr lang="en-US" sz="1800" b="0" i="0" dirty="0">
                <a:solidFill>
                  <a:srgbClr val="242424"/>
                </a:solidFill>
                <a:effectLst/>
                <a:latin typeface="source-serif-pro"/>
              </a:rPr>
              <a:t> Imagine writing a recipe for baking a cake. The clearer and more detailed the recipe, the better the result. Similarly, in prompt engineering, the precision of the instruction affects the AI’s performance.</a:t>
            </a:r>
          </a:p>
          <a:p>
            <a:pPr marL="0" indent="0" algn="l">
              <a:buNone/>
            </a:pPr>
            <a:r>
              <a:rPr lang="en-US" sz="1800" b="0" i="0" dirty="0">
                <a:solidFill>
                  <a:srgbClr val="242424"/>
                </a:solidFill>
                <a:effectLst/>
                <a:latin typeface="source-serif-pro"/>
              </a:rPr>
              <a:t>Prompt engineering has become crucial in AI applications since the introduction of generative models like </a:t>
            </a:r>
            <a:r>
              <a:rPr lang="en-US" sz="1800" b="0" i="0" dirty="0" err="1">
                <a:solidFill>
                  <a:srgbClr val="242424"/>
                </a:solidFill>
                <a:effectLst/>
                <a:latin typeface="source-serif-pro"/>
              </a:rPr>
              <a:t>ChatGPT</a:t>
            </a:r>
            <a:r>
              <a:rPr lang="en-US" sz="1800" b="0" i="0" dirty="0">
                <a:solidFill>
                  <a:srgbClr val="242424"/>
                </a:solidFill>
                <a:effectLst/>
                <a:latin typeface="source-serif-pro"/>
              </a:rPr>
              <a:t>, as it determines the quality of interaction and output.</a:t>
            </a:r>
          </a:p>
          <a:p>
            <a:pPr marL="0" indent="0">
              <a:buNone/>
            </a:pPr>
            <a:r>
              <a:rPr lang="en-US" sz="1800" b="0" i="0" dirty="0">
                <a:solidFill>
                  <a:srgbClr val="242424"/>
                </a:solidFill>
                <a:effectLst/>
                <a:latin typeface="source-serif-pro"/>
              </a:rPr>
              <a:t>Prompt engineering is a technique used to effectively communicate LLM like GPT-3 or GPT-4 and get the desired output.</a:t>
            </a:r>
          </a:p>
          <a:p>
            <a:pPr marL="0" indent="0" algn="l">
              <a:buNone/>
            </a:pPr>
            <a:endParaRPr lang="en-US" sz="1800" b="0" i="0" dirty="0">
              <a:solidFill>
                <a:srgbClr val="242424"/>
              </a:solidFill>
              <a:effectLst/>
              <a:latin typeface="source-serif-pro"/>
            </a:endParaRPr>
          </a:p>
          <a:p>
            <a:pPr marL="0" indent="0">
              <a:buNone/>
            </a:pPr>
            <a:endParaRPr lang="en-IN" sz="1800" dirty="0"/>
          </a:p>
        </p:txBody>
      </p:sp>
      <p:sp>
        <p:nvSpPr>
          <p:cNvPr id="4" name="Date Placeholder 3">
            <a:extLst>
              <a:ext uri="{FF2B5EF4-FFF2-40B4-BE49-F238E27FC236}">
                <a16:creationId xmlns:a16="http://schemas.microsoft.com/office/drawing/2014/main" id="{C4C387C2-664C-4631-A6C1-D38D853E274A}"/>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96801C11-DA4F-4276-AD64-DD13D3A92B7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18C2769-288D-4CF3-B816-E249D3D58438}"/>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3646836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74B2E-8837-438A-9241-4AF35DBCA9D5}"/>
              </a:ext>
            </a:extLst>
          </p:cNvPr>
          <p:cNvSpPr>
            <a:spLocks noGrp="1"/>
          </p:cNvSpPr>
          <p:nvPr>
            <p:ph type="title"/>
          </p:nvPr>
        </p:nvSpPr>
        <p:spPr/>
        <p:txBody>
          <a:bodyPr/>
          <a:lstStyle/>
          <a:p>
            <a:r>
              <a:rPr lang="en-IN" b="0" i="0" dirty="0">
                <a:solidFill>
                  <a:srgbClr val="242424"/>
                </a:solidFill>
                <a:effectLst/>
                <a:latin typeface="source-serif-pro"/>
              </a:rPr>
              <a:t>Types of Prompts</a:t>
            </a:r>
            <a:endParaRPr lang="en-IN" dirty="0"/>
          </a:p>
        </p:txBody>
      </p:sp>
      <p:sp>
        <p:nvSpPr>
          <p:cNvPr id="3" name="Content Placeholder 2">
            <a:extLst>
              <a:ext uri="{FF2B5EF4-FFF2-40B4-BE49-F238E27FC236}">
                <a16:creationId xmlns:a16="http://schemas.microsoft.com/office/drawing/2014/main" id="{E673A82C-0587-406F-95F2-FD833AF785CC}"/>
              </a:ext>
            </a:extLst>
          </p:cNvPr>
          <p:cNvSpPr>
            <a:spLocks noGrp="1"/>
          </p:cNvSpPr>
          <p:nvPr>
            <p:ph idx="1"/>
          </p:nvPr>
        </p:nvSpPr>
        <p:spPr/>
        <p:txBody>
          <a:bodyPr/>
          <a:lstStyle/>
          <a:p>
            <a:pPr marL="0" indent="0">
              <a:buNone/>
            </a:pPr>
            <a:r>
              <a:rPr lang="en-US" sz="2000" b="0" dirty="0">
                <a:solidFill>
                  <a:srgbClr val="242424"/>
                </a:solidFill>
                <a:effectLst/>
                <a:latin typeface="source-serif-pro"/>
              </a:rPr>
              <a:t>There are 8 prompt engineering methods:</a:t>
            </a:r>
            <a:br>
              <a:rPr lang="en-US" sz="2000" dirty="0"/>
            </a:br>
            <a:r>
              <a:rPr lang="en-US" sz="2000" b="0" dirty="0">
                <a:solidFill>
                  <a:srgbClr val="242424"/>
                </a:solidFill>
                <a:effectLst/>
                <a:latin typeface="source-serif-pro"/>
              </a:rPr>
              <a:t>(1) Zero-Shot Learning, </a:t>
            </a:r>
          </a:p>
          <a:p>
            <a:pPr marL="0" indent="0">
              <a:buNone/>
            </a:pPr>
            <a:r>
              <a:rPr lang="en-US" sz="2000" b="0" dirty="0">
                <a:solidFill>
                  <a:srgbClr val="242424"/>
                </a:solidFill>
                <a:effectLst/>
                <a:latin typeface="source-serif-pro"/>
              </a:rPr>
              <a:t>(2) One-Shot Learning, </a:t>
            </a:r>
          </a:p>
          <a:p>
            <a:pPr marL="0" indent="0">
              <a:buNone/>
            </a:pPr>
            <a:r>
              <a:rPr lang="en-US" sz="2000" b="0" dirty="0">
                <a:solidFill>
                  <a:srgbClr val="242424"/>
                </a:solidFill>
                <a:effectLst/>
                <a:latin typeface="source-serif-pro"/>
              </a:rPr>
              <a:t>(3) Few-Shot Learning,</a:t>
            </a:r>
            <a:br>
              <a:rPr lang="en-US" sz="2000" dirty="0"/>
            </a:br>
            <a:r>
              <a:rPr lang="en-US" sz="2000" b="0" dirty="0">
                <a:solidFill>
                  <a:srgbClr val="242424"/>
                </a:solidFill>
                <a:effectLst/>
                <a:latin typeface="source-serif-pro"/>
              </a:rPr>
              <a:t>(4) Chain-of-Thought Prompting, </a:t>
            </a:r>
          </a:p>
          <a:p>
            <a:pPr marL="0" indent="0">
              <a:buNone/>
            </a:pPr>
            <a:r>
              <a:rPr lang="en-US" sz="2000" b="0" dirty="0">
                <a:solidFill>
                  <a:srgbClr val="242424"/>
                </a:solidFill>
                <a:effectLst/>
                <a:latin typeface="source-serif-pro"/>
              </a:rPr>
              <a:t>(5) Iterative Prompting,</a:t>
            </a:r>
            <a:br>
              <a:rPr lang="en-US" sz="2000" dirty="0"/>
            </a:br>
            <a:r>
              <a:rPr lang="en-US" sz="2000" b="0" dirty="0">
                <a:solidFill>
                  <a:srgbClr val="242424"/>
                </a:solidFill>
                <a:effectLst/>
                <a:latin typeface="source-serif-pro"/>
              </a:rPr>
              <a:t>(6) Negative Prompting, </a:t>
            </a:r>
          </a:p>
          <a:p>
            <a:pPr marL="0" indent="0">
              <a:buNone/>
            </a:pPr>
            <a:r>
              <a:rPr lang="en-US" sz="2000" b="0" dirty="0">
                <a:solidFill>
                  <a:srgbClr val="242424"/>
                </a:solidFill>
                <a:effectLst/>
                <a:latin typeface="source-serif-pro"/>
              </a:rPr>
              <a:t>(7) Hybrid Prompting, and</a:t>
            </a:r>
            <a:br>
              <a:rPr lang="en-US" sz="2000" dirty="0"/>
            </a:br>
            <a:r>
              <a:rPr lang="en-US" sz="2000" b="0" dirty="0">
                <a:solidFill>
                  <a:srgbClr val="242424"/>
                </a:solidFill>
                <a:effectLst/>
                <a:latin typeface="source-serif-pro"/>
              </a:rPr>
              <a:t>(8) Prompt Chaining</a:t>
            </a:r>
            <a:endParaRPr lang="en-IN" sz="2000" dirty="0"/>
          </a:p>
        </p:txBody>
      </p:sp>
      <p:sp>
        <p:nvSpPr>
          <p:cNvPr id="4" name="Date Placeholder 3">
            <a:extLst>
              <a:ext uri="{FF2B5EF4-FFF2-40B4-BE49-F238E27FC236}">
                <a16:creationId xmlns:a16="http://schemas.microsoft.com/office/drawing/2014/main" id="{705B9244-9151-451E-BE3A-90ACF41CC9E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0D5626F-86D3-473E-B710-69E7F5E6D8E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A0355D-6C62-43FE-9A30-954691108974}"/>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38777324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AB4E-3F55-453D-A465-A6D9711C8398}"/>
              </a:ext>
            </a:extLst>
          </p:cNvPr>
          <p:cNvSpPr>
            <a:spLocks noGrp="1"/>
          </p:cNvSpPr>
          <p:nvPr>
            <p:ph type="title"/>
          </p:nvPr>
        </p:nvSpPr>
        <p:spPr/>
        <p:txBody>
          <a:bodyPr/>
          <a:lstStyle/>
          <a:p>
            <a:r>
              <a:rPr lang="en-IN" b="1" i="0" dirty="0">
                <a:solidFill>
                  <a:srgbClr val="242424"/>
                </a:solidFill>
                <a:effectLst/>
                <a:latin typeface="source-serif-pro"/>
              </a:rPr>
              <a:t>Zero-Shot Learning</a:t>
            </a:r>
            <a:endParaRPr lang="en-IN" dirty="0"/>
          </a:p>
        </p:txBody>
      </p:sp>
      <p:sp>
        <p:nvSpPr>
          <p:cNvPr id="3" name="Content Placeholder 2">
            <a:extLst>
              <a:ext uri="{FF2B5EF4-FFF2-40B4-BE49-F238E27FC236}">
                <a16:creationId xmlns:a16="http://schemas.microsoft.com/office/drawing/2014/main" id="{01978783-56A6-4A10-8A5C-B1F1E8329021}"/>
              </a:ext>
            </a:extLst>
          </p:cNvPr>
          <p:cNvSpPr>
            <a:spLocks noGrp="1"/>
          </p:cNvSpPr>
          <p:nvPr>
            <p:ph idx="1"/>
          </p:nvPr>
        </p:nvSpPr>
        <p:spPr/>
        <p:txBody>
          <a:bodyPr/>
          <a:lstStyle/>
          <a:p>
            <a:pPr marL="0" indent="0" algn="just">
              <a:buNone/>
            </a:pPr>
            <a:r>
              <a:rPr lang="en-US" sz="1600" b="0" i="0" dirty="0">
                <a:solidFill>
                  <a:srgbClr val="242424"/>
                </a:solidFill>
                <a:effectLst/>
                <a:latin typeface="source-serif-pro"/>
              </a:rPr>
              <a:t>This involves giving the AI a task </a:t>
            </a:r>
            <a:r>
              <a:rPr lang="en-US" sz="1600" b="1" i="0" dirty="0">
                <a:solidFill>
                  <a:srgbClr val="0000FF"/>
                </a:solidFill>
                <a:effectLst/>
                <a:latin typeface="source-serif-pro"/>
              </a:rPr>
              <a:t>without any prior examples</a:t>
            </a:r>
            <a:r>
              <a:rPr lang="en-US" sz="1600" b="0" i="0" dirty="0">
                <a:solidFill>
                  <a:srgbClr val="242424"/>
                </a:solidFill>
                <a:effectLst/>
                <a:latin typeface="source-serif-pro"/>
              </a:rPr>
              <a:t>. You describe what you want in detail, assuming the AI has no prior knowledge of the task.</a:t>
            </a:r>
          </a:p>
          <a:p>
            <a:pPr marL="0" indent="0" algn="just">
              <a:buNone/>
            </a:pPr>
            <a:endParaRPr lang="en-US" sz="1600" b="1" i="1" dirty="0">
              <a:solidFill>
                <a:srgbClr val="242424"/>
              </a:solidFill>
              <a:effectLst/>
              <a:latin typeface="source-serif-pro"/>
            </a:endParaRPr>
          </a:p>
          <a:p>
            <a:pPr marL="0" indent="0" algn="just">
              <a:buNone/>
            </a:pPr>
            <a:r>
              <a:rPr lang="en-US" sz="1600" b="1" i="1" dirty="0">
                <a:solidFill>
                  <a:srgbClr val="242424"/>
                </a:solidFill>
                <a:effectLst/>
                <a:latin typeface="source-serif-pro"/>
              </a:rPr>
              <a:t>Prompt: </a:t>
            </a:r>
            <a:r>
              <a:rPr lang="en-US" sz="1600" b="0" i="1" dirty="0">
                <a:solidFill>
                  <a:srgbClr val="242424"/>
                </a:solidFill>
                <a:effectLst/>
                <a:latin typeface="source-serif-pro"/>
              </a:rPr>
              <a:t>“Explain what a large language model is.”</a:t>
            </a:r>
          </a:p>
          <a:p>
            <a:pPr marL="0" indent="0" algn="just">
              <a:buNone/>
            </a:pPr>
            <a:r>
              <a:rPr lang="en-IN" sz="1600" b="1" dirty="0">
                <a:solidFill>
                  <a:schemeClr val="tx1">
                    <a:lumMod val="95000"/>
                    <a:lumOff val="5000"/>
                  </a:schemeClr>
                </a:solidFill>
              </a:rPr>
              <a:t>Response: </a:t>
            </a:r>
            <a:r>
              <a:rPr lang="en-US" sz="1600" b="0" i="0" dirty="0">
                <a:solidFill>
                  <a:srgbClr val="242424"/>
                </a:solidFill>
                <a:effectLst/>
                <a:latin typeface="source-code-pro"/>
              </a:rPr>
              <a:t>A Foundation Model in artificial intelligence refers to a large,</a:t>
            </a:r>
            <a:br>
              <a:rPr lang="en-US" sz="1600" dirty="0"/>
            </a:br>
            <a:r>
              <a:rPr lang="en-US" sz="1600" b="0" i="0" dirty="0">
                <a:solidFill>
                  <a:srgbClr val="242424"/>
                </a:solidFill>
                <a:effectLst/>
                <a:latin typeface="source-code-pro"/>
              </a:rPr>
              <a:t>powerful, and versatile machine learning model that has been trained on a </a:t>
            </a:r>
            <a:br>
              <a:rPr lang="en-US" sz="1600" dirty="0"/>
            </a:br>
            <a:r>
              <a:rPr lang="en-US" sz="1600" b="0" i="0" dirty="0" err="1">
                <a:solidFill>
                  <a:srgbClr val="242424"/>
                </a:solidFill>
                <a:effectLst/>
                <a:latin typeface="source-code-pro"/>
              </a:rPr>
              <a:t>vastamount</a:t>
            </a:r>
            <a:r>
              <a:rPr lang="en-US" sz="1600" b="0" i="0" dirty="0">
                <a:solidFill>
                  <a:srgbClr val="242424"/>
                </a:solidFill>
                <a:effectLst/>
                <a:latin typeface="source-code-pro"/>
              </a:rPr>
              <a:t> of data and is capable of performing a wide range of tasks.</a:t>
            </a:r>
            <a:br>
              <a:rPr lang="en-US" sz="1600" dirty="0"/>
            </a:br>
            <a:r>
              <a:rPr lang="en-US" sz="1600" b="0" i="0" dirty="0">
                <a:solidFill>
                  <a:srgbClr val="242424"/>
                </a:solidFill>
                <a:effectLst/>
                <a:latin typeface="source-code-pro"/>
              </a:rPr>
              <a:t>It is called a foundation model because it serves as a base or starting</a:t>
            </a:r>
            <a:br>
              <a:rPr lang="en-US" sz="1600" dirty="0"/>
            </a:br>
            <a:r>
              <a:rPr lang="en-US" sz="1600" b="0" i="0" dirty="0">
                <a:solidFill>
                  <a:srgbClr val="242424"/>
                </a:solidFill>
                <a:effectLst/>
                <a:latin typeface="source-code-pro"/>
              </a:rPr>
              <a:t>point for various applications and can be fine-tuned or adapted for</a:t>
            </a:r>
            <a:br>
              <a:rPr lang="en-US" sz="1600" dirty="0"/>
            </a:br>
            <a:r>
              <a:rPr lang="en-US" sz="1600" b="0" i="0" dirty="0">
                <a:solidFill>
                  <a:srgbClr val="242424"/>
                </a:solidFill>
                <a:effectLst/>
                <a:latin typeface="source-code-pro"/>
              </a:rPr>
              <a:t>specific tasks. …….</a:t>
            </a:r>
            <a:endParaRPr lang="en-IN" sz="1600" dirty="0"/>
          </a:p>
        </p:txBody>
      </p:sp>
      <p:sp>
        <p:nvSpPr>
          <p:cNvPr id="4" name="Date Placeholder 3">
            <a:extLst>
              <a:ext uri="{FF2B5EF4-FFF2-40B4-BE49-F238E27FC236}">
                <a16:creationId xmlns:a16="http://schemas.microsoft.com/office/drawing/2014/main" id="{B0E74667-7F1D-448D-9BCD-937F83164699}"/>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674D6A65-05C5-4B19-9CB1-589701DD11B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77B1D33-8CE0-46B2-AC49-AEF35F6172F9}"/>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2995167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3A39-57FD-45AD-96C5-77A50A9C4614}"/>
              </a:ext>
            </a:extLst>
          </p:cNvPr>
          <p:cNvSpPr>
            <a:spLocks noGrp="1"/>
          </p:cNvSpPr>
          <p:nvPr>
            <p:ph type="title"/>
          </p:nvPr>
        </p:nvSpPr>
        <p:spPr/>
        <p:txBody>
          <a:bodyPr/>
          <a:lstStyle/>
          <a:p>
            <a:r>
              <a:rPr lang="en-IN" b="1" i="0" dirty="0">
                <a:solidFill>
                  <a:srgbClr val="242424"/>
                </a:solidFill>
                <a:effectLst/>
                <a:latin typeface="source-serif-pro"/>
              </a:rPr>
              <a:t>One-Shot Learning</a:t>
            </a:r>
            <a:endParaRPr lang="en-IN" dirty="0"/>
          </a:p>
        </p:txBody>
      </p:sp>
      <p:sp>
        <p:nvSpPr>
          <p:cNvPr id="3" name="Content Placeholder 2">
            <a:extLst>
              <a:ext uri="{FF2B5EF4-FFF2-40B4-BE49-F238E27FC236}">
                <a16:creationId xmlns:a16="http://schemas.microsoft.com/office/drawing/2014/main" id="{26C7AF4F-4FEE-46F3-A6DC-C3EA3F24630B}"/>
              </a:ext>
            </a:extLst>
          </p:cNvPr>
          <p:cNvSpPr>
            <a:spLocks noGrp="1"/>
          </p:cNvSpPr>
          <p:nvPr>
            <p:ph idx="1"/>
          </p:nvPr>
        </p:nvSpPr>
        <p:spPr/>
        <p:txBody>
          <a:bodyPr/>
          <a:lstStyle/>
          <a:p>
            <a:pPr marL="0" indent="0" algn="just">
              <a:buNone/>
            </a:pPr>
            <a:r>
              <a:rPr lang="en-US" sz="1800" dirty="0"/>
              <a:t>Y</a:t>
            </a:r>
            <a:r>
              <a:rPr lang="en-US" sz="1800" b="0" i="0" dirty="0">
                <a:solidFill>
                  <a:srgbClr val="242424"/>
                </a:solidFill>
                <a:effectLst/>
                <a:latin typeface="source-serif-pro"/>
              </a:rPr>
              <a:t>ou provide </a:t>
            </a:r>
            <a:r>
              <a:rPr lang="en-US" sz="1800" b="1" i="0" dirty="0">
                <a:solidFill>
                  <a:srgbClr val="0000FF"/>
                </a:solidFill>
                <a:effectLst/>
                <a:latin typeface="source-serif-pro"/>
              </a:rPr>
              <a:t>one example </a:t>
            </a:r>
            <a:r>
              <a:rPr lang="en-US" sz="1800" b="0" i="0" dirty="0">
                <a:solidFill>
                  <a:srgbClr val="242424"/>
                </a:solidFill>
                <a:effectLst/>
                <a:latin typeface="source-serif-pro"/>
              </a:rPr>
              <a:t>along with your prompt. This helps the AI understand the context or format you’re expecting.</a:t>
            </a:r>
          </a:p>
          <a:p>
            <a:pPr marL="0" indent="0" algn="just">
              <a:buNone/>
            </a:pPr>
            <a:endParaRPr lang="en-US" sz="1800" b="0" i="1" dirty="0">
              <a:solidFill>
                <a:srgbClr val="242424"/>
              </a:solidFill>
              <a:effectLst/>
              <a:latin typeface="source-serif-pro"/>
            </a:endParaRPr>
          </a:p>
          <a:p>
            <a:pPr marL="0" indent="0" algn="just">
              <a:buNone/>
            </a:pPr>
            <a:r>
              <a:rPr lang="en-US" sz="1800" b="1" dirty="0">
                <a:solidFill>
                  <a:srgbClr val="242424"/>
                </a:solidFill>
                <a:effectLst/>
                <a:latin typeface="source-serif-pro"/>
              </a:rPr>
              <a:t>Prompt: </a:t>
            </a:r>
            <a:r>
              <a:rPr lang="en-US" sz="1800" b="0" dirty="0">
                <a:solidFill>
                  <a:srgbClr val="242424"/>
                </a:solidFill>
                <a:effectLst/>
                <a:latin typeface="source-serif-pro"/>
              </a:rPr>
              <a:t>“A Foundation Model in AI refers to a model like GPT-3,</a:t>
            </a:r>
            <a:br>
              <a:rPr lang="en-US" sz="1800" b="0" dirty="0">
                <a:solidFill>
                  <a:srgbClr val="242424"/>
                </a:solidFill>
                <a:effectLst/>
                <a:latin typeface="source-serif-pro"/>
              </a:rPr>
            </a:br>
            <a:r>
              <a:rPr lang="en-US" sz="1800" b="0" dirty="0">
                <a:solidFill>
                  <a:srgbClr val="242424"/>
                </a:solidFill>
                <a:effectLst/>
                <a:latin typeface="source-serif-pro"/>
              </a:rPr>
              <a:t>which is trained on a large dataset and can be adapted to various tasks.</a:t>
            </a:r>
            <a:br>
              <a:rPr lang="en-US" sz="1800" b="0" dirty="0">
                <a:solidFill>
                  <a:srgbClr val="242424"/>
                </a:solidFill>
                <a:effectLst/>
                <a:latin typeface="source-serif-pro"/>
              </a:rPr>
            </a:br>
            <a:r>
              <a:rPr lang="en-US" sz="1800" b="0" dirty="0">
                <a:solidFill>
                  <a:srgbClr val="242424"/>
                </a:solidFill>
                <a:effectLst/>
                <a:latin typeface="source-serif-pro"/>
              </a:rPr>
              <a:t>Explain what BERT is in this context.”</a:t>
            </a:r>
          </a:p>
          <a:p>
            <a:pPr marL="0" indent="0">
              <a:buNone/>
            </a:pPr>
            <a:r>
              <a:rPr lang="en-US" sz="1800" b="1" dirty="0">
                <a:solidFill>
                  <a:srgbClr val="242424"/>
                </a:solidFill>
                <a:effectLst/>
                <a:latin typeface="source-serif-pro"/>
              </a:rPr>
              <a:t>Response: </a:t>
            </a:r>
            <a:r>
              <a:rPr lang="en-US" sz="1800" b="0" dirty="0">
                <a:solidFill>
                  <a:srgbClr val="242424"/>
                </a:solidFill>
                <a:effectLst/>
                <a:latin typeface="source-serif-pro"/>
              </a:rPr>
              <a:t>BERT (Bidirectional Encoder Representations from Transformers)</a:t>
            </a:r>
            <a:br>
              <a:rPr lang="en-US" sz="1800" b="0" dirty="0">
                <a:solidFill>
                  <a:srgbClr val="242424"/>
                </a:solidFill>
                <a:effectLst/>
                <a:latin typeface="source-serif-pro"/>
              </a:rPr>
            </a:br>
            <a:r>
              <a:rPr lang="en-US" sz="1800" b="0" dirty="0">
                <a:solidFill>
                  <a:srgbClr val="242424"/>
                </a:solidFill>
                <a:effectLst/>
                <a:latin typeface="source-serif-pro"/>
              </a:rPr>
              <a:t>is a type of pre-trained deep learning model that uses the transformer</a:t>
            </a:r>
            <a:br>
              <a:rPr lang="en-US" sz="1800" b="0" dirty="0">
                <a:solidFill>
                  <a:srgbClr val="242424"/>
                </a:solidFill>
                <a:effectLst/>
                <a:latin typeface="source-serif-pro"/>
              </a:rPr>
            </a:br>
            <a:r>
              <a:rPr lang="en-US" sz="1800" b="0" dirty="0">
                <a:solidFill>
                  <a:srgbClr val="242424"/>
                </a:solidFill>
                <a:effectLst/>
                <a:latin typeface="source-serif-pro"/>
              </a:rPr>
              <a:t>architecture. It was developed by Google and is considered to be one of the most</a:t>
            </a:r>
            <a:br>
              <a:rPr lang="en-US" sz="1800" b="0" dirty="0">
                <a:solidFill>
                  <a:srgbClr val="242424"/>
                </a:solidFill>
                <a:effectLst/>
                <a:latin typeface="source-serif-pro"/>
              </a:rPr>
            </a:br>
            <a:r>
              <a:rPr lang="en-US" sz="1800" b="0" dirty="0">
                <a:solidFill>
                  <a:srgbClr val="242424"/>
                </a:solidFill>
                <a:effectLst/>
                <a:latin typeface="source-serif-pro"/>
              </a:rPr>
              <a:t>powerful language models in the field of natural language processing</a:t>
            </a:r>
            <a:br>
              <a:rPr lang="en-US" sz="1800" b="0" dirty="0">
                <a:solidFill>
                  <a:srgbClr val="242424"/>
                </a:solidFill>
                <a:effectLst/>
                <a:latin typeface="source-serif-pro"/>
              </a:rPr>
            </a:br>
            <a:r>
              <a:rPr lang="en-US" sz="1800" b="0" dirty="0">
                <a:solidFill>
                  <a:srgbClr val="242424"/>
                </a:solidFill>
                <a:effectLst/>
                <a:latin typeface="source-serif-pro"/>
              </a:rPr>
              <a:t>(NLP). BERT is trained on a large dataset of text,………</a:t>
            </a:r>
          </a:p>
          <a:p>
            <a:pPr marL="0" indent="0" algn="just">
              <a:buNone/>
            </a:pPr>
            <a:endParaRPr lang="en-US" sz="1800" b="0" i="1" dirty="0">
              <a:solidFill>
                <a:srgbClr val="242424"/>
              </a:solidFill>
              <a:effectLst/>
              <a:latin typeface="source-serif-pro"/>
            </a:endParaRPr>
          </a:p>
          <a:p>
            <a:pPr marL="0" indent="0" algn="just">
              <a:buNone/>
            </a:pPr>
            <a:endParaRPr lang="en-US" sz="1800" i="1" dirty="0">
              <a:solidFill>
                <a:srgbClr val="242424"/>
              </a:solidFill>
              <a:latin typeface="source-serif-pro"/>
            </a:endParaRPr>
          </a:p>
          <a:p>
            <a:pPr marL="0" indent="0" algn="just">
              <a:buNone/>
            </a:pPr>
            <a:endParaRPr lang="en-US" sz="1800" b="0" i="1" dirty="0">
              <a:solidFill>
                <a:srgbClr val="242424"/>
              </a:solidFill>
              <a:effectLst/>
              <a:latin typeface="source-serif-pro"/>
            </a:endParaRPr>
          </a:p>
          <a:p>
            <a:pPr algn="just"/>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A894C1F0-D247-448F-8D71-217EFD301400}"/>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E4E4B40-CE55-452F-A096-0BAC22EF85D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CAEE8D1-C61A-4FCD-BAE9-94BEAE659D38}"/>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28712966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E94A-BBD4-43F4-A196-ED8C52C7BC7B}"/>
              </a:ext>
            </a:extLst>
          </p:cNvPr>
          <p:cNvSpPr>
            <a:spLocks noGrp="1"/>
          </p:cNvSpPr>
          <p:nvPr>
            <p:ph type="title"/>
          </p:nvPr>
        </p:nvSpPr>
        <p:spPr/>
        <p:txBody>
          <a:bodyPr/>
          <a:lstStyle/>
          <a:p>
            <a:r>
              <a:rPr lang="en-IN" b="1" i="0" dirty="0">
                <a:solidFill>
                  <a:srgbClr val="242424"/>
                </a:solidFill>
                <a:effectLst/>
                <a:latin typeface="source-serif-pro"/>
              </a:rPr>
              <a:t>Few-Shot Learning</a:t>
            </a:r>
            <a:endParaRPr lang="en-IN" dirty="0"/>
          </a:p>
        </p:txBody>
      </p:sp>
      <p:sp>
        <p:nvSpPr>
          <p:cNvPr id="3" name="Content Placeholder 2">
            <a:extLst>
              <a:ext uri="{FF2B5EF4-FFF2-40B4-BE49-F238E27FC236}">
                <a16:creationId xmlns:a16="http://schemas.microsoft.com/office/drawing/2014/main" id="{E6C5B158-646B-40B4-8852-7F5A49957D8C}"/>
              </a:ext>
            </a:extLst>
          </p:cNvPr>
          <p:cNvSpPr>
            <a:spLocks noGrp="1"/>
          </p:cNvSpPr>
          <p:nvPr>
            <p:ph idx="1"/>
          </p:nvPr>
        </p:nvSpPr>
        <p:spPr/>
        <p:txBody>
          <a:bodyPr/>
          <a:lstStyle/>
          <a:p>
            <a:pPr marL="0" indent="0" algn="l">
              <a:buNone/>
            </a:pPr>
            <a:r>
              <a:rPr lang="en-US" sz="1800" b="0" dirty="0">
                <a:solidFill>
                  <a:srgbClr val="242424"/>
                </a:solidFill>
                <a:effectLst/>
                <a:latin typeface="source-serif-pro"/>
              </a:rPr>
              <a:t>This involves providing a </a:t>
            </a:r>
            <a:r>
              <a:rPr lang="en-US" sz="1800" b="1" dirty="0">
                <a:solidFill>
                  <a:srgbClr val="0000FF"/>
                </a:solidFill>
                <a:effectLst/>
                <a:latin typeface="source-serif-pro"/>
              </a:rPr>
              <a:t>few examples </a:t>
            </a:r>
            <a:r>
              <a:rPr lang="en-US" sz="1800" b="0" dirty="0">
                <a:solidFill>
                  <a:srgbClr val="242424"/>
                </a:solidFill>
                <a:effectLst/>
                <a:latin typeface="source-serif-pro"/>
              </a:rPr>
              <a:t>(usually 2–5) to help the AI understand the pattern or style of the response you’re looking for.</a:t>
            </a:r>
          </a:p>
          <a:p>
            <a:pPr marL="0" indent="0">
              <a:buNone/>
            </a:pPr>
            <a:endParaRPr lang="en-US" sz="1800" b="0" i="1" dirty="0">
              <a:solidFill>
                <a:srgbClr val="242424"/>
              </a:solidFill>
              <a:effectLst/>
              <a:latin typeface="source-serif-pro"/>
            </a:endParaRPr>
          </a:p>
          <a:p>
            <a:pPr marL="0" indent="0" algn="just">
              <a:buNone/>
            </a:pPr>
            <a:r>
              <a:rPr lang="en-US" sz="1800" b="1" dirty="0">
                <a:solidFill>
                  <a:srgbClr val="242424"/>
                </a:solidFill>
                <a:effectLst/>
                <a:latin typeface="source-serif-pro"/>
              </a:rPr>
              <a:t>Prompt: </a:t>
            </a:r>
            <a:r>
              <a:rPr lang="en-US" sz="1800" b="0" dirty="0">
                <a:solidFill>
                  <a:srgbClr val="242424"/>
                </a:solidFill>
                <a:effectLst/>
                <a:latin typeface="source-serif-pro"/>
              </a:rPr>
              <a:t>“Foundation Models such as GPT-3 are used for natural language</a:t>
            </a:r>
            <a:br>
              <a:rPr lang="en-US" sz="1800" b="0" dirty="0">
                <a:solidFill>
                  <a:srgbClr val="242424"/>
                </a:solidFill>
                <a:effectLst/>
                <a:latin typeface="source-serif-pro"/>
              </a:rPr>
            </a:br>
            <a:r>
              <a:rPr lang="en-US" sz="1800" b="0" dirty="0">
                <a:solidFill>
                  <a:srgbClr val="242424"/>
                </a:solidFill>
                <a:effectLst/>
                <a:latin typeface="source-serif-pro"/>
              </a:rPr>
              <a:t>processing, while models like DALL-E are used for image generation.</a:t>
            </a:r>
            <a:br>
              <a:rPr lang="en-US" sz="1800" b="0" dirty="0">
                <a:solidFill>
                  <a:srgbClr val="242424"/>
                </a:solidFill>
                <a:effectLst/>
                <a:latin typeface="source-serif-pro"/>
              </a:rPr>
            </a:br>
            <a:r>
              <a:rPr lang="en-US" sz="1800" b="0" dirty="0">
                <a:solidFill>
                  <a:srgbClr val="242424"/>
                </a:solidFill>
                <a:effectLst/>
                <a:latin typeface="source-serif-pro"/>
              </a:rPr>
              <a:t>How are Foundation Models used in the field of robotics?”</a:t>
            </a:r>
          </a:p>
          <a:p>
            <a:pPr marL="0" indent="0" algn="just">
              <a:buNone/>
            </a:pPr>
            <a:r>
              <a:rPr lang="en-US" sz="1800" b="1" dirty="0">
                <a:solidFill>
                  <a:srgbClr val="242424"/>
                </a:solidFill>
                <a:effectLst/>
                <a:latin typeface="source-serif-pro"/>
              </a:rPr>
              <a:t>Response: </a:t>
            </a:r>
            <a:r>
              <a:rPr lang="en-US" sz="1800" b="0" dirty="0">
                <a:solidFill>
                  <a:srgbClr val="242424"/>
                </a:solidFill>
                <a:effectLst/>
                <a:latin typeface="source-serif-pro"/>
              </a:rPr>
              <a:t>Foundation Models such as GPT-3 and DALL-E are not typically used</a:t>
            </a:r>
            <a:br>
              <a:rPr lang="en-US" sz="1800" b="0" dirty="0">
                <a:solidFill>
                  <a:srgbClr val="242424"/>
                </a:solidFill>
                <a:effectLst/>
                <a:latin typeface="source-serif-pro"/>
              </a:rPr>
            </a:br>
            <a:r>
              <a:rPr lang="en-US" sz="1800" b="0" dirty="0">
                <a:solidFill>
                  <a:srgbClr val="242424"/>
                </a:solidFill>
                <a:effectLst/>
                <a:latin typeface="source-serif-pro"/>
              </a:rPr>
              <a:t>directly in robotics. Instead, they are often used to develop the</a:t>
            </a:r>
            <a:br>
              <a:rPr lang="en-US" sz="1800" b="0" dirty="0">
                <a:solidFill>
                  <a:srgbClr val="242424"/>
                </a:solidFill>
                <a:effectLst/>
                <a:latin typeface="source-serif-pro"/>
              </a:rPr>
            </a:br>
            <a:r>
              <a:rPr lang="en-US" sz="1800" b="0" dirty="0">
                <a:solidFill>
                  <a:srgbClr val="242424"/>
                </a:solidFill>
                <a:effectLst/>
                <a:latin typeface="source-serif-pro"/>
              </a:rPr>
              <a:t>underlying technologies that enable robots to perform various tasks. </a:t>
            </a:r>
            <a:br>
              <a:rPr lang="en-US" sz="1800" b="0" dirty="0">
                <a:solidFill>
                  <a:srgbClr val="242424"/>
                </a:solidFill>
                <a:effectLst/>
                <a:latin typeface="source-serif-pro"/>
              </a:rPr>
            </a:br>
            <a:r>
              <a:rPr lang="en-US" sz="1800" b="0" dirty="0">
                <a:solidFill>
                  <a:srgbClr val="242424"/>
                </a:solidFill>
                <a:effectLst/>
                <a:latin typeface="source-serif-pro"/>
              </a:rPr>
              <a:t>For example, natural language processing (NLP) is a field of AI that</a:t>
            </a:r>
            <a:br>
              <a:rPr lang="en-US" sz="1800" b="0" dirty="0">
                <a:solidFill>
                  <a:srgbClr val="242424"/>
                </a:solidFill>
                <a:effectLst/>
                <a:latin typeface="source-serif-pro"/>
              </a:rPr>
            </a:br>
            <a:r>
              <a:rPr lang="en-US" sz="1800" b="0" dirty="0">
                <a:solidFill>
                  <a:srgbClr val="242424"/>
                </a:solidFill>
                <a:effectLst/>
                <a:latin typeface="source-serif-pro"/>
              </a:rPr>
              <a:t>focuses on enabling machines to understand and generate human language.</a:t>
            </a:r>
            <a:br>
              <a:rPr lang="en-US" sz="1800" b="0" dirty="0">
                <a:solidFill>
                  <a:srgbClr val="242424"/>
                </a:solidFill>
                <a:effectLst/>
                <a:latin typeface="source-serif-pro"/>
              </a:rPr>
            </a:br>
            <a:r>
              <a:rPr lang="en-US" sz="1800" b="0" dirty="0">
                <a:solidFill>
                  <a:srgbClr val="242424"/>
                </a:solidFill>
                <a:effectLst/>
                <a:latin typeface="source-serif-pro"/>
              </a:rPr>
              <a:t>GPT-3 is a powerful NLP model that has been used to develop many natural</a:t>
            </a:r>
            <a:br>
              <a:rPr lang="en-US" sz="1800" b="0" dirty="0">
                <a:solidFill>
                  <a:srgbClr val="242424"/>
                </a:solidFill>
                <a:effectLst/>
                <a:latin typeface="source-serif-pro"/>
              </a:rPr>
            </a:br>
            <a:r>
              <a:rPr lang="en-US" sz="1800" b="0" dirty="0">
                <a:solidFill>
                  <a:srgbClr val="242424"/>
                </a:solidFill>
                <a:effectLst/>
                <a:latin typeface="source-serif-pro"/>
              </a:rPr>
              <a:t>language applications,………….</a:t>
            </a:r>
          </a:p>
          <a:p>
            <a:pPr marL="0" indent="0">
              <a:buNone/>
            </a:pPr>
            <a:endParaRPr lang="en-US" sz="1800" b="0" i="1" dirty="0">
              <a:solidFill>
                <a:srgbClr val="242424"/>
              </a:solidFill>
              <a:effectLst/>
              <a:latin typeface="source-serif-pro"/>
            </a:endParaRPr>
          </a:p>
          <a:p>
            <a:endParaRPr lang="en-IN" sz="1800" i="1" dirty="0"/>
          </a:p>
          <a:p>
            <a:pPr marL="0" indent="0">
              <a:buNone/>
            </a:pPr>
            <a:endParaRPr lang="en-IN" sz="1800" i="1" dirty="0"/>
          </a:p>
        </p:txBody>
      </p:sp>
      <p:sp>
        <p:nvSpPr>
          <p:cNvPr id="4" name="Date Placeholder 3">
            <a:extLst>
              <a:ext uri="{FF2B5EF4-FFF2-40B4-BE49-F238E27FC236}">
                <a16:creationId xmlns:a16="http://schemas.microsoft.com/office/drawing/2014/main" id="{30C6F929-C97A-4221-833F-C48866C5C479}"/>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C1FCF1D3-1D9F-4F9A-B798-843900F12B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657D829-2E87-4A62-A1B4-473FA88A14E1}"/>
              </a:ext>
            </a:extLst>
          </p:cNvPr>
          <p:cNvSpPr>
            <a:spLocks noGrp="1"/>
          </p:cNvSpPr>
          <p:nvPr>
            <p:ph type="sldNum" sz="quarter" idx="12"/>
          </p:nvPr>
        </p:nvSpPr>
        <p:spPr/>
        <p:txBody>
          <a:bodyPr/>
          <a:lstStyle/>
          <a:p>
            <a:fld id="{BB2CE0DE-867F-455F-B20B-96D381B4AB71}" type="slidenum">
              <a:rPr lang="en-US" smtClean="0"/>
              <a:t>74</a:t>
            </a:fld>
            <a:endParaRPr lang="en-US"/>
          </a:p>
        </p:txBody>
      </p:sp>
    </p:spTree>
    <p:extLst>
      <p:ext uri="{BB962C8B-B14F-4D97-AF65-F5344CB8AC3E}">
        <p14:creationId xmlns:p14="http://schemas.microsoft.com/office/powerpoint/2010/main" val="17728652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1DDBB-EC8A-4BF7-ACA5-0D0D42F3558C}"/>
              </a:ext>
            </a:extLst>
          </p:cNvPr>
          <p:cNvSpPr>
            <a:spLocks noGrp="1"/>
          </p:cNvSpPr>
          <p:nvPr>
            <p:ph type="title"/>
          </p:nvPr>
        </p:nvSpPr>
        <p:spPr/>
        <p:txBody>
          <a:bodyPr/>
          <a:lstStyle/>
          <a:p>
            <a:r>
              <a:rPr lang="en-IN" b="1" i="0" dirty="0">
                <a:solidFill>
                  <a:srgbClr val="242424"/>
                </a:solidFill>
                <a:effectLst/>
                <a:latin typeface="source-serif-pro"/>
              </a:rPr>
              <a:t>Chain-of-Thought Prompting</a:t>
            </a:r>
            <a:endParaRPr lang="en-IN" dirty="0"/>
          </a:p>
        </p:txBody>
      </p:sp>
      <p:sp>
        <p:nvSpPr>
          <p:cNvPr id="3" name="Content Placeholder 2">
            <a:extLst>
              <a:ext uri="{FF2B5EF4-FFF2-40B4-BE49-F238E27FC236}">
                <a16:creationId xmlns:a16="http://schemas.microsoft.com/office/drawing/2014/main" id="{6A18789A-6A81-4DCB-9DBB-8DC63D697804}"/>
              </a:ext>
            </a:extLst>
          </p:cNvPr>
          <p:cNvSpPr>
            <a:spLocks noGrp="1"/>
          </p:cNvSpPr>
          <p:nvPr>
            <p:ph idx="1"/>
          </p:nvPr>
        </p:nvSpPr>
        <p:spPr/>
        <p:txBody>
          <a:bodyPr/>
          <a:lstStyle/>
          <a:p>
            <a:pPr marL="0" indent="0">
              <a:buNone/>
            </a:pPr>
            <a:r>
              <a:rPr lang="en-US" sz="1400" b="0" i="0" dirty="0">
                <a:solidFill>
                  <a:srgbClr val="242424"/>
                </a:solidFill>
                <a:effectLst/>
                <a:latin typeface="source-serif-pro"/>
              </a:rPr>
              <a:t>Here, you ask the AI to detail </a:t>
            </a:r>
            <a:r>
              <a:rPr lang="en-US" sz="1600" b="0" i="0" dirty="0">
                <a:solidFill>
                  <a:srgbClr val="0000FF"/>
                </a:solidFill>
                <a:effectLst/>
                <a:latin typeface="source-serif-pro"/>
              </a:rPr>
              <a:t>its </a:t>
            </a:r>
            <a:r>
              <a:rPr lang="en-US" sz="1600" b="1" i="0" dirty="0">
                <a:solidFill>
                  <a:srgbClr val="0000FF"/>
                </a:solidFill>
                <a:effectLst/>
                <a:latin typeface="source-serif-pro"/>
              </a:rPr>
              <a:t>thought process step-by-step</a:t>
            </a:r>
            <a:r>
              <a:rPr lang="en-US" sz="1400" b="0" i="0" dirty="0">
                <a:solidFill>
                  <a:srgbClr val="242424"/>
                </a:solidFill>
                <a:effectLst/>
                <a:latin typeface="source-serif-pro"/>
              </a:rPr>
              <a:t>. This is particularly useful for complex reasoning tasks.</a:t>
            </a:r>
          </a:p>
          <a:p>
            <a:pPr marL="0" indent="0">
              <a:buNone/>
            </a:pPr>
            <a:r>
              <a:rPr lang="en-US" sz="1400" b="1" dirty="0"/>
              <a:t>Prompt: </a:t>
            </a:r>
            <a:r>
              <a:rPr lang="en-US" sz="1400" dirty="0"/>
              <a:t>“Describe the process of developing a Foundation Model in AI,</a:t>
            </a:r>
            <a:br>
              <a:rPr lang="en-US" sz="1400" dirty="0"/>
            </a:br>
            <a:r>
              <a:rPr lang="en-US" sz="1400" dirty="0"/>
              <a:t>from data collection to model training.”</a:t>
            </a:r>
          </a:p>
          <a:p>
            <a:pPr marL="0" indent="0">
              <a:buNone/>
            </a:pPr>
            <a:r>
              <a:rPr lang="en-US" sz="1400" b="1" dirty="0">
                <a:solidFill>
                  <a:schemeClr val="tx1"/>
                </a:solidFill>
              </a:rPr>
              <a:t>Response: </a:t>
            </a:r>
            <a:r>
              <a:rPr lang="en-US" sz="1400" dirty="0">
                <a:solidFill>
                  <a:schemeClr val="tx1"/>
                </a:solidFill>
              </a:rPr>
              <a:t>Developing a foundation model in AI is a complex process that involves</a:t>
            </a:r>
            <a:br>
              <a:rPr lang="en-US" sz="1400" dirty="0">
                <a:solidFill>
                  <a:schemeClr val="tx1"/>
                </a:solidFill>
              </a:rPr>
            </a:br>
            <a:r>
              <a:rPr lang="en-US" sz="1400" dirty="0">
                <a:solidFill>
                  <a:schemeClr val="tx1"/>
                </a:solidFill>
              </a:rPr>
              <a:t>several steps, including data collection, preprocessing, labeling, and</a:t>
            </a:r>
            <a:br>
              <a:rPr lang="en-US" sz="1400" dirty="0">
                <a:solidFill>
                  <a:schemeClr val="tx1"/>
                </a:solidFill>
              </a:rPr>
            </a:br>
            <a:r>
              <a:rPr lang="en-US" sz="1400" dirty="0">
                <a:solidFill>
                  <a:schemeClr val="tx1"/>
                </a:solidFill>
              </a:rPr>
              <a:t>training. Here is an overview of the general process:</a:t>
            </a:r>
            <a:br>
              <a:rPr lang="en-US" sz="1400" dirty="0">
                <a:solidFill>
                  <a:schemeClr val="tx1"/>
                </a:solidFill>
              </a:rPr>
            </a:br>
            <a:r>
              <a:rPr lang="en-US" sz="1400" dirty="0">
                <a:solidFill>
                  <a:schemeClr val="tx1"/>
                </a:solidFill>
              </a:rPr>
              <a:t>1. Data Collection: The first step in developing a foundation model is to collect large amounts of data. This data can come from various sources, such as text documents, images, videos, or audio recordings. The quality and quantity of the data collected will have a significant impact on the</a:t>
            </a:r>
            <a:br>
              <a:rPr lang="en-US" sz="1400" dirty="0">
                <a:solidFill>
                  <a:schemeClr val="tx1"/>
                </a:solidFill>
              </a:rPr>
            </a:br>
            <a:r>
              <a:rPr lang="en-US" sz="1400" dirty="0">
                <a:solidFill>
                  <a:schemeClr val="tx1"/>
                </a:solidFill>
              </a:rPr>
              <a:t>performance of the final model.</a:t>
            </a:r>
            <a:br>
              <a:rPr lang="en-US" sz="1400" dirty="0">
                <a:solidFill>
                  <a:schemeClr val="tx1"/>
                </a:solidFill>
              </a:rPr>
            </a:br>
            <a:r>
              <a:rPr lang="en-US" sz="1400" dirty="0">
                <a:solidFill>
                  <a:schemeClr val="tx1"/>
                </a:solidFill>
              </a:rPr>
              <a:t>2. Data Preprocessing: Once the data has been collected, it needs to be preprocessed to make it suitable for use in a foundation model. This may involve cleaning the data (removing noise or irrelevant information), converting it into a specific format (such as text or images), and</a:t>
            </a:r>
            <a:br>
              <a:rPr lang="en-US" sz="1400" dirty="0">
                <a:solidFill>
                  <a:schemeClr val="tx1"/>
                </a:solidFill>
              </a:rPr>
            </a:br>
            <a:r>
              <a:rPr lang="en-US" sz="1400" dirty="0">
                <a:solidFill>
                  <a:schemeClr val="tx1"/>
                </a:solidFill>
              </a:rPr>
              <a:t>normalizing it to ensure that all the data is on the same scale……….</a:t>
            </a:r>
          </a:p>
          <a:p>
            <a:pPr marL="0" indent="0">
              <a:buNone/>
            </a:pPr>
            <a:r>
              <a:rPr lang="en-IN" sz="1400" b="0" i="0" dirty="0">
                <a:solidFill>
                  <a:schemeClr val="tx1"/>
                </a:solidFill>
                <a:effectLst/>
                <a:latin typeface="source-code-pro"/>
              </a:rPr>
              <a:t>3. </a:t>
            </a:r>
            <a:r>
              <a:rPr lang="en-IN" sz="1400" b="0" i="0" dirty="0" err="1">
                <a:solidFill>
                  <a:schemeClr val="tx1"/>
                </a:solidFill>
                <a:effectLst/>
                <a:latin typeface="source-code-pro"/>
              </a:rPr>
              <a:t>Labeling</a:t>
            </a:r>
            <a:r>
              <a:rPr lang="en-IN" sz="1400" b="0" i="0" dirty="0">
                <a:solidFill>
                  <a:schemeClr val="tx1"/>
                </a:solidFill>
                <a:effectLst/>
                <a:latin typeface="source-code-pro"/>
              </a:rPr>
              <a:t>: ………………………</a:t>
            </a:r>
            <a:endParaRPr lang="en-US" sz="1400" b="0" i="0" dirty="0">
              <a:solidFill>
                <a:schemeClr val="tx1"/>
              </a:solidFill>
              <a:effectLst/>
              <a:latin typeface="source-code-pro"/>
            </a:endParaRPr>
          </a:p>
          <a:p>
            <a:pPr marL="0" indent="0">
              <a:buNone/>
            </a:pPr>
            <a:r>
              <a:rPr lang="en-IN" sz="1400" b="0" i="0" dirty="0">
                <a:solidFill>
                  <a:schemeClr val="tx1"/>
                </a:solidFill>
                <a:effectLst/>
                <a:latin typeface="source-code-pro"/>
              </a:rPr>
              <a:t>4. Model Training: …………..</a:t>
            </a:r>
            <a:endParaRPr lang="en-US" sz="1400" dirty="0">
              <a:solidFill>
                <a:schemeClr val="tx1"/>
              </a:solidFill>
              <a:latin typeface="source-code-pro"/>
            </a:endParaRPr>
          </a:p>
          <a:p>
            <a:pPr marL="0" indent="0">
              <a:buNone/>
            </a:pPr>
            <a:r>
              <a:rPr lang="en-IN" sz="1400" b="0" i="0" dirty="0">
                <a:solidFill>
                  <a:schemeClr val="tx1"/>
                </a:solidFill>
                <a:effectLst/>
                <a:latin typeface="source-code-pro"/>
              </a:rPr>
              <a:t>5. Fine-tuning: ……………….</a:t>
            </a:r>
            <a:endParaRPr lang="en-US" sz="1400" b="0" i="0" dirty="0">
              <a:solidFill>
                <a:schemeClr val="tx1"/>
              </a:solidFill>
              <a:effectLst/>
              <a:latin typeface="source-code-pro"/>
            </a:endParaRPr>
          </a:p>
          <a:p>
            <a:pPr marL="0" indent="0">
              <a:buNone/>
            </a:pPr>
            <a:r>
              <a:rPr lang="en-IN" sz="1400" b="0" i="0" dirty="0">
                <a:solidFill>
                  <a:schemeClr val="tx1"/>
                </a:solidFill>
                <a:effectLst/>
                <a:latin typeface="source-code-pro"/>
              </a:rPr>
              <a:t>6. Deployment: ………………</a:t>
            </a:r>
            <a:endParaRPr lang="en-US" sz="1400" dirty="0">
              <a:solidFill>
                <a:schemeClr val="tx1"/>
              </a:solidFill>
            </a:endParaRPr>
          </a:p>
          <a:p>
            <a:pPr marL="0" indent="0">
              <a:buNone/>
            </a:pPr>
            <a:endParaRPr lang="en-IN" sz="1400" dirty="0"/>
          </a:p>
        </p:txBody>
      </p:sp>
      <p:sp>
        <p:nvSpPr>
          <p:cNvPr id="4" name="Date Placeholder 3">
            <a:extLst>
              <a:ext uri="{FF2B5EF4-FFF2-40B4-BE49-F238E27FC236}">
                <a16:creationId xmlns:a16="http://schemas.microsoft.com/office/drawing/2014/main" id="{592175D8-B17D-475C-B130-3D8AD2237818}"/>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DF25B886-EE49-4B05-AD1F-898CDEA1722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A9A8422-B3E1-4928-9520-5E5C17CB49F0}"/>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37889380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4CA2-0265-4358-B5A6-443503725E92}"/>
              </a:ext>
            </a:extLst>
          </p:cNvPr>
          <p:cNvSpPr>
            <a:spLocks noGrp="1"/>
          </p:cNvSpPr>
          <p:nvPr>
            <p:ph type="title"/>
          </p:nvPr>
        </p:nvSpPr>
        <p:spPr/>
        <p:txBody>
          <a:bodyPr/>
          <a:lstStyle/>
          <a:p>
            <a:r>
              <a:rPr lang="en-IN" b="1" i="0" dirty="0">
                <a:solidFill>
                  <a:srgbClr val="242424"/>
                </a:solidFill>
                <a:effectLst/>
                <a:latin typeface="source-serif-pro"/>
              </a:rPr>
              <a:t>Iterative Prompting</a:t>
            </a:r>
            <a:endParaRPr lang="en-IN" dirty="0"/>
          </a:p>
        </p:txBody>
      </p:sp>
      <p:sp>
        <p:nvSpPr>
          <p:cNvPr id="3" name="Content Placeholder 2">
            <a:extLst>
              <a:ext uri="{FF2B5EF4-FFF2-40B4-BE49-F238E27FC236}">
                <a16:creationId xmlns:a16="http://schemas.microsoft.com/office/drawing/2014/main" id="{83489DBC-E8C0-4A51-AAF0-9D509FAF64A1}"/>
              </a:ext>
            </a:extLst>
          </p:cNvPr>
          <p:cNvSpPr>
            <a:spLocks noGrp="1"/>
          </p:cNvSpPr>
          <p:nvPr>
            <p:ph idx="1"/>
          </p:nvPr>
        </p:nvSpPr>
        <p:spPr/>
        <p:txBody>
          <a:bodyPr/>
          <a:lstStyle/>
          <a:p>
            <a:pPr marL="0" indent="0" algn="l">
              <a:buNone/>
            </a:pPr>
            <a:r>
              <a:rPr lang="en-US" sz="2000" b="0" dirty="0">
                <a:solidFill>
                  <a:schemeClr val="tx1"/>
                </a:solidFill>
                <a:effectLst/>
                <a:latin typeface="+mj-lt"/>
              </a:rPr>
              <a:t>This is a process where you </a:t>
            </a:r>
            <a:r>
              <a:rPr lang="en-US" sz="2000" b="1" dirty="0">
                <a:solidFill>
                  <a:srgbClr val="0000FF"/>
                </a:solidFill>
                <a:effectLst/>
                <a:latin typeface="+mj-lt"/>
              </a:rPr>
              <a:t>refine your prompt </a:t>
            </a:r>
            <a:r>
              <a:rPr lang="en-US" sz="2000" b="0" dirty="0">
                <a:solidFill>
                  <a:schemeClr val="tx1"/>
                </a:solidFill>
                <a:effectLst/>
                <a:latin typeface="+mj-lt"/>
              </a:rPr>
              <a:t>based on the outputs you get, slowly guiding the AI to the desired answer or style of answer.</a:t>
            </a:r>
          </a:p>
          <a:p>
            <a:pPr marL="0" indent="0">
              <a:buNone/>
            </a:pPr>
            <a:r>
              <a:rPr lang="en-US" sz="2000" b="1" dirty="0">
                <a:solidFill>
                  <a:schemeClr val="tx1"/>
                </a:solidFill>
                <a:effectLst/>
                <a:latin typeface="+mj-lt"/>
              </a:rPr>
              <a:t>Initial Prompt: </a:t>
            </a:r>
            <a:r>
              <a:rPr lang="en-US" sz="2000" b="0" dirty="0">
                <a:solidFill>
                  <a:schemeClr val="tx1"/>
                </a:solidFill>
                <a:effectLst/>
                <a:latin typeface="+mj-lt"/>
              </a:rPr>
              <a:t>“Tell me about the latest developments in Foundation Models in AI.”</a:t>
            </a:r>
          </a:p>
          <a:p>
            <a:pPr marL="0" indent="0">
              <a:buNone/>
            </a:pPr>
            <a:r>
              <a:rPr lang="en-US" sz="2000" b="1" dirty="0">
                <a:solidFill>
                  <a:schemeClr val="tx1"/>
                </a:solidFill>
                <a:effectLst/>
                <a:latin typeface="+mj-lt"/>
              </a:rPr>
              <a:t>Response: </a:t>
            </a:r>
            <a:r>
              <a:rPr lang="en-US" sz="2000" b="0" dirty="0">
                <a:solidFill>
                  <a:schemeClr val="tx1"/>
                </a:solidFill>
                <a:effectLst/>
                <a:latin typeface="+mj-lt"/>
              </a:rPr>
              <a:t>…………</a:t>
            </a:r>
          </a:p>
          <a:p>
            <a:pPr marL="0" indent="0">
              <a:buNone/>
            </a:pPr>
            <a:r>
              <a:rPr lang="en-US" sz="2000" b="1" dirty="0">
                <a:solidFill>
                  <a:schemeClr val="tx1"/>
                </a:solidFill>
                <a:latin typeface="+mj-lt"/>
              </a:rPr>
              <a:t>Refined Prompt: </a:t>
            </a:r>
            <a:r>
              <a:rPr lang="en-US" sz="2000" dirty="0">
                <a:solidFill>
                  <a:schemeClr val="tx1"/>
                </a:solidFill>
                <a:latin typeface="+mj-lt"/>
              </a:rPr>
              <a:t>“Can you provide more details about these improvements in multi-modal learning within Foundation Models?”</a:t>
            </a:r>
          </a:p>
          <a:p>
            <a:pPr marL="0" indent="0">
              <a:buNone/>
            </a:pPr>
            <a:r>
              <a:rPr lang="en-US" sz="2000" b="1" dirty="0">
                <a:solidFill>
                  <a:schemeClr val="tx1"/>
                </a:solidFill>
                <a:latin typeface="+mj-lt"/>
              </a:rPr>
              <a:t>Refined Response:</a:t>
            </a:r>
            <a:r>
              <a:rPr lang="en-US" sz="2000" dirty="0">
                <a:solidFill>
                  <a:schemeClr val="tx1"/>
                </a:solidFill>
                <a:latin typeface="+mj-lt"/>
              </a:rPr>
              <a:t>……….</a:t>
            </a:r>
            <a:endParaRPr lang="en-IN" sz="2000" dirty="0">
              <a:solidFill>
                <a:schemeClr val="tx1"/>
              </a:solidFill>
              <a:latin typeface="+mj-lt"/>
            </a:endParaRPr>
          </a:p>
          <a:p>
            <a:pPr marL="0" indent="0">
              <a:buNone/>
            </a:pPr>
            <a:endParaRPr lang="en-IN" sz="2000" dirty="0">
              <a:solidFill>
                <a:schemeClr val="tx1"/>
              </a:solidFill>
              <a:latin typeface="+mj-lt"/>
            </a:endParaRPr>
          </a:p>
        </p:txBody>
      </p:sp>
      <p:sp>
        <p:nvSpPr>
          <p:cNvPr id="4" name="Date Placeholder 3">
            <a:extLst>
              <a:ext uri="{FF2B5EF4-FFF2-40B4-BE49-F238E27FC236}">
                <a16:creationId xmlns:a16="http://schemas.microsoft.com/office/drawing/2014/main" id="{CEEDB98F-8733-4D63-B0B0-3D6C97B8786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BECD3418-8CAB-4C3C-85AA-DC55CEFF1AA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78F52A0-666F-42BF-9828-21EBF088FB7C}"/>
              </a:ext>
            </a:extLst>
          </p:cNvPr>
          <p:cNvSpPr>
            <a:spLocks noGrp="1"/>
          </p:cNvSpPr>
          <p:nvPr>
            <p:ph type="sldNum" sz="quarter" idx="12"/>
          </p:nvPr>
        </p:nvSpPr>
        <p:spPr/>
        <p:txBody>
          <a:bodyPr/>
          <a:lstStyle/>
          <a:p>
            <a:fld id="{BB2CE0DE-867F-455F-B20B-96D381B4AB71}" type="slidenum">
              <a:rPr lang="en-US" smtClean="0"/>
              <a:t>76</a:t>
            </a:fld>
            <a:endParaRPr lang="en-US"/>
          </a:p>
        </p:txBody>
      </p:sp>
    </p:spTree>
    <p:extLst>
      <p:ext uri="{BB962C8B-B14F-4D97-AF65-F5344CB8AC3E}">
        <p14:creationId xmlns:p14="http://schemas.microsoft.com/office/powerpoint/2010/main" val="9670016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9A09-E8AD-44C3-988F-C29AB5955477}"/>
              </a:ext>
            </a:extLst>
          </p:cNvPr>
          <p:cNvSpPr>
            <a:spLocks noGrp="1"/>
          </p:cNvSpPr>
          <p:nvPr>
            <p:ph type="title"/>
          </p:nvPr>
        </p:nvSpPr>
        <p:spPr/>
        <p:txBody>
          <a:bodyPr/>
          <a:lstStyle/>
          <a:p>
            <a:r>
              <a:rPr lang="en-IN" b="1" i="0" dirty="0">
                <a:solidFill>
                  <a:srgbClr val="242424"/>
                </a:solidFill>
                <a:effectLst/>
                <a:latin typeface="source-serif-pro"/>
              </a:rPr>
              <a:t>Negative Prompting</a:t>
            </a:r>
            <a:endParaRPr lang="en-IN" dirty="0"/>
          </a:p>
        </p:txBody>
      </p:sp>
      <p:sp>
        <p:nvSpPr>
          <p:cNvPr id="3" name="Content Placeholder 2">
            <a:extLst>
              <a:ext uri="{FF2B5EF4-FFF2-40B4-BE49-F238E27FC236}">
                <a16:creationId xmlns:a16="http://schemas.microsoft.com/office/drawing/2014/main" id="{4972484B-D081-45D9-A98A-C4C5A98EE360}"/>
              </a:ext>
            </a:extLst>
          </p:cNvPr>
          <p:cNvSpPr>
            <a:spLocks noGrp="1"/>
          </p:cNvSpPr>
          <p:nvPr>
            <p:ph idx="1"/>
          </p:nvPr>
        </p:nvSpPr>
        <p:spPr/>
        <p:txBody>
          <a:bodyPr/>
          <a:lstStyle/>
          <a:p>
            <a:pPr marL="0" indent="0" algn="l">
              <a:buNone/>
            </a:pPr>
            <a:r>
              <a:rPr lang="en-US" sz="2000" b="0" i="0" dirty="0">
                <a:solidFill>
                  <a:srgbClr val="242424"/>
                </a:solidFill>
                <a:effectLst/>
                <a:latin typeface="source-serif-pro"/>
              </a:rPr>
              <a:t>In this method, you tell the AI what </a:t>
            </a:r>
            <a:r>
              <a:rPr lang="en-US" sz="2000" b="1" i="0" dirty="0">
                <a:solidFill>
                  <a:srgbClr val="0000FF"/>
                </a:solidFill>
                <a:effectLst/>
                <a:latin typeface="source-serif-pro"/>
              </a:rPr>
              <a:t>not to do</a:t>
            </a:r>
            <a:r>
              <a:rPr lang="en-US" sz="2000" b="0" i="0" dirty="0">
                <a:solidFill>
                  <a:srgbClr val="242424"/>
                </a:solidFill>
                <a:effectLst/>
                <a:latin typeface="source-serif-pro"/>
              </a:rPr>
              <a:t>. For instance, you might specify that you don’t want a certain type of content in the response.</a:t>
            </a:r>
          </a:p>
          <a:p>
            <a:pPr marL="0" indent="0">
              <a:buNone/>
            </a:pPr>
            <a:endParaRPr lang="en-US" sz="2000" b="0" i="1" dirty="0">
              <a:solidFill>
                <a:srgbClr val="242424"/>
              </a:solidFill>
              <a:effectLst/>
              <a:latin typeface="source-serif-pro"/>
            </a:endParaRPr>
          </a:p>
          <a:p>
            <a:pPr marL="0" indent="0">
              <a:buNone/>
            </a:pPr>
            <a:r>
              <a:rPr lang="en-US" sz="2000" b="1" i="1" dirty="0">
                <a:solidFill>
                  <a:srgbClr val="242424"/>
                </a:solidFill>
                <a:effectLst/>
                <a:latin typeface="source-serif-pro"/>
              </a:rPr>
              <a:t>Prompt:</a:t>
            </a:r>
            <a:r>
              <a:rPr lang="en-US" sz="2000" b="0" i="1" dirty="0">
                <a:solidFill>
                  <a:srgbClr val="242424"/>
                </a:solidFill>
                <a:effectLst/>
                <a:latin typeface="source-serif-pro"/>
              </a:rPr>
              <a:t> “Explain the concept of Foundation Models in AI without mentioning natural language processing or NLP.”</a:t>
            </a:r>
          </a:p>
          <a:p>
            <a:pPr marL="0" indent="0">
              <a:buNone/>
            </a:pPr>
            <a:r>
              <a:rPr lang="en-US" sz="2000" b="1" i="1" dirty="0">
                <a:solidFill>
                  <a:srgbClr val="242424"/>
                </a:solidFill>
                <a:latin typeface="source-serif-pro"/>
              </a:rPr>
              <a:t>Response:</a:t>
            </a:r>
            <a:r>
              <a:rPr lang="en-US" sz="2000" i="1" dirty="0">
                <a:solidFill>
                  <a:srgbClr val="242424"/>
                </a:solidFill>
                <a:latin typeface="source-serif-pro"/>
              </a:rPr>
              <a:t>………..</a:t>
            </a:r>
            <a:endParaRPr lang="en-US" sz="2000" b="0" i="1" dirty="0">
              <a:solidFill>
                <a:srgbClr val="242424"/>
              </a:solidFill>
              <a:effectLst/>
              <a:latin typeface="source-serif-pro"/>
            </a:endParaRPr>
          </a:p>
          <a:p>
            <a:endParaRPr lang="en-IN" dirty="0"/>
          </a:p>
          <a:p>
            <a:pPr marL="0" indent="0">
              <a:buNone/>
            </a:pPr>
            <a:endParaRPr lang="en-IN" dirty="0"/>
          </a:p>
        </p:txBody>
      </p:sp>
      <p:sp>
        <p:nvSpPr>
          <p:cNvPr id="4" name="Date Placeholder 3">
            <a:extLst>
              <a:ext uri="{FF2B5EF4-FFF2-40B4-BE49-F238E27FC236}">
                <a16:creationId xmlns:a16="http://schemas.microsoft.com/office/drawing/2014/main" id="{BAE9993D-887B-4831-A508-862AF7F9B099}"/>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7621EEFA-4D6D-4711-ADD7-946AF3293FF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0AEA55-A704-4A33-9580-2585AA07D753}"/>
              </a:ext>
            </a:extLst>
          </p:cNvPr>
          <p:cNvSpPr>
            <a:spLocks noGrp="1"/>
          </p:cNvSpPr>
          <p:nvPr>
            <p:ph type="sldNum" sz="quarter" idx="12"/>
          </p:nvPr>
        </p:nvSpPr>
        <p:spPr/>
        <p:txBody>
          <a:bodyPr/>
          <a:lstStyle/>
          <a:p>
            <a:fld id="{BB2CE0DE-867F-455F-B20B-96D381B4AB71}" type="slidenum">
              <a:rPr lang="en-US" smtClean="0"/>
              <a:t>77</a:t>
            </a:fld>
            <a:endParaRPr lang="en-US"/>
          </a:p>
        </p:txBody>
      </p:sp>
    </p:spTree>
    <p:extLst>
      <p:ext uri="{BB962C8B-B14F-4D97-AF65-F5344CB8AC3E}">
        <p14:creationId xmlns:p14="http://schemas.microsoft.com/office/powerpoint/2010/main" val="31449217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63BED-F3C0-4F3F-B0C7-54CF6AB2BE5C}"/>
              </a:ext>
            </a:extLst>
          </p:cNvPr>
          <p:cNvSpPr>
            <a:spLocks noGrp="1"/>
          </p:cNvSpPr>
          <p:nvPr>
            <p:ph type="title"/>
          </p:nvPr>
        </p:nvSpPr>
        <p:spPr/>
        <p:txBody>
          <a:bodyPr/>
          <a:lstStyle/>
          <a:p>
            <a:r>
              <a:rPr lang="en-IN" b="1" i="0" dirty="0">
                <a:solidFill>
                  <a:srgbClr val="242424"/>
                </a:solidFill>
                <a:effectLst/>
                <a:latin typeface="source-serif-pro"/>
              </a:rPr>
              <a:t>Hybrid Prompting</a:t>
            </a:r>
            <a:endParaRPr lang="en-IN" dirty="0"/>
          </a:p>
        </p:txBody>
      </p:sp>
      <p:sp>
        <p:nvSpPr>
          <p:cNvPr id="3" name="Content Placeholder 2">
            <a:extLst>
              <a:ext uri="{FF2B5EF4-FFF2-40B4-BE49-F238E27FC236}">
                <a16:creationId xmlns:a16="http://schemas.microsoft.com/office/drawing/2014/main" id="{CD2CB5DB-AFE1-4D76-9AB0-78DA0386C196}"/>
              </a:ext>
            </a:extLst>
          </p:cNvPr>
          <p:cNvSpPr>
            <a:spLocks noGrp="1"/>
          </p:cNvSpPr>
          <p:nvPr>
            <p:ph idx="1"/>
          </p:nvPr>
        </p:nvSpPr>
        <p:spPr/>
        <p:txBody>
          <a:bodyPr/>
          <a:lstStyle/>
          <a:p>
            <a:pPr marL="0" indent="0" algn="l">
              <a:buNone/>
            </a:pPr>
            <a:r>
              <a:rPr lang="en-US" sz="2000" dirty="0">
                <a:solidFill>
                  <a:schemeClr val="tx1"/>
                </a:solidFill>
              </a:rPr>
              <a:t>C</a:t>
            </a:r>
            <a:r>
              <a:rPr lang="en-US" sz="2000" b="0" i="0" dirty="0">
                <a:solidFill>
                  <a:schemeClr val="tx1"/>
                </a:solidFill>
                <a:effectLst/>
                <a:latin typeface="source-serif-pro"/>
              </a:rPr>
              <a:t>ombining different methods, like </a:t>
            </a:r>
            <a:r>
              <a:rPr lang="en-US" sz="2000" b="1" i="0" dirty="0">
                <a:solidFill>
                  <a:srgbClr val="0000FF"/>
                </a:solidFill>
                <a:effectLst/>
                <a:latin typeface="source-serif-pro"/>
              </a:rPr>
              <a:t>few-shot with chain-of-thought</a:t>
            </a:r>
            <a:r>
              <a:rPr lang="en-US" sz="2000" b="0" i="0" dirty="0">
                <a:solidFill>
                  <a:schemeClr val="tx1"/>
                </a:solidFill>
                <a:effectLst/>
                <a:latin typeface="source-serif-pro"/>
              </a:rPr>
              <a:t>, to get more precise or creative outputs.</a:t>
            </a:r>
          </a:p>
          <a:p>
            <a:pPr marL="0" indent="0">
              <a:buNone/>
            </a:pPr>
            <a:r>
              <a:rPr lang="en-US" sz="2000" b="1" i="1" dirty="0">
                <a:solidFill>
                  <a:schemeClr val="tx1"/>
                </a:solidFill>
                <a:effectLst/>
                <a:latin typeface="source-serif-pro"/>
              </a:rPr>
              <a:t>Prompt: </a:t>
            </a:r>
            <a:r>
              <a:rPr lang="en-US" sz="2000" b="0" i="1" dirty="0">
                <a:solidFill>
                  <a:schemeClr val="tx1"/>
                </a:solidFill>
                <a:effectLst/>
                <a:latin typeface="source-serif-pro"/>
              </a:rPr>
              <a:t>“Like GPT-3, which is a versatile model used in various language tasks, explain how Foundation Models are applied in other domains of AI, such as computer vision.”</a:t>
            </a:r>
          </a:p>
          <a:p>
            <a:pPr marL="0" indent="0">
              <a:buNone/>
            </a:pPr>
            <a:r>
              <a:rPr lang="en-IN" sz="2000" b="1" dirty="0">
                <a:solidFill>
                  <a:schemeClr val="tx1"/>
                </a:solidFill>
              </a:rPr>
              <a:t>Response:</a:t>
            </a:r>
            <a:r>
              <a:rPr lang="en-IN" sz="2000" dirty="0">
                <a:solidFill>
                  <a:schemeClr val="tx1"/>
                </a:solidFill>
              </a:rPr>
              <a:t> ……..</a:t>
            </a:r>
          </a:p>
          <a:p>
            <a:pPr marL="0" indent="0">
              <a:buNone/>
            </a:pPr>
            <a:endParaRPr lang="en-IN" sz="2000" dirty="0">
              <a:solidFill>
                <a:schemeClr val="tx1"/>
              </a:solidFill>
            </a:endParaRPr>
          </a:p>
        </p:txBody>
      </p:sp>
      <p:sp>
        <p:nvSpPr>
          <p:cNvPr id="4" name="Date Placeholder 3">
            <a:extLst>
              <a:ext uri="{FF2B5EF4-FFF2-40B4-BE49-F238E27FC236}">
                <a16:creationId xmlns:a16="http://schemas.microsoft.com/office/drawing/2014/main" id="{D3B24EF3-C093-4698-818D-031155DE2F53}"/>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EB0717F6-F222-4B84-84A2-CC50D400AD2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46D2F0F-506B-42FD-8934-87D8AC643E1A}"/>
              </a:ext>
            </a:extLst>
          </p:cNvPr>
          <p:cNvSpPr>
            <a:spLocks noGrp="1"/>
          </p:cNvSpPr>
          <p:nvPr>
            <p:ph type="sldNum" sz="quarter" idx="12"/>
          </p:nvPr>
        </p:nvSpPr>
        <p:spPr/>
        <p:txBody>
          <a:bodyPr/>
          <a:lstStyle/>
          <a:p>
            <a:fld id="{BB2CE0DE-867F-455F-B20B-96D381B4AB71}" type="slidenum">
              <a:rPr lang="en-US" smtClean="0"/>
              <a:t>78</a:t>
            </a:fld>
            <a:endParaRPr lang="en-US"/>
          </a:p>
        </p:txBody>
      </p:sp>
    </p:spTree>
    <p:extLst>
      <p:ext uri="{BB962C8B-B14F-4D97-AF65-F5344CB8AC3E}">
        <p14:creationId xmlns:p14="http://schemas.microsoft.com/office/powerpoint/2010/main" val="11607320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D299-BB60-4D33-971C-FF48EBCF584D}"/>
              </a:ext>
            </a:extLst>
          </p:cNvPr>
          <p:cNvSpPr>
            <a:spLocks noGrp="1"/>
          </p:cNvSpPr>
          <p:nvPr>
            <p:ph type="title"/>
          </p:nvPr>
        </p:nvSpPr>
        <p:spPr/>
        <p:txBody>
          <a:bodyPr/>
          <a:lstStyle/>
          <a:p>
            <a:r>
              <a:rPr lang="en-IN" b="1" i="0" dirty="0">
                <a:solidFill>
                  <a:srgbClr val="242424"/>
                </a:solidFill>
                <a:effectLst/>
                <a:latin typeface="source-serif-pro"/>
              </a:rPr>
              <a:t>Prompt Chaining</a:t>
            </a:r>
            <a:endParaRPr lang="en-IN" dirty="0"/>
          </a:p>
        </p:txBody>
      </p:sp>
      <p:sp>
        <p:nvSpPr>
          <p:cNvPr id="3" name="Content Placeholder 2">
            <a:extLst>
              <a:ext uri="{FF2B5EF4-FFF2-40B4-BE49-F238E27FC236}">
                <a16:creationId xmlns:a16="http://schemas.microsoft.com/office/drawing/2014/main" id="{E70218D7-676A-4E40-88B5-B24537EA9BF4}"/>
              </a:ext>
            </a:extLst>
          </p:cNvPr>
          <p:cNvSpPr>
            <a:spLocks noGrp="1"/>
          </p:cNvSpPr>
          <p:nvPr>
            <p:ph idx="1"/>
          </p:nvPr>
        </p:nvSpPr>
        <p:spPr/>
        <p:txBody>
          <a:bodyPr/>
          <a:lstStyle/>
          <a:p>
            <a:pPr marL="0" indent="0">
              <a:buNone/>
            </a:pPr>
            <a:r>
              <a:rPr lang="en-US" sz="2000" b="1" dirty="0">
                <a:solidFill>
                  <a:srgbClr val="0000FF"/>
                </a:solidFill>
                <a:effectLst/>
                <a:latin typeface="source-serif-pro"/>
              </a:rPr>
              <a:t>Breaking down a complex task into smaller prompts</a:t>
            </a:r>
            <a:r>
              <a:rPr lang="en-US" sz="2000" b="0" dirty="0">
                <a:solidFill>
                  <a:srgbClr val="242424"/>
                </a:solidFill>
                <a:effectLst/>
                <a:latin typeface="source-serif-pro"/>
              </a:rPr>
              <a:t> and then chaining the outputs together to form a final response.</a:t>
            </a:r>
          </a:p>
          <a:p>
            <a:pPr marL="0" indent="0">
              <a:buNone/>
            </a:pPr>
            <a:r>
              <a:rPr lang="en-US" sz="2000" b="0" dirty="0">
                <a:solidFill>
                  <a:srgbClr val="242424"/>
                </a:solidFill>
                <a:effectLst/>
                <a:latin typeface="source-serif-pro"/>
              </a:rPr>
              <a:t>First Prompt: “List some examples of Foundation Models in AI.”</a:t>
            </a:r>
          </a:p>
          <a:p>
            <a:pPr marL="0" indent="0">
              <a:buNone/>
            </a:pPr>
            <a:r>
              <a:rPr lang="en-US" sz="2000" b="0" dirty="0">
                <a:solidFill>
                  <a:srgbClr val="242424"/>
                </a:solidFill>
                <a:effectLst/>
                <a:latin typeface="source-serif-pro"/>
              </a:rPr>
              <a:t>Response:…………….</a:t>
            </a:r>
          </a:p>
          <a:p>
            <a:pPr marL="0" indent="0">
              <a:buNone/>
            </a:pPr>
            <a:r>
              <a:rPr lang="en-US" sz="2000" b="0" dirty="0">
                <a:solidFill>
                  <a:srgbClr val="242424"/>
                </a:solidFill>
                <a:effectLst/>
                <a:latin typeface="source-serif-pro"/>
              </a:rPr>
              <a:t>Second Prompt: “Choose one of these models and explain its foundational role in AI development.”</a:t>
            </a:r>
          </a:p>
          <a:p>
            <a:pPr marL="0" indent="0">
              <a:buNone/>
            </a:pPr>
            <a:r>
              <a:rPr lang="en-US" sz="2000" b="0" dirty="0">
                <a:solidFill>
                  <a:srgbClr val="242424"/>
                </a:solidFill>
                <a:effectLst/>
                <a:latin typeface="source-serif-pro"/>
              </a:rPr>
              <a:t>Response:………….</a:t>
            </a:r>
            <a:endParaRPr lang="en-IN" sz="2000" dirty="0"/>
          </a:p>
          <a:p>
            <a:pPr marL="0" indent="0">
              <a:buNone/>
            </a:pPr>
            <a:endParaRPr lang="en-IN" sz="2000" dirty="0"/>
          </a:p>
        </p:txBody>
      </p:sp>
      <p:sp>
        <p:nvSpPr>
          <p:cNvPr id="4" name="Date Placeholder 3">
            <a:extLst>
              <a:ext uri="{FF2B5EF4-FFF2-40B4-BE49-F238E27FC236}">
                <a16:creationId xmlns:a16="http://schemas.microsoft.com/office/drawing/2014/main" id="{826E09A3-7988-452A-8923-CD67E59B719C}"/>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ADE20710-B04B-47B2-884A-9BFD937A184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8599DD-2D20-44AD-9B00-012972812368}"/>
              </a:ext>
            </a:extLst>
          </p:cNvPr>
          <p:cNvSpPr>
            <a:spLocks noGrp="1"/>
          </p:cNvSpPr>
          <p:nvPr>
            <p:ph type="sldNum" sz="quarter" idx="12"/>
          </p:nvPr>
        </p:nvSpPr>
        <p:spPr/>
        <p:txBody>
          <a:bodyPr/>
          <a:lstStyle/>
          <a:p>
            <a:fld id="{BB2CE0DE-867F-455F-B20B-96D381B4AB71}" type="slidenum">
              <a:rPr lang="en-US" smtClean="0"/>
              <a:t>79</a:t>
            </a:fld>
            <a:endParaRPr lang="en-US"/>
          </a:p>
        </p:txBody>
      </p:sp>
    </p:spTree>
    <p:extLst>
      <p:ext uri="{BB962C8B-B14F-4D97-AF65-F5344CB8AC3E}">
        <p14:creationId xmlns:p14="http://schemas.microsoft.com/office/powerpoint/2010/main" val="32803964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DE7F-2D7A-4CEB-A017-40B62519646C}"/>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0A2106FB-68E8-47AB-ACDE-CBD61667D90C}"/>
              </a:ext>
            </a:extLst>
          </p:cNvPr>
          <p:cNvSpPr>
            <a:spLocks noGrp="1"/>
          </p:cNvSpPr>
          <p:nvPr>
            <p:ph idx="1"/>
          </p:nvPr>
        </p:nvSpPr>
        <p:spPr/>
        <p:txBody>
          <a:bodyPr/>
          <a:lstStyle/>
          <a:p>
            <a:pPr marL="0" indent="0">
              <a:buNone/>
            </a:pPr>
            <a:r>
              <a:rPr lang="en-US" sz="1800" b="1" dirty="0"/>
              <a:t>What Are Hallucinations in LLMs?</a:t>
            </a:r>
          </a:p>
          <a:p>
            <a:pPr marL="0" indent="0">
              <a:buNone/>
            </a:pPr>
            <a:r>
              <a:rPr lang="en-US" sz="1800" i="1" dirty="0"/>
              <a:t>Hallucination</a:t>
            </a:r>
            <a:r>
              <a:rPr lang="en-US" sz="1800" dirty="0"/>
              <a:t> refers to when an LLM </a:t>
            </a:r>
            <a:r>
              <a:rPr lang="en-US" sz="1800" b="1" dirty="0"/>
              <a:t>confidently generates information that is </a:t>
            </a:r>
            <a:r>
              <a:rPr lang="en-US" sz="1800" b="1" dirty="0">
                <a:solidFill>
                  <a:srgbClr val="0000FF"/>
                </a:solidFill>
              </a:rPr>
              <a:t>factually incorrect</a:t>
            </a:r>
            <a:r>
              <a:rPr lang="en-US" sz="1800" b="1" dirty="0"/>
              <a:t> or </a:t>
            </a:r>
            <a:r>
              <a:rPr lang="en-US" sz="1800" b="1" dirty="0">
                <a:solidFill>
                  <a:srgbClr val="0000FF"/>
                </a:solidFill>
              </a:rPr>
              <a:t>entirely fabricated</a:t>
            </a:r>
            <a:r>
              <a:rPr lang="en-US" sz="1800" b="1" dirty="0"/>
              <a:t>.</a:t>
            </a:r>
            <a:endParaRPr lang="en-US" sz="1800" dirty="0"/>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EFB8FCF9-F5E3-478B-90F0-4B6F686BE574}"/>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4BB64FE5-15BB-4CDE-A477-1A5617DB03C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479A59B-4A99-4013-9443-FCFE5F3B8803}"/>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8" name="Picture 7">
            <a:extLst>
              <a:ext uri="{FF2B5EF4-FFF2-40B4-BE49-F238E27FC236}">
                <a16:creationId xmlns:a16="http://schemas.microsoft.com/office/drawing/2014/main" id="{92FC2110-03AB-4E6F-9344-8F627D3D82C4}"/>
              </a:ext>
            </a:extLst>
          </p:cNvPr>
          <p:cNvPicPr>
            <a:picLocks noChangeAspect="1"/>
          </p:cNvPicPr>
          <p:nvPr/>
        </p:nvPicPr>
        <p:blipFill>
          <a:blip r:embed="rId3"/>
          <a:stretch>
            <a:fillRect/>
          </a:stretch>
        </p:blipFill>
        <p:spPr>
          <a:xfrm>
            <a:off x="44190" y="2286000"/>
            <a:ext cx="9099810" cy="3014728"/>
          </a:xfrm>
          <a:prstGeom prst="rect">
            <a:avLst/>
          </a:prstGeom>
        </p:spPr>
      </p:pic>
    </p:spTree>
    <p:extLst>
      <p:ext uri="{BB962C8B-B14F-4D97-AF65-F5344CB8AC3E}">
        <p14:creationId xmlns:p14="http://schemas.microsoft.com/office/powerpoint/2010/main" val="12082701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670F-8094-41A6-A8D1-6D435A81104A}"/>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CBC46B56-2AB9-4C43-90F0-D84BDBB0471D}"/>
              </a:ext>
            </a:extLst>
          </p:cNvPr>
          <p:cNvSpPr>
            <a:spLocks noGrp="1"/>
          </p:cNvSpPr>
          <p:nvPr>
            <p:ph idx="1"/>
          </p:nvPr>
        </p:nvSpPr>
        <p:spPr/>
        <p:txBody>
          <a:bodyPr/>
          <a:lstStyle/>
          <a:p>
            <a:pPr marL="0" indent="0">
              <a:buNone/>
            </a:pPr>
            <a:r>
              <a:rPr lang="en-US" sz="1800" dirty="0"/>
              <a:t>What Is Bias in LLMs?</a:t>
            </a:r>
          </a:p>
          <a:p>
            <a:r>
              <a:rPr lang="en-US" sz="1800" b="1" dirty="0"/>
              <a:t>Definition</a:t>
            </a:r>
            <a:r>
              <a:rPr lang="en-US" sz="1800" dirty="0"/>
              <a:t>:</a:t>
            </a:r>
            <a:br>
              <a:rPr lang="en-US" sz="1800" dirty="0"/>
            </a:br>
            <a:r>
              <a:rPr lang="en-US" sz="1800" i="1" dirty="0"/>
              <a:t>Bias</a:t>
            </a:r>
            <a:r>
              <a:rPr lang="en-US" sz="1800" dirty="0"/>
              <a:t> in LLMs refers to the model generating outputs that reflect </a:t>
            </a:r>
            <a:r>
              <a:rPr lang="en-US" sz="1800" b="1" dirty="0"/>
              <a:t>societal, cultural, political, or gender-based stereotypes</a:t>
            </a:r>
            <a:r>
              <a:rPr lang="en-US" sz="1800" dirty="0"/>
              <a:t>.</a:t>
            </a:r>
          </a:p>
          <a:p>
            <a:r>
              <a:rPr lang="en-US" sz="1800" b="1" dirty="0"/>
              <a:t>Sources of Bias</a:t>
            </a:r>
            <a:r>
              <a:rPr lang="en-US" sz="1800" dirty="0"/>
              <a:t>:</a:t>
            </a:r>
          </a:p>
          <a:p>
            <a:pPr>
              <a:buFont typeface="Arial" panose="020B0604020202020204" pitchFamily="34" charset="0"/>
              <a:buChar char="•"/>
            </a:pPr>
            <a:r>
              <a:rPr lang="en-US" sz="1800" dirty="0"/>
              <a:t>Biased training data (e.g., internet text)</a:t>
            </a:r>
          </a:p>
          <a:p>
            <a:pPr>
              <a:buFont typeface="Arial" panose="020B0604020202020204" pitchFamily="34" charset="0"/>
              <a:buChar char="•"/>
            </a:pPr>
            <a:r>
              <a:rPr lang="en-US" sz="1800" dirty="0"/>
              <a:t>Under representation of certain groups/languages</a:t>
            </a:r>
          </a:p>
          <a:p>
            <a:pPr>
              <a:buFont typeface="Arial" panose="020B0604020202020204" pitchFamily="34" charset="0"/>
              <a:buChar char="•"/>
            </a:pPr>
            <a:r>
              <a:rPr lang="en-US" sz="1800" dirty="0"/>
              <a:t>Reinforcement of harmful stereotypes</a:t>
            </a:r>
          </a:p>
          <a:p>
            <a:r>
              <a:rPr lang="en-US" sz="1800" b="1" dirty="0"/>
              <a:t>Examples</a:t>
            </a:r>
            <a:r>
              <a:rPr lang="en-US" sz="1800" dirty="0"/>
              <a:t>:</a:t>
            </a:r>
          </a:p>
          <a:p>
            <a:pPr>
              <a:buFont typeface="Arial" panose="020B0604020202020204" pitchFamily="34" charset="0"/>
              <a:buChar char="•"/>
            </a:pPr>
            <a:r>
              <a:rPr lang="en-US" sz="1800" dirty="0"/>
              <a:t>Associating certain professions with one gender</a:t>
            </a:r>
          </a:p>
          <a:p>
            <a:pPr>
              <a:buFont typeface="Arial" panose="020B0604020202020204" pitchFamily="34" charset="0"/>
              <a:buChar char="•"/>
            </a:pPr>
            <a:r>
              <a:rPr lang="en-US" sz="1800" dirty="0"/>
              <a:t>Generating toxic or prejudiced language toward specific communities</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A411A725-5D35-44BC-B75A-32D734A5518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8514C0E3-8A25-458B-89CD-CE94A97BEF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51DB9B8-8480-4160-9D52-5FE9F15C8EC7}"/>
              </a:ext>
            </a:extLst>
          </p:cNvPr>
          <p:cNvSpPr>
            <a:spLocks noGrp="1"/>
          </p:cNvSpPr>
          <p:nvPr>
            <p:ph type="sldNum" sz="quarter" idx="12"/>
          </p:nvPr>
        </p:nvSpPr>
        <p:spPr/>
        <p:txBody>
          <a:bodyPr/>
          <a:lstStyle/>
          <a:p>
            <a:fld id="{BB2CE0DE-867F-455F-B20B-96D381B4AB71}" type="slidenum">
              <a:rPr lang="en-US" smtClean="0"/>
              <a:t>81</a:t>
            </a:fld>
            <a:endParaRPr lang="en-US"/>
          </a:p>
        </p:txBody>
      </p:sp>
    </p:spTree>
    <p:extLst>
      <p:ext uri="{BB962C8B-B14F-4D97-AF65-F5344CB8AC3E}">
        <p14:creationId xmlns:p14="http://schemas.microsoft.com/office/powerpoint/2010/main" val="2345939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4419-68B0-45A9-A352-F8F7FC3FC9B9}"/>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E27036A1-3FD6-4DFE-A277-8E185E5BDD0C}"/>
              </a:ext>
            </a:extLst>
          </p:cNvPr>
          <p:cNvSpPr>
            <a:spLocks noGrp="1"/>
          </p:cNvSpPr>
          <p:nvPr>
            <p:ph idx="1"/>
          </p:nvPr>
        </p:nvSpPr>
        <p:spPr/>
        <p:txBody>
          <a:bodyPr/>
          <a:lstStyle/>
          <a:p>
            <a:endParaRPr lang="en-US" sz="1800" dirty="0"/>
          </a:p>
          <a:p>
            <a:endParaRPr lang="en-IN" sz="1800" dirty="0"/>
          </a:p>
          <a:p>
            <a:endParaRPr lang="en-IN" sz="1800" dirty="0"/>
          </a:p>
          <a:p>
            <a:endParaRPr lang="en-US" sz="1800" b="1" dirty="0"/>
          </a:p>
          <a:p>
            <a:endParaRPr lang="en-US" sz="1800" b="1" dirty="0"/>
          </a:p>
          <a:p>
            <a:pPr marL="0" indent="0">
              <a:buNone/>
            </a:pPr>
            <a:endParaRPr lang="en-US" sz="1400" b="1" dirty="0"/>
          </a:p>
          <a:p>
            <a:pPr marL="0" indent="0">
              <a:buNone/>
            </a:pPr>
            <a:endParaRPr lang="en-US" sz="1400" b="1" dirty="0"/>
          </a:p>
          <a:p>
            <a:pPr marL="0" indent="0">
              <a:buNone/>
            </a:pPr>
            <a:r>
              <a:rPr lang="en-US" sz="1600" b="1" dirty="0"/>
              <a:t>Best Practices for Students Using LLMs</a:t>
            </a:r>
          </a:p>
          <a:p>
            <a:pPr>
              <a:buFont typeface="Arial" panose="020B0604020202020204" pitchFamily="34" charset="0"/>
              <a:buChar char="•"/>
            </a:pPr>
            <a:r>
              <a:rPr lang="en-US" sz="1600" dirty="0"/>
              <a:t>Always </a:t>
            </a:r>
            <a:r>
              <a:rPr lang="en-US" sz="1600" b="1" dirty="0"/>
              <a:t>verify facts</a:t>
            </a:r>
            <a:r>
              <a:rPr lang="en-US" sz="1600" dirty="0"/>
              <a:t> from trusted sources.</a:t>
            </a:r>
          </a:p>
          <a:p>
            <a:pPr>
              <a:buFont typeface="Arial" panose="020B0604020202020204" pitchFamily="34" charset="0"/>
              <a:buChar char="•"/>
            </a:pPr>
            <a:r>
              <a:rPr lang="en-US" sz="1600" dirty="0"/>
              <a:t>Be aware of </a:t>
            </a:r>
            <a:r>
              <a:rPr lang="en-US" sz="1600" b="1" dirty="0"/>
              <a:t>possible bias</a:t>
            </a:r>
            <a:r>
              <a:rPr lang="en-US" sz="1600" dirty="0"/>
              <a:t> in outputs.</a:t>
            </a:r>
          </a:p>
          <a:p>
            <a:pPr>
              <a:buFont typeface="Arial" panose="020B0604020202020204" pitchFamily="34" charset="0"/>
              <a:buChar char="•"/>
            </a:pPr>
            <a:r>
              <a:rPr lang="en-US" sz="1600" dirty="0"/>
              <a:t>Use LLMs as </a:t>
            </a:r>
            <a:r>
              <a:rPr lang="en-US" sz="1600" b="1" dirty="0"/>
              <a:t>assistive tools</a:t>
            </a:r>
            <a:r>
              <a:rPr lang="en-US" sz="1600" dirty="0"/>
              <a:t>, not authoritative sources.</a:t>
            </a:r>
          </a:p>
          <a:p>
            <a:pPr marL="0" indent="0">
              <a:buNone/>
            </a:pPr>
            <a:endParaRPr lang="en-US" sz="1600" dirty="0"/>
          </a:p>
          <a:p>
            <a:pPr marL="0" indent="0">
              <a:buNone/>
            </a:pPr>
            <a:r>
              <a:rPr lang="en-US" sz="1600" b="1" dirty="0"/>
              <a:t>Summary</a:t>
            </a:r>
          </a:p>
          <a:p>
            <a:pPr>
              <a:buFont typeface="Arial" panose="020B0604020202020204" pitchFamily="34" charset="0"/>
              <a:buChar char="•"/>
            </a:pPr>
            <a:r>
              <a:rPr lang="en-US" sz="1600" dirty="0"/>
              <a:t>LLMs are powerful but </a:t>
            </a:r>
            <a:r>
              <a:rPr lang="en-US" sz="1600" b="1" dirty="0"/>
              <a:t>not always reliable</a:t>
            </a:r>
            <a:r>
              <a:rPr lang="en-US" sz="1600" dirty="0"/>
              <a:t>.</a:t>
            </a:r>
          </a:p>
          <a:p>
            <a:pPr>
              <a:buFont typeface="Arial" panose="020B0604020202020204" pitchFamily="34" charset="0"/>
              <a:buChar char="•"/>
            </a:pPr>
            <a:r>
              <a:rPr lang="en-US" sz="1600" dirty="0"/>
              <a:t>Hallucination = </a:t>
            </a:r>
            <a:r>
              <a:rPr lang="en-US" sz="1600" i="1" dirty="0"/>
              <a:t>makes things up</a:t>
            </a:r>
            <a:r>
              <a:rPr lang="en-US" sz="1600" dirty="0"/>
              <a:t>, Bias = </a:t>
            </a:r>
            <a:r>
              <a:rPr lang="en-US" sz="1600" i="1" dirty="0"/>
              <a:t>reflects societal unfairness</a:t>
            </a:r>
            <a:r>
              <a:rPr lang="en-US" sz="1600" dirty="0"/>
              <a:t>.</a:t>
            </a:r>
          </a:p>
          <a:p>
            <a:pPr>
              <a:buFont typeface="Arial" panose="020B0604020202020204" pitchFamily="34" charset="0"/>
              <a:buChar char="•"/>
            </a:pPr>
            <a:r>
              <a:rPr lang="en-US" sz="1600" dirty="0"/>
              <a:t>Awareness + careful usage = responsible AI adoption.</a:t>
            </a:r>
          </a:p>
          <a:p>
            <a:pPr marL="0" indent="0">
              <a:buNone/>
            </a:pPr>
            <a:endParaRPr lang="en-US" sz="1400" dirty="0"/>
          </a:p>
          <a:p>
            <a:pPr marL="0" indent="0">
              <a:buNone/>
            </a:pPr>
            <a:endParaRPr lang="en-US" sz="1400" dirty="0"/>
          </a:p>
          <a:p>
            <a:pPr marL="0" indent="0">
              <a:buNone/>
            </a:pPr>
            <a:endParaRPr lang="en-US" sz="1400" dirty="0"/>
          </a:p>
          <a:p>
            <a:endParaRPr lang="en-IN" sz="1800" dirty="0"/>
          </a:p>
        </p:txBody>
      </p:sp>
      <p:sp>
        <p:nvSpPr>
          <p:cNvPr id="4" name="Date Placeholder 3">
            <a:extLst>
              <a:ext uri="{FF2B5EF4-FFF2-40B4-BE49-F238E27FC236}">
                <a16:creationId xmlns:a16="http://schemas.microsoft.com/office/drawing/2014/main" id="{66126998-0AE4-44EF-BE66-0C585B54E80E}"/>
              </a:ext>
            </a:extLst>
          </p:cNvPr>
          <p:cNvSpPr>
            <a:spLocks noGrp="1"/>
          </p:cNvSpPr>
          <p:nvPr>
            <p:ph type="dt" sz="half" idx="10"/>
          </p:nvPr>
        </p:nvSpPr>
        <p:spPr/>
        <p:txBody>
          <a:bodyPr/>
          <a:lstStyle/>
          <a:p>
            <a:fld id="{59A993AC-6FC6-4FD7-BA84-6FD82A41DCAC}" type="datetime3">
              <a:rPr lang="en-US" smtClean="0"/>
              <a:t>15 June 2026</a:t>
            </a:fld>
            <a:endParaRPr lang="en-US"/>
          </a:p>
        </p:txBody>
      </p:sp>
      <p:sp>
        <p:nvSpPr>
          <p:cNvPr id="5" name="Footer Placeholder 4">
            <a:extLst>
              <a:ext uri="{FF2B5EF4-FFF2-40B4-BE49-F238E27FC236}">
                <a16:creationId xmlns:a16="http://schemas.microsoft.com/office/drawing/2014/main" id="{25B69555-FE2A-4D1E-9F5B-704C934C4EB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E97A8B9-E21C-480F-A642-799BDD2A9922}"/>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8" name="Picture 7">
            <a:extLst>
              <a:ext uri="{FF2B5EF4-FFF2-40B4-BE49-F238E27FC236}">
                <a16:creationId xmlns:a16="http://schemas.microsoft.com/office/drawing/2014/main" id="{447D11CF-59C3-4A7D-B879-B76DCF116620}"/>
              </a:ext>
            </a:extLst>
          </p:cNvPr>
          <p:cNvPicPr>
            <a:picLocks noChangeAspect="1"/>
          </p:cNvPicPr>
          <p:nvPr/>
        </p:nvPicPr>
        <p:blipFill>
          <a:blip r:embed="rId2"/>
          <a:stretch>
            <a:fillRect/>
          </a:stretch>
        </p:blipFill>
        <p:spPr>
          <a:xfrm>
            <a:off x="115447" y="1219200"/>
            <a:ext cx="8903581" cy="1905000"/>
          </a:xfrm>
          <a:prstGeom prst="rect">
            <a:avLst/>
          </a:prstGeom>
        </p:spPr>
      </p:pic>
    </p:spTree>
    <p:extLst>
      <p:ext uri="{BB962C8B-B14F-4D97-AF65-F5344CB8AC3E}">
        <p14:creationId xmlns:p14="http://schemas.microsoft.com/office/powerpoint/2010/main" val="20197044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15 June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83</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7208</TotalTime>
  <Words>8988</Words>
  <Application>Microsoft Office PowerPoint</Application>
  <PresentationFormat>On-screen Show (4:3)</PresentationFormat>
  <Paragraphs>903</Paragraphs>
  <Slides>83</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Arial</vt:lpstr>
      <vt:lpstr>Calibri</vt:lpstr>
      <vt:lpstr>Google Sans</vt:lpstr>
      <vt:lpstr>Nunito</vt:lpstr>
      <vt:lpstr>source-code-pro</vt:lpstr>
      <vt:lpstr>source-serif-pro</vt:lpstr>
      <vt:lpstr>Verdana</vt:lpstr>
      <vt:lpstr>Wingdings</vt:lpstr>
      <vt:lpstr>Theme1</vt:lpstr>
      <vt:lpstr>Deep Learning and Generative AI MSCS202</vt:lpstr>
      <vt:lpstr>Unit-5</vt:lpstr>
      <vt:lpstr>What are Large Language Models (LLMs)?</vt:lpstr>
      <vt:lpstr>Language Model</vt:lpstr>
      <vt:lpstr>Types of Language Models</vt:lpstr>
      <vt:lpstr>Types of Language Models</vt:lpstr>
      <vt:lpstr>Types of Language Models</vt:lpstr>
      <vt:lpstr>Core Building Blocks of Language Models</vt:lpstr>
      <vt:lpstr>Core Building Blocks of Language Models</vt:lpstr>
      <vt:lpstr>Tyes of Word Embeddings </vt:lpstr>
      <vt:lpstr>PowerPoint Presentation</vt:lpstr>
      <vt:lpstr>Frequency-based Embeddings</vt:lpstr>
      <vt:lpstr>Frequency-based Embeddings</vt:lpstr>
      <vt:lpstr>Numerical Example</vt:lpstr>
      <vt:lpstr>Frequency-based Embeddings</vt:lpstr>
      <vt:lpstr>Co-occurrence Matrix</vt:lpstr>
      <vt:lpstr>PowerPoint Presentation</vt:lpstr>
      <vt:lpstr>PowerPoint Presentation</vt:lpstr>
      <vt:lpstr>Prediction-based Embeddings</vt:lpstr>
      <vt:lpstr>Prediction-based Embeddings</vt:lpstr>
      <vt:lpstr>Prediction-based Embeddings</vt:lpstr>
      <vt:lpstr> Contextualized word embeddings</vt:lpstr>
      <vt:lpstr>Contextualized word embeddings</vt:lpstr>
      <vt:lpstr>Contextualized word embeddings</vt:lpstr>
      <vt:lpstr>Contextualized word embeddings</vt:lpstr>
      <vt:lpstr>PowerPoint Presentation</vt:lpstr>
      <vt:lpstr>Attention Mechanisms</vt:lpstr>
      <vt:lpstr>Language AI</vt:lpstr>
      <vt:lpstr>Encode</vt:lpstr>
      <vt:lpstr>Decoder</vt:lpstr>
      <vt:lpstr>Transformers</vt:lpstr>
      <vt:lpstr>Non-Transformational Models</vt:lpstr>
      <vt:lpstr>To Summarize </vt:lpstr>
      <vt:lpstr>BERT (Bidirectional Encoder Representations from Transformers)</vt:lpstr>
      <vt:lpstr>Traditional Language Models vs BERT in “Understanding Human Language”</vt:lpstr>
      <vt:lpstr>BERT</vt:lpstr>
      <vt:lpstr>Two step-process of BERT</vt:lpstr>
      <vt:lpstr>Two step-process of BERT</vt:lpstr>
      <vt:lpstr>Two step-process of BERT</vt:lpstr>
      <vt:lpstr>BERT: Bidirectional</vt:lpstr>
      <vt:lpstr>BERT Model Architecture</vt:lpstr>
      <vt:lpstr>BERT: Model Input/Output Representation</vt:lpstr>
      <vt:lpstr>BERT: Model Input/Output Representation</vt:lpstr>
      <vt:lpstr>How does BERT work?</vt:lpstr>
      <vt:lpstr>MLM (Masked Language Modeling)</vt:lpstr>
      <vt:lpstr>MLM (Masked Language Modeling)</vt:lpstr>
      <vt:lpstr>Next Sentence Prediction (NSP)</vt:lpstr>
      <vt:lpstr>Next Sentence Prediction (NSP)</vt:lpstr>
      <vt:lpstr>Fine-Tuning with BERT</vt:lpstr>
      <vt:lpstr>Generative Pre-trained Transformer (GPT)</vt:lpstr>
      <vt:lpstr>Difference between BERT and GPT</vt:lpstr>
      <vt:lpstr>Training Process of Generative Pretrained Transformer (GPT)</vt:lpstr>
      <vt:lpstr>Training Process of Generative Pretrained Transformer (GPT)</vt:lpstr>
      <vt:lpstr>Training Process of Generative Pretrained Transformer (GPT)</vt:lpstr>
      <vt:lpstr>Training Process of Generative Pretrained Transformer (GPT)</vt:lpstr>
      <vt:lpstr>Training Process of Generative Pretrained Transformer (GPT)</vt:lpstr>
      <vt:lpstr>Causal Language Modeling (CLM)</vt:lpstr>
      <vt:lpstr>Causal Language Modeling (CLM)</vt:lpstr>
      <vt:lpstr>Causal Language Modeling (CLM)</vt:lpstr>
      <vt:lpstr>How Do Causal Language Models Work?</vt:lpstr>
      <vt:lpstr>How Do Causal Language Models Work?</vt:lpstr>
      <vt:lpstr>Popular Causal Language Models</vt:lpstr>
      <vt:lpstr>Applications of Causal Language Models</vt:lpstr>
      <vt:lpstr>Architecture of Generative Pre-trained Transformer</vt:lpstr>
      <vt:lpstr>GPT Architecture</vt:lpstr>
      <vt:lpstr>Detailed Explanation of the GPT Architecture</vt:lpstr>
      <vt:lpstr>Exploring ChatGPT</vt:lpstr>
      <vt:lpstr>Exploring ChatGPT</vt:lpstr>
      <vt:lpstr>What is Prompt ?</vt:lpstr>
      <vt:lpstr>What is Prompt Engineering?</vt:lpstr>
      <vt:lpstr>Types of Prompts</vt:lpstr>
      <vt:lpstr>Zero-Shot Learning</vt:lpstr>
      <vt:lpstr>One-Shot Learning</vt:lpstr>
      <vt:lpstr>Few-Shot Learning</vt:lpstr>
      <vt:lpstr>Chain-of-Thought Prompting</vt:lpstr>
      <vt:lpstr>Iterative Prompting</vt:lpstr>
      <vt:lpstr>Negative Prompting</vt:lpstr>
      <vt:lpstr>Hybrid Prompting</vt:lpstr>
      <vt:lpstr>Prompt Chaining</vt:lpstr>
      <vt:lpstr>Issues in Large Language Models (LLMs): Hallucination and Bias</vt:lpstr>
      <vt:lpstr>Issues in Large Language Models (LLMs): Hallucination and Bias</vt:lpstr>
      <vt:lpstr>Issues in Large Language Models (LLMs): Hallucination and Bias</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753</cp:revision>
  <cp:lastPrinted>2014-08-07T03:39:40Z</cp:lastPrinted>
  <dcterms:created xsi:type="dcterms:W3CDTF">2014-08-06T04:28:49Z</dcterms:created>
  <dcterms:modified xsi:type="dcterms:W3CDTF">2026-06-15T10:29:45Z</dcterms:modified>
</cp:coreProperties>
</file>