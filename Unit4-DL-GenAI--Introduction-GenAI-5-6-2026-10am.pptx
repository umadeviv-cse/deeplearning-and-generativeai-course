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2"/>
  </p:notesMasterIdLst>
  <p:handoutMasterIdLst>
    <p:handoutMasterId r:id="rId73"/>
  </p:handoutMasterIdLst>
  <p:sldIdLst>
    <p:sldId id="256" r:id="rId2"/>
    <p:sldId id="700" r:id="rId3"/>
    <p:sldId id="702" r:id="rId4"/>
    <p:sldId id="703" r:id="rId5"/>
    <p:sldId id="704" r:id="rId6"/>
    <p:sldId id="705" r:id="rId7"/>
    <p:sldId id="706" r:id="rId8"/>
    <p:sldId id="707" r:id="rId9"/>
    <p:sldId id="711" r:id="rId10"/>
    <p:sldId id="721" r:id="rId11"/>
    <p:sldId id="724" r:id="rId12"/>
    <p:sldId id="747" r:id="rId13"/>
    <p:sldId id="725" r:id="rId14"/>
    <p:sldId id="726" r:id="rId15"/>
    <p:sldId id="723" r:id="rId16"/>
    <p:sldId id="727" r:id="rId17"/>
    <p:sldId id="728" r:id="rId18"/>
    <p:sldId id="734" r:id="rId19"/>
    <p:sldId id="730" r:id="rId20"/>
    <p:sldId id="731" r:id="rId21"/>
    <p:sldId id="735" r:id="rId22"/>
    <p:sldId id="739" r:id="rId23"/>
    <p:sldId id="736" r:id="rId24"/>
    <p:sldId id="737" r:id="rId25"/>
    <p:sldId id="738" r:id="rId26"/>
    <p:sldId id="732" r:id="rId27"/>
    <p:sldId id="740" r:id="rId28"/>
    <p:sldId id="748" r:id="rId29"/>
    <p:sldId id="741" r:id="rId30"/>
    <p:sldId id="742" r:id="rId31"/>
    <p:sldId id="743" r:id="rId32"/>
    <p:sldId id="749" r:id="rId33"/>
    <p:sldId id="708" r:id="rId34"/>
    <p:sldId id="709" r:id="rId35"/>
    <p:sldId id="719" r:id="rId36"/>
    <p:sldId id="716" r:id="rId37"/>
    <p:sldId id="713" r:id="rId38"/>
    <p:sldId id="746" r:id="rId39"/>
    <p:sldId id="744" r:id="rId40"/>
    <p:sldId id="715" r:id="rId41"/>
    <p:sldId id="714" r:id="rId42"/>
    <p:sldId id="745" r:id="rId43"/>
    <p:sldId id="752" r:id="rId44"/>
    <p:sldId id="750" r:id="rId45"/>
    <p:sldId id="751" r:id="rId46"/>
    <p:sldId id="753" r:id="rId47"/>
    <p:sldId id="718" r:id="rId48"/>
    <p:sldId id="766" r:id="rId49"/>
    <p:sldId id="767" r:id="rId50"/>
    <p:sldId id="754" r:id="rId51"/>
    <p:sldId id="755" r:id="rId52"/>
    <p:sldId id="761" r:id="rId53"/>
    <p:sldId id="756" r:id="rId54"/>
    <p:sldId id="757" r:id="rId55"/>
    <p:sldId id="759" r:id="rId56"/>
    <p:sldId id="758" r:id="rId57"/>
    <p:sldId id="760" r:id="rId58"/>
    <p:sldId id="762" r:id="rId59"/>
    <p:sldId id="763" r:id="rId60"/>
    <p:sldId id="764" r:id="rId61"/>
    <p:sldId id="765" r:id="rId62"/>
    <p:sldId id="769" r:id="rId63"/>
    <p:sldId id="774" r:id="rId64"/>
    <p:sldId id="770" r:id="rId65"/>
    <p:sldId id="771" r:id="rId66"/>
    <p:sldId id="772" r:id="rId67"/>
    <p:sldId id="775" r:id="rId68"/>
    <p:sldId id="776" r:id="rId69"/>
    <p:sldId id="777" r:id="rId70"/>
    <p:sldId id="397"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9C2D063-C901-40C0-9A77-5AA75D497DD5}">
          <p14:sldIdLst>
            <p14:sldId id="256"/>
            <p14:sldId id="700"/>
            <p14:sldId id="702"/>
            <p14:sldId id="703"/>
            <p14:sldId id="704"/>
            <p14:sldId id="705"/>
            <p14:sldId id="706"/>
            <p14:sldId id="707"/>
            <p14:sldId id="711"/>
            <p14:sldId id="721"/>
            <p14:sldId id="724"/>
            <p14:sldId id="747"/>
            <p14:sldId id="725"/>
            <p14:sldId id="726"/>
            <p14:sldId id="723"/>
            <p14:sldId id="727"/>
            <p14:sldId id="728"/>
            <p14:sldId id="734"/>
            <p14:sldId id="730"/>
            <p14:sldId id="731"/>
            <p14:sldId id="735"/>
            <p14:sldId id="739"/>
            <p14:sldId id="736"/>
            <p14:sldId id="737"/>
            <p14:sldId id="738"/>
            <p14:sldId id="732"/>
            <p14:sldId id="740"/>
            <p14:sldId id="748"/>
            <p14:sldId id="741"/>
            <p14:sldId id="742"/>
            <p14:sldId id="743"/>
            <p14:sldId id="749"/>
            <p14:sldId id="708"/>
            <p14:sldId id="709"/>
            <p14:sldId id="719"/>
            <p14:sldId id="716"/>
            <p14:sldId id="713"/>
            <p14:sldId id="746"/>
            <p14:sldId id="744"/>
            <p14:sldId id="715"/>
            <p14:sldId id="714"/>
            <p14:sldId id="745"/>
            <p14:sldId id="752"/>
            <p14:sldId id="750"/>
            <p14:sldId id="751"/>
            <p14:sldId id="753"/>
            <p14:sldId id="718"/>
            <p14:sldId id="766"/>
            <p14:sldId id="767"/>
            <p14:sldId id="754"/>
            <p14:sldId id="755"/>
            <p14:sldId id="761"/>
            <p14:sldId id="756"/>
            <p14:sldId id="757"/>
            <p14:sldId id="759"/>
            <p14:sldId id="758"/>
            <p14:sldId id="760"/>
            <p14:sldId id="762"/>
            <p14:sldId id="763"/>
            <p14:sldId id="764"/>
            <p14:sldId id="765"/>
            <p14:sldId id="769"/>
            <p14:sldId id="774"/>
            <p14:sldId id="770"/>
            <p14:sldId id="771"/>
            <p14:sldId id="772"/>
            <p14:sldId id="775"/>
            <p14:sldId id="776"/>
            <p14:sldId id="777"/>
          </p14:sldIdLst>
        </p14:section>
        <p14:section name="Untitled Section" id="{F0B178FD-1802-40F5-8200-8345810CD19E}">
          <p14:sldIdLst>
            <p14:sldId id="39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00"/>
    <a:srgbClr val="000099"/>
    <a:srgbClr val="003366"/>
    <a:srgbClr val="FF00FF"/>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2301" autoAdjust="0"/>
  </p:normalViewPr>
  <p:slideViewPr>
    <p:cSldViewPr>
      <p:cViewPr>
        <p:scale>
          <a:sx n="96" d="100"/>
          <a:sy n="96" d="100"/>
        </p:scale>
        <p:origin x="2034" y="12"/>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6/24/2025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6/24/2025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solidFill>
                  <a:prstClr val="black"/>
                </a:solidFill>
              </a:rPr>
              <a:t>2</a:t>
            </a:fld>
            <a:endParaRPr lang="en-US">
              <a:solidFill>
                <a:prstClr val="black"/>
              </a:solidFill>
            </a:endParaRPr>
          </a:p>
        </p:txBody>
      </p:sp>
    </p:spTree>
    <p:extLst>
      <p:ext uri="{BB962C8B-B14F-4D97-AF65-F5344CB8AC3E}">
        <p14:creationId xmlns:p14="http://schemas.microsoft.com/office/powerpoint/2010/main" val="524685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a:t>
            </a:fld>
            <a:endParaRPr lang="en-US"/>
          </a:p>
        </p:txBody>
      </p:sp>
    </p:spTree>
    <p:extLst>
      <p:ext uri="{BB962C8B-B14F-4D97-AF65-F5344CB8AC3E}">
        <p14:creationId xmlns:p14="http://schemas.microsoft.com/office/powerpoint/2010/main" val="1580163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a:t>
            </a:fld>
            <a:endParaRPr lang="en-US"/>
          </a:p>
        </p:txBody>
      </p:sp>
    </p:spTree>
    <p:extLst>
      <p:ext uri="{BB962C8B-B14F-4D97-AF65-F5344CB8AC3E}">
        <p14:creationId xmlns:p14="http://schemas.microsoft.com/office/powerpoint/2010/main" val="225896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a:t>
            </a:fld>
            <a:endParaRPr lang="en-US"/>
          </a:p>
        </p:txBody>
      </p:sp>
    </p:spTree>
    <p:extLst>
      <p:ext uri="{BB962C8B-B14F-4D97-AF65-F5344CB8AC3E}">
        <p14:creationId xmlns:p14="http://schemas.microsoft.com/office/powerpoint/2010/main" val="2921692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17</a:t>
            </a:fld>
            <a:endParaRPr lang="en-US"/>
          </a:p>
        </p:txBody>
      </p:sp>
    </p:spTree>
    <p:extLst>
      <p:ext uri="{BB962C8B-B14F-4D97-AF65-F5344CB8AC3E}">
        <p14:creationId xmlns:p14="http://schemas.microsoft.com/office/powerpoint/2010/main" val="233614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30</a:t>
            </a:fld>
            <a:endParaRPr lang="en-US"/>
          </a:p>
        </p:txBody>
      </p:sp>
    </p:spTree>
    <p:extLst>
      <p:ext uri="{BB962C8B-B14F-4D97-AF65-F5344CB8AC3E}">
        <p14:creationId xmlns:p14="http://schemas.microsoft.com/office/powerpoint/2010/main" val="2634709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C083C-CC01-1BD5-05A1-539303144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A0259-50FC-5EE6-1FCD-833E2F325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2B0DAC-2D9F-806B-FE99-1DF1E790D2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954469-1C24-6F9E-F310-21D60C3573D6}"/>
              </a:ext>
            </a:extLst>
          </p:cNvPr>
          <p:cNvSpPr>
            <a:spLocks noGrp="1"/>
          </p:cNvSpPr>
          <p:nvPr>
            <p:ph type="sldNum" sz="quarter" idx="5"/>
          </p:nvPr>
        </p:nvSpPr>
        <p:spPr/>
        <p:txBody>
          <a:bodyPr/>
          <a:lstStyle/>
          <a:p>
            <a:fld id="{C1EDAD17-33F0-4D65-82A5-1BBB03DED615}" type="slidenum">
              <a:rPr lang="en-US" smtClean="0"/>
              <a:t>31</a:t>
            </a:fld>
            <a:endParaRPr lang="en-US"/>
          </a:p>
        </p:txBody>
      </p:sp>
    </p:spTree>
    <p:extLst>
      <p:ext uri="{BB962C8B-B14F-4D97-AF65-F5344CB8AC3E}">
        <p14:creationId xmlns:p14="http://schemas.microsoft.com/office/powerpoint/2010/main" val="1696474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34</a:t>
            </a:fld>
            <a:endParaRPr lang="en-US"/>
          </a:p>
        </p:txBody>
      </p:sp>
    </p:spTree>
    <p:extLst>
      <p:ext uri="{BB962C8B-B14F-4D97-AF65-F5344CB8AC3E}">
        <p14:creationId xmlns:p14="http://schemas.microsoft.com/office/powerpoint/2010/main" val="350106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35</a:t>
            </a:fld>
            <a:endParaRPr lang="en-US"/>
          </a:p>
        </p:txBody>
      </p:sp>
    </p:spTree>
    <p:extLst>
      <p:ext uri="{BB962C8B-B14F-4D97-AF65-F5344CB8AC3E}">
        <p14:creationId xmlns:p14="http://schemas.microsoft.com/office/powerpoint/2010/main" val="3555932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46</a:t>
            </a:fld>
            <a:endParaRPr lang="en-US"/>
          </a:p>
        </p:txBody>
      </p:sp>
    </p:spTree>
    <p:extLst>
      <p:ext uri="{BB962C8B-B14F-4D97-AF65-F5344CB8AC3E}">
        <p14:creationId xmlns:p14="http://schemas.microsoft.com/office/powerpoint/2010/main" val="2159105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52</a:t>
            </a:fld>
            <a:endParaRPr lang="en-US"/>
          </a:p>
        </p:txBody>
      </p:sp>
    </p:spTree>
    <p:extLst>
      <p:ext uri="{BB962C8B-B14F-4D97-AF65-F5344CB8AC3E}">
        <p14:creationId xmlns:p14="http://schemas.microsoft.com/office/powerpoint/2010/main" val="3399620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3735324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Start with the clean image</a:t>
            </a:r>
            <a:r>
              <a:rPr lang="en-US" dirty="0"/>
              <a:t> x0\</a:t>
            </a:r>
            <a:r>
              <a:rPr lang="en-US" dirty="0" err="1"/>
              <a:t>mathbf</a:t>
            </a:r>
            <a:r>
              <a:rPr lang="en-US" dirty="0"/>
              <a:t>{x}_0x0​.</a:t>
            </a:r>
          </a:p>
          <a:p>
            <a:r>
              <a:rPr lang="en-US" dirty="0"/>
              <a:t>Each step adds </a:t>
            </a:r>
            <a:r>
              <a:rPr lang="en-US" b="1" dirty="0"/>
              <a:t>controlled noise</a:t>
            </a:r>
            <a:r>
              <a:rPr lang="en-US" dirty="0"/>
              <a:t> to it, not just random noise but noise </a:t>
            </a:r>
            <a:r>
              <a:rPr lang="en-US" b="1" dirty="0"/>
              <a:t>conditioned</a:t>
            </a:r>
            <a:r>
              <a:rPr lang="en-US" dirty="0"/>
              <a:t> on the previous state.</a:t>
            </a:r>
          </a:p>
          <a:p>
            <a:r>
              <a:rPr lang="en-US" dirty="0"/>
              <a:t>Emphasize that this is a </a:t>
            </a:r>
            <a:r>
              <a:rPr lang="en-US" b="1" dirty="0"/>
              <a:t>Markov process</a:t>
            </a:r>
            <a:r>
              <a:rPr lang="en-US" dirty="0"/>
              <a:t>: each state </a:t>
            </a:r>
            <a:r>
              <a:rPr lang="en-US" dirty="0" err="1"/>
              <a:t>xt</a:t>
            </a:r>
            <a:r>
              <a:rPr lang="en-US" dirty="0"/>
              <a:t>\</a:t>
            </a:r>
            <a:r>
              <a:rPr lang="en-US" dirty="0" err="1"/>
              <a:t>mathbf</a:t>
            </a:r>
            <a:r>
              <a:rPr lang="en-US" dirty="0"/>
              <a:t>{x}_txt​ depends only on xt−1\</a:t>
            </a:r>
            <a:r>
              <a:rPr lang="en-US" dirty="0" err="1"/>
              <a:t>mathbf</a:t>
            </a:r>
            <a:r>
              <a:rPr lang="en-US" dirty="0"/>
              <a:t>{x}_{t-1}xt−1​.</a:t>
            </a:r>
          </a:p>
          <a:p>
            <a:r>
              <a:rPr lang="en-US" dirty="0"/>
              <a:t>The goal in training is to eventually </a:t>
            </a:r>
            <a:r>
              <a:rPr lang="en-US" b="1" dirty="0"/>
              <a:t>reverse</a:t>
            </a:r>
            <a:r>
              <a:rPr lang="en-US" dirty="0"/>
              <a:t> this noise process using a neural network.</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56</a:t>
            </a:fld>
            <a:endParaRPr lang="en-US"/>
          </a:p>
        </p:txBody>
      </p:sp>
    </p:spTree>
    <p:extLst>
      <p:ext uri="{BB962C8B-B14F-4D97-AF65-F5344CB8AC3E}">
        <p14:creationId xmlns:p14="http://schemas.microsoft.com/office/powerpoint/2010/main" val="29542434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65</a:t>
            </a:fld>
            <a:endParaRPr lang="en-US"/>
          </a:p>
        </p:txBody>
      </p:sp>
    </p:spTree>
    <p:extLst>
      <p:ext uri="{BB962C8B-B14F-4D97-AF65-F5344CB8AC3E}">
        <p14:creationId xmlns:p14="http://schemas.microsoft.com/office/powerpoint/2010/main" val="1069862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66</a:t>
            </a:fld>
            <a:endParaRPr lang="en-US"/>
          </a:p>
        </p:txBody>
      </p:sp>
    </p:spTree>
    <p:extLst>
      <p:ext uri="{BB962C8B-B14F-4D97-AF65-F5344CB8AC3E}">
        <p14:creationId xmlns:p14="http://schemas.microsoft.com/office/powerpoint/2010/main" val="3884518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https://colab.research.google.com/github/ageron/handson-ml2/blob/master/02_end_to_end_machine_learning_project.ipynb#scrollTo=tLb7or7j1rMW</a:t>
            </a:r>
          </a:p>
        </p:txBody>
      </p:sp>
      <p:sp>
        <p:nvSpPr>
          <p:cNvPr id="4" name="Slide Number Placeholder 3"/>
          <p:cNvSpPr>
            <a:spLocks noGrp="1"/>
          </p:cNvSpPr>
          <p:nvPr>
            <p:ph type="sldNum" sz="quarter" idx="10"/>
          </p:nvPr>
        </p:nvSpPr>
        <p:spPr/>
        <p:txBody>
          <a:bodyPr/>
          <a:lstStyle/>
          <a:p>
            <a:fld id="{C74CF1EF-08E9-4CAE-8B3C-D98EE6374704}" type="slidenum">
              <a:rPr lang="en-US" smtClean="0"/>
              <a:t>70</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64514" name="Rectangle 2"/>
          <p:cNvSpPr>
            <a:spLocks noGrp="1" noChangeArrowheads="1"/>
          </p:cNvSpPr>
          <p:nvPr>
            <p:ph type="ctrTitle"/>
          </p:nvPr>
        </p:nvSpPr>
        <p:spPr>
          <a:xfrm>
            <a:off x="685800" y="990600"/>
            <a:ext cx="77724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685800" y="6248400"/>
            <a:ext cx="1905000" cy="457200"/>
          </a:xfrm>
        </p:spPr>
        <p:txBody>
          <a:bodyPr/>
          <a:lstStyle>
            <a:lvl1pPr>
              <a:defRPr/>
            </a:lvl1pPr>
          </a:lstStyle>
          <a:p>
            <a:fld id="{7F9E7227-4EF5-451C-A232-86206D22A18F}" type="datetime3">
              <a:rPr lang="en-US" smtClean="0"/>
              <a:t>24 June 2025</a:t>
            </a:fld>
            <a:endParaRPr lang="en-US"/>
          </a:p>
        </p:txBody>
      </p:sp>
      <p:sp>
        <p:nvSpPr>
          <p:cNvPr id="6" name="Rectangle 5"/>
          <p:cNvSpPr>
            <a:spLocks noGrp="1" noChangeArrowheads="1"/>
          </p:cNvSpPr>
          <p:nvPr>
            <p:ph type="ftr" sz="quarter" idx="11"/>
          </p:nvPr>
        </p:nvSpPr>
        <p:spPr>
          <a:xfrm>
            <a:off x="3124200" y="6248400"/>
            <a:ext cx="2895600" cy="457200"/>
          </a:xfrm>
        </p:spPr>
        <p:txBody>
          <a:bodyPr/>
          <a:lstStyle>
            <a:lvl1pPr>
              <a:defRPr/>
            </a:lvl1pPr>
          </a:lstStyle>
          <a:p>
            <a:r>
              <a:rPr lang="en-US"/>
              <a:t>BMSCE</a:t>
            </a:r>
          </a:p>
        </p:txBody>
      </p:sp>
      <p:sp>
        <p:nvSpPr>
          <p:cNvPr id="7" name="Rectangle 6"/>
          <p:cNvSpPr>
            <a:spLocks noGrp="1" noChangeArrowheads="1"/>
          </p:cNvSpPr>
          <p:nvPr>
            <p:ph type="sldNum" sz="quarter" idx="12"/>
          </p:nvPr>
        </p:nvSpPr>
        <p:spPr>
          <a:xfrm>
            <a:off x="6553200" y="6248400"/>
            <a:ext cx="1905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9A993AC-6FC6-4FD7-BA84-6FD82A41DCAC}" type="datetime3">
              <a:rPr lang="en-US" smtClean="0"/>
              <a:t>24 June 2025</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E7B74757-691D-4E03-A573-7F55D9D60DC5}" type="datetime3">
              <a:rPr lang="en-US" smtClean="0"/>
              <a:t>24 June 2025</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6D1CFAE8-E69C-4F51-B898-36B1B0D59E1C}" type="datetime3">
              <a:rPr lang="en-US" smtClean="0"/>
              <a:t>24 June 2025</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4C1B199F-D0C4-468A-B11A-3EADFB53AB3F}" type="datetime3">
              <a:rPr lang="en-US" smtClean="0"/>
              <a:t>24 June 2025</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98EE3DD2-5D53-4CE2-AB41-29797E3AA645}" type="datetime3">
              <a:rPr lang="en-US" smtClean="0"/>
              <a:t>24 June 2025</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0B3A05EC-1D74-404D-A31E-6A823AFF8E24}" type="datetime3">
              <a:rPr lang="en-US" smtClean="0"/>
              <a:t>24 June 2025</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7B8568E2-F9B0-4DD6-9253-964BE11A6D1D}" type="datetime3">
              <a:rPr lang="en-US" smtClean="0"/>
              <a:t>24 June 2025</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312C06F-78D8-4190-8B4A-17ADC13EFA76}" type="datetime3">
              <a:rPr lang="en-US" smtClean="0"/>
              <a:t>24 June 2025</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8BC5FFA-C89B-4DED-BEE5-1EFF9E360FC7}" type="datetime3">
              <a:rPr lang="en-US" smtClean="0"/>
              <a:t>24 June 2025</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8" y="304800"/>
            <a:ext cx="2001837"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8" y="304800"/>
            <a:ext cx="58547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50FAB4A2-3D6F-44AA-88C6-B60601086562}" type="datetime3">
              <a:rPr lang="en-US" smtClean="0"/>
              <a:t>24 June 2025</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4539A928-6E45-4FF9-9FFF-A56D24942AE2}" type="datetime3">
              <a:rPr lang="en-US" smtClean="0"/>
              <a:t>24 June 2025</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152400"/>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566738" y="12192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590550" y="990600"/>
            <a:ext cx="7958138"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1029" name="Line 5"/>
          <p:cNvSpPr>
            <a:spLocks noChangeShapeType="1"/>
          </p:cNvSpPr>
          <p:nvPr/>
        </p:nvSpPr>
        <p:spPr bwMode="auto">
          <a:xfrm flipV="1">
            <a:off x="609600" y="6353175"/>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4" name="Rectangle 6"/>
          <p:cNvSpPr>
            <a:spLocks noGrp="1" noChangeArrowheads="1"/>
          </p:cNvSpPr>
          <p:nvPr>
            <p:ph type="dt" sz="half" idx="2"/>
          </p:nvPr>
        </p:nvSpPr>
        <p:spPr bwMode="auto">
          <a:xfrm>
            <a:off x="609600" y="6402388"/>
            <a:ext cx="19812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8BABC88-18B9-4A4A-A062-184D643105BE}" type="datetime3">
              <a:rPr lang="en-US" smtClean="0"/>
              <a:t>24 June 2025</a:t>
            </a:fld>
            <a:endParaRPr lang="en-US"/>
          </a:p>
        </p:txBody>
      </p:sp>
      <p:sp>
        <p:nvSpPr>
          <p:cNvPr id="63495" name="Rectangle 7"/>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BMSCE</a:t>
            </a:r>
          </a:p>
        </p:txBody>
      </p:sp>
      <p:sp>
        <p:nvSpPr>
          <p:cNvPr id="63496" name="Rectangle 8"/>
          <p:cNvSpPr>
            <a:spLocks noGrp="1" noChangeArrowheads="1"/>
          </p:cNvSpPr>
          <p:nvPr>
            <p:ph type="sldNum" sz="quarter" idx="4"/>
          </p:nvPr>
        </p:nvSpPr>
        <p:spPr bwMode="auto">
          <a:xfrm>
            <a:off x="6553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bernardmarr.com/articles/artificial-intelligence-machine-learn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Deep Learning and Generative AI</a:t>
            </a:r>
            <a:br>
              <a:rPr lang="en-US" sz="3200" dirty="0"/>
            </a:br>
            <a:r>
              <a:rPr lang="en-US" sz="3200" dirty="0"/>
              <a:t>MSCS202</a:t>
            </a:r>
          </a:p>
        </p:txBody>
      </p:sp>
      <p:sp>
        <p:nvSpPr>
          <p:cNvPr id="3" name="Subtitle 2"/>
          <p:cNvSpPr>
            <a:spLocks noGrp="1"/>
          </p:cNvSpPr>
          <p:nvPr>
            <p:ph type="subTitle" idx="1"/>
          </p:nvPr>
        </p:nvSpPr>
        <p:spPr/>
        <p:txBody>
          <a:bodyPr/>
          <a:lstStyle/>
          <a:p>
            <a:r>
              <a:rPr lang="en-US" u="sng" dirty="0"/>
              <a:t>Course Instructor </a:t>
            </a:r>
          </a:p>
          <a:p>
            <a:r>
              <a:rPr lang="en-US" dirty="0"/>
              <a:t>	Dr. </a:t>
            </a:r>
            <a:r>
              <a:rPr lang="en-US" dirty="0" err="1"/>
              <a:t>Umadevi</a:t>
            </a:r>
            <a:r>
              <a:rPr lang="en-US" dirty="0"/>
              <a:t> V</a:t>
            </a:r>
          </a:p>
          <a:p>
            <a:r>
              <a:rPr lang="en-US" dirty="0"/>
              <a:t>	Department of CSE, BMSCE</a:t>
            </a:r>
          </a:p>
        </p:txBody>
      </p:sp>
      <p:sp>
        <p:nvSpPr>
          <p:cNvPr id="4" name="Date Placeholder 3"/>
          <p:cNvSpPr>
            <a:spLocks noGrp="1"/>
          </p:cNvSpPr>
          <p:nvPr>
            <p:ph type="dt" sz="half" idx="10"/>
          </p:nvPr>
        </p:nvSpPr>
        <p:spPr/>
        <p:txBody>
          <a:bodyPr/>
          <a:lstStyle/>
          <a:p>
            <a:fld id="{190A4EF2-FE72-4450-9781-7BCA6ECEFCBD}" type="datetime3">
              <a:rPr lang="en-US" smtClean="0"/>
              <a:t>24 June 2025</a:t>
            </a:fld>
            <a:endParaRPr lang="en-US"/>
          </a:p>
        </p:txBody>
      </p:sp>
      <p:sp>
        <p:nvSpPr>
          <p:cNvPr id="5" name="Footer Placeholder 4"/>
          <p:cNvSpPr>
            <a:spLocks noGrp="1"/>
          </p:cNvSpPr>
          <p:nvPr>
            <p:ph type="ftr" sz="quarter" idx="11"/>
          </p:nvPr>
        </p:nvSpPr>
        <p:spPr/>
        <p:txBody>
          <a:bodyPr/>
          <a:lstStyle/>
          <a:p>
            <a:r>
              <a:rPr lang="en-US"/>
              <a:t>BMSCE</a:t>
            </a:r>
          </a:p>
        </p:txBody>
      </p:sp>
      <p:sp>
        <p:nvSpPr>
          <p:cNvPr id="6" name="Slide Number Placeholder 5"/>
          <p:cNvSpPr>
            <a:spLocks noGrp="1"/>
          </p:cNvSpPr>
          <p:nvPr>
            <p:ph type="sldNum" sz="quarter" idx="12"/>
          </p:nvPr>
        </p:nvSpPr>
        <p:spPr/>
        <p:txBody>
          <a:bodyPr/>
          <a:lstStyle/>
          <a:p>
            <a:fld id="{BB2CE0DE-867F-455F-B20B-96D381B4AB71}" type="slidenum">
              <a:rPr lang="en-US" smtClean="0"/>
              <a:t>1</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0" y="4953000"/>
            <a:ext cx="1219200" cy="1199671"/>
          </a:xfrm>
          <a:prstGeom prst="rect">
            <a:avLst/>
          </a:prstGeom>
        </p:spPr>
      </p:pic>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Unit-4</a:t>
            </a:r>
          </a:p>
        </p:txBody>
      </p:sp>
      <p:sp>
        <p:nvSpPr>
          <p:cNvPr id="9219" name="Rectangle 3"/>
          <p:cNvSpPr>
            <a:spLocks noGrp="1" noChangeArrowheads="1"/>
          </p:cNvSpPr>
          <p:nvPr>
            <p:ph type="subTitle" idx="1"/>
          </p:nvPr>
        </p:nvSpPr>
        <p:spPr>
          <a:xfrm>
            <a:off x="457200" y="3200400"/>
            <a:ext cx="8382000" cy="1600200"/>
          </a:xfrm>
        </p:spPr>
        <p:txBody>
          <a:bodyPr/>
          <a:lstStyle/>
          <a:p>
            <a:pPr algn="just">
              <a:lnSpc>
                <a:spcPct val="80000"/>
              </a:lnSpc>
            </a:pPr>
            <a:r>
              <a:rPr lang="en-US" sz="1800" dirty="0"/>
              <a:t>Introduction To Gen AI: Historical Overview of Generative modeling, Difference between Gen AI and Discriminative Modeling, Types of Generative models – GANs, VAEs, autoregressive models and Vector quantized Diffusion models, Challenges of Generative Modeling, Future of Gen AI, Ethical Aspects of Gen AI. </a:t>
            </a:r>
            <a:endParaRPr lang="en-US" altLang="en-US" sz="1800" dirty="0"/>
          </a:p>
        </p:txBody>
      </p:sp>
      <p:sp>
        <p:nvSpPr>
          <p:cNvPr id="2" name="Date Placeholder 1"/>
          <p:cNvSpPr>
            <a:spLocks noGrp="1"/>
          </p:cNvSpPr>
          <p:nvPr>
            <p:ph type="dt" sz="half" idx="10"/>
          </p:nvPr>
        </p:nvSpPr>
        <p:spPr/>
        <p:txBody>
          <a:bodyPr/>
          <a:lstStyle/>
          <a:p>
            <a:fld id="{35B0C519-89AB-4890-8F92-601590506CB9}" type="datetime3">
              <a:rPr lang="en-US" smtClean="0"/>
              <a:t>24 June 2025</a:t>
            </a:fld>
            <a:endParaRPr lang="en-US"/>
          </a:p>
        </p:txBody>
      </p:sp>
      <p:sp>
        <p:nvSpPr>
          <p:cNvPr id="4" name="Footer Placeholder 3"/>
          <p:cNvSpPr>
            <a:spLocks noGrp="1"/>
          </p:cNvSpPr>
          <p:nvPr>
            <p:ph type="ftr" sz="quarter" idx="11"/>
          </p:nvPr>
        </p:nvSpPr>
        <p:spPr/>
        <p:txBody>
          <a:bodyPr/>
          <a:lstStyle/>
          <a:p>
            <a:r>
              <a:rPr lang="en-US">
                <a:solidFill>
                  <a:srgbClr val="000000"/>
                </a:solidFill>
              </a:rPr>
              <a:t>CSE, BMSCE</a:t>
            </a:r>
          </a:p>
        </p:txBody>
      </p:sp>
      <p:sp>
        <p:nvSpPr>
          <p:cNvPr id="3" name="Slide Number Placeholder 2"/>
          <p:cNvSpPr>
            <a:spLocks noGrp="1"/>
          </p:cNvSpPr>
          <p:nvPr>
            <p:ph type="sldNum" sz="quarter" idx="12"/>
          </p:nvPr>
        </p:nvSpPr>
        <p:spPr/>
        <p:txBody>
          <a:bodyPr/>
          <a:lstStyle/>
          <a:p>
            <a:fld id="{5DCC653A-8BE1-4A16-A754-27859D86C4A9}" type="slidenum">
              <a:rPr lang="en-US" smtClean="0"/>
              <a:t>2</a:t>
            </a:fld>
            <a:endParaRPr lang="en-US"/>
          </a:p>
        </p:txBody>
      </p:sp>
      <p:sp>
        <p:nvSpPr>
          <p:cNvPr id="5" name="AutoShape 2" descr="Image result for active learning classroom strategi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2" descr="Image result for deep learn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extLst>
      <p:ext uri="{BB962C8B-B14F-4D97-AF65-F5344CB8AC3E}">
        <p14:creationId xmlns:p14="http://schemas.microsoft.com/office/powerpoint/2010/main" val="429130209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8CAE0-3C93-4649-ABBF-EF7CE2B8610E}"/>
              </a:ext>
            </a:extLst>
          </p:cNvPr>
          <p:cNvSpPr>
            <a:spLocks noGrp="1"/>
          </p:cNvSpPr>
          <p:nvPr>
            <p:ph type="title"/>
          </p:nvPr>
        </p:nvSpPr>
        <p:spPr/>
        <p:txBody>
          <a:bodyPr/>
          <a:lstStyle/>
          <a:p>
            <a:r>
              <a:rPr lang="en-US" dirty="0"/>
              <a:t>What is Gen AI ?</a:t>
            </a:r>
            <a:endParaRPr lang="en-IN" dirty="0"/>
          </a:p>
        </p:txBody>
      </p:sp>
      <p:sp>
        <p:nvSpPr>
          <p:cNvPr id="3" name="Content Placeholder 2">
            <a:extLst>
              <a:ext uri="{FF2B5EF4-FFF2-40B4-BE49-F238E27FC236}">
                <a16:creationId xmlns:a16="http://schemas.microsoft.com/office/drawing/2014/main" id="{89DDF1DD-3390-4B31-9E12-36A42BE06709}"/>
              </a:ext>
            </a:extLst>
          </p:cNvPr>
          <p:cNvSpPr>
            <a:spLocks noGrp="1"/>
          </p:cNvSpPr>
          <p:nvPr>
            <p:ph idx="1"/>
          </p:nvPr>
        </p:nvSpPr>
        <p:spPr/>
        <p:txBody>
          <a:bodyPr/>
          <a:lstStyle/>
          <a:p>
            <a:pPr marL="0" indent="0" algn="just">
              <a:buNone/>
            </a:pPr>
            <a:r>
              <a:rPr lang="en-US" sz="1800" b="0" i="0" dirty="0">
                <a:solidFill>
                  <a:srgbClr val="232B37"/>
                </a:solidFill>
                <a:effectLst/>
                <a:latin typeface="Amazon Ember Display"/>
              </a:rPr>
              <a:t>Generative artificial intelligence, also known as generative AI or gen AI for short, is a type of AI that can create new content and ideas, including conversations, stories, images, videos, and music. It can learn human language, programming languages, art, chemistry, biology, or any complex subject matter. It reuses what it knows to solve new problems.</a:t>
            </a:r>
            <a:endParaRPr lang="en-IN" sz="1800" dirty="0"/>
          </a:p>
        </p:txBody>
      </p:sp>
      <p:sp>
        <p:nvSpPr>
          <p:cNvPr id="4" name="Date Placeholder 3">
            <a:extLst>
              <a:ext uri="{FF2B5EF4-FFF2-40B4-BE49-F238E27FC236}">
                <a16:creationId xmlns:a16="http://schemas.microsoft.com/office/drawing/2014/main" id="{2DA669B3-46DF-49D3-BC3B-24A31BC36BC5}"/>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F874B380-3353-4EC6-8CB9-998956BD7E0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BE3A63E-CC43-4E41-8AE5-B14FDDAF5755}"/>
              </a:ext>
            </a:extLst>
          </p:cNvPr>
          <p:cNvSpPr>
            <a:spLocks noGrp="1"/>
          </p:cNvSpPr>
          <p:nvPr>
            <p:ph type="sldNum" sz="quarter" idx="12"/>
          </p:nvPr>
        </p:nvSpPr>
        <p:spPr/>
        <p:txBody>
          <a:bodyPr/>
          <a:lstStyle/>
          <a:p>
            <a:fld id="{BB2CE0DE-867F-455F-B20B-96D381B4AB71}" type="slidenum">
              <a:rPr lang="en-US" smtClean="0"/>
              <a:t>3</a:t>
            </a:fld>
            <a:endParaRPr lang="en-US"/>
          </a:p>
        </p:txBody>
      </p:sp>
      <p:pic>
        <p:nvPicPr>
          <p:cNvPr id="7" name="Picture 6">
            <a:extLst>
              <a:ext uri="{FF2B5EF4-FFF2-40B4-BE49-F238E27FC236}">
                <a16:creationId xmlns:a16="http://schemas.microsoft.com/office/drawing/2014/main" id="{2364959E-9859-4017-A531-249741187D0F}"/>
              </a:ext>
            </a:extLst>
          </p:cNvPr>
          <p:cNvPicPr>
            <a:picLocks noChangeAspect="1"/>
          </p:cNvPicPr>
          <p:nvPr/>
        </p:nvPicPr>
        <p:blipFill>
          <a:blip r:embed="rId2"/>
          <a:stretch>
            <a:fillRect/>
          </a:stretch>
        </p:blipFill>
        <p:spPr>
          <a:xfrm>
            <a:off x="2286000" y="2667000"/>
            <a:ext cx="3886200" cy="3886200"/>
          </a:xfrm>
          <a:prstGeom prst="rect">
            <a:avLst/>
          </a:prstGeom>
        </p:spPr>
      </p:pic>
    </p:spTree>
    <p:extLst>
      <p:ext uri="{BB962C8B-B14F-4D97-AF65-F5344CB8AC3E}">
        <p14:creationId xmlns:p14="http://schemas.microsoft.com/office/powerpoint/2010/main" val="2883323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2AF7D-EFDF-478E-A2EB-1516D620F14D}"/>
              </a:ext>
            </a:extLst>
          </p:cNvPr>
          <p:cNvSpPr>
            <a:spLocks noGrp="1"/>
          </p:cNvSpPr>
          <p:nvPr>
            <p:ph type="title"/>
          </p:nvPr>
        </p:nvSpPr>
        <p:spPr/>
        <p:txBody>
          <a:bodyPr/>
          <a:lstStyle/>
          <a:p>
            <a:r>
              <a:rPr lang="en-US" dirty="0"/>
              <a:t>The Birth of Generative AI</a:t>
            </a:r>
            <a:endParaRPr lang="en-IN" dirty="0"/>
          </a:p>
        </p:txBody>
      </p:sp>
      <p:sp>
        <p:nvSpPr>
          <p:cNvPr id="3" name="Content Placeholder 2">
            <a:extLst>
              <a:ext uri="{FF2B5EF4-FFF2-40B4-BE49-F238E27FC236}">
                <a16:creationId xmlns:a16="http://schemas.microsoft.com/office/drawing/2014/main" id="{535F8E5A-E87D-4591-A349-E284C1F1F36E}"/>
              </a:ext>
            </a:extLst>
          </p:cNvPr>
          <p:cNvSpPr>
            <a:spLocks noGrp="1"/>
          </p:cNvSpPr>
          <p:nvPr>
            <p:ph idx="1"/>
          </p:nvPr>
        </p:nvSpPr>
        <p:spPr/>
        <p:txBody>
          <a:bodyPr/>
          <a:lstStyle/>
          <a:p>
            <a:pPr algn="just"/>
            <a:r>
              <a:rPr lang="en-US" sz="1400" b="0" i="0" dirty="0">
                <a:solidFill>
                  <a:srgbClr val="000000"/>
                </a:solidFill>
                <a:effectLst/>
                <a:latin typeface="futura-pt"/>
              </a:rPr>
              <a:t>The roots of </a:t>
            </a:r>
            <a:r>
              <a:rPr lang="en-US" sz="1400" b="0" i="0" dirty="0" err="1">
                <a:solidFill>
                  <a:srgbClr val="000000"/>
                </a:solidFill>
                <a:effectLst/>
                <a:latin typeface="futura-pt"/>
              </a:rPr>
              <a:t>GenAI</a:t>
            </a:r>
            <a:r>
              <a:rPr lang="en-US" sz="1400" b="0" i="0" dirty="0">
                <a:solidFill>
                  <a:srgbClr val="000000"/>
                </a:solidFill>
                <a:effectLst/>
                <a:latin typeface="futura-pt"/>
              </a:rPr>
              <a:t> trace back to the concept of </a:t>
            </a:r>
            <a:r>
              <a:rPr lang="en-US" sz="1400" b="0" i="0" u="none" strike="noStrike" dirty="0">
                <a:solidFill>
                  <a:srgbClr val="C6CE00"/>
                </a:solidFill>
                <a:effectLst/>
                <a:latin typeface="futura-pt"/>
                <a:hlinkClick r:id="rId2" tooltip="Artificial Intelligence &amp; Machine Learning"/>
              </a:rPr>
              <a:t>machine learning</a:t>
            </a:r>
            <a:r>
              <a:rPr lang="en-US" sz="1400" b="0" i="0" dirty="0">
                <a:solidFill>
                  <a:srgbClr val="000000"/>
                </a:solidFill>
                <a:effectLst/>
                <a:latin typeface="futura-pt"/>
              </a:rPr>
              <a:t>. When scientists and researchers introduced </a:t>
            </a:r>
            <a:r>
              <a:rPr lang="en-US" sz="1400" b="0" i="0" u="none" strike="noStrike" dirty="0">
                <a:solidFill>
                  <a:srgbClr val="C6CE00"/>
                </a:solidFill>
                <a:effectLst/>
                <a:latin typeface="futura-pt"/>
                <a:hlinkClick r:id="rId2" tooltip="Artificial Intelligence &amp; Machine Learning"/>
              </a:rPr>
              <a:t>machine learning</a:t>
            </a:r>
            <a:r>
              <a:rPr lang="en-US" sz="1400" b="0" i="0" dirty="0">
                <a:solidFill>
                  <a:srgbClr val="000000"/>
                </a:solidFill>
                <a:effectLst/>
                <a:latin typeface="futura-pt"/>
              </a:rPr>
              <a:t> in the late 1950s, they explored the concept of using algorithms to create new data.</a:t>
            </a:r>
          </a:p>
          <a:p>
            <a:pPr algn="just"/>
            <a:r>
              <a:rPr lang="en-US" sz="1400" b="0" i="0" dirty="0">
                <a:solidFill>
                  <a:srgbClr val="000000"/>
                </a:solidFill>
                <a:effectLst/>
                <a:latin typeface="futura-pt"/>
              </a:rPr>
              <a:t>One of the first examples of </a:t>
            </a:r>
            <a:r>
              <a:rPr lang="en-US" sz="1400" b="0" i="0" dirty="0" err="1">
                <a:solidFill>
                  <a:srgbClr val="000000"/>
                </a:solidFill>
                <a:effectLst/>
                <a:latin typeface="futura-pt"/>
              </a:rPr>
              <a:t>GenAI</a:t>
            </a:r>
            <a:r>
              <a:rPr lang="en-US" sz="1400" b="0" i="0" dirty="0">
                <a:solidFill>
                  <a:srgbClr val="000000"/>
                </a:solidFill>
                <a:effectLst/>
                <a:latin typeface="futura-pt"/>
              </a:rPr>
              <a:t> was the Markov Chain, a statistical model that could be used to generate new sequences of data based on input.</a:t>
            </a:r>
          </a:p>
          <a:p>
            <a:pPr algn="just"/>
            <a:r>
              <a:rPr lang="en-US" sz="1400" b="0" i="0" dirty="0">
                <a:solidFill>
                  <a:srgbClr val="000000"/>
                </a:solidFill>
                <a:effectLst/>
                <a:latin typeface="futura-pt"/>
              </a:rPr>
              <a:t>But despite some advances, the computational power and data resources needed for systems like this to flourish weren't yet available.</a:t>
            </a:r>
          </a:p>
          <a:p>
            <a:pPr algn="just"/>
            <a:r>
              <a:rPr lang="en-US" sz="1400" b="0" i="0" dirty="0">
                <a:solidFill>
                  <a:srgbClr val="000000"/>
                </a:solidFill>
                <a:effectLst/>
                <a:latin typeface="futura-pt"/>
              </a:rPr>
              <a:t>Machine learning only began to shine in the 1990s and 2000s, when advanced hardware and digital data became more widely available.</a:t>
            </a:r>
          </a:p>
          <a:p>
            <a:pPr algn="just"/>
            <a:r>
              <a:rPr lang="en-US" sz="1400" b="0" i="0" dirty="0">
                <a:solidFill>
                  <a:srgbClr val="000000"/>
                </a:solidFill>
                <a:effectLst/>
                <a:latin typeface="futura-pt"/>
              </a:rPr>
              <a:t>The birth of Generative AI, as we know it today, was heralded by the advent of a type of machine learning known as neural networks. Inspired by the human brain, these models use interconnected layers of “neurons” to process and learn from data. A neural network is trained to recognize patterns in a dataset. Once the network is trained, it can make decisions or predictions without being explicitly programmed to perform tasks.</a:t>
            </a:r>
          </a:p>
          <a:p>
            <a:pPr algn="just"/>
            <a:r>
              <a:rPr lang="en-US" sz="1400" b="0" i="0" dirty="0">
                <a:solidFill>
                  <a:srgbClr val="000000"/>
                </a:solidFill>
                <a:effectLst/>
                <a:latin typeface="futura-pt"/>
              </a:rPr>
              <a:t>The creative power of Generative AI comes from a specific type of neural network called a Generative Adversarial Network (GAN), which was proposed by Ian Goodfellow and his colleagues in 2014.</a:t>
            </a:r>
          </a:p>
          <a:p>
            <a:pPr algn="just"/>
            <a:r>
              <a:rPr lang="en-US" sz="1400" b="0" i="0" dirty="0">
                <a:solidFill>
                  <a:srgbClr val="000000"/>
                </a:solidFill>
                <a:effectLst/>
                <a:latin typeface="futura-pt"/>
              </a:rPr>
              <a:t>Around the same time, other forms of generative models also started to gain traction. Variational Autoencoders (VAEs) and Recurrent Neural Networks (RNNs) began to demonstrate their ability to generate novel content, marking a significant step forward in the field. </a:t>
            </a:r>
          </a:p>
          <a:p>
            <a:pPr marL="0" indent="0" algn="just">
              <a:buNone/>
            </a:pPr>
            <a:endParaRPr lang="en-IN" sz="1400" dirty="0"/>
          </a:p>
        </p:txBody>
      </p:sp>
      <p:sp>
        <p:nvSpPr>
          <p:cNvPr id="4" name="Date Placeholder 3">
            <a:extLst>
              <a:ext uri="{FF2B5EF4-FFF2-40B4-BE49-F238E27FC236}">
                <a16:creationId xmlns:a16="http://schemas.microsoft.com/office/drawing/2014/main" id="{F0903558-C012-499A-AD24-A3C22D67C806}"/>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36005B29-8065-4EB7-92ED-E14E73B3875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121E40C-522C-4341-9B0F-120D696B1F7E}"/>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1543890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656FD-4DBB-4E4C-BF9D-9935FED7073E}"/>
              </a:ext>
            </a:extLst>
          </p:cNvPr>
          <p:cNvSpPr>
            <a:spLocks noGrp="1"/>
          </p:cNvSpPr>
          <p:nvPr>
            <p:ph type="title"/>
          </p:nvPr>
        </p:nvSpPr>
        <p:spPr/>
        <p:txBody>
          <a:bodyPr/>
          <a:lstStyle/>
          <a:p>
            <a:r>
              <a:rPr lang="en-IN" dirty="0"/>
              <a:t>Continued Milestones in </a:t>
            </a:r>
            <a:r>
              <a:rPr lang="en-IN" dirty="0" err="1"/>
              <a:t>GenAI</a:t>
            </a:r>
            <a:endParaRPr lang="en-IN" dirty="0"/>
          </a:p>
        </p:txBody>
      </p:sp>
      <p:sp>
        <p:nvSpPr>
          <p:cNvPr id="3" name="Content Placeholder 2">
            <a:extLst>
              <a:ext uri="{FF2B5EF4-FFF2-40B4-BE49-F238E27FC236}">
                <a16:creationId xmlns:a16="http://schemas.microsoft.com/office/drawing/2014/main" id="{3BD2DFCC-A998-42D3-AEC0-D95E64948D9A}"/>
              </a:ext>
            </a:extLst>
          </p:cNvPr>
          <p:cNvSpPr>
            <a:spLocks noGrp="1"/>
          </p:cNvSpPr>
          <p:nvPr>
            <p:ph idx="1"/>
          </p:nvPr>
        </p:nvSpPr>
        <p:spPr/>
        <p:txBody>
          <a:bodyPr/>
          <a:lstStyle/>
          <a:p>
            <a:pPr marL="0" indent="0" algn="just">
              <a:buNone/>
            </a:pPr>
            <a:r>
              <a:rPr lang="en-US" sz="1400" b="1" i="0" dirty="0" err="1">
                <a:solidFill>
                  <a:schemeClr val="tx1"/>
                </a:solidFill>
                <a:effectLst/>
                <a:latin typeface="Times New Roman" panose="02020603050405020304" pitchFamily="18" charset="0"/>
                <a:cs typeface="Times New Roman" panose="02020603050405020304" pitchFamily="18" charset="0"/>
              </a:rPr>
              <a:t>WaveNet</a:t>
            </a:r>
            <a:r>
              <a:rPr lang="en-US" sz="1400" b="1" i="0" dirty="0">
                <a:solidFill>
                  <a:schemeClr val="tx1"/>
                </a:solidFill>
                <a:effectLst/>
                <a:latin typeface="Times New Roman" panose="02020603050405020304" pitchFamily="18" charset="0"/>
                <a:cs typeface="Times New Roman" panose="02020603050405020304" pitchFamily="18" charset="0"/>
              </a:rPr>
              <a:t> (2016):</a:t>
            </a:r>
            <a:r>
              <a:rPr lang="en-US" sz="1400" b="0" i="0" dirty="0">
                <a:solidFill>
                  <a:schemeClr val="tx1"/>
                </a:solidFill>
                <a:effectLst/>
                <a:latin typeface="Times New Roman" panose="02020603050405020304" pitchFamily="18" charset="0"/>
                <a:cs typeface="Times New Roman" panose="02020603050405020304" pitchFamily="18" charset="0"/>
              </a:rPr>
              <a:t> DeepMind’s </a:t>
            </a:r>
            <a:r>
              <a:rPr lang="en-US" sz="1400" b="0" i="0" dirty="0" err="1">
                <a:solidFill>
                  <a:schemeClr val="tx1"/>
                </a:solidFill>
                <a:effectLst/>
                <a:latin typeface="Times New Roman" panose="02020603050405020304" pitchFamily="18" charset="0"/>
                <a:cs typeface="Times New Roman" panose="02020603050405020304" pitchFamily="18" charset="0"/>
              </a:rPr>
              <a:t>WaveNet</a:t>
            </a:r>
            <a:r>
              <a:rPr lang="en-US" sz="1400" b="0" i="0" dirty="0">
                <a:solidFill>
                  <a:schemeClr val="tx1"/>
                </a:solidFill>
                <a:effectLst/>
                <a:latin typeface="Times New Roman" panose="02020603050405020304" pitchFamily="18" charset="0"/>
                <a:cs typeface="Times New Roman" panose="02020603050405020304" pitchFamily="18" charset="0"/>
              </a:rPr>
              <a:t> marked a significant advancement in generative models for audio. </a:t>
            </a:r>
            <a:r>
              <a:rPr lang="en-US" sz="1400" b="0" i="0" dirty="0" err="1">
                <a:solidFill>
                  <a:schemeClr val="tx1"/>
                </a:solidFill>
                <a:effectLst/>
                <a:latin typeface="Times New Roman" panose="02020603050405020304" pitchFamily="18" charset="0"/>
                <a:cs typeface="Times New Roman" panose="02020603050405020304" pitchFamily="18" charset="0"/>
              </a:rPr>
              <a:t>WaveNet</a:t>
            </a:r>
            <a:r>
              <a:rPr lang="en-US" sz="1400" b="0" i="0" dirty="0">
                <a:solidFill>
                  <a:schemeClr val="tx1"/>
                </a:solidFill>
                <a:effectLst/>
                <a:latin typeface="Times New Roman" panose="02020603050405020304" pitchFamily="18" charset="0"/>
                <a:cs typeface="Times New Roman" panose="02020603050405020304" pitchFamily="18" charset="0"/>
              </a:rPr>
              <a:t> could generate realistic-sounding human speech, which opened doors for more human-like AI assistants and highly accurate text-to-speech synthesis.</a:t>
            </a:r>
          </a:p>
          <a:p>
            <a:pPr marL="0" indent="0" algn="just">
              <a:buNone/>
            </a:pPr>
            <a:r>
              <a:rPr lang="en-US" sz="1400" b="1" i="0" dirty="0">
                <a:solidFill>
                  <a:schemeClr val="tx1"/>
                </a:solidFill>
                <a:effectLst/>
                <a:latin typeface="Times New Roman" panose="02020603050405020304" pitchFamily="18" charset="0"/>
                <a:cs typeface="Times New Roman" panose="02020603050405020304" pitchFamily="18" charset="0"/>
              </a:rPr>
              <a:t>Progressive GANs (2017):</a:t>
            </a:r>
            <a:r>
              <a:rPr lang="en-US" sz="1400" b="0" i="0" dirty="0">
                <a:solidFill>
                  <a:schemeClr val="tx1"/>
                </a:solidFill>
                <a:effectLst/>
                <a:latin typeface="Times New Roman" panose="02020603050405020304" pitchFamily="18" charset="0"/>
                <a:cs typeface="Times New Roman" panose="02020603050405020304" pitchFamily="18" charset="0"/>
              </a:rPr>
              <a:t> Progressive GANs, developed by NVIDIA, were a milestone in producing high-resolution, photo-realistic images. These GANs were able to generate images with unprecedented detail and clarity by progressively adding layers during the training process.</a:t>
            </a:r>
          </a:p>
          <a:p>
            <a:pPr marL="0" indent="0" algn="just">
              <a:buNone/>
            </a:pPr>
            <a:r>
              <a:rPr lang="en-US" sz="1400" b="1" i="0" dirty="0">
                <a:solidFill>
                  <a:schemeClr val="tx1"/>
                </a:solidFill>
                <a:effectLst/>
                <a:latin typeface="Times New Roman" panose="02020603050405020304" pitchFamily="18" charset="0"/>
                <a:cs typeface="Times New Roman" panose="02020603050405020304" pitchFamily="18" charset="0"/>
              </a:rPr>
              <a:t>GPT-2 and GPT-3 (2019, 2020):</a:t>
            </a:r>
            <a:r>
              <a:rPr lang="en-US" sz="1400" b="0" i="0" dirty="0">
                <a:solidFill>
                  <a:schemeClr val="tx1"/>
                </a:solidFill>
                <a:effectLst/>
                <a:latin typeface="Times New Roman" panose="02020603050405020304" pitchFamily="18" charset="0"/>
                <a:cs typeface="Times New Roman" panose="02020603050405020304" pitchFamily="18" charset="0"/>
              </a:rPr>
              <a:t> </a:t>
            </a:r>
            <a:r>
              <a:rPr lang="en-US" sz="1400" b="0" i="0" dirty="0" err="1">
                <a:solidFill>
                  <a:schemeClr val="tx1"/>
                </a:solidFill>
                <a:effectLst/>
                <a:latin typeface="Times New Roman" panose="02020603050405020304" pitchFamily="18" charset="0"/>
                <a:cs typeface="Times New Roman" panose="02020603050405020304" pitchFamily="18" charset="0"/>
              </a:rPr>
              <a:t>OpenAI's</a:t>
            </a:r>
            <a:r>
              <a:rPr lang="en-US" sz="1400" b="0" i="0" dirty="0">
                <a:solidFill>
                  <a:schemeClr val="tx1"/>
                </a:solidFill>
                <a:effectLst/>
                <a:latin typeface="Times New Roman" panose="02020603050405020304" pitchFamily="18" charset="0"/>
                <a:cs typeface="Times New Roman" panose="02020603050405020304" pitchFamily="18" charset="0"/>
              </a:rPr>
              <a:t> generative pre-trained transformer (GPT) models marked a significant leap in the field of </a:t>
            </a:r>
            <a:r>
              <a:rPr lang="en-US" sz="1400" b="0" i="0" dirty="0" err="1">
                <a:solidFill>
                  <a:schemeClr val="tx1"/>
                </a:solidFill>
                <a:effectLst/>
                <a:latin typeface="Times New Roman" panose="02020603050405020304" pitchFamily="18" charset="0"/>
                <a:cs typeface="Times New Roman" panose="02020603050405020304" pitchFamily="18" charset="0"/>
              </a:rPr>
              <a:t>GenAI</a:t>
            </a:r>
            <a:r>
              <a:rPr lang="en-US" sz="1400" b="0" i="0" dirty="0">
                <a:solidFill>
                  <a:schemeClr val="tx1"/>
                </a:solidFill>
                <a:effectLst/>
                <a:latin typeface="Times New Roman" panose="02020603050405020304" pitchFamily="18" charset="0"/>
                <a:cs typeface="Times New Roman" panose="02020603050405020304" pitchFamily="18" charset="0"/>
              </a:rPr>
              <a:t> for text. They demonstrated the ability to generate coherent and contextually relevant sentences, making them useful for a wide range of applications, from writing assistance to the chatbot population.</a:t>
            </a:r>
          </a:p>
          <a:p>
            <a:pPr marL="0" indent="0" algn="just">
              <a:buNone/>
            </a:pPr>
            <a:r>
              <a:rPr lang="en-US" sz="1400" b="1" i="0" dirty="0">
                <a:solidFill>
                  <a:schemeClr val="tx1"/>
                </a:solidFill>
                <a:effectLst/>
                <a:latin typeface="Times New Roman" panose="02020603050405020304" pitchFamily="18" charset="0"/>
                <a:cs typeface="Times New Roman" panose="02020603050405020304" pitchFamily="18" charset="0"/>
              </a:rPr>
              <a:t>DALL-E (2022):</a:t>
            </a:r>
            <a:r>
              <a:rPr lang="en-US" sz="1400" b="0" i="0" dirty="0">
                <a:solidFill>
                  <a:schemeClr val="tx1"/>
                </a:solidFill>
                <a:effectLst/>
                <a:latin typeface="Times New Roman" panose="02020603050405020304" pitchFamily="18" charset="0"/>
                <a:cs typeface="Times New Roman" panose="02020603050405020304" pitchFamily="18" charset="0"/>
              </a:rPr>
              <a:t> </a:t>
            </a:r>
            <a:r>
              <a:rPr lang="en-US" sz="1400" b="0" i="0" dirty="0" err="1">
                <a:solidFill>
                  <a:schemeClr val="tx1"/>
                </a:solidFill>
                <a:effectLst/>
                <a:latin typeface="Times New Roman" panose="02020603050405020304" pitchFamily="18" charset="0"/>
                <a:cs typeface="Times New Roman" panose="02020603050405020304" pitchFamily="18" charset="0"/>
              </a:rPr>
              <a:t>OpenAI</a:t>
            </a:r>
            <a:r>
              <a:rPr lang="en-US" sz="1400" b="0" i="0" dirty="0">
                <a:solidFill>
                  <a:schemeClr val="tx1"/>
                </a:solidFill>
                <a:effectLst/>
                <a:latin typeface="Times New Roman" panose="02020603050405020304" pitchFamily="18" charset="0"/>
                <a:cs typeface="Times New Roman" panose="02020603050405020304" pitchFamily="18" charset="0"/>
              </a:rPr>
              <a:t> launched DALL-E to the public. DALL-E is a deep learning model that can generate digital images from natural language prompts.</a:t>
            </a:r>
          </a:p>
          <a:p>
            <a:pPr marL="0" indent="0" algn="just">
              <a:buNone/>
            </a:pPr>
            <a:r>
              <a:rPr lang="en-US" sz="1400" b="1" i="0" dirty="0">
                <a:solidFill>
                  <a:schemeClr val="tx1"/>
                </a:solidFill>
                <a:effectLst/>
                <a:latin typeface="Times New Roman" panose="02020603050405020304" pitchFamily="18" charset="0"/>
                <a:cs typeface="Times New Roman" panose="02020603050405020304" pitchFamily="18" charset="0"/>
              </a:rPr>
              <a:t>ChatGPT (2022): </a:t>
            </a:r>
            <a:r>
              <a:rPr lang="en-US" sz="1400" b="0" i="0" dirty="0">
                <a:solidFill>
                  <a:schemeClr val="tx1"/>
                </a:solidFill>
                <a:effectLst/>
                <a:latin typeface="Times New Roman" panose="02020603050405020304" pitchFamily="18" charset="0"/>
                <a:cs typeface="Times New Roman" panose="02020603050405020304" pitchFamily="18" charset="0"/>
              </a:rPr>
              <a:t>Open AI released </a:t>
            </a:r>
            <a:r>
              <a:rPr lang="en-US" sz="1400" b="0" i="0" u="none" strike="noStrike" dirty="0">
                <a:solidFill>
                  <a:schemeClr val="tx1"/>
                </a:solidFill>
                <a:effectLst/>
                <a:latin typeface="Times New Roman" panose="02020603050405020304" pitchFamily="18" charset="0"/>
                <a:cs typeface="Times New Roman" panose="02020603050405020304" pitchFamily="18" charset="0"/>
              </a:rPr>
              <a:t>ChatGPT</a:t>
            </a:r>
            <a:r>
              <a:rPr lang="en-US" sz="1400" b="0" i="0" dirty="0">
                <a:solidFill>
                  <a:schemeClr val="tx1"/>
                </a:solidFill>
                <a:effectLst/>
                <a:latin typeface="Times New Roman" panose="02020603050405020304" pitchFamily="18" charset="0"/>
                <a:cs typeface="Times New Roman" panose="02020603050405020304" pitchFamily="18" charset="0"/>
              </a:rPr>
              <a:t>, a conversational chatbot based on GPT, and the platform reached one million users within five days.</a:t>
            </a:r>
          </a:p>
          <a:p>
            <a:pPr marL="0" indent="0" algn="just">
              <a:buNone/>
            </a:pPr>
            <a:r>
              <a:rPr lang="en-US" sz="1400" b="1" i="0" dirty="0">
                <a:solidFill>
                  <a:schemeClr val="tx1"/>
                </a:solidFill>
                <a:effectLst/>
                <a:latin typeface="Times New Roman" panose="02020603050405020304" pitchFamily="18" charset="0"/>
                <a:cs typeface="Times New Roman" panose="02020603050405020304" pitchFamily="18" charset="0"/>
              </a:rPr>
              <a:t>GPT-4 (2023):</a:t>
            </a:r>
            <a:r>
              <a:rPr lang="en-US" sz="1400" b="0" i="0" dirty="0">
                <a:solidFill>
                  <a:schemeClr val="tx1"/>
                </a:solidFill>
                <a:effectLst/>
                <a:latin typeface="Times New Roman" panose="02020603050405020304" pitchFamily="18" charset="0"/>
                <a:cs typeface="Times New Roman" panose="02020603050405020304" pitchFamily="18" charset="0"/>
              </a:rPr>
              <a:t> The </a:t>
            </a:r>
            <a:r>
              <a:rPr lang="en-US" sz="1400" b="0" i="0" u="none" strike="noStrike" dirty="0">
                <a:solidFill>
                  <a:schemeClr val="tx1"/>
                </a:solidFill>
                <a:effectLst/>
                <a:latin typeface="Times New Roman" panose="02020603050405020304" pitchFamily="18" charset="0"/>
                <a:cs typeface="Times New Roman" panose="02020603050405020304" pitchFamily="18" charset="0"/>
              </a:rPr>
              <a:t>latest GPT model</a:t>
            </a:r>
            <a:r>
              <a:rPr lang="en-US" sz="1400" b="0" i="0" dirty="0">
                <a:solidFill>
                  <a:schemeClr val="tx1"/>
                </a:solidFill>
                <a:effectLst/>
                <a:latin typeface="Times New Roman" panose="02020603050405020304" pitchFamily="18" charset="0"/>
                <a:cs typeface="Times New Roman" panose="02020603050405020304" pitchFamily="18" charset="0"/>
              </a:rPr>
              <a:t> is reportedly more accurate and has advanced reasoning capabilities. Premium ChatGPT users now have optional access to GPT-4 within the chatbot.</a:t>
            </a:r>
          </a:p>
          <a:p>
            <a:pPr marL="0" indent="0">
              <a:buNone/>
            </a:pPr>
            <a:r>
              <a:rPr lang="en-IN" sz="1400" b="1" dirty="0">
                <a:solidFill>
                  <a:schemeClr val="tx1"/>
                </a:solidFill>
                <a:latin typeface="Times New Roman" panose="02020603050405020304" pitchFamily="18" charset="0"/>
                <a:cs typeface="Times New Roman" panose="02020603050405020304" pitchFamily="18" charset="0"/>
              </a:rPr>
              <a:t>Gemini (2023–24)</a:t>
            </a:r>
            <a:r>
              <a:rPr lang="en-IN" sz="1400" dirty="0">
                <a:solidFill>
                  <a:schemeClr val="tx1"/>
                </a:solidFill>
                <a:latin typeface="Times New Roman" panose="02020603050405020304" pitchFamily="18" charset="0"/>
                <a:cs typeface="Times New Roman" panose="02020603050405020304" pitchFamily="18" charset="0"/>
              </a:rPr>
              <a:t> – </a:t>
            </a:r>
            <a:r>
              <a:rPr lang="en-IN" sz="1400" i="1" dirty="0">
                <a:solidFill>
                  <a:schemeClr val="tx1"/>
                </a:solidFill>
                <a:latin typeface="Times New Roman" panose="02020603050405020304" pitchFamily="18" charset="0"/>
                <a:cs typeface="Times New Roman" panose="02020603050405020304" pitchFamily="18" charset="0"/>
              </a:rPr>
              <a:t>Google DeepMind </a:t>
            </a:r>
            <a:r>
              <a:rPr lang="en-IN" sz="1400" dirty="0">
                <a:solidFill>
                  <a:schemeClr val="tx1"/>
                </a:solidFill>
                <a:latin typeface="Times New Roman" panose="02020603050405020304" pitchFamily="18" charset="0"/>
                <a:cs typeface="Times New Roman" panose="02020603050405020304" pitchFamily="18" charset="0"/>
              </a:rPr>
              <a:t>Unified multimodal capabilities into one model. Gemini 1.5 demonstrated strong context handling and multi-turn reasoning.</a:t>
            </a:r>
          </a:p>
          <a:p>
            <a:pPr marL="0" indent="0">
              <a:buNone/>
            </a:pPr>
            <a:r>
              <a:rPr lang="en-IN" sz="1400" b="1" dirty="0">
                <a:solidFill>
                  <a:schemeClr val="tx1"/>
                </a:solidFill>
                <a:latin typeface="Times New Roman" panose="02020603050405020304" pitchFamily="18" charset="0"/>
                <a:cs typeface="Times New Roman" panose="02020603050405020304" pitchFamily="18" charset="0"/>
              </a:rPr>
              <a:t>Sora (2024)</a:t>
            </a:r>
            <a:r>
              <a:rPr lang="en-IN" sz="1400" dirty="0">
                <a:solidFill>
                  <a:schemeClr val="tx1"/>
                </a:solidFill>
                <a:latin typeface="Times New Roman" panose="02020603050405020304" pitchFamily="18" charset="0"/>
                <a:cs typeface="Times New Roman" panose="02020603050405020304" pitchFamily="18" charset="0"/>
              </a:rPr>
              <a:t> – </a:t>
            </a:r>
            <a:r>
              <a:rPr lang="en-IN" sz="1400" i="1" dirty="0" err="1">
                <a:solidFill>
                  <a:schemeClr val="tx1"/>
                </a:solidFill>
                <a:latin typeface="Times New Roman" panose="02020603050405020304" pitchFamily="18" charset="0"/>
                <a:cs typeface="Times New Roman" panose="02020603050405020304" pitchFamily="18" charset="0"/>
              </a:rPr>
              <a:t>OpenAI</a:t>
            </a:r>
            <a:r>
              <a:rPr lang="en-IN" sz="1400" i="1" dirty="0">
                <a:solidFill>
                  <a:schemeClr val="tx1"/>
                </a:solidFill>
                <a:latin typeface="Times New Roman" panose="02020603050405020304" pitchFamily="18" charset="0"/>
                <a:cs typeface="Times New Roman" panose="02020603050405020304" pitchFamily="18" charset="0"/>
              </a:rPr>
              <a:t> </a:t>
            </a:r>
            <a:r>
              <a:rPr lang="en-IN" sz="1400" b="1" dirty="0">
                <a:solidFill>
                  <a:schemeClr val="tx1"/>
                </a:solidFill>
                <a:latin typeface="Times New Roman" panose="02020603050405020304" pitchFamily="18" charset="0"/>
                <a:cs typeface="Times New Roman" panose="02020603050405020304" pitchFamily="18" charset="0"/>
              </a:rPr>
              <a:t>Text-to-video</a:t>
            </a:r>
            <a:r>
              <a:rPr lang="en-IN" sz="1400" dirty="0">
                <a:solidFill>
                  <a:schemeClr val="tx1"/>
                </a:solidFill>
                <a:latin typeface="Times New Roman" panose="02020603050405020304" pitchFamily="18" charset="0"/>
                <a:cs typeface="Times New Roman" panose="02020603050405020304" pitchFamily="18" charset="0"/>
              </a:rPr>
              <a:t> model generating high-fidelity, realistic videos from short prompts. Ground breaking in visual generative content.</a:t>
            </a:r>
          </a:p>
          <a:p>
            <a:pPr marL="0" indent="0">
              <a:buNone/>
            </a:pPr>
            <a:r>
              <a:rPr lang="en-US" sz="1400" b="1" dirty="0">
                <a:solidFill>
                  <a:schemeClr val="tx1"/>
                </a:solidFill>
                <a:latin typeface="Times New Roman" panose="02020603050405020304" pitchFamily="18" charset="0"/>
                <a:cs typeface="Times New Roman" panose="02020603050405020304" pitchFamily="18" charset="0"/>
              </a:rPr>
              <a:t>GPT-4o (2025) – </a:t>
            </a:r>
            <a:r>
              <a:rPr lang="en-US" sz="1400" b="1" dirty="0" err="1">
                <a:solidFill>
                  <a:schemeClr val="tx1"/>
                </a:solidFill>
                <a:latin typeface="Times New Roman" panose="02020603050405020304" pitchFamily="18" charset="0"/>
                <a:cs typeface="Times New Roman" panose="02020603050405020304" pitchFamily="18" charset="0"/>
              </a:rPr>
              <a:t>OpenAI</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The first truly multimodal GPT with real-time voice, vision, and text integration. Offers emotional tone and vision-based reasoning.</a:t>
            </a:r>
            <a:endParaRPr lang="en-IN" sz="1400"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1200" b="0" i="0" dirty="0">
              <a:solidFill>
                <a:schemeClr val="tx1"/>
              </a:solidFill>
              <a:effectLst/>
              <a:latin typeface="Times New Roman" panose="02020603050405020304" pitchFamily="18" charset="0"/>
              <a:cs typeface="Times New Roman" panose="02020603050405020304" pitchFamily="18" charset="0"/>
            </a:endParaRPr>
          </a:p>
          <a:p>
            <a:pPr marL="0" indent="0" algn="just">
              <a:buNone/>
            </a:pPr>
            <a:endParaRPr lang="en-US" sz="1200" b="0" i="0" dirty="0">
              <a:solidFill>
                <a:schemeClr val="tx1"/>
              </a:solidFill>
              <a:effectLst/>
              <a:latin typeface="Times New Roman" panose="02020603050405020304" pitchFamily="18" charset="0"/>
              <a:cs typeface="Times New Roman" panose="02020603050405020304" pitchFamily="18" charset="0"/>
            </a:endParaRPr>
          </a:p>
          <a:p>
            <a:pPr marL="0" indent="0" algn="just">
              <a:buNone/>
            </a:pP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820BC5C-5740-42C0-832A-B6FF52ED899D}"/>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EFDBC8D4-E2F1-4360-8AD1-6437D73B717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E217FEF-A95F-4EED-B3D7-582962488D93}"/>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383530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A9A6A-613F-4587-A47D-C13680C77106}"/>
              </a:ext>
            </a:extLst>
          </p:cNvPr>
          <p:cNvSpPr>
            <a:spLocks noGrp="1"/>
          </p:cNvSpPr>
          <p:nvPr>
            <p:ph type="title"/>
          </p:nvPr>
        </p:nvSpPr>
        <p:spPr/>
        <p:txBody>
          <a:bodyPr/>
          <a:lstStyle/>
          <a:p>
            <a:r>
              <a:rPr lang="en-US" sz="2000" dirty="0"/>
              <a:t>Difference between Gen AI and Discriminative AI</a:t>
            </a:r>
            <a:endParaRPr lang="en-IN" sz="2000" dirty="0"/>
          </a:p>
        </p:txBody>
      </p:sp>
      <p:sp>
        <p:nvSpPr>
          <p:cNvPr id="3" name="Content Placeholder 2">
            <a:extLst>
              <a:ext uri="{FF2B5EF4-FFF2-40B4-BE49-F238E27FC236}">
                <a16:creationId xmlns:a16="http://schemas.microsoft.com/office/drawing/2014/main" id="{170EDC2B-F541-4D9D-9A3C-FACE4673BEED}"/>
              </a:ext>
            </a:extLst>
          </p:cNvPr>
          <p:cNvSpPr>
            <a:spLocks noGrp="1"/>
          </p:cNvSpPr>
          <p:nvPr>
            <p:ph idx="1"/>
          </p:nvPr>
        </p:nvSpPr>
        <p:spPr/>
        <p:txBody>
          <a:bodyPr/>
          <a:lstStyle/>
          <a:p>
            <a:pPr marL="0" indent="0" algn="l" fontAlgn="base">
              <a:buNone/>
            </a:pPr>
            <a:r>
              <a:rPr lang="en-US" sz="1200" b="1" i="0" dirty="0">
                <a:solidFill>
                  <a:srgbClr val="273239"/>
                </a:solidFill>
                <a:effectLst/>
                <a:latin typeface="Nunito" pitchFamily="2" charset="0"/>
              </a:rPr>
              <a:t>What is Generative AI?</a:t>
            </a:r>
          </a:p>
          <a:p>
            <a:pPr marL="0" indent="0" algn="just" rtl="0" fontAlgn="base">
              <a:buNone/>
            </a:pPr>
            <a:r>
              <a:rPr lang="en-US" sz="1200" b="1" i="0" dirty="0">
                <a:solidFill>
                  <a:srgbClr val="273239"/>
                </a:solidFill>
                <a:effectLst/>
                <a:latin typeface="Nunito" pitchFamily="2" charset="0"/>
              </a:rPr>
              <a:t>Generative AI</a:t>
            </a:r>
            <a:r>
              <a:rPr lang="en-US" sz="1200" b="0" i="0" dirty="0">
                <a:solidFill>
                  <a:srgbClr val="273239"/>
                </a:solidFill>
                <a:effectLst/>
                <a:latin typeface="Nunito" pitchFamily="2" charset="0"/>
              </a:rPr>
              <a:t> means that these AI models will generate new data and information for the user by learning patterns and structures of existing data. While other forms of artificial intelligence are programmed to interpret data, </a:t>
            </a:r>
            <a:r>
              <a:rPr lang="en-US" sz="1200" b="0" i="0" dirty="0">
                <a:solidFill>
                  <a:schemeClr val="tx1"/>
                </a:solidFill>
                <a:effectLst/>
                <a:latin typeface="Nunito" pitchFamily="2" charset="0"/>
              </a:rPr>
              <a:t>generative AI </a:t>
            </a:r>
            <a:r>
              <a:rPr lang="en-US" sz="1200" b="0" i="0" dirty="0">
                <a:solidFill>
                  <a:srgbClr val="273239"/>
                </a:solidFill>
                <a:effectLst/>
                <a:latin typeface="Nunito" pitchFamily="2" charset="0"/>
              </a:rPr>
              <a:t>can create content that is imitation of the fed data. It uses deep learning architectures such as GANs and Transformers to learn and generate data.</a:t>
            </a:r>
          </a:p>
          <a:p>
            <a:pPr marL="0" indent="0">
              <a:buNone/>
            </a:pPr>
            <a:endParaRPr lang="en-IN" sz="1200" dirty="0"/>
          </a:p>
          <a:p>
            <a:pPr marL="0" indent="0" algn="l" fontAlgn="base">
              <a:buNone/>
            </a:pPr>
            <a:endParaRPr lang="en-US" sz="1200" b="1" i="0" dirty="0">
              <a:solidFill>
                <a:srgbClr val="273239"/>
              </a:solidFill>
              <a:effectLst/>
              <a:latin typeface="Nunito" pitchFamily="2" charset="0"/>
            </a:endParaRPr>
          </a:p>
          <a:p>
            <a:pPr marL="0" indent="0" algn="l" fontAlgn="base">
              <a:buNone/>
            </a:pPr>
            <a:endParaRPr lang="en-US" sz="1200" b="1" dirty="0">
              <a:solidFill>
                <a:srgbClr val="273239"/>
              </a:solidFill>
              <a:latin typeface="Nunito" pitchFamily="2" charset="0"/>
            </a:endParaRPr>
          </a:p>
          <a:p>
            <a:pPr marL="0" indent="0" algn="l" fontAlgn="base">
              <a:buNone/>
            </a:pPr>
            <a:endParaRPr lang="en-US" sz="1200" b="1" i="0" dirty="0">
              <a:solidFill>
                <a:srgbClr val="273239"/>
              </a:solidFill>
              <a:effectLst/>
              <a:latin typeface="Nunito" pitchFamily="2" charset="0"/>
            </a:endParaRPr>
          </a:p>
          <a:p>
            <a:pPr marL="0" indent="0" algn="l" fontAlgn="base">
              <a:buNone/>
            </a:pPr>
            <a:endParaRPr lang="en-US" sz="1200" b="1" dirty="0">
              <a:solidFill>
                <a:srgbClr val="273239"/>
              </a:solidFill>
              <a:latin typeface="Nunito" pitchFamily="2" charset="0"/>
            </a:endParaRPr>
          </a:p>
          <a:p>
            <a:pPr marL="0" indent="0" algn="l" fontAlgn="base">
              <a:buNone/>
            </a:pPr>
            <a:endParaRPr lang="en-US" sz="1200" b="1" i="0" dirty="0">
              <a:solidFill>
                <a:srgbClr val="273239"/>
              </a:solidFill>
              <a:effectLst/>
              <a:latin typeface="Nunito" pitchFamily="2" charset="0"/>
            </a:endParaRPr>
          </a:p>
          <a:p>
            <a:pPr marL="0" indent="0" algn="l" fontAlgn="base">
              <a:buNone/>
            </a:pPr>
            <a:endParaRPr lang="en-US" sz="1200" b="1" dirty="0">
              <a:solidFill>
                <a:srgbClr val="273239"/>
              </a:solidFill>
              <a:latin typeface="Nunito" pitchFamily="2" charset="0"/>
            </a:endParaRPr>
          </a:p>
          <a:p>
            <a:pPr marL="0" indent="0" algn="l" fontAlgn="base">
              <a:buNone/>
            </a:pPr>
            <a:r>
              <a:rPr lang="en-US" sz="1200" b="1" i="0" dirty="0">
                <a:solidFill>
                  <a:srgbClr val="273239"/>
                </a:solidFill>
                <a:effectLst/>
                <a:latin typeface="Nunito" pitchFamily="2" charset="0"/>
              </a:rPr>
              <a:t>What is Discriminative AI?</a:t>
            </a:r>
          </a:p>
          <a:p>
            <a:pPr marL="0" indent="0" algn="just" rtl="0" fontAlgn="base">
              <a:buNone/>
            </a:pPr>
            <a:r>
              <a:rPr lang="en-US" sz="1200" b="0" i="0" dirty="0">
                <a:solidFill>
                  <a:srgbClr val="273239"/>
                </a:solidFill>
                <a:effectLst/>
                <a:latin typeface="Nunito" pitchFamily="2" charset="0"/>
              </a:rPr>
              <a:t>Discriminative AI can be defined as a type of artificial intelligence where the objective is to opt for the best decision or choose the correct class for the input data by learning from training data and how sample data separates various classes. In this way, discriminative AI models outperform generative AI ones because they are trained to differentiate the data. These models are designed to learn the relationship between the inputs and the outputs or labels/categorical variables. </a:t>
            </a:r>
          </a:p>
          <a:p>
            <a:pPr marL="0" indent="0">
              <a:buNone/>
            </a:pPr>
            <a:endParaRPr lang="en-IN" sz="1200" dirty="0"/>
          </a:p>
          <a:p>
            <a:pPr marL="0" indent="0">
              <a:buNone/>
            </a:pPr>
            <a:endParaRPr lang="en-IN" sz="1200" dirty="0"/>
          </a:p>
        </p:txBody>
      </p:sp>
      <p:sp>
        <p:nvSpPr>
          <p:cNvPr id="4" name="Date Placeholder 3">
            <a:extLst>
              <a:ext uri="{FF2B5EF4-FFF2-40B4-BE49-F238E27FC236}">
                <a16:creationId xmlns:a16="http://schemas.microsoft.com/office/drawing/2014/main" id="{D758FC7D-D4BB-4C7E-BF44-22EAF502921F}"/>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4F1DC805-25B6-4D4C-83EA-A59B8941A57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9124C07-E055-4036-BD24-246E266C586F}"/>
              </a:ext>
            </a:extLst>
          </p:cNvPr>
          <p:cNvSpPr>
            <a:spLocks noGrp="1"/>
          </p:cNvSpPr>
          <p:nvPr>
            <p:ph type="sldNum" sz="quarter" idx="12"/>
          </p:nvPr>
        </p:nvSpPr>
        <p:spPr/>
        <p:txBody>
          <a:bodyPr/>
          <a:lstStyle/>
          <a:p>
            <a:fld id="{BB2CE0DE-867F-455F-B20B-96D381B4AB71}" type="slidenum">
              <a:rPr lang="en-US" smtClean="0"/>
              <a:t>6</a:t>
            </a:fld>
            <a:endParaRPr lang="en-US"/>
          </a:p>
        </p:txBody>
      </p:sp>
      <p:pic>
        <p:nvPicPr>
          <p:cNvPr id="7" name="Picture 6">
            <a:extLst>
              <a:ext uri="{FF2B5EF4-FFF2-40B4-BE49-F238E27FC236}">
                <a16:creationId xmlns:a16="http://schemas.microsoft.com/office/drawing/2014/main" id="{9FB89C0A-5360-497B-8D8D-80AE639B4731}"/>
              </a:ext>
            </a:extLst>
          </p:cNvPr>
          <p:cNvPicPr>
            <a:picLocks noChangeAspect="1"/>
          </p:cNvPicPr>
          <p:nvPr/>
        </p:nvPicPr>
        <p:blipFill>
          <a:blip r:embed="rId3"/>
          <a:stretch>
            <a:fillRect/>
          </a:stretch>
        </p:blipFill>
        <p:spPr>
          <a:xfrm>
            <a:off x="4505592" y="2209799"/>
            <a:ext cx="2733407" cy="1457817"/>
          </a:xfrm>
          <a:prstGeom prst="rect">
            <a:avLst/>
          </a:prstGeom>
        </p:spPr>
      </p:pic>
      <p:pic>
        <p:nvPicPr>
          <p:cNvPr id="8" name="Picture 7">
            <a:extLst>
              <a:ext uri="{FF2B5EF4-FFF2-40B4-BE49-F238E27FC236}">
                <a16:creationId xmlns:a16="http://schemas.microsoft.com/office/drawing/2014/main" id="{772B8372-C084-4CDB-80CF-72DB8713C447}"/>
              </a:ext>
            </a:extLst>
          </p:cNvPr>
          <p:cNvPicPr>
            <a:picLocks noChangeAspect="1"/>
          </p:cNvPicPr>
          <p:nvPr/>
        </p:nvPicPr>
        <p:blipFill rotWithShape="1">
          <a:blip r:embed="rId4"/>
          <a:srcRect b="7462"/>
          <a:stretch/>
        </p:blipFill>
        <p:spPr>
          <a:xfrm>
            <a:off x="4215267" y="4799473"/>
            <a:ext cx="3609066" cy="1922002"/>
          </a:xfrm>
          <a:prstGeom prst="rect">
            <a:avLst/>
          </a:prstGeom>
        </p:spPr>
      </p:pic>
    </p:spTree>
    <p:extLst>
      <p:ext uri="{BB962C8B-B14F-4D97-AF65-F5344CB8AC3E}">
        <p14:creationId xmlns:p14="http://schemas.microsoft.com/office/powerpoint/2010/main" val="4130501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4494-D96D-4ACB-AEAC-E23EAD1C585E}"/>
              </a:ext>
            </a:extLst>
          </p:cNvPr>
          <p:cNvSpPr>
            <a:spLocks noGrp="1"/>
          </p:cNvSpPr>
          <p:nvPr>
            <p:ph type="title"/>
          </p:nvPr>
        </p:nvSpPr>
        <p:spPr/>
        <p:txBody>
          <a:bodyPr/>
          <a:lstStyle/>
          <a:p>
            <a:r>
              <a:rPr lang="en-US" sz="2000" dirty="0"/>
              <a:t>Difference between Gen AI and Discriminative AI</a:t>
            </a:r>
            <a:endParaRPr lang="en-IN" sz="2000" dirty="0"/>
          </a:p>
        </p:txBody>
      </p:sp>
      <p:sp>
        <p:nvSpPr>
          <p:cNvPr id="3" name="Content Placeholder 2">
            <a:extLst>
              <a:ext uri="{FF2B5EF4-FFF2-40B4-BE49-F238E27FC236}">
                <a16:creationId xmlns:a16="http://schemas.microsoft.com/office/drawing/2014/main" id="{4628D90E-EAB3-48A9-8C0B-811127591061}"/>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67707B1E-2FA9-4150-AD1D-465D499FFACE}"/>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F0DAA7FF-43F6-4163-9604-0F1DE09FAD0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7E36611-9113-4B40-B50B-38BFE61EB495}"/>
              </a:ext>
            </a:extLst>
          </p:cNvPr>
          <p:cNvSpPr>
            <a:spLocks noGrp="1"/>
          </p:cNvSpPr>
          <p:nvPr>
            <p:ph type="sldNum" sz="quarter" idx="12"/>
          </p:nvPr>
        </p:nvSpPr>
        <p:spPr/>
        <p:txBody>
          <a:bodyPr/>
          <a:lstStyle/>
          <a:p>
            <a:fld id="{BB2CE0DE-867F-455F-B20B-96D381B4AB71}" type="slidenum">
              <a:rPr lang="en-US" smtClean="0"/>
              <a:t>7</a:t>
            </a:fld>
            <a:endParaRPr lang="en-US"/>
          </a:p>
        </p:txBody>
      </p:sp>
      <p:pic>
        <p:nvPicPr>
          <p:cNvPr id="8" name="Picture 7">
            <a:extLst>
              <a:ext uri="{FF2B5EF4-FFF2-40B4-BE49-F238E27FC236}">
                <a16:creationId xmlns:a16="http://schemas.microsoft.com/office/drawing/2014/main" id="{8EB56779-599E-4452-B45C-12D84BB32E89}"/>
              </a:ext>
            </a:extLst>
          </p:cNvPr>
          <p:cNvPicPr>
            <a:picLocks noChangeAspect="1"/>
          </p:cNvPicPr>
          <p:nvPr/>
        </p:nvPicPr>
        <p:blipFill>
          <a:blip r:embed="rId2"/>
          <a:stretch>
            <a:fillRect/>
          </a:stretch>
        </p:blipFill>
        <p:spPr>
          <a:xfrm>
            <a:off x="457200" y="1102150"/>
            <a:ext cx="7233231" cy="5619325"/>
          </a:xfrm>
          <a:prstGeom prst="rect">
            <a:avLst/>
          </a:prstGeom>
        </p:spPr>
      </p:pic>
    </p:spTree>
    <p:extLst>
      <p:ext uri="{BB962C8B-B14F-4D97-AF65-F5344CB8AC3E}">
        <p14:creationId xmlns:p14="http://schemas.microsoft.com/office/powerpoint/2010/main" val="1156544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52399-1A4F-452D-B3DD-24ED6CD18D25}"/>
              </a:ext>
            </a:extLst>
          </p:cNvPr>
          <p:cNvSpPr>
            <a:spLocks noGrp="1"/>
          </p:cNvSpPr>
          <p:nvPr>
            <p:ph type="title"/>
          </p:nvPr>
        </p:nvSpPr>
        <p:spPr/>
        <p:txBody>
          <a:bodyPr/>
          <a:lstStyle/>
          <a:p>
            <a:r>
              <a:rPr lang="en-US" sz="3200" dirty="0"/>
              <a:t>Types of Generative models</a:t>
            </a:r>
            <a:endParaRPr lang="en-IN" dirty="0"/>
          </a:p>
        </p:txBody>
      </p:sp>
      <p:sp>
        <p:nvSpPr>
          <p:cNvPr id="3" name="Content Placeholder 2">
            <a:extLst>
              <a:ext uri="{FF2B5EF4-FFF2-40B4-BE49-F238E27FC236}">
                <a16:creationId xmlns:a16="http://schemas.microsoft.com/office/drawing/2014/main" id="{575BF471-A477-463E-B331-E0B706053E0D}"/>
              </a:ext>
            </a:extLst>
          </p:cNvPr>
          <p:cNvSpPr>
            <a:spLocks noGrp="1"/>
          </p:cNvSpPr>
          <p:nvPr>
            <p:ph idx="1"/>
          </p:nvPr>
        </p:nvSpPr>
        <p:spPr/>
        <p:txBody>
          <a:bodyPr/>
          <a:lstStyle/>
          <a:p>
            <a:r>
              <a:rPr lang="en-IN" sz="2800" dirty="0"/>
              <a:t>Variational Autoencoders (VAEs)</a:t>
            </a:r>
          </a:p>
          <a:p>
            <a:r>
              <a:rPr lang="en-IN" sz="2800" dirty="0"/>
              <a:t>Autoregressive Models</a:t>
            </a:r>
          </a:p>
          <a:p>
            <a:r>
              <a:rPr lang="en-IN" sz="2800" dirty="0"/>
              <a:t>Generative Adversarial Networks (GANs)</a:t>
            </a:r>
          </a:p>
          <a:p>
            <a:r>
              <a:rPr lang="en-IN" sz="2800" dirty="0"/>
              <a:t>Vector Quantized Diffusion Models</a:t>
            </a:r>
          </a:p>
        </p:txBody>
      </p:sp>
      <p:sp>
        <p:nvSpPr>
          <p:cNvPr id="4" name="Date Placeholder 3">
            <a:extLst>
              <a:ext uri="{FF2B5EF4-FFF2-40B4-BE49-F238E27FC236}">
                <a16:creationId xmlns:a16="http://schemas.microsoft.com/office/drawing/2014/main" id="{88683010-320F-4962-A726-8621C3557295}"/>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A5998D05-8C82-4632-BB60-8550F6D74A2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5BD9EF8-EAC6-4B28-ACFD-AD08C934A748}"/>
              </a:ext>
            </a:extLst>
          </p:cNvPr>
          <p:cNvSpPr>
            <a:spLocks noGrp="1"/>
          </p:cNvSpPr>
          <p:nvPr>
            <p:ph type="sldNum" sz="quarter" idx="12"/>
          </p:nvPr>
        </p:nvSpPr>
        <p:spPr/>
        <p:txBody>
          <a:bodyPr/>
          <a:lstStyle/>
          <a:p>
            <a:fld id="{BB2CE0DE-867F-455F-B20B-96D381B4AB71}" type="slidenum">
              <a:rPr lang="en-US" smtClean="0"/>
              <a:t>8</a:t>
            </a:fld>
            <a:endParaRPr lang="en-US"/>
          </a:p>
        </p:txBody>
      </p:sp>
    </p:spTree>
    <p:extLst>
      <p:ext uri="{BB962C8B-B14F-4D97-AF65-F5344CB8AC3E}">
        <p14:creationId xmlns:p14="http://schemas.microsoft.com/office/powerpoint/2010/main" val="2733007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8980A-761F-36FE-4AE0-1B69C33712A6}"/>
              </a:ext>
            </a:extLst>
          </p:cNvPr>
          <p:cNvSpPr>
            <a:spLocks noGrp="1"/>
          </p:cNvSpPr>
          <p:nvPr>
            <p:ph type="title"/>
          </p:nvPr>
        </p:nvSpPr>
        <p:spPr/>
        <p:txBody>
          <a:bodyPr/>
          <a:lstStyle/>
          <a:p>
            <a:endParaRPr lang="en-IN"/>
          </a:p>
        </p:txBody>
      </p:sp>
      <p:graphicFrame>
        <p:nvGraphicFramePr>
          <p:cNvPr id="7" name="Content Placeholder 6">
            <a:extLst>
              <a:ext uri="{FF2B5EF4-FFF2-40B4-BE49-F238E27FC236}">
                <a16:creationId xmlns:a16="http://schemas.microsoft.com/office/drawing/2014/main" id="{4BC4BCEF-5DD3-EB48-8A90-9FA0203FAB15}"/>
              </a:ext>
            </a:extLst>
          </p:cNvPr>
          <p:cNvGraphicFramePr>
            <a:graphicFrameLocks noGrp="1"/>
          </p:cNvGraphicFramePr>
          <p:nvPr>
            <p:ph idx="1"/>
          </p:nvPr>
        </p:nvGraphicFramePr>
        <p:xfrm>
          <a:off x="574674" y="1219200"/>
          <a:ext cx="7502525" cy="3657601"/>
        </p:xfrm>
        <a:graphic>
          <a:graphicData uri="http://schemas.openxmlformats.org/drawingml/2006/table">
            <a:tbl>
              <a:tblPr firstRow="1" bandRow="1">
                <a:tableStyleId>{5C22544A-7EE6-4342-B048-85BDC9FD1C3A}</a:tableStyleId>
              </a:tblPr>
              <a:tblGrid>
                <a:gridCol w="3108189">
                  <a:extLst>
                    <a:ext uri="{9D8B030D-6E8A-4147-A177-3AD203B41FA5}">
                      <a16:colId xmlns:a16="http://schemas.microsoft.com/office/drawing/2014/main" val="1559513112"/>
                    </a:ext>
                  </a:extLst>
                </a:gridCol>
                <a:gridCol w="4394336">
                  <a:extLst>
                    <a:ext uri="{9D8B030D-6E8A-4147-A177-3AD203B41FA5}">
                      <a16:colId xmlns:a16="http://schemas.microsoft.com/office/drawing/2014/main" val="2090103456"/>
                    </a:ext>
                  </a:extLst>
                </a:gridCol>
              </a:tblGrid>
              <a:tr h="969108">
                <a:tc>
                  <a:txBody>
                    <a:bodyPr/>
                    <a:lstStyle/>
                    <a:p>
                      <a:r>
                        <a:rPr lang="en-IN" sz="1400" b="0" dirty="0">
                          <a:solidFill>
                            <a:srgbClr val="003300"/>
                          </a:solidFill>
                        </a:rPr>
                        <a:t>Autoregressive Models</a:t>
                      </a:r>
                    </a:p>
                    <a:p>
                      <a:endParaRPr lang="en-IN" sz="1400" dirty="0">
                        <a:solidFill>
                          <a:srgbClr val="0033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kern="1200" dirty="0">
                          <a:solidFill>
                            <a:srgbClr val="003300"/>
                          </a:solidFill>
                          <a:effectLst/>
                          <a:latin typeface="+mn-lt"/>
                          <a:ea typeface="+mn-ea"/>
                          <a:cs typeface="+mn-cs"/>
                        </a:rPr>
                        <a:t>Autoregressive models </a:t>
                      </a:r>
                      <a:r>
                        <a:rPr lang="en-US" sz="1400" b="1" i="0" kern="1200" dirty="0">
                          <a:solidFill>
                            <a:srgbClr val="003300"/>
                          </a:solidFill>
                          <a:effectLst/>
                          <a:latin typeface="+mn-lt"/>
                          <a:ea typeface="+mn-ea"/>
                          <a:cs typeface="+mn-cs"/>
                        </a:rPr>
                        <a:t>predict</a:t>
                      </a:r>
                      <a:r>
                        <a:rPr lang="en-US" sz="1400" b="0" i="0" kern="1200" dirty="0">
                          <a:solidFill>
                            <a:srgbClr val="003300"/>
                          </a:solidFill>
                          <a:effectLst/>
                          <a:latin typeface="+mn-lt"/>
                          <a:ea typeface="+mn-ea"/>
                          <a:cs typeface="+mn-cs"/>
                        </a:rPr>
                        <a:t> the </a:t>
                      </a:r>
                      <a:r>
                        <a:rPr lang="en-US" sz="1400" b="1" i="0" kern="1200" dirty="0">
                          <a:solidFill>
                            <a:srgbClr val="003300"/>
                          </a:solidFill>
                          <a:effectLst/>
                          <a:latin typeface="+mn-lt"/>
                          <a:ea typeface="+mn-ea"/>
                          <a:cs typeface="+mn-cs"/>
                        </a:rPr>
                        <a:t>next data point </a:t>
                      </a:r>
                      <a:r>
                        <a:rPr lang="en-US" sz="1400" b="0" i="0" kern="1200" dirty="0">
                          <a:solidFill>
                            <a:srgbClr val="003300"/>
                          </a:solidFill>
                          <a:effectLst/>
                          <a:latin typeface="+mn-lt"/>
                          <a:ea typeface="+mn-ea"/>
                          <a:cs typeface="+mn-cs"/>
                        </a:rPr>
                        <a:t>in a sequence based on </a:t>
                      </a:r>
                      <a:r>
                        <a:rPr lang="en-US" sz="1400" b="0" i="1" kern="1200" dirty="0">
                          <a:solidFill>
                            <a:srgbClr val="003300"/>
                          </a:solidFill>
                          <a:effectLst/>
                          <a:latin typeface="+mn-lt"/>
                          <a:ea typeface="+mn-ea"/>
                          <a:cs typeface="+mn-cs"/>
                        </a:rPr>
                        <a:t>past data points. </a:t>
                      </a:r>
                      <a:endParaRPr lang="en-IN" sz="1400" i="1" dirty="0">
                        <a:solidFill>
                          <a:srgbClr val="0033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7602668"/>
                  </a:ext>
                </a:extLst>
              </a:tr>
              <a:tr h="750277">
                <a:tc>
                  <a:txBody>
                    <a:bodyPr/>
                    <a:lstStyle/>
                    <a:p>
                      <a:r>
                        <a:rPr lang="en-IN" sz="1400" b="0" dirty="0">
                          <a:solidFill>
                            <a:srgbClr val="003300"/>
                          </a:solidFill>
                        </a:rPr>
                        <a:t>Variational Autoencoders (VAEs)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kern="1200" dirty="0">
                          <a:solidFill>
                            <a:srgbClr val="003300"/>
                          </a:solidFill>
                          <a:effectLst/>
                          <a:latin typeface="+mn-lt"/>
                          <a:ea typeface="+mn-ea"/>
                          <a:cs typeface="+mn-cs"/>
                        </a:rPr>
                        <a:t>VAEs learn a </a:t>
                      </a:r>
                      <a:r>
                        <a:rPr lang="en-US" sz="1400" b="0" i="1" kern="1200" dirty="0">
                          <a:solidFill>
                            <a:srgbClr val="003300"/>
                          </a:solidFill>
                          <a:effectLst/>
                          <a:latin typeface="+mn-lt"/>
                          <a:ea typeface="+mn-ea"/>
                          <a:cs typeface="+mn-cs"/>
                        </a:rPr>
                        <a:t>probabilistic </a:t>
                      </a:r>
                      <a:r>
                        <a:rPr lang="en-US" sz="1400" b="0" i="0" kern="1200" dirty="0">
                          <a:solidFill>
                            <a:srgbClr val="003300"/>
                          </a:solidFill>
                          <a:effectLst/>
                          <a:latin typeface="+mn-lt"/>
                          <a:ea typeface="+mn-ea"/>
                          <a:cs typeface="+mn-cs"/>
                        </a:rPr>
                        <a:t>representation of the data to </a:t>
                      </a:r>
                      <a:r>
                        <a:rPr lang="en-US" sz="1400" b="1" i="0" kern="1200" dirty="0">
                          <a:solidFill>
                            <a:srgbClr val="003300"/>
                          </a:solidFill>
                          <a:effectLst/>
                          <a:latin typeface="+mn-lt"/>
                          <a:ea typeface="+mn-ea"/>
                          <a:cs typeface="+mn-cs"/>
                        </a:rPr>
                        <a:t>generate new samples</a:t>
                      </a:r>
                      <a:r>
                        <a:rPr lang="en-US" sz="1400" b="0" i="0" kern="1200" dirty="0">
                          <a:solidFill>
                            <a:srgbClr val="003300"/>
                          </a:solidFill>
                          <a:effectLst/>
                          <a:latin typeface="+mn-lt"/>
                          <a:ea typeface="+mn-ea"/>
                          <a:cs typeface="+mn-cs"/>
                        </a:rPr>
                        <a:t>. </a:t>
                      </a:r>
                      <a:endParaRPr lang="en-IN" sz="1400" dirty="0">
                        <a:solidFill>
                          <a:srgbClr val="0033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8664456"/>
                  </a:ext>
                </a:extLst>
              </a:tr>
              <a:tr h="969108">
                <a:tc>
                  <a:txBody>
                    <a:bodyPr/>
                    <a:lstStyle/>
                    <a:p>
                      <a:r>
                        <a:rPr lang="en-IN" sz="1400" b="0" dirty="0">
                          <a:solidFill>
                            <a:srgbClr val="003300"/>
                          </a:solidFill>
                        </a:rPr>
                        <a:t>Generative Adversarial Networks (GANs)</a:t>
                      </a:r>
                      <a:endParaRPr lang="en-IN" sz="1400" dirty="0">
                        <a:solidFill>
                          <a:srgbClr val="0033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kern="1200" dirty="0">
                          <a:solidFill>
                            <a:srgbClr val="003300"/>
                          </a:solidFill>
                          <a:effectLst/>
                          <a:latin typeface="+mn-lt"/>
                          <a:ea typeface="+mn-ea"/>
                          <a:cs typeface="+mn-cs"/>
                        </a:rPr>
                        <a:t>GANs use a </a:t>
                      </a:r>
                      <a:r>
                        <a:rPr lang="en-US" sz="1400" b="0" i="1" kern="1200" dirty="0">
                          <a:solidFill>
                            <a:srgbClr val="003300"/>
                          </a:solidFill>
                          <a:effectLst/>
                          <a:latin typeface="+mn-lt"/>
                          <a:ea typeface="+mn-ea"/>
                          <a:cs typeface="+mn-cs"/>
                        </a:rPr>
                        <a:t>generator and discriminator network </a:t>
                      </a:r>
                      <a:r>
                        <a:rPr lang="en-US" sz="1400" b="0" i="0" kern="1200" dirty="0">
                          <a:solidFill>
                            <a:srgbClr val="003300"/>
                          </a:solidFill>
                          <a:effectLst/>
                          <a:latin typeface="+mn-lt"/>
                          <a:ea typeface="+mn-ea"/>
                          <a:cs typeface="+mn-cs"/>
                        </a:rPr>
                        <a:t>in an adversarial game to </a:t>
                      </a:r>
                      <a:r>
                        <a:rPr lang="en-US" sz="1400" b="1" i="0" kern="1200" dirty="0">
                          <a:solidFill>
                            <a:srgbClr val="003300"/>
                          </a:solidFill>
                          <a:effectLst/>
                          <a:latin typeface="+mn-lt"/>
                          <a:ea typeface="+mn-ea"/>
                          <a:cs typeface="+mn-cs"/>
                        </a:rPr>
                        <a:t>produce realistic data. </a:t>
                      </a:r>
                      <a:endParaRPr lang="en-IN" sz="1400" b="1" dirty="0">
                        <a:solidFill>
                          <a:srgbClr val="0033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077663"/>
                  </a:ext>
                </a:extLst>
              </a:tr>
              <a:tr h="9691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dirty="0">
                          <a:solidFill>
                            <a:srgbClr val="003300"/>
                          </a:solidFill>
                        </a:rPr>
                        <a:t>Vector Quantized Diffusion Models</a:t>
                      </a:r>
                    </a:p>
                    <a:p>
                      <a:endParaRPr lang="en-IN" sz="1400" dirty="0">
                        <a:solidFill>
                          <a:srgbClr val="0033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kern="1200" dirty="0">
                          <a:solidFill>
                            <a:srgbClr val="003300"/>
                          </a:solidFill>
                          <a:effectLst/>
                          <a:latin typeface="+mn-lt"/>
                          <a:ea typeface="+mn-ea"/>
                          <a:cs typeface="+mn-cs"/>
                        </a:rPr>
                        <a:t>Diffusion models refine </a:t>
                      </a:r>
                      <a:r>
                        <a:rPr lang="en-US" sz="1400" b="0" i="1" kern="1200" dirty="0">
                          <a:solidFill>
                            <a:srgbClr val="003300"/>
                          </a:solidFill>
                          <a:effectLst/>
                          <a:latin typeface="+mn-lt"/>
                          <a:ea typeface="+mn-ea"/>
                          <a:cs typeface="+mn-cs"/>
                        </a:rPr>
                        <a:t>noisy data </a:t>
                      </a:r>
                      <a:r>
                        <a:rPr lang="en-US" sz="1400" b="0" i="0" kern="1200" dirty="0">
                          <a:solidFill>
                            <a:srgbClr val="003300"/>
                          </a:solidFill>
                          <a:effectLst/>
                          <a:latin typeface="+mn-lt"/>
                          <a:ea typeface="+mn-ea"/>
                          <a:cs typeface="+mn-cs"/>
                        </a:rPr>
                        <a:t>through a denoising process to generate </a:t>
                      </a:r>
                      <a:r>
                        <a:rPr lang="en-US" sz="1400" b="1" i="0" kern="1200" dirty="0">
                          <a:solidFill>
                            <a:srgbClr val="003300"/>
                          </a:solidFill>
                          <a:effectLst/>
                          <a:latin typeface="+mn-lt"/>
                          <a:ea typeface="+mn-ea"/>
                          <a:cs typeface="+mn-cs"/>
                        </a:rPr>
                        <a:t>high-quality samples</a:t>
                      </a:r>
                      <a:r>
                        <a:rPr lang="en-US" sz="1400" b="0" i="0" kern="1200" dirty="0">
                          <a:solidFill>
                            <a:srgbClr val="003300"/>
                          </a:solidFill>
                          <a:effectLst/>
                          <a:latin typeface="+mn-lt"/>
                          <a:ea typeface="+mn-ea"/>
                          <a:cs typeface="+mn-cs"/>
                        </a:rPr>
                        <a:t>. </a:t>
                      </a:r>
                      <a:endParaRPr lang="en-IN" sz="1400" dirty="0">
                        <a:solidFill>
                          <a:srgbClr val="0033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3936309"/>
                  </a:ext>
                </a:extLst>
              </a:tr>
            </a:tbl>
          </a:graphicData>
        </a:graphic>
      </p:graphicFrame>
      <p:sp>
        <p:nvSpPr>
          <p:cNvPr id="4" name="Date Placeholder 3">
            <a:extLst>
              <a:ext uri="{FF2B5EF4-FFF2-40B4-BE49-F238E27FC236}">
                <a16:creationId xmlns:a16="http://schemas.microsoft.com/office/drawing/2014/main" id="{9D2BF4D3-4584-8FAE-C0CB-3265C5C94299}"/>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54A2C617-22D2-B6C0-3A49-838F043165B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32B0567-FC88-0B4C-163F-650A2D884FA2}"/>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2119507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8927-54F2-56EC-1811-40A5C716D862}"/>
              </a:ext>
            </a:extLst>
          </p:cNvPr>
          <p:cNvSpPr>
            <a:spLocks noGrp="1"/>
          </p:cNvSpPr>
          <p:nvPr>
            <p:ph type="title"/>
          </p:nvPr>
        </p:nvSpPr>
        <p:spPr/>
        <p:txBody>
          <a:bodyPr/>
          <a:lstStyle/>
          <a:p>
            <a:r>
              <a:rPr lang="en-US" dirty="0"/>
              <a:t>Autoregressive (AR) model</a:t>
            </a:r>
            <a:endParaRPr lang="en-IN" dirty="0"/>
          </a:p>
        </p:txBody>
      </p:sp>
      <p:sp>
        <p:nvSpPr>
          <p:cNvPr id="3" name="Content Placeholder 2">
            <a:extLst>
              <a:ext uri="{FF2B5EF4-FFF2-40B4-BE49-F238E27FC236}">
                <a16:creationId xmlns:a16="http://schemas.microsoft.com/office/drawing/2014/main" id="{A2B7FBA3-5B03-65B1-0F5E-A6F6FF1FC123}"/>
              </a:ext>
            </a:extLst>
          </p:cNvPr>
          <p:cNvSpPr>
            <a:spLocks noGrp="1"/>
          </p:cNvSpPr>
          <p:nvPr>
            <p:ph idx="1"/>
          </p:nvPr>
        </p:nvSpPr>
        <p:spPr/>
        <p:txBody>
          <a:bodyPr/>
          <a:lstStyle/>
          <a:p>
            <a:pPr marL="0" indent="0">
              <a:buNone/>
            </a:pPr>
            <a:r>
              <a:rPr lang="en-US" sz="2000" dirty="0"/>
              <a:t>An autoregressive (AR) model is a type of time series model that predicts future values based on past values of the same variable. </a:t>
            </a:r>
          </a:p>
          <a:p>
            <a:pPr marL="0" indent="0">
              <a:buNone/>
            </a:pPr>
            <a:r>
              <a:rPr lang="en-US" sz="2000" dirty="0"/>
              <a:t>It essentially uses past data points to "regress" or predict future values, assuming that past trends will continue. </a:t>
            </a:r>
          </a:p>
          <a:p>
            <a:pPr marL="0" indent="0">
              <a:buNone/>
            </a:pPr>
            <a:r>
              <a:rPr lang="en-US" sz="2000" dirty="0"/>
              <a:t>This approach is particularly useful in analyzing and forecasting data that changes over time, like stock prices or weather patterns. </a:t>
            </a:r>
            <a:endParaRPr lang="en-IN" sz="2000" dirty="0"/>
          </a:p>
        </p:txBody>
      </p:sp>
      <p:sp>
        <p:nvSpPr>
          <p:cNvPr id="4" name="Date Placeholder 3">
            <a:extLst>
              <a:ext uri="{FF2B5EF4-FFF2-40B4-BE49-F238E27FC236}">
                <a16:creationId xmlns:a16="http://schemas.microsoft.com/office/drawing/2014/main" id="{A5DABB89-EA4D-2679-E3C8-A8C6167A027C}"/>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E754B263-65E2-7BE5-1F64-7E60D8B4B10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1715D3A-A71D-AC44-6911-E4D4C50E1DAD}"/>
              </a:ext>
            </a:extLst>
          </p:cNvPr>
          <p:cNvSpPr>
            <a:spLocks noGrp="1"/>
          </p:cNvSpPr>
          <p:nvPr>
            <p:ph type="sldNum" sz="quarter" idx="12"/>
          </p:nvPr>
        </p:nvSpPr>
        <p:spPr/>
        <p:txBody>
          <a:bodyPr/>
          <a:lstStyle/>
          <a:p>
            <a:fld id="{BB2CE0DE-867F-455F-B20B-96D381B4AB71}" type="slidenum">
              <a:rPr lang="en-US" smtClean="0"/>
              <a:t>10</a:t>
            </a:fld>
            <a:endParaRPr lang="en-US"/>
          </a:p>
        </p:txBody>
      </p:sp>
    </p:spTree>
    <p:extLst>
      <p:ext uri="{BB962C8B-B14F-4D97-AF65-F5344CB8AC3E}">
        <p14:creationId xmlns:p14="http://schemas.microsoft.com/office/powerpoint/2010/main" val="1168883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FC6E7-EB9C-9BB8-1649-86EF9D9C428F}"/>
              </a:ext>
            </a:extLst>
          </p:cNvPr>
          <p:cNvSpPr>
            <a:spLocks noGrp="1"/>
          </p:cNvSpPr>
          <p:nvPr>
            <p:ph type="title"/>
          </p:nvPr>
        </p:nvSpPr>
        <p:spPr/>
        <p:txBody>
          <a:bodyPr/>
          <a:lstStyle/>
          <a:p>
            <a:r>
              <a:rPr lang="en-US" dirty="0"/>
              <a:t>AR models</a:t>
            </a:r>
            <a:endParaRPr lang="en-IN" dirty="0"/>
          </a:p>
        </p:txBody>
      </p:sp>
      <p:sp>
        <p:nvSpPr>
          <p:cNvPr id="3" name="Content Placeholder 2">
            <a:extLst>
              <a:ext uri="{FF2B5EF4-FFF2-40B4-BE49-F238E27FC236}">
                <a16:creationId xmlns:a16="http://schemas.microsoft.com/office/drawing/2014/main" id="{DCDBA558-4CEE-C913-C4C5-E9AD72E67A9D}"/>
              </a:ext>
            </a:extLst>
          </p:cNvPr>
          <p:cNvSpPr>
            <a:spLocks noGrp="1"/>
          </p:cNvSpPr>
          <p:nvPr>
            <p:ph idx="1"/>
          </p:nvPr>
        </p:nvSpPr>
        <p:spPr/>
        <p:txBody>
          <a:bodyPr/>
          <a:lstStyle/>
          <a:p>
            <a:pPr marL="0" indent="0" algn="just">
              <a:buNone/>
            </a:pPr>
            <a:r>
              <a:rPr lang="en-US" sz="1600" b="1" dirty="0"/>
              <a:t>Autoregressive models (</a:t>
            </a:r>
            <a:r>
              <a:rPr lang="en-US" sz="1600" dirty="0"/>
              <a:t>AR models) are a concept in </a:t>
            </a:r>
            <a:r>
              <a:rPr lang="en-US" sz="1600" b="1" dirty="0"/>
              <a:t>time series analysis and forecasting</a:t>
            </a:r>
            <a:r>
              <a:rPr lang="en-US" sz="1600" dirty="0"/>
              <a:t> that captures the relationship between an observation and several lagged observations i.e., previous time steps. </a:t>
            </a:r>
          </a:p>
          <a:p>
            <a:pPr marL="0" indent="0" algn="just">
              <a:buNone/>
            </a:pPr>
            <a:r>
              <a:rPr lang="en-US" sz="1600" dirty="0"/>
              <a:t>Its idea is that the current value of a time series data can be expressed as a linear combination of its past values with some random noise.</a:t>
            </a:r>
          </a:p>
          <a:p>
            <a:pPr marL="0" indent="0" algn="just">
              <a:buNone/>
            </a:pPr>
            <a:r>
              <a:rPr lang="en-US" sz="1600" b="0" i="0" dirty="0">
                <a:solidFill>
                  <a:srgbClr val="001D35"/>
                </a:solidFill>
                <a:effectLst/>
                <a:latin typeface="Google Sans"/>
              </a:rPr>
              <a:t>Autoregression (AR):</a:t>
            </a:r>
          </a:p>
          <a:p>
            <a:pPr algn="just">
              <a:buFont typeface="Arial" panose="020B0604020202020204" pitchFamily="34" charset="0"/>
              <a:buChar char="•"/>
            </a:pPr>
            <a:r>
              <a:rPr lang="en-US" sz="1600" b="1" i="0" dirty="0">
                <a:solidFill>
                  <a:srgbClr val="001D35"/>
                </a:solidFill>
                <a:effectLst/>
                <a:latin typeface="Google Sans"/>
              </a:rPr>
              <a:t>Concept:</a:t>
            </a:r>
            <a:r>
              <a:rPr lang="en-US" sz="1600" b="0" i="0" dirty="0">
                <a:solidFill>
                  <a:srgbClr val="001D35"/>
                </a:solidFill>
                <a:effectLst/>
                <a:latin typeface="Google Sans"/>
              </a:rPr>
              <a:t> Predicts a variable's future value based on its past values.</a:t>
            </a:r>
          </a:p>
          <a:p>
            <a:pPr algn="just">
              <a:buFont typeface="Arial" panose="020B0604020202020204" pitchFamily="34" charset="0"/>
              <a:buChar char="•"/>
            </a:pPr>
            <a:r>
              <a:rPr lang="en-US" sz="1600" b="1" i="0" dirty="0">
                <a:solidFill>
                  <a:srgbClr val="001D35"/>
                </a:solidFill>
                <a:effectLst/>
                <a:latin typeface="Google Sans"/>
              </a:rPr>
              <a:t>Example:</a:t>
            </a:r>
            <a:r>
              <a:rPr lang="en-US" sz="1600" b="0" i="0" dirty="0">
                <a:solidFill>
                  <a:srgbClr val="001D35"/>
                </a:solidFill>
                <a:effectLst/>
                <a:latin typeface="Google Sans"/>
              </a:rPr>
              <a:t> Predicting stock prices based on past stock prices.</a:t>
            </a:r>
          </a:p>
          <a:p>
            <a:pPr algn="just">
              <a:buFont typeface="Arial" panose="020B0604020202020204" pitchFamily="34" charset="0"/>
              <a:buChar char="•"/>
            </a:pPr>
            <a:r>
              <a:rPr lang="en-US" sz="1600" b="1" i="0" dirty="0">
                <a:solidFill>
                  <a:srgbClr val="001D35"/>
                </a:solidFill>
                <a:effectLst/>
                <a:latin typeface="Google Sans"/>
              </a:rPr>
              <a:t>Key Feature:</a:t>
            </a:r>
            <a:r>
              <a:rPr lang="en-US" sz="1600" b="0" i="0" dirty="0">
                <a:solidFill>
                  <a:srgbClr val="001D35"/>
                </a:solidFill>
                <a:effectLst/>
                <a:latin typeface="Google Sans"/>
              </a:rPr>
              <a:t> Uses past values of the same variable as predictors.</a:t>
            </a:r>
          </a:p>
          <a:p>
            <a:pPr algn="just">
              <a:buFont typeface="Arial" panose="020B0604020202020204" pitchFamily="34" charset="0"/>
              <a:buChar char="•"/>
            </a:pPr>
            <a:r>
              <a:rPr lang="en-US" sz="1600" b="1" i="0" dirty="0">
                <a:solidFill>
                  <a:srgbClr val="001D35"/>
                </a:solidFill>
                <a:effectLst/>
                <a:latin typeface="Google Sans"/>
              </a:rPr>
              <a:t>Focus:</a:t>
            </a:r>
            <a:r>
              <a:rPr lang="en-US" sz="1600" b="0" i="0" dirty="0">
                <a:solidFill>
                  <a:srgbClr val="001D35"/>
                </a:solidFill>
                <a:effectLst/>
                <a:latin typeface="Google Sans"/>
              </a:rPr>
              <a:t> Relationship within a single time series.</a:t>
            </a:r>
          </a:p>
          <a:p>
            <a:pPr algn="just">
              <a:buFont typeface="Arial" panose="020B0604020202020204" pitchFamily="34" charset="0"/>
              <a:buChar char="•"/>
            </a:pPr>
            <a:r>
              <a:rPr lang="en-US" sz="1600" b="1" i="0" dirty="0">
                <a:solidFill>
                  <a:srgbClr val="001D35"/>
                </a:solidFill>
                <a:effectLst/>
                <a:latin typeface="Google Sans"/>
              </a:rPr>
              <a:t>Time Series:</a:t>
            </a:r>
            <a:r>
              <a:rPr lang="en-US" sz="1600" b="0" i="0" dirty="0">
                <a:solidFill>
                  <a:srgbClr val="001D35"/>
                </a:solidFill>
                <a:effectLst/>
                <a:latin typeface="Google Sans"/>
              </a:rPr>
              <a:t> Primarily used for time series data analysis. </a:t>
            </a:r>
          </a:p>
          <a:p>
            <a:pPr marL="0" indent="0" algn="just">
              <a:buNone/>
            </a:pPr>
            <a:endParaRPr lang="en-IN" sz="1600" dirty="0"/>
          </a:p>
        </p:txBody>
      </p:sp>
      <p:sp>
        <p:nvSpPr>
          <p:cNvPr id="4" name="Date Placeholder 3">
            <a:extLst>
              <a:ext uri="{FF2B5EF4-FFF2-40B4-BE49-F238E27FC236}">
                <a16:creationId xmlns:a16="http://schemas.microsoft.com/office/drawing/2014/main" id="{F1A738C1-E470-D37E-A61C-F109AC827C9A}"/>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D83DA2B4-D058-E592-73A4-485CAC3D9FF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53DCEA7-C36B-AFBD-E018-C3639D58B374}"/>
              </a:ext>
            </a:extLst>
          </p:cNvPr>
          <p:cNvSpPr>
            <a:spLocks noGrp="1"/>
          </p:cNvSpPr>
          <p:nvPr>
            <p:ph type="sldNum" sz="quarter" idx="12"/>
          </p:nvPr>
        </p:nvSpPr>
        <p:spPr/>
        <p:txBody>
          <a:bodyPr/>
          <a:lstStyle/>
          <a:p>
            <a:fld id="{BB2CE0DE-867F-455F-B20B-96D381B4AB71}" type="slidenum">
              <a:rPr lang="en-US" smtClean="0"/>
              <a:t>11</a:t>
            </a:fld>
            <a:endParaRPr lang="en-US"/>
          </a:p>
        </p:txBody>
      </p:sp>
    </p:spTree>
    <p:extLst>
      <p:ext uri="{BB962C8B-B14F-4D97-AF65-F5344CB8AC3E}">
        <p14:creationId xmlns:p14="http://schemas.microsoft.com/office/powerpoint/2010/main" val="41163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FC6E7-EB9C-9BB8-1649-86EF9D9C428F}"/>
              </a:ext>
            </a:extLst>
          </p:cNvPr>
          <p:cNvSpPr>
            <a:spLocks noGrp="1"/>
          </p:cNvSpPr>
          <p:nvPr>
            <p:ph type="title"/>
          </p:nvPr>
        </p:nvSpPr>
        <p:spPr/>
        <p:txBody>
          <a:bodyPr/>
          <a:lstStyle/>
          <a:p>
            <a:r>
              <a:rPr lang="en-US" dirty="0"/>
              <a:t>AR models</a:t>
            </a:r>
            <a:endParaRPr lang="en-IN" dirty="0"/>
          </a:p>
        </p:txBody>
      </p:sp>
      <p:sp>
        <p:nvSpPr>
          <p:cNvPr id="3" name="Content Placeholder 2">
            <a:extLst>
              <a:ext uri="{FF2B5EF4-FFF2-40B4-BE49-F238E27FC236}">
                <a16:creationId xmlns:a16="http://schemas.microsoft.com/office/drawing/2014/main" id="{DCDBA558-4CEE-C913-C4C5-E9AD72E67A9D}"/>
              </a:ext>
            </a:extLst>
          </p:cNvPr>
          <p:cNvSpPr>
            <a:spLocks noGrp="1"/>
          </p:cNvSpPr>
          <p:nvPr>
            <p:ph idx="1"/>
          </p:nvPr>
        </p:nvSpPr>
        <p:spPr/>
        <p:txBody>
          <a:bodyPr/>
          <a:lstStyle/>
          <a:p>
            <a:pPr marL="0" indent="0" algn="just">
              <a:buNone/>
            </a:pPr>
            <a:r>
              <a:rPr lang="en-US" sz="1600" b="1" dirty="0"/>
              <a:t>Autoregressive models (</a:t>
            </a:r>
            <a:r>
              <a:rPr lang="en-US" sz="1600" dirty="0"/>
              <a:t>AR models) are a concept in </a:t>
            </a:r>
            <a:r>
              <a:rPr lang="en-US" sz="1600" b="1" dirty="0"/>
              <a:t>time series analysis and forecasting</a:t>
            </a:r>
            <a:r>
              <a:rPr lang="en-US" sz="1600" dirty="0"/>
              <a:t> that captures the relationship between an observation and several lagged observations i.e., previous time steps. </a:t>
            </a:r>
          </a:p>
          <a:p>
            <a:pPr marL="0" indent="0" algn="just">
              <a:buNone/>
            </a:pPr>
            <a:r>
              <a:rPr lang="en-US" sz="1600" dirty="0"/>
              <a:t>Its idea is that the current value of a time series data can be expressed as a linear combination of its past values with some random noise.</a:t>
            </a:r>
          </a:p>
          <a:p>
            <a:pPr marL="0" indent="0" algn="just">
              <a:buNone/>
            </a:pPr>
            <a:r>
              <a:rPr lang="en-US" sz="1600" b="0" i="0" dirty="0">
                <a:solidFill>
                  <a:srgbClr val="001D35"/>
                </a:solidFill>
                <a:effectLst/>
                <a:latin typeface="Google Sans"/>
              </a:rPr>
              <a:t>Autoregression (AR):</a:t>
            </a:r>
          </a:p>
          <a:p>
            <a:pPr algn="just">
              <a:buFont typeface="Arial" panose="020B0604020202020204" pitchFamily="34" charset="0"/>
              <a:buChar char="•"/>
            </a:pPr>
            <a:r>
              <a:rPr lang="en-US" sz="1600" b="1" i="0" dirty="0">
                <a:solidFill>
                  <a:srgbClr val="001D35"/>
                </a:solidFill>
                <a:effectLst/>
                <a:latin typeface="Google Sans"/>
              </a:rPr>
              <a:t>Concept:</a:t>
            </a:r>
            <a:r>
              <a:rPr lang="en-US" sz="1600" b="0" i="0" dirty="0">
                <a:solidFill>
                  <a:srgbClr val="001D35"/>
                </a:solidFill>
                <a:effectLst/>
                <a:latin typeface="Google Sans"/>
              </a:rPr>
              <a:t> Predicts a variable's future value based on its past values.</a:t>
            </a:r>
          </a:p>
          <a:p>
            <a:pPr algn="just">
              <a:buFont typeface="Arial" panose="020B0604020202020204" pitchFamily="34" charset="0"/>
              <a:buChar char="•"/>
            </a:pPr>
            <a:r>
              <a:rPr lang="en-US" sz="1600" b="1" i="0" dirty="0">
                <a:solidFill>
                  <a:srgbClr val="001D35"/>
                </a:solidFill>
                <a:effectLst/>
                <a:latin typeface="Google Sans"/>
              </a:rPr>
              <a:t>Example:</a:t>
            </a:r>
            <a:r>
              <a:rPr lang="en-US" sz="1600" b="0" i="0" dirty="0">
                <a:solidFill>
                  <a:srgbClr val="001D35"/>
                </a:solidFill>
                <a:effectLst/>
                <a:latin typeface="Google Sans"/>
              </a:rPr>
              <a:t> Predicting stock prices based on past stock prices.</a:t>
            </a:r>
          </a:p>
          <a:p>
            <a:pPr algn="just">
              <a:buFont typeface="Arial" panose="020B0604020202020204" pitchFamily="34" charset="0"/>
              <a:buChar char="•"/>
            </a:pPr>
            <a:r>
              <a:rPr lang="en-US" sz="1600" b="1" i="0" dirty="0">
                <a:solidFill>
                  <a:srgbClr val="001D35"/>
                </a:solidFill>
                <a:effectLst/>
                <a:latin typeface="Google Sans"/>
              </a:rPr>
              <a:t>Key Feature:</a:t>
            </a:r>
            <a:r>
              <a:rPr lang="en-US" sz="1600" b="0" i="0" dirty="0">
                <a:solidFill>
                  <a:srgbClr val="001D35"/>
                </a:solidFill>
                <a:effectLst/>
                <a:latin typeface="Google Sans"/>
              </a:rPr>
              <a:t> Uses past values of the same variable as predictors.</a:t>
            </a:r>
          </a:p>
          <a:p>
            <a:pPr algn="just">
              <a:buFont typeface="Arial" panose="020B0604020202020204" pitchFamily="34" charset="0"/>
              <a:buChar char="•"/>
            </a:pPr>
            <a:r>
              <a:rPr lang="en-US" sz="1600" b="1" i="0" dirty="0">
                <a:solidFill>
                  <a:srgbClr val="001D35"/>
                </a:solidFill>
                <a:effectLst/>
                <a:latin typeface="Google Sans"/>
              </a:rPr>
              <a:t>Focus:</a:t>
            </a:r>
            <a:r>
              <a:rPr lang="en-US" sz="1600" b="0" i="0" dirty="0">
                <a:solidFill>
                  <a:srgbClr val="001D35"/>
                </a:solidFill>
                <a:effectLst/>
                <a:latin typeface="Google Sans"/>
              </a:rPr>
              <a:t> Relationship within a single time series.</a:t>
            </a:r>
          </a:p>
          <a:p>
            <a:pPr algn="just">
              <a:buFont typeface="Arial" panose="020B0604020202020204" pitchFamily="34" charset="0"/>
              <a:buChar char="•"/>
            </a:pPr>
            <a:r>
              <a:rPr lang="en-US" sz="1600" b="1" i="0" dirty="0">
                <a:solidFill>
                  <a:srgbClr val="001D35"/>
                </a:solidFill>
                <a:effectLst/>
                <a:latin typeface="Google Sans"/>
              </a:rPr>
              <a:t>Time Series:</a:t>
            </a:r>
            <a:r>
              <a:rPr lang="en-US" sz="1600" b="0" i="0" dirty="0">
                <a:solidFill>
                  <a:srgbClr val="001D35"/>
                </a:solidFill>
                <a:effectLst/>
                <a:latin typeface="Google Sans"/>
              </a:rPr>
              <a:t> Primarily used for time series data analysis. </a:t>
            </a:r>
          </a:p>
          <a:p>
            <a:pPr marL="0" indent="0" algn="just">
              <a:buNone/>
            </a:pPr>
            <a:endParaRPr lang="en-IN" sz="1600" dirty="0"/>
          </a:p>
        </p:txBody>
      </p:sp>
      <p:sp>
        <p:nvSpPr>
          <p:cNvPr id="4" name="Date Placeholder 3">
            <a:extLst>
              <a:ext uri="{FF2B5EF4-FFF2-40B4-BE49-F238E27FC236}">
                <a16:creationId xmlns:a16="http://schemas.microsoft.com/office/drawing/2014/main" id="{F1A738C1-E470-D37E-A61C-F109AC827C9A}"/>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D83DA2B4-D058-E592-73A4-485CAC3D9FF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53DCEA7-C36B-AFBD-E018-C3639D58B374}"/>
              </a:ext>
            </a:extLst>
          </p:cNvPr>
          <p:cNvSpPr>
            <a:spLocks noGrp="1"/>
          </p:cNvSpPr>
          <p:nvPr>
            <p:ph type="sldNum" sz="quarter" idx="12"/>
          </p:nvPr>
        </p:nvSpPr>
        <p:spPr/>
        <p:txBody>
          <a:bodyPr/>
          <a:lstStyle/>
          <a:p>
            <a:fld id="{BB2CE0DE-867F-455F-B20B-96D381B4AB71}" type="slidenum">
              <a:rPr lang="en-US" smtClean="0"/>
              <a:t>12</a:t>
            </a:fld>
            <a:endParaRPr lang="en-US"/>
          </a:p>
        </p:txBody>
      </p:sp>
      <p:sp>
        <p:nvSpPr>
          <p:cNvPr id="7" name="TextBox 6">
            <a:extLst>
              <a:ext uri="{FF2B5EF4-FFF2-40B4-BE49-F238E27FC236}">
                <a16:creationId xmlns:a16="http://schemas.microsoft.com/office/drawing/2014/main" id="{BE4172F7-5A82-4DF2-AC6C-4FE393244B40}"/>
              </a:ext>
            </a:extLst>
          </p:cNvPr>
          <p:cNvSpPr txBox="1"/>
          <p:nvPr/>
        </p:nvSpPr>
        <p:spPr>
          <a:xfrm>
            <a:off x="838200" y="4572000"/>
            <a:ext cx="8041240" cy="1754326"/>
          </a:xfrm>
          <a:prstGeom prst="rect">
            <a:avLst/>
          </a:prstGeom>
          <a:noFill/>
        </p:spPr>
        <p:txBody>
          <a:bodyPr wrap="none" rtlCol="0">
            <a:spAutoFit/>
          </a:bodyPr>
          <a:lstStyle/>
          <a:p>
            <a:pPr algn="l"/>
            <a:r>
              <a:rPr lang="en-US" b="1" i="0" dirty="0">
                <a:solidFill>
                  <a:srgbClr val="001D35"/>
                </a:solidFill>
                <a:effectLst/>
                <a:latin typeface="Google Sans"/>
              </a:rPr>
              <a:t>Linear Regression:</a:t>
            </a:r>
            <a:endParaRPr lang="en-US" b="0" i="0" dirty="0">
              <a:solidFill>
                <a:srgbClr val="001D35"/>
              </a:solidFill>
              <a:effectLst/>
              <a:latin typeface="Google Sans"/>
            </a:endParaRPr>
          </a:p>
          <a:p>
            <a:pPr algn="l">
              <a:buFont typeface="Arial" panose="020B0604020202020204" pitchFamily="34" charset="0"/>
              <a:buChar char="•"/>
            </a:pPr>
            <a:r>
              <a:rPr lang="en-US" b="0" i="0" dirty="0">
                <a:solidFill>
                  <a:srgbClr val="545D7E"/>
                </a:solidFill>
                <a:effectLst/>
                <a:latin typeface="Google Sans"/>
              </a:rPr>
              <a:t>"If I know the weather, traffic, and walking speed, I can predict my commute time."</a:t>
            </a:r>
          </a:p>
          <a:p>
            <a:pPr algn="l"/>
            <a:endParaRPr lang="en-US" b="1" i="0" dirty="0">
              <a:solidFill>
                <a:srgbClr val="001D35"/>
              </a:solidFill>
              <a:effectLst/>
              <a:latin typeface="Google Sans"/>
            </a:endParaRPr>
          </a:p>
          <a:p>
            <a:pPr algn="l"/>
            <a:r>
              <a:rPr lang="en-US" b="1" i="0" dirty="0">
                <a:solidFill>
                  <a:srgbClr val="001D35"/>
                </a:solidFill>
                <a:effectLst/>
                <a:latin typeface="Google Sans"/>
              </a:rPr>
              <a:t>Autoregression:</a:t>
            </a:r>
            <a:endParaRPr lang="en-US" b="0" i="0" dirty="0">
              <a:solidFill>
                <a:srgbClr val="001D35"/>
              </a:solidFill>
              <a:effectLst/>
              <a:latin typeface="Google Sans"/>
            </a:endParaRPr>
          </a:p>
          <a:p>
            <a:pPr algn="l">
              <a:buFont typeface="Arial" panose="020B0604020202020204" pitchFamily="34" charset="0"/>
              <a:buChar char="•"/>
            </a:pPr>
            <a:r>
              <a:rPr lang="en-US" b="0" i="0" dirty="0">
                <a:solidFill>
                  <a:srgbClr val="545D7E"/>
                </a:solidFill>
                <a:effectLst/>
                <a:latin typeface="Google Sans"/>
              </a:rPr>
              <a:t>"If I know my previous commute times, I can predict my commute time today." </a:t>
            </a:r>
          </a:p>
          <a:p>
            <a:endParaRPr lang="en-IN" dirty="0"/>
          </a:p>
        </p:txBody>
      </p:sp>
    </p:spTree>
    <p:extLst>
      <p:ext uri="{BB962C8B-B14F-4D97-AF65-F5344CB8AC3E}">
        <p14:creationId xmlns:p14="http://schemas.microsoft.com/office/powerpoint/2010/main" val="2534228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41BD1-7FD8-878A-3044-86CF8E15E947}"/>
              </a:ext>
            </a:extLst>
          </p:cNvPr>
          <p:cNvSpPr>
            <a:spLocks noGrp="1"/>
          </p:cNvSpPr>
          <p:nvPr>
            <p:ph type="title"/>
          </p:nvPr>
        </p:nvSpPr>
        <p:spPr/>
        <p:txBody>
          <a:bodyPr/>
          <a:lstStyle/>
          <a:p>
            <a:r>
              <a:rPr lang="en-IN" dirty="0"/>
              <a:t>Mathematical Explanation</a:t>
            </a:r>
          </a:p>
        </p:txBody>
      </p:sp>
      <p:sp>
        <p:nvSpPr>
          <p:cNvPr id="3" name="Content Placeholder 2">
            <a:extLst>
              <a:ext uri="{FF2B5EF4-FFF2-40B4-BE49-F238E27FC236}">
                <a16:creationId xmlns:a16="http://schemas.microsoft.com/office/drawing/2014/main" id="{75899206-A2BE-950E-CCF3-BAEDB7071853}"/>
              </a:ext>
            </a:extLst>
          </p:cNvPr>
          <p:cNvSpPr>
            <a:spLocks noGrp="1"/>
          </p:cNvSpPr>
          <p:nvPr>
            <p:ph idx="1"/>
          </p:nvPr>
        </p:nvSpPr>
        <p:spPr/>
        <p:txBody>
          <a:bodyPr/>
          <a:lstStyle/>
          <a:p>
            <a:pPr marL="0" indent="0">
              <a:buNone/>
            </a:pPr>
            <a:r>
              <a:rPr lang="en-US" sz="2000" dirty="0"/>
              <a:t>Mathematically, autoregressive model of order p, denoted as AR(p) and can be expressed as:</a:t>
            </a:r>
            <a:endParaRPr lang="en-IN" sz="2000" dirty="0"/>
          </a:p>
        </p:txBody>
      </p:sp>
      <p:sp>
        <p:nvSpPr>
          <p:cNvPr id="4" name="Date Placeholder 3">
            <a:extLst>
              <a:ext uri="{FF2B5EF4-FFF2-40B4-BE49-F238E27FC236}">
                <a16:creationId xmlns:a16="http://schemas.microsoft.com/office/drawing/2014/main" id="{A20D6771-09E2-80D3-3E8D-CFE92C989958}"/>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1627E5EE-88B9-E386-3617-4D5CBF8A360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AA94A37-BF2E-8003-99A9-2B8D0B85CE5C}"/>
              </a:ext>
            </a:extLst>
          </p:cNvPr>
          <p:cNvSpPr>
            <a:spLocks noGrp="1"/>
          </p:cNvSpPr>
          <p:nvPr>
            <p:ph type="sldNum" sz="quarter" idx="12"/>
          </p:nvPr>
        </p:nvSpPr>
        <p:spPr/>
        <p:txBody>
          <a:bodyPr/>
          <a:lstStyle/>
          <a:p>
            <a:fld id="{BB2CE0DE-867F-455F-B20B-96D381B4AB71}" type="slidenum">
              <a:rPr lang="en-US" smtClean="0"/>
              <a:t>13</a:t>
            </a:fld>
            <a:endParaRPr lang="en-US"/>
          </a:p>
        </p:txBody>
      </p:sp>
      <p:pic>
        <p:nvPicPr>
          <p:cNvPr id="8" name="Picture 7">
            <a:extLst>
              <a:ext uri="{FF2B5EF4-FFF2-40B4-BE49-F238E27FC236}">
                <a16:creationId xmlns:a16="http://schemas.microsoft.com/office/drawing/2014/main" id="{A010C9DA-C9BF-CD05-253D-1BDD12D94C07}"/>
              </a:ext>
            </a:extLst>
          </p:cNvPr>
          <p:cNvPicPr>
            <a:picLocks noChangeAspect="1"/>
          </p:cNvPicPr>
          <p:nvPr/>
        </p:nvPicPr>
        <p:blipFill>
          <a:blip r:embed="rId2"/>
          <a:stretch>
            <a:fillRect/>
          </a:stretch>
        </p:blipFill>
        <p:spPr>
          <a:xfrm>
            <a:off x="574675" y="2095005"/>
            <a:ext cx="7344800" cy="3543795"/>
          </a:xfrm>
          <a:prstGeom prst="rect">
            <a:avLst/>
          </a:prstGeom>
        </p:spPr>
      </p:pic>
    </p:spTree>
    <p:extLst>
      <p:ext uri="{BB962C8B-B14F-4D97-AF65-F5344CB8AC3E}">
        <p14:creationId xmlns:p14="http://schemas.microsoft.com/office/powerpoint/2010/main" val="118803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6BE3B-E5CD-FDA6-68DA-A6B58FD986D7}"/>
              </a:ext>
            </a:extLst>
          </p:cNvPr>
          <p:cNvSpPr>
            <a:spLocks noGrp="1"/>
          </p:cNvSpPr>
          <p:nvPr>
            <p:ph type="title"/>
          </p:nvPr>
        </p:nvSpPr>
        <p:spPr/>
        <p:txBody>
          <a:bodyPr/>
          <a:lstStyle/>
          <a:p>
            <a:r>
              <a:rPr lang="en-IN" dirty="0"/>
              <a:t>Types of Autoregressive Models</a:t>
            </a:r>
          </a:p>
        </p:txBody>
      </p:sp>
      <p:sp>
        <p:nvSpPr>
          <p:cNvPr id="3" name="Content Placeholder 2">
            <a:extLst>
              <a:ext uri="{FF2B5EF4-FFF2-40B4-BE49-F238E27FC236}">
                <a16:creationId xmlns:a16="http://schemas.microsoft.com/office/drawing/2014/main" id="{D1CD656C-5E9C-84ED-379B-2E12BDF5D918}"/>
              </a:ext>
            </a:extLst>
          </p:cNvPr>
          <p:cNvSpPr>
            <a:spLocks noGrp="1"/>
          </p:cNvSpPr>
          <p:nvPr>
            <p:ph idx="1"/>
          </p:nvPr>
        </p:nvSpPr>
        <p:spPr/>
        <p:txBody>
          <a:bodyPr/>
          <a:lstStyle/>
          <a:p>
            <a:pPr marL="0" indent="0" algn="just">
              <a:buNone/>
            </a:pPr>
            <a:r>
              <a:rPr lang="en-US" sz="1600" dirty="0"/>
              <a:t>Autoregressive models vary based on the number of past values (lags) they use. The two most common types are:</a:t>
            </a:r>
          </a:p>
          <a:p>
            <a:pPr marL="0" indent="0" algn="just">
              <a:buNone/>
            </a:pPr>
            <a:r>
              <a:rPr lang="en-US" sz="1600" b="1" dirty="0"/>
              <a:t>1. AR(1) Model:</a:t>
            </a:r>
            <a:r>
              <a:rPr lang="en-US" sz="1600" dirty="0"/>
              <a:t> This is a autoregressive model of order 1 which is the simplest form of an autoregressive model. In this model the current value of the time series depends only on its immediate past value along with a constant and some random noise. This model is particularly useful when the data shows strong autocorrelation at lag 1 </a:t>
            </a:r>
            <a:r>
              <a:rPr lang="en-US" sz="1600" dirty="0" err="1"/>
              <a:t>i.e</a:t>
            </a:r>
            <a:r>
              <a:rPr lang="en-US" sz="1600" dirty="0"/>
              <a:t> the current value depends only on the previous value. It is expressed as:</a:t>
            </a:r>
          </a:p>
          <a:p>
            <a:pPr marL="0" indent="0" algn="just">
              <a:buNone/>
            </a:pPr>
            <a:endParaRPr lang="en-US" sz="1600" dirty="0"/>
          </a:p>
          <a:p>
            <a:pPr marL="0" indent="0" algn="just">
              <a:buNone/>
            </a:pPr>
            <a:endParaRPr lang="en-US" sz="1600" dirty="0"/>
          </a:p>
          <a:p>
            <a:pPr marL="0" indent="0" algn="just">
              <a:buNone/>
            </a:pPr>
            <a:endParaRPr lang="en-US" sz="1600" dirty="0"/>
          </a:p>
          <a:p>
            <a:pPr marL="0" indent="0" algn="just">
              <a:buNone/>
            </a:pPr>
            <a:endParaRPr lang="en-US" sz="1600" dirty="0"/>
          </a:p>
          <a:p>
            <a:pPr marL="0" indent="0" algn="just">
              <a:buNone/>
            </a:pPr>
            <a:r>
              <a:rPr lang="en-US" sz="1800" b="1" dirty="0"/>
              <a:t>2. AR(p) Model:</a:t>
            </a:r>
            <a:r>
              <a:rPr lang="en-US" sz="1800" dirty="0"/>
              <a:t> It is the generalized form of the autoregressive model where the current value depends on the past </a:t>
            </a:r>
            <a:r>
              <a:rPr lang="en-US" sz="1800" i="1" dirty="0"/>
              <a:t>p</a:t>
            </a:r>
            <a:r>
              <a:rPr lang="en-US" sz="1800" dirty="0"/>
              <a:t> values.</a:t>
            </a:r>
          </a:p>
          <a:p>
            <a:pPr algn="just"/>
            <a:endParaRPr lang="en-IN" sz="1600" dirty="0"/>
          </a:p>
        </p:txBody>
      </p:sp>
      <p:sp>
        <p:nvSpPr>
          <p:cNvPr id="4" name="Date Placeholder 3">
            <a:extLst>
              <a:ext uri="{FF2B5EF4-FFF2-40B4-BE49-F238E27FC236}">
                <a16:creationId xmlns:a16="http://schemas.microsoft.com/office/drawing/2014/main" id="{A41F6E52-7A2E-AE7A-9A2A-D9EEF36406BA}"/>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1F63B8F8-A72A-7477-3A59-A068CC5B221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EDAF3E1-F60A-DE45-B02B-087189CC2918}"/>
              </a:ext>
            </a:extLst>
          </p:cNvPr>
          <p:cNvSpPr>
            <a:spLocks noGrp="1"/>
          </p:cNvSpPr>
          <p:nvPr>
            <p:ph type="sldNum" sz="quarter" idx="12"/>
          </p:nvPr>
        </p:nvSpPr>
        <p:spPr/>
        <p:txBody>
          <a:bodyPr/>
          <a:lstStyle/>
          <a:p>
            <a:fld id="{BB2CE0DE-867F-455F-B20B-96D381B4AB71}" type="slidenum">
              <a:rPr lang="en-US" smtClean="0"/>
              <a:t>14</a:t>
            </a:fld>
            <a:endParaRPr lang="en-US"/>
          </a:p>
        </p:txBody>
      </p:sp>
      <p:pic>
        <p:nvPicPr>
          <p:cNvPr id="8" name="Picture 7">
            <a:extLst>
              <a:ext uri="{FF2B5EF4-FFF2-40B4-BE49-F238E27FC236}">
                <a16:creationId xmlns:a16="http://schemas.microsoft.com/office/drawing/2014/main" id="{D32BFCD0-C2EE-675E-60E8-0F76A3D2586E}"/>
              </a:ext>
            </a:extLst>
          </p:cNvPr>
          <p:cNvPicPr>
            <a:picLocks noChangeAspect="1"/>
          </p:cNvPicPr>
          <p:nvPr/>
        </p:nvPicPr>
        <p:blipFill>
          <a:blip r:embed="rId2"/>
          <a:stretch>
            <a:fillRect/>
          </a:stretch>
        </p:blipFill>
        <p:spPr>
          <a:xfrm>
            <a:off x="2362200" y="3443247"/>
            <a:ext cx="3181794" cy="581106"/>
          </a:xfrm>
          <a:prstGeom prst="rect">
            <a:avLst/>
          </a:prstGeom>
        </p:spPr>
      </p:pic>
      <p:pic>
        <p:nvPicPr>
          <p:cNvPr id="10" name="Picture 9">
            <a:extLst>
              <a:ext uri="{FF2B5EF4-FFF2-40B4-BE49-F238E27FC236}">
                <a16:creationId xmlns:a16="http://schemas.microsoft.com/office/drawing/2014/main" id="{DD6800E5-F3A0-3957-8AAB-FF82D959A13C}"/>
              </a:ext>
            </a:extLst>
          </p:cNvPr>
          <p:cNvPicPr>
            <a:picLocks noChangeAspect="1"/>
          </p:cNvPicPr>
          <p:nvPr/>
        </p:nvPicPr>
        <p:blipFill>
          <a:blip r:embed="rId3"/>
          <a:stretch>
            <a:fillRect/>
          </a:stretch>
        </p:blipFill>
        <p:spPr>
          <a:xfrm>
            <a:off x="1371600" y="5329194"/>
            <a:ext cx="6801799" cy="619211"/>
          </a:xfrm>
          <a:prstGeom prst="rect">
            <a:avLst/>
          </a:prstGeom>
        </p:spPr>
      </p:pic>
    </p:spTree>
    <p:extLst>
      <p:ext uri="{BB962C8B-B14F-4D97-AF65-F5344CB8AC3E}">
        <p14:creationId xmlns:p14="http://schemas.microsoft.com/office/powerpoint/2010/main" val="2066541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C014A-CA9F-584E-A1A7-0FD300CE60FB}"/>
              </a:ext>
            </a:extLst>
          </p:cNvPr>
          <p:cNvSpPr>
            <a:spLocks noGrp="1"/>
          </p:cNvSpPr>
          <p:nvPr>
            <p:ph type="title"/>
          </p:nvPr>
        </p:nvSpPr>
        <p:spPr/>
        <p:txBody>
          <a:bodyPr/>
          <a:lstStyle/>
          <a:p>
            <a:r>
              <a:rPr lang="en-US" dirty="0"/>
              <a:t>AR (1) Models</a:t>
            </a:r>
            <a:endParaRPr lang="en-IN" dirty="0"/>
          </a:p>
        </p:txBody>
      </p:sp>
      <p:sp>
        <p:nvSpPr>
          <p:cNvPr id="3" name="Content Placeholder 2">
            <a:extLst>
              <a:ext uri="{FF2B5EF4-FFF2-40B4-BE49-F238E27FC236}">
                <a16:creationId xmlns:a16="http://schemas.microsoft.com/office/drawing/2014/main" id="{F105C60A-4F2E-362A-84B0-11B9D00D5048}"/>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82530111-7BCE-F200-6DB9-04074630D685}"/>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66E08B9D-7385-1014-9C20-A5682C94939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2A922C2-A8B3-865B-AEB1-8DB05CD9CCC9}"/>
              </a:ext>
            </a:extLst>
          </p:cNvPr>
          <p:cNvSpPr>
            <a:spLocks noGrp="1"/>
          </p:cNvSpPr>
          <p:nvPr>
            <p:ph type="sldNum" sz="quarter" idx="12"/>
          </p:nvPr>
        </p:nvSpPr>
        <p:spPr/>
        <p:txBody>
          <a:bodyPr/>
          <a:lstStyle/>
          <a:p>
            <a:fld id="{BB2CE0DE-867F-455F-B20B-96D381B4AB71}" type="slidenum">
              <a:rPr lang="en-US" smtClean="0"/>
              <a:t>15</a:t>
            </a:fld>
            <a:endParaRPr lang="en-US"/>
          </a:p>
        </p:txBody>
      </p:sp>
      <p:pic>
        <p:nvPicPr>
          <p:cNvPr id="8" name="Picture 7">
            <a:extLst>
              <a:ext uri="{FF2B5EF4-FFF2-40B4-BE49-F238E27FC236}">
                <a16:creationId xmlns:a16="http://schemas.microsoft.com/office/drawing/2014/main" id="{82820370-82B6-2D37-6702-B96F53BAB590}"/>
              </a:ext>
            </a:extLst>
          </p:cNvPr>
          <p:cNvPicPr>
            <a:picLocks noChangeAspect="1"/>
          </p:cNvPicPr>
          <p:nvPr/>
        </p:nvPicPr>
        <p:blipFill>
          <a:blip r:embed="rId2"/>
          <a:stretch>
            <a:fillRect/>
          </a:stretch>
        </p:blipFill>
        <p:spPr>
          <a:xfrm>
            <a:off x="304550" y="1240971"/>
            <a:ext cx="8525375" cy="3150374"/>
          </a:xfrm>
          <a:prstGeom prst="rect">
            <a:avLst/>
          </a:prstGeom>
        </p:spPr>
      </p:pic>
      <p:pic>
        <p:nvPicPr>
          <p:cNvPr id="10" name="Picture 9">
            <a:extLst>
              <a:ext uri="{FF2B5EF4-FFF2-40B4-BE49-F238E27FC236}">
                <a16:creationId xmlns:a16="http://schemas.microsoft.com/office/drawing/2014/main" id="{E15FBAD4-4BC5-0447-4CF1-266CC2AC8461}"/>
              </a:ext>
            </a:extLst>
          </p:cNvPr>
          <p:cNvPicPr>
            <a:picLocks noChangeAspect="1"/>
          </p:cNvPicPr>
          <p:nvPr/>
        </p:nvPicPr>
        <p:blipFill>
          <a:blip r:embed="rId3"/>
          <a:stretch>
            <a:fillRect/>
          </a:stretch>
        </p:blipFill>
        <p:spPr>
          <a:xfrm>
            <a:off x="609600" y="4696145"/>
            <a:ext cx="2848373" cy="1171739"/>
          </a:xfrm>
          <a:prstGeom prst="rect">
            <a:avLst/>
          </a:prstGeom>
        </p:spPr>
      </p:pic>
    </p:spTree>
    <p:extLst>
      <p:ext uri="{BB962C8B-B14F-4D97-AF65-F5344CB8AC3E}">
        <p14:creationId xmlns:p14="http://schemas.microsoft.com/office/powerpoint/2010/main" val="4081904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8EEF-E016-C344-D6A3-098D1E87E275}"/>
              </a:ext>
            </a:extLst>
          </p:cNvPr>
          <p:cNvSpPr>
            <a:spLocks noGrp="1"/>
          </p:cNvSpPr>
          <p:nvPr>
            <p:ph type="title"/>
          </p:nvPr>
        </p:nvSpPr>
        <p:spPr/>
        <p:txBody>
          <a:bodyPr/>
          <a:lstStyle/>
          <a:p>
            <a:r>
              <a:rPr lang="en-US" dirty="0"/>
              <a:t>AR (1) Models</a:t>
            </a:r>
            <a:endParaRPr lang="en-IN" dirty="0"/>
          </a:p>
        </p:txBody>
      </p:sp>
      <p:sp>
        <p:nvSpPr>
          <p:cNvPr id="3" name="Content Placeholder 2">
            <a:extLst>
              <a:ext uri="{FF2B5EF4-FFF2-40B4-BE49-F238E27FC236}">
                <a16:creationId xmlns:a16="http://schemas.microsoft.com/office/drawing/2014/main" id="{B8EFF74E-D2C9-0944-F3B0-9833EFDB917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10460A4B-784E-B1DB-D26F-2C43D8434110}"/>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E37E7ADB-13CD-6B0E-F60C-6233FC9CA71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F2DC3B-A77C-B7EC-A879-D833353E3758}"/>
              </a:ext>
            </a:extLst>
          </p:cNvPr>
          <p:cNvSpPr>
            <a:spLocks noGrp="1"/>
          </p:cNvSpPr>
          <p:nvPr>
            <p:ph type="sldNum" sz="quarter" idx="12"/>
          </p:nvPr>
        </p:nvSpPr>
        <p:spPr/>
        <p:txBody>
          <a:bodyPr/>
          <a:lstStyle/>
          <a:p>
            <a:fld id="{BB2CE0DE-867F-455F-B20B-96D381B4AB71}" type="slidenum">
              <a:rPr lang="en-US" smtClean="0"/>
              <a:t>16</a:t>
            </a:fld>
            <a:endParaRPr lang="en-US"/>
          </a:p>
        </p:txBody>
      </p:sp>
      <p:pic>
        <p:nvPicPr>
          <p:cNvPr id="8" name="Picture 7">
            <a:extLst>
              <a:ext uri="{FF2B5EF4-FFF2-40B4-BE49-F238E27FC236}">
                <a16:creationId xmlns:a16="http://schemas.microsoft.com/office/drawing/2014/main" id="{8078523C-DEC3-E2D1-805D-58F92B45C2B3}"/>
              </a:ext>
            </a:extLst>
          </p:cNvPr>
          <p:cNvPicPr>
            <a:picLocks noChangeAspect="1"/>
          </p:cNvPicPr>
          <p:nvPr/>
        </p:nvPicPr>
        <p:blipFill>
          <a:blip r:embed="rId2"/>
          <a:stretch>
            <a:fillRect/>
          </a:stretch>
        </p:blipFill>
        <p:spPr>
          <a:xfrm>
            <a:off x="555852" y="1219200"/>
            <a:ext cx="8245656" cy="3184471"/>
          </a:xfrm>
          <a:prstGeom prst="rect">
            <a:avLst/>
          </a:prstGeom>
        </p:spPr>
      </p:pic>
    </p:spTree>
    <p:extLst>
      <p:ext uri="{BB962C8B-B14F-4D97-AF65-F5344CB8AC3E}">
        <p14:creationId xmlns:p14="http://schemas.microsoft.com/office/powerpoint/2010/main" val="435375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23FA6-E783-A4D5-93BE-631575DC76EA}"/>
              </a:ext>
            </a:extLst>
          </p:cNvPr>
          <p:cNvSpPr>
            <a:spLocks noGrp="1"/>
          </p:cNvSpPr>
          <p:nvPr>
            <p:ph type="title"/>
          </p:nvPr>
        </p:nvSpPr>
        <p:spPr/>
        <p:txBody>
          <a:bodyPr/>
          <a:lstStyle/>
          <a:p>
            <a:r>
              <a:rPr lang="en-US" dirty="0"/>
              <a:t>Applications of AR models</a:t>
            </a:r>
            <a:endParaRPr lang="en-IN" dirty="0"/>
          </a:p>
        </p:txBody>
      </p:sp>
      <p:sp>
        <p:nvSpPr>
          <p:cNvPr id="3" name="Content Placeholder 2">
            <a:extLst>
              <a:ext uri="{FF2B5EF4-FFF2-40B4-BE49-F238E27FC236}">
                <a16:creationId xmlns:a16="http://schemas.microsoft.com/office/drawing/2014/main" id="{F3B0FECF-81D8-D633-A540-4B781E4EABAD}"/>
              </a:ext>
            </a:extLst>
          </p:cNvPr>
          <p:cNvSpPr>
            <a:spLocks noGrp="1"/>
          </p:cNvSpPr>
          <p:nvPr>
            <p:ph idx="1"/>
          </p:nvPr>
        </p:nvSpPr>
        <p:spPr/>
        <p:txBody>
          <a:bodyPr/>
          <a:lstStyle/>
          <a:p>
            <a:pPr algn="just" fontAlgn="ctr"/>
            <a:r>
              <a:rPr lang="en-US" sz="1800" b="1" kern="1200" dirty="0">
                <a:solidFill>
                  <a:schemeClr val="tx1"/>
                </a:solidFill>
              </a:rPr>
              <a:t>Weather Forecasting:</a:t>
            </a:r>
            <a:r>
              <a:rPr lang="en-US" sz="1800" kern="1200" dirty="0">
                <a:solidFill>
                  <a:schemeClr val="tx1"/>
                </a:solidFill>
              </a:rPr>
              <a:t> Estimating future weather parameters such as temperature, pressure, or wind speed. </a:t>
            </a:r>
          </a:p>
          <a:p>
            <a:pPr algn="just" fontAlgn="ctr"/>
            <a:r>
              <a:rPr lang="en-US" sz="1800" b="1" kern="1200" dirty="0">
                <a:solidFill>
                  <a:schemeClr val="tx1"/>
                </a:solidFill>
              </a:rPr>
              <a:t>Financial Forecasting:</a:t>
            </a:r>
            <a:r>
              <a:rPr lang="en-US" sz="1800" kern="1200" dirty="0">
                <a:solidFill>
                  <a:schemeClr val="tx1"/>
                </a:solidFill>
              </a:rPr>
              <a:t> Analyzing and predicting stock prices, interest rates, and other financial variables. </a:t>
            </a:r>
          </a:p>
          <a:p>
            <a:pPr algn="just" fontAlgn="ctr"/>
            <a:r>
              <a:rPr lang="en-US" sz="1800" b="1" kern="1200" dirty="0">
                <a:solidFill>
                  <a:schemeClr val="tx1"/>
                </a:solidFill>
              </a:rPr>
              <a:t>Traffic Forecasting:</a:t>
            </a:r>
            <a:r>
              <a:rPr lang="en-US" sz="1800" kern="1200" dirty="0">
                <a:solidFill>
                  <a:schemeClr val="tx1"/>
                </a:solidFill>
              </a:rPr>
              <a:t> Predicting traffic flow on roadways based on historical data. </a:t>
            </a:r>
          </a:p>
          <a:p>
            <a:pPr algn="just" fontAlgn="ctr"/>
            <a:r>
              <a:rPr lang="en-US" sz="1800" b="1" kern="1200" dirty="0">
                <a:solidFill>
                  <a:schemeClr val="tx1"/>
                </a:solidFill>
              </a:rPr>
              <a:t>Sales Forecasting:</a:t>
            </a:r>
            <a:r>
              <a:rPr lang="en-US" sz="1800" kern="1200" dirty="0">
                <a:solidFill>
                  <a:schemeClr val="tx1"/>
                </a:solidFill>
              </a:rPr>
              <a:t> Predicting future sales based on past sales data and other relevant factors. </a:t>
            </a:r>
          </a:p>
          <a:p>
            <a:pPr algn="just"/>
            <a:r>
              <a:rPr lang="en-US" sz="1800" b="1" kern="1200" dirty="0">
                <a:solidFill>
                  <a:schemeClr val="tx1"/>
                </a:solidFill>
              </a:rPr>
              <a:t>Energy Consumption Forecasting:</a:t>
            </a:r>
            <a:r>
              <a:rPr lang="en-US" sz="1800" kern="1200" dirty="0">
                <a:solidFill>
                  <a:schemeClr val="tx1"/>
                </a:solidFill>
              </a:rPr>
              <a:t> Forecasting energy consumption patterns for efficient resource allocation</a:t>
            </a:r>
          </a:p>
          <a:p>
            <a:pPr algn="just"/>
            <a:endParaRPr lang="en-IN" sz="1800" dirty="0"/>
          </a:p>
          <a:p>
            <a:pPr algn="just"/>
            <a:endParaRPr lang="en-IN" sz="1800" dirty="0"/>
          </a:p>
        </p:txBody>
      </p:sp>
      <p:sp>
        <p:nvSpPr>
          <p:cNvPr id="4" name="Date Placeholder 3">
            <a:extLst>
              <a:ext uri="{FF2B5EF4-FFF2-40B4-BE49-F238E27FC236}">
                <a16:creationId xmlns:a16="http://schemas.microsoft.com/office/drawing/2014/main" id="{2DFC9E5D-40F4-DC22-11E9-47102C661ED6}"/>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CD2FC0A5-2EA2-6D34-16E5-97FFD767709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80EA636-4D95-D791-7F7C-1DF2F20C2FA6}"/>
              </a:ext>
            </a:extLst>
          </p:cNvPr>
          <p:cNvSpPr>
            <a:spLocks noGrp="1"/>
          </p:cNvSpPr>
          <p:nvPr>
            <p:ph type="sldNum" sz="quarter" idx="12"/>
          </p:nvPr>
        </p:nvSpPr>
        <p:spPr/>
        <p:txBody>
          <a:bodyPr/>
          <a:lstStyle/>
          <a:p>
            <a:fld id="{BB2CE0DE-867F-455F-B20B-96D381B4AB71}" type="slidenum">
              <a:rPr lang="en-US" smtClean="0"/>
              <a:t>17</a:t>
            </a:fld>
            <a:endParaRPr lang="en-US"/>
          </a:p>
        </p:txBody>
      </p:sp>
    </p:spTree>
    <p:extLst>
      <p:ext uri="{BB962C8B-B14F-4D97-AF65-F5344CB8AC3E}">
        <p14:creationId xmlns:p14="http://schemas.microsoft.com/office/powerpoint/2010/main" val="2057302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23509-C29E-DBF9-9DD0-BB6D915391A6}"/>
              </a:ext>
            </a:extLst>
          </p:cNvPr>
          <p:cNvSpPr>
            <a:spLocks noGrp="1"/>
          </p:cNvSpPr>
          <p:nvPr>
            <p:ph type="title"/>
          </p:nvPr>
        </p:nvSpPr>
        <p:spPr/>
        <p:txBody>
          <a:bodyPr/>
          <a:lstStyle/>
          <a:p>
            <a:r>
              <a:rPr lang="en-US" dirty="0"/>
              <a:t>Autoencoders</a:t>
            </a:r>
            <a:endParaRPr lang="en-IN" dirty="0"/>
          </a:p>
        </p:txBody>
      </p:sp>
      <p:sp>
        <p:nvSpPr>
          <p:cNvPr id="3" name="Content Placeholder 2">
            <a:extLst>
              <a:ext uri="{FF2B5EF4-FFF2-40B4-BE49-F238E27FC236}">
                <a16:creationId xmlns:a16="http://schemas.microsoft.com/office/drawing/2014/main" id="{B365685B-EBE8-5D80-B43A-369ADD24B7A3}"/>
              </a:ext>
            </a:extLst>
          </p:cNvPr>
          <p:cNvSpPr>
            <a:spLocks noGrp="1"/>
          </p:cNvSpPr>
          <p:nvPr>
            <p:ph idx="1"/>
          </p:nvPr>
        </p:nvSpPr>
        <p:spPr/>
        <p:txBody>
          <a:bodyPr/>
          <a:lstStyle/>
          <a:p>
            <a:pPr marL="0" indent="0" algn="just">
              <a:buNone/>
            </a:pPr>
            <a:r>
              <a:rPr lang="en-US" sz="1800" b="1" dirty="0"/>
              <a:t>Context— Data compression</a:t>
            </a:r>
          </a:p>
          <a:p>
            <a:pPr marL="0" indent="0" algn="just">
              <a:buNone/>
            </a:pPr>
            <a:r>
              <a:rPr lang="en-US" sz="1800" dirty="0"/>
              <a:t>Data compression is an essential phase in training a network. The idea is to compress the data so that the same amount of information can be represented by fewer bits. This also helps with the problem of the curse of dimensionality. A dataset with many attributes is different to train with because it tends to overfit the model. Hence dimensionality reduction techniques need to be applied before the dataset can be used for training.</a:t>
            </a:r>
          </a:p>
          <a:p>
            <a:pPr marL="0" indent="0" algn="just">
              <a:buNone/>
            </a:pPr>
            <a:endParaRPr lang="en-US" sz="1800" dirty="0"/>
          </a:p>
          <a:p>
            <a:pPr marL="0" indent="0" algn="just">
              <a:buNone/>
            </a:pPr>
            <a:r>
              <a:rPr lang="en-US" sz="1800" dirty="0"/>
              <a:t>This is where the Autoencoder (AE) and Variational Autoencoder (VAE) come into play. </a:t>
            </a:r>
          </a:p>
          <a:p>
            <a:pPr marL="0" indent="0" algn="just">
              <a:buNone/>
            </a:pPr>
            <a:endParaRPr lang="en-IN" sz="1800" dirty="0"/>
          </a:p>
        </p:txBody>
      </p:sp>
      <p:sp>
        <p:nvSpPr>
          <p:cNvPr id="4" name="Date Placeholder 3">
            <a:extLst>
              <a:ext uri="{FF2B5EF4-FFF2-40B4-BE49-F238E27FC236}">
                <a16:creationId xmlns:a16="http://schemas.microsoft.com/office/drawing/2014/main" id="{5AD36DDD-3DC8-BD4F-F3DF-26E450122284}"/>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746C65C2-DDE8-9F54-242B-DFE442CFC35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92BFD8-14CA-EDE8-8F76-5B6D765F5E93}"/>
              </a:ext>
            </a:extLst>
          </p:cNvPr>
          <p:cNvSpPr>
            <a:spLocks noGrp="1"/>
          </p:cNvSpPr>
          <p:nvPr>
            <p:ph type="sldNum" sz="quarter" idx="12"/>
          </p:nvPr>
        </p:nvSpPr>
        <p:spPr/>
        <p:txBody>
          <a:bodyPr/>
          <a:lstStyle/>
          <a:p>
            <a:fld id="{BB2CE0DE-867F-455F-B20B-96D381B4AB71}" type="slidenum">
              <a:rPr lang="en-US" smtClean="0"/>
              <a:t>18</a:t>
            </a:fld>
            <a:endParaRPr lang="en-US"/>
          </a:p>
        </p:txBody>
      </p:sp>
    </p:spTree>
    <p:extLst>
      <p:ext uri="{BB962C8B-B14F-4D97-AF65-F5344CB8AC3E}">
        <p14:creationId xmlns:p14="http://schemas.microsoft.com/office/powerpoint/2010/main" val="3632726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7767C-BAB5-05CC-9BF6-89F1BB1D9433}"/>
              </a:ext>
            </a:extLst>
          </p:cNvPr>
          <p:cNvSpPr>
            <a:spLocks noGrp="1"/>
          </p:cNvSpPr>
          <p:nvPr>
            <p:ph type="title"/>
          </p:nvPr>
        </p:nvSpPr>
        <p:spPr/>
        <p:txBody>
          <a:bodyPr/>
          <a:lstStyle/>
          <a:p>
            <a:r>
              <a:rPr lang="en-US" dirty="0"/>
              <a:t>Why Autoencoders are required?</a:t>
            </a:r>
            <a:endParaRPr lang="en-IN" dirty="0"/>
          </a:p>
        </p:txBody>
      </p:sp>
      <p:sp>
        <p:nvSpPr>
          <p:cNvPr id="3" name="Content Placeholder 2">
            <a:extLst>
              <a:ext uri="{FF2B5EF4-FFF2-40B4-BE49-F238E27FC236}">
                <a16:creationId xmlns:a16="http://schemas.microsoft.com/office/drawing/2014/main" id="{EC88D748-4375-B5E3-A395-69D5AB80AF8E}"/>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9CC2A5C6-1AE7-2E80-2B5E-F6A27252304B}"/>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36FFC0B7-A526-D74B-A970-46A690BBE50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5A2261E-03F3-FEE9-DBB6-4BBCC602B8C6}"/>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8" name="Picture 7">
            <a:extLst>
              <a:ext uri="{FF2B5EF4-FFF2-40B4-BE49-F238E27FC236}">
                <a16:creationId xmlns:a16="http://schemas.microsoft.com/office/drawing/2014/main" id="{8C567A70-E901-82ED-582B-8A9EF239F9EB}"/>
              </a:ext>
            </a:extLst>
          </p:cNvPr>
          <p:cNvPicPr>
            <a:picLocks noChangeAspect="1"/>
          </p:cNvPicPr>
          <p:nvPr/>
        </p:nvPicPr>
        <p:blipFill>
          <a:blip r:embed="rId2"/>
          <a:stretch>
            <a:fillRect/>
          </a:stretch>
        </p:blipFill>
        <p:spPr>
          <a:xfrm>
            <a:off x="228600" y="1267529"/>
            <a:ext cx="9144000" cy="4322941"/>
          </a:xfrm>
          <a:prstGeom prst="rect">
            <a:avLst/>
          </a:prstGeom>
        </p:spPr>
      </p:pic>
    </p:spTree>
    <p:extLst>
      <p:ext uri="{BB962C8B-B14F-4D97-AF65-F5344CB8AC3E}">
        <p14:creationId xmlns:p14="http://schemas.microsoft.com/office/powerpoint/2010/main" val="2857843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B7F3-25C9-C35C-5C05-07D6DA330351}"/>
              </a:ext>
            </a:extLst>
          </p:cNvPr>
          <p:cNvSpPr>
            <a:spLocks noGrp="1"/>
          </p:cNvSpPr>
          <p:nvPr>
            <p:ph type="title"/>
          </p:nvPr>
        </p:nvSpPr>
        <p:spPr/>
        <p:txBody>
          <a:bodyPr/>
          <a:lstStyle/>
          <a:p>
            <a:r>
              <a:rPr lang="en-US" dirty="0"/>
              <a:t>Why Autoencoders are required?</a:t>
            </a:r>
            <a:endParaRPr lang="en-IN" dirty="0"/>
          </a:p>
        </p:txBody>
      </p:sp>
      <p:sp>
        <p:nvSpPr>
          <p:cNvPr id="3" name="Content Placeholder 2">
            <a:extLst>
              <a:ext uri="{FF2B5EF4-FFF2-40B4-BE49-F238E27FC236}">
                <a16:creationId xmlns:a16="http://schemas.microsoft.com/office/drawing/2014/main" id="{0F40E03E-74C9-DA8B-271F-DFFC7DAE5927}"/>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40FF7E61-1CB4-7E37-8A5E-1FC82804737A}"/>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82161F11-D6D1-5CC4-D90E-260403D26C7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196AECA-4BBC-CACB-4859-DCA062194C65}"/>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8" name="Picture 7">
            <a:extLst>
              <a:ext uri="{FF2B5EF4-FFF2-40B4-BE49-F238E27FC236}">
                <a16:creationId xmlns:a16="http://schemas.microsoft.com/office/drawing/2014/main" id="{4D054C45-326C-36C7-0F0A-770B565D5D99}"/>
              </a:ext>
            </a:extLst>
          </p:cNvPr>
          <p:cNvPicPr>
            <a:picLocks noChangeAspect="1"/>
          </p:cNvPicPr>
          <p:nvPr/>
        </p:nvPicPr>
        <p:blipFill>
          <a:blip r:embed="rId2"/>
          <a:stretch>
            <a:fillRect/>
          </a:stretch>
        </p:blipFill>
        <p:spPr>
          <a:xfrm>
            <a:off x="223838" y="1086983"/>
            <a:ext cx="8686800" cy="3335033"/>
          </a:xfrm>
          <a:prstGeom prst="rect">
            <a:avLst/>
          </a:prstGeom>
        </p:spPr>
      </p:pic>
    </p:spTree>
    <p:extLst>
      <p:ext uri="{BB962C8B-B14F-4D97-AF65-F5344CB8AC3E}">
        <p14:creationId xmlns:p14="http://schemas.microsoft.com/office/powerpoint/2010/main" val="2274075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09276-72B4-5AF5-E6DB-0CFE88BE923C}"/>
              </a:ext>
            </a:extLst>
          </p:cNvPr>
          <p:cNvSpPr>
            <a:spLocks noGrp="1"/>
          </p:cNvSpPr>
          <p:nvPr>
            <p:ph type="title"/>
          </p:nvPr>
        </p:nvSpPr>
        <p:spPr/>
        <p:txBody>
          <a:bodyPr/>
          <a:lstStyle/>
          <a:p>
            <a:r>
              <a:rPr lang="en-US" dirty="0"/>
              <a:t>Autoencoder: What it is ?</a:t>
            </a:r>
            <a:endParaRPr lang="en-IN" dirty="0"/>
          </a:p>
        </p:txBody>
      </p:sp>
      <p:sp>
        <p:nvSpPr>
          <p:cNvPr id="3" name="Content Placeholder 2">
            <a:extLst>
              <a:ext uri="{FF2B5EF4-FFF2-40B4-BE49-F238E27FC236}">
                <a16:creationId xmlns:a16="http://schemas.microsoft.com/office/drawing/2014/main" id="{C211C59C-F7FC-01B2-C378-19B60C267992}"/>
              </a:ext>
            </a:extLst>
          </p:cNvPr>
          <p:cNvSpPr>
            <a:spLocks noGrp="1"/>
          </p:cNvSpPr>
          <p:nvPr>
            <p:ph idx="1"/>
          </p:nvPr>
        </p:nvSpPr>
        <p:spPr/>
        <p:txBody>
          <a:bodyPr/>
          <a:lstStyle/>
          <a:p>
            <a:pPr marL="0" indent="0" algn="just">
              <a:buNone/>
            </a:pPr>
            <a:r>
              <a:rPr lang="en-US" sz="1400" dirty="0"/>
              <a:t>Autoencoder is used to learn efficient embeddings of unlabeled data for a given network configuration. The autoencoder consists of two parts, an encoder, and a decoder. The encoder compresses the data from a higher-dimensional space to a lower-dimensional space (also called the latent space), while the decoder does the opposite i.e., convert the latent space back to higher-dimensional space. The decoder is used to ensure that latent space can capture most of the information from the dataset space, by forcing it to output what was fed as input to the decoder.</a:t>
            </a:r>
            <a:endParaRPr lang="en-IN" sz="1400" dirty="0"/>
          </a:p>
        </p:txBody>
      </p:sp>
      <p:sp>
        <p:nvSpPr>
          <p:cNvPr id="4" name="Date Placeholder 3">
            <a:extLst>
              <a:ext uri="{FF2B5EF4-FFF2-40B4-BE49-F238E27FC236}">
                <a16:creationId xmlns:a16="http://schemas.microsoft.com/office/drawing/2014/main" id="{2B19C55A-AE2A-0FD5-3638-F0A5DFCD3408}"/>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00CCE0A0-3ECB-2F81-009A-EAF60EF5E1B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3ABA26D-F065-EDC6-FD30-240E21DF45BA}"/>
              </a:ext>
            </a:extLst>
          </p:cNvPr>
          <p:cNvSpPr>
            <a:spLocks noGrp="1"/>
          </p:cNvSpPr>
          <p:nvPr>
            <p:ph type="sldNum" sz="quarter" idx="12"/>
          </p:nvPr>
        </p:nvSpPr>
        <p:spPr/>
        <p:txBody>
          <a:bodyPr/>
          <a:lstStyle/>
          <a:p>
            <a:fld id="{BB2CE0DE-867F-455F-B20B-96D381B4AB71}" type="slidenum">
              <a:rPr lang="en-US" smtClean="0"/>
              <a:t>21</a:t>
            </a:fld>
            <a:endParaRPr lang="en-US" dirty="0"/>
          </a:p>
        </p:txBody>
      </p:sp>
      <p:pic>
        <p:nvPicPr>
          <p:cNvPr id="7" name="Picture 6">
            <a:extLst>
              <a:ext uri="{FF2B5EF4-FFF2-40B4-BE49-F238E27FC236}">
                <a16:creationId xmlns:a16="http://schemas.microsoft.com/office/drawing/2014/main" id="{F92F46D7-3E12-40A7-8D50-2D6D2F435004}"/>
              </a:ext>
            </a:extLst>
          </p:cNvPr>
          <p:cNvPicPr>
            <a:picLocks noChangeAspect="1"/>
          </p:cNvPicPr>
          <p:nvPr/>
        </p:nvPicPr>
        <p:blipFill>
          <a:blip r:embed="rId2"/>
          <a:srcRect b="13950"/>
          <a:stretch>
            <a:fillRect/>
          </a:stretch>
        </p:blipFill>
        <p:spPr>
          <a:xfrm>
            <a:off x="1578429" y="2818562"/>
            <a:ext cx="6172200" cy="2820238"/>
          </a:xfrm>
          <a:prstGeom prst="rect">
            <a:avLst/>
          </a:prstGeom>
        </p:spPr>
      </p:pic>
      <p:sp>
        <p:nvSpPr>
          <p:cNvPr id="8" name="TextBox 7">
            <a:extLst>
              <a:ext uri="{FF2B5EF4-FFF2-40B4-BE49-F238E27FC236}">
                <a16:creationId xmlns:a16="http://schemas.microsoft.com/office/drawing/2014/main" id="{4C4CBE2E-3B83-9EFF-6125-3E252915AFAC}"/>
              </a:ext>
            </a:extLst>
          </p:cNvPr>
          <p:cNvSpPr txBox="1"/>
          <p:nvPr/>
        </p:nvSpPr>
        <p:spPr>
          <a:xfrm>
            <a:off x="2284066" y="5622667"/>
            <a:ext cx="1680268" cy="369332"/>
          </a:xfrm>
          <a:prstGeom prst="rect">
            <a:avLst/>
          </a:prstGeom>
          <a:noFill/>
        </p:spPr>
        <p:txBody>
          <a:bodyPr wrap="none" rtlCol="0">
            <a:spAutoFit/>
          </a:bodyPr>
          <a:lstStyle/>
          <a:p>
            <a:r>
              <a:rPr lang="en-US" dirty="0"/>
              <a:t>Compression</a:t>
            </a:r>
            <a:endParaRPr lang="en-IN" dirty="0"/>
          </a:p>
        </p:txBody>
      </p:sp>
      <p:sp>
        <p:nvSpPr>
          <p:cNvPr id="9" name="TextBox 8">
            <a:extLst>
              <a:ext uri="{FF2B5EF4-FFF2-40B4-BE49-F238E27FC236}">
                <a16:creationId xmlns:a16="http://schemas.microsoft.com/office/drawing/2014/main" id="{6BE5436B-DC5B-DA74-2785-FFE8A44B8D82}"/>
              </a:ext>
            </a:extLst>
          </p:cNvPr>
          <p:cNvSpPr txBox="1"/>
          <p:nvPr/>
        </p:nvSpPr>
        <p:spPr>
          <a:xfrm>
            <a:off x="4960888" y="5622667"/>
            <a:ext cx="1899046" cy="369332"/>
          </a:xfrm>
          <a:prstGeom prst="rect">
            <a:avLst/>
          </a:prstGeom>
          <a:noFill/>
        </p:spPr>
        <p:txBody>
          <a:bodyPr wrap="none" rtlCol="0">
            <a:spAutoFit/>
          </a:bodyPr>
          <a:lstStyle/>
          <a:p>
            <a:r>
              <a:rPr lang="en-US" dirty="0"/>
              <a:t>Reconstruction</a:t>
            </a:r>
            <a:endParaRPr lang="en-IN" dirty="0"/>
          </a:p>
        </p:txBody>
      </p:sp>
    </p:spTree>
    <p:extLst>
      <p:ext uri="{BB962C8B-B14F-4D97-AF65-F5344CB8AC3E}">
        <p14:creationId xmlns:p14="http://schemas.microsoft.com/office/powerpoint/2010/main" val="318515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46D68-1553-D01E-182F-4811E632E7FE}"/>
              </a:ext>
            </a:extLst>
          </p:cNvPr>
          <p:cNvSpPr>
            <a:spLocks noGrp="1"/>
          </p:cNvSpPr>
          <p:nvPr>
            <p:ph type="title"/>
          </p:nvPr>
        </p:nvSpPr>
        <p:spPr/>
        <p:txBody>
          <a:bodyPr/>
          <a:lstStyle/>
          <a:p>
            <a:r>
              <a:rPr lang="en-IN" dirty="0"/>
              <a:t>Autoencoder Architecture</a:t>
            </a:r>
          </a:p>
        </p:txBody>
      </p:sp>
      <p:sp>
        <p:nvSpPr>
          <p:cNvPr id="3" name="Content Placeholder 2">
            <a:extLst>
              <a:ext uri="{FF2B5EF4-FFF2-40B4-BE49-F238E27FC236}">
                <a16:creationId xmlns:a16="http://schemas.microsoft.com/office/drawing/2014/main" id="{5CB66AAB-4A00-1B30-A3D8-58FE495BB4C3}"/>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E4B534CA-9B2B-9694-21DD-C213D4ACD12D}"/>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9D3B5F0F-7806-10AB-A900-E1EC6E7AFC9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1B44450-E904-0AD4-DB4C-71807EBD99F8}"/>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7" name="Picture 6">
            <a:extLst>
              <a:ext uri="{FF2B5EF4-FFF2-40B4-BE49-F238E27FC236}">
                <a16:creationId xmlns:a16="http://schemas.microsoft.com/office/drawing/2014/main" id="{3ABCFED6-C0B9-C045-2229-994A6265AF2D}"/>
              </a:ext>
            </a:extLst>
          </p:cNvPr>
          <p:cNvPicPr>
            <a:picLocks noChangeAspect="1"/>
          </p:cNvPicPr>
          <p:nvPr/>
        </p:nvPicPr>
        <p:blipFill>
          <a:blip r:embed="rId2"/>
          <a:stretch>
            <a:fillRect/>
          </a:stretch>
        </p:blipFill>
        <p:spPr>
          <a:xfrm>
            <a:off x="0" y="1065212"/>
            <a:ext cx="8909709" cy="4069409"/>
          </a:xfrm>
          <a:prstGeom prst="rect">
            <a:avLst/>
          </a:prstGeom>
        </p:spPr>
      </p:pic>
      <p:sp>
        <p:nvSpPr>
          <p:cNvPr id="8" name="Arrow: Up 7">
            <a:extLst>
              <a:ext uri="{FF2B5EF4-FFF2-40B4-BE49-F238E27FC236}">
                <a16:creationId xmlns:a16="http://schemas.microsoft.com/office/drawing/2014/main" id="{99FCF7A7-093F-33FA-D98F-0C963DFA51D3}"/>
              </a:ext>
            </a:extLst>
          </p:cNvPr>
          <p:cNvSpPr/>
          <p:nvPr/>
        </p:nvSpPr>
        <p:spPr bwMode="auto">
          <a:xfrm>
            <a:off x="4953000" y="4506828"/>
            <a:ext cx="152400" cy="914400"/>
          </a:xfrm>
          <a:prstGeom prst="up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9" name="TextBox 8">
            <a:extLst>
              <a:ext uri="{FF2B5EF4-FFF2-40B4-BE49-F238E27FC236}">
                <a16:creationId xmlns:a16="http://schemas.microsoft.com/office/drawing/2014/main" id="{CDE8743C-86AE-1161-30DC-6EA74AA1AA7A}"/>
              </a:ext>
            </a:extLst>
          </p:cNvPr>
          <p:cNvSpPr txBox="1"/>
          <p:nvPr/>
        </p:nvSpPr>
        <p:spPr>
          <a:xfrm>
            <a:off x="4339806" y="5421868"/>
            <a:ext cx="1531188" cy="369332"/>
          </a:xfrm>
          <a:prstGeom prst="rect">
            <a:avLst/>
          </a:prstGeom>
          <a:noFill/>
        </p:spPr>
        <p:txBody>
          <a:bodyPr wrap="none" rtlCol="0">
            <a:spAutoFit/>
          </a:bodyPr>
          <a:lstStyle/>
          <a:p>
            <a:r>
              <a:rPr lang="en-IN" dirty="0"/>
              <a:t>Bottleneck </a:t>
            </a:r>
          </a:p>
        </p:txBody>
      </p:sp>
    </p:spTree>
    <p:extLst>
      <p:ext uri="{BB962C8B-B14F-4D97-AF65-F5344CB8AC3E}">
        <p14:creationId xmlns:p14="http://schemas.microsoft.com/office/powerpoint/2010/main" val="1596709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4776-3A7A-B2FC-CF79-4F34CC44C1D4}"/>
              </a:ext>
            </a:extLst>
          </p:cNvPr>
          <p:cNvSpPr>
            <a:spLocks noGrp="1"/>
          </p:cNvSpPr>
          <p:nvPr>
            <p:ph type="title"/>
          </p:nvPr>
        </p:nvSpPr>
        <p:spPr/>
        <p:txBody>
          <a:bodyPr/>
          <a:lstStyle/>
          <a:p>
            <a:r>
              <a:rPr lang="en-US" dirty="0"/>
              <a:t>Autoencoder: Architecture</a:t>
            </a:r>
            <a:endParaRPr lang="en-IN" dirty="0"/>
          </a:p>
        </p:txBody>
      </p:sp>
      <p:sp>
        <p:nvSpPr>
          <p:cNvPr id="3" name="Content Placeholder 2">
            <a:extLst>
              <a:ext uri="{FF2B5EF4-FFF2-40B4-BE49-F238E27FC236}">
                <a16:creationId xmlns:a16="http://schemas.microsoft.com/office/drawing/2014/main" id="{67F0B64A-16EA-CD7E-87DE-EA0C89828F19}"/>
              </a:ext>
            </a:extLst>
          </p:cNvPr>
          <p:cNvSpPr>
            <a:spLocks noGrp="1"/>
          </p:cNvSpPr>
          <p:nvPr>
            <p:ph idx="1"/>
          </p:nvPr>
        </p:nvSpPr>
        <p:spPr/>
        <p:txBody>
          <a:bodyPr/>
          <a:lstStyle/>
          <a:p>
            <a:pPr marL="0" indent="0" algn="just">
              <a:buNone/>
            </a:pPr>
            <a:r>
              <a:rPr lang="en-US" sz="2000" dirty="0"/>
              <a:t>Autoencoders are neural network architectures designed to learn efficient data </a:t>
            </a:r>
            <a:r>
              <a:rPr lang="en-US" sz="2000" dirty="0" err="1"/>
              <a:t>codings</a:t>
            </a:r>
            <a:r>
              <a:rPr lang="en-US" sz="2000" dirty="0"/>
              <a:t> in an unsupervised manner. They consist of three main components: </a:t>
            </a:r>
          </a:p>
          <a:p>
            <a:pPr marL="0" indent="0" algn="just">
              <a:buNone/>
            </a:pPr>
            <a:r>
              <a:rPr lang="en-US" sz="2000" dirty="0"/>
              <a:t>Encoder, </a:t>
            </a:r>
          </a:p>
          <a:p>
            <a:pPr marL="0" indent="0" algn="just">
              <a:buNone/>
            </a:pPr>
            <a:r>
              <a:rPr lang="en-US" sz="2000" dirty="0"/>
              <a:t>Bottleneck (or latent space or code), and </a:t>
            </a:r>
          </a:p>
          <a:p>
            <a:pPr marL="0" indent="0" algn="just">
              <a:buNone/>
            </a:pPr>
            <a:r>
              <a:rPr lang="en-US" sz="2000" dirty="0"/>
              <a:t>Decoder. </a:t>
            </a:r>
          </a:p>
          <a:p>
            <a:pPr marL="0" indent="0" algn="just">
              <a:buNone/>
            </a:pPr>
            <a:endParaRPr lang="en-US" sz="2000" dirty="0"/>
          </a:p>
          <a:p>
            <a:pPr marL="0" indent="0" algn="just">
              <a:buNone/>
            </a:pPr>
            <a:r>
              <a:rPr lang="en-US" sz="2000" dirty="0"/>
              <a:t>The encoder compresses the input data, the bottleneck layer holds the compressed representation, and the decoder reconstructs the input from this compressed form. </a:t>
            </a:r>
            <a:endParaRPr lang="en-IN" sz="2000" dirty="0"/>
          </a:p>
        </p:txBody>
      </p:sp>
      <p:sp>
        <p:nvSpPr>
          <p:cNvPr id="4" name="Date Placeholder 3">
            <a:extLst>
              <a:ext uri="{FF2B5EF4-FFF2-40B4-BE49-F238E27FC236}">
                <a16:creationId xmlns:a16="http://schemas.microsoft.com/office/drawing/2014/main" id="{A4F24EB9-2FA1-ED4B-C61F-875D0771EA4E}"/>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ADC4DB89-99B4-25D5-340F-F5A79F5F331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312936C-0332-56B6-11C5-ED8F7B06EE3C}"/>
              </a:ext>
            </a:extLst>
          </p:cNvPr>
          <p:cNvSpPr>
            <a:spLocks noGrp="1"/>
          </p:cNvSpPr>
          <p:nvPr>
            <p:ph type="sldNum" sz="quarter" idx="12"/>
          </p:nvPr>
        </p:nvSpPr>
        <p:spPr/>
        <p:txBody>
          <a:bodyPr/>
          <a:lstStyle/>
          <a:p>
            <a:fld id="{BB2CE0DE-867F-455F-B20B-96D381B4AB71}" type="slidenum">
              <a:rPr lang="en-US" smtClean="0"/>
              <a:t>23</a:t>
            </a:fld>
            <a:endParaRPr lang="en-US"/>
          </a:p>
        </p:txBody>
      </p:sp>
    </p:spTree>
    <p:extLst>
      <p:ext uri="{BB962C8B-B14F-4D97-AF65-F5344CB8AC3E}">
        <p14:creationId xmlns:p14="http://schemas.microsoft.com/office/powerpoint/2010/main" val="3895262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D4B50-B85A-2FEB-14E5-F4F934EF72B6}"/>
              </a:ext>
            </a:extLst>
          </p:cNvPr>
          <p:cNvSpPr>
            <a:spLocks noGrp="1"/>
          </p:cNvSpPr>
          <p:nvPr>
            <p:ph type="title"/>
          </p:nvPr>
        </p:nvSpPr>
        <p:spPr/>
        <p:txBody>
          <a:bodyPr/>
          <a:lstStyle/>
          <a:p>
            <a:r>
              <a:rPr lang="en-US" dirty="0"/>
              <a:t>Autoencoder: Architecture</a:t>
            </a:r>
            <a:endParaRPr lang="en-IN" dirty="0"/>
          </a:p>
        </p:txBody>
      </p:sp>
      <p:sp>
        <p:nvSpPr>
          <p:cNvPr id="3" name="Content Placeholder 2">
            <a:extLst>
              <a:ext uri="{FF2B5EF4-FFF2-40B4-BE49-F238E27FC236}">
                <a16:creationId xmlns:a16="http://schemas.microsoft.com/office/drawing/2014/main" id="{1E38CBA0-1058-60DA-1566-C3F2C67366F9}"/>
              </a:ext>
            </a:extLst>
          </p:cNvPr>
          <p:cNvSpPr>
            <a:spLocks noGrp="1"/>
          </p:cNvSpPr>
          <p:nvPr>
            <p:ph idx="1"/>
          </p:nvPr>
        </p:nvSpPr>
        <p:spPr/>
        <p:txBody>
          <a:bodyPr/>
          <a:lstStyle/>
          <a:p>
            <a:pPr marL="0" indent="0" algn="just">
              <a:buNone/>
            </a:pPr>
            <a:r>
              <a:rPr lang="en-US" sz="1200" dirty="0"/>
              <a:t>1. Encoder: The encoder is a neural network (typically feedforward) that takes the input data and transforms it into a lower-dimensional representation. </a:t>
            </a:r>
          </a:p>
          <a:p>
            <a:pPr marL="0" indent="0" algn="just" fontAlgn="ctr">
              <a:buNone/>
            </a:pPr>
            <a:r>
              <a:rPr lang="en-US" sz="1200" dirty="0"/>
              <a:t>This compressed representation is often called the "latent space" or "code". </a:t>
            </a:r>
          </a:p>
          <a:p>
            <a:pPr marL="0" indent="0" algn="just" fontAlgn="ctr">
              <a:buNone/>
            </a:pPr>
            <a:r>
              <a:rPr lang="en-US" sz="1200" dirty="0"/>
              <a:t>The encoder's goal is to learn the most important features of the input and discard less relevant information. </a:t>
            </a:r>
          </a:p>
          <a:p>
            <a:pPr marL="0" indent="0" algn="just">
              <a:buNone/>
            </a:pPr>
            <a:r>
              <a:rPr lang="en-US" sz="1200" dirty="0"/>
              <a:t>2. Bottleneck (Latent Space): This is the layer with the reduced dimensionality, acting as a bridge between the encoder and decoder. </a:t>
            </a:r>
          </a:p>
          <a:p>
            <a:pPr marL="0" indent="0" algn="just" fontAlgn="ctr">
              <a:buNone/>
            </a:pPr>
            <a:r>
              <a:rPr lang="en-US" sz="1200" dirty="0"/>
              <a:t>It represents the compressed form of the input data, containing the essential features learned by the encoder. </a:t>
            </a:r>
          </a:p>
          <a:p>
            <a:pPr marL="0" indent="0" algn="just">
              <a:buNone/>
            </a:pPr>
            <a:r>
              <a:rPr lang="en-US" sz="1200" dirty="0"/>
              <a:t>3. Decoder: The decoder is another neural network (also typically feedforward) that takes the latent space representation as input. </a:t>
            </a:r>
          </a:p>
          <a:p>
            <a:pPr marL="0" indent="0" algn="just" fontAlgn="ctr">
              <a:buNone/>
            </a:pPr>
            <a:r>
              <a:rPr lang="en-US" sz="1200" dirty="0"/>
              <a:t>Its task is to reconstruct the original input data from this compressed representation. </a:t>
            </a:r>
          </a:p>
          <a:p>
            <a:pPr marL="0" indent="0" algn="just" fontAlgn="ctr">
              <a:buNone/>
            </a:pPr>
            <a:r>
              <a:rPr lang="en-US" sz="1200" dirty="0"/>
              <a:t>The decoder essentially reverses the encoding process, aiming to minimize the difference between the reconstructed output and the original input. </a:t>
            </a:r>
          </a:p>
          <a:p>
            <a:pPr marL="0" indent="0" algn="just">
              <a:buNone/>
            </a:pPr>
            <a:r>
              <a:rPr lang="en-US" sz="1200" dirty="0"/>
              <a:t>How it works:</a:t>
            </a:r>
          </a:p>
          <a:p>
            <a:pPr marL="0" indent="0" algn="just" fontAlgn="ctr">
              <a:buNone/>
            </a:pPr>
            <a:r>
              <a:rPr lang="en-US" sz="1200" dirty="0"/>
              <a:t>The autoencoder is trained to minimize the reconstruction error, which is the difference between the input and the reconstructed output. </a:t>
            </a:r>
          </a:p>
          <a:p>
            <a:pPr marL="0" indent="0" algn="just" fontAlgn="ctr">
              <a:buNone/>
            </a:pPr>
            <a:r>
              <a:rPr lang="en-US" sz="1200" dirty="0"/>
              <a:t>By minimizing this error, the autoencoder learns to find a compact and efficient representation of the input data in the latent space. </a:t>
            </a:r>
          </a:p>
          <a:p>
            <a:pPr marL="0" indent="0" algn="just" fontAlgn="ctr">
              <a:buNone/>
            </a:pPr>
            <a:r>
              <a:rPr lang="en-US" sz="1200" dirty="0"/>
              <a:t>This learned representation can then be used for various downstream tasks, such as dimensionality reduction, feature extraction, or anomaly detection. </a:t>
            </a:r>
          </a:p>
          <a:p>
            <a:pPr marL="0" indent="0" algn="just">
              <a:buNone/>
            </a:pPr>
            <a:r>
              <a:rPr lang="en-US" sz="1200" dirty="0"/>
              <a:t>Key Considerations:</a:t>
            </a:r>
          </a:p>
          <a:p>
            <a:pPr marL="0" indent="0" algn="just">
              <a:buNone/>
            </a:pPr>
            <a:endParaRPr lang="en-IN" sz="1200" dirty="0"/>
          </a:p>
        </p:txBody>
      </p:sp>
      <p:sp>
        <p:nvSpPr>
          <p:cNvPr id="4" name="Date Placeholder 3">
            <a:extLst>
              <a:ext uri="{FF2B5EF4-FFF2-40B4-BE49-F238E27FC236}">
                <a16:creationId xmlns:a16="http://schemas.microsoft.com/office/drawing/2014/main" id="{88D80947-8D64-2295-6E67-F661C2CE0ADC}"/>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FCB6880F-0257-60CC-C532-9B9E032B70E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61E168D-7844-2ED6-3327-99A1C9DB5156}"/>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3832843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2E98-5564-72C9-2885-589A815E99D7}"/>
              </a:ext>
            </a:extLst>
          </p:cNvPr>
          <p:cNvSpPr>
            <a:spLocks noGrp="1"/>
          </p:cNvSpPr>
          <p:nvPr>
            <p:ph type="title"/>
          </p:nvPr>
        </p:nvSpPr>
        <p:spPr/>
        <p:txBody>
          <a:bodyPr/>
          <a:lstStyle/>
          <a:p>
            <a:r>
              <a:rPr lang="en-US" dirty="0"/>
              <a:t>Autoencoder: Architecture</a:t>
            </a:r>
            <a:endParaRPr lang="en-IN" dirty="0"/>
          </a:p>
        </p:txBody>
      </p:sp>
      <p:sp>
        <p:nvSpPr>
          <p:cNvPr id="3" name="Content Placeholder 2">
            <a:extLst>
              <a:ext uri="{FF2B5EF4-FFF2-40B4-BE49-F238E27FC236}">
                <a16:creationId xmlns:a16="http://schemas.microsoft.com/office/drawing/2014/main" id="{526A60FB-AFC4-8E27-4EA0-6AC34A1CE151}"/>
              </a:ext>
            </a:extLst>
          </p:cNvPr>
          <p:cNvSpPr>
            <a:spLocks noGrp="1"/>
          </p:cNvSpPr>
          <p:nvPr>
            <p:ph idx="1"/>
          </p:nvPr>
        </p:nvSpPr>
        <p:spPr/>
        <p:txBody>
          <a:bodyPr/>
          <a:lstStyle/>
          <a:p>
            <a:pPr marL="0" indent="0" algn="just">
              <a:buNone/>
            </a:pPr>
            <a:r>
              <a:rPr lang="en-US" sz="1800" dirty="0"/>
              <a:t>Key Considerations:</a:t>
            </a:r>
          </a:p>
          <a:p>
            <a:pPr marL="0" indent="0" algn="just">
              <a:buNone/>
            </a:pPr>
            <a:r>
              <a:rPr lang="en-US" sz="1800" b="1" dirty="0"/>
              <a:t>Number of layers:</a:t>
            </a:r>
            <a:endParaRPr lang="en-US" sz="1800" dirty="0"/>
          </a:p>
          <a:p>
            <a:pPr marL="0" indent="0" algn="just" fontAlgn="ctr">
              <a:buNone/>
            </a:pPr>
            <a:r>
              <a:rPr lang="en-US" sz="1800" dirty="0"/>
              <a:t>Autoencoders can have varying depths, with deeper networks potentially learning more complex representations. </a:t>
            </a:r>
          </a:p>
          <a:p>
            <a:pPr marL="0" indent="0" algn="just">
              <a:buNone/>
            </a:pPr>
            <a:r>
              <a:rPr lang="en-US" sz="1800" b="1" dirty="0"/>
              <a:t>Number of nodes per layer:</a:t>
            </a:r>
            <a:endParaRPr lang="en-US" sz="1800" dirty="0"/>
          </a:p>
          <a:p>
            <a:pPr marL="0" indent="0" algn="just" fontAlgn="ctr">
              <a:buNone/>
            </a:pPr>
            <a:r>
              <a:rPr lang="en-US" sz="1800" dirty="0"/>
              <a:t>The number of neurons in each layer, especially in the bottleneck, is a crucial hyperparameter that affects the level of compression. </a:t>
            </a:r>
          </a:p>
          <a:p>
            <a:pPr marL="0" indent="0" algn="just">
              <a:buNone/>
            </a:pPr>
            <a:r>
              <a:rPr lang="en-US" sz="1800" b="1" dirty="0"/>
              <a:t>Loss function:</a:t>
            </a:r>
            <a:endParaRPr lang="en-US" sz="1800" dirty="0"/>
          </a:p>
          <a:p>
            <a:pPr marL="0" indent="0" algn="just">
              <a:buNone/>
            </a:pPr>
            <a:r>
              <a:rPr lang="en-US" sz="1800" dirty="0"/>
              <a:t>Common loss functions include Mean Squared Error (MSE) and Binary Cross-Entropy, depending on the type of data. </a:t>
            </a:r>
          </a:p>
          <a:p>
            <a:pPr marL="0" indent="0" algn="just">
              <a:buNone/>
            </a:pPr>
            <a:endParaRPr lang="en-IN" sz="1800" dirty="0"/>
          </a:p>
        </p:txBody>
      </p:sp>
      <p:sp>
        <p:nvSpPr>
          <p:cNvPr id="4" name="Date Placeholder 3">
            <a:extLst>
              <a:ext uri="{FF2B5EF4-FFF2-40B4-BE49-F238E27FC236}">
                <a16:creationId xmlns:a16="http://schemas.microsoft.com/office/drawing/2014/main" id="{79179BD3-2127-85CF-1DA9-B5FCC90F7428}"/>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1B5284B1-A71B-5695-35B5-43004A2428D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B3174088-C347-82DF-A0FF-1400D214D6F1}"/>
              </a:ext>
            </a:extLst>
          </p:cNvPr>
          <p:cNvSpPr>
            <a:spLocks noGrp="1"/>
          </p:cNvSpPr>
          <p:nvPr>
            <p:ph type="sldNum" sz="quarter" idx="12"/>
          </p:nvPr>
        </p:nvSpPr>
        <p:spPr/>
        <p:txBody>
          <a:bodyPr/>
          <a:lstStyle/>
          <a:p>
            <a:fld id="{BB2CE0DE-867F-455F-B20B-96D381B4AB71}" type="slidenum">
              <a:rPr lang="en-US" smtClean="0"/>
              <a:t>25</a:t>
            </a:fld>
            <a:endParaRPr lang="en-US"/>
          </a:p>
        </p:txBody>
      </p:sp>
    </p:spTree>
    <p:extLst>
      <p:ext uri="{BB962C8B-B14F-4D97-AF65-F5344CB8AC3E}">
        <p14:creationId xmlns:p14="http://schemas.microsoft.com/office/powerpoint/2010/main" val="21005504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0B62D-01F1-0454-D7A2-B112CB5222C6}"/>
              </a:ext>
            </a:extLst>
          </p:cNvPr>
          <p:cNvSpPr>
            <a:spLocks noGrp="1"/>
          </p:cNvSpPr>
          <p:nvPr>
            <p:ph type="title"/>
          </p:nvPr>
        </p:nvSpPr>
        <p:spPr/>
        <p:txBody>
          <a:bodyPr/>
          <a:lstStyle/>
          <a:p>
            <a:r>
              <a:rPr lang="en-US" sz="2400" dirty="0"/>
              <a:t>Autoencoder: Loss Function</a:t>
            </a:r>
            <a:endParaRPr lang="en-IN" sz="2400" dirty="0"/>
          </a:p>
        </p:txBody>
      </p:sp>
      <p:sp>
        <p:nvSpPr>
          <p:cNvPr id="3" name="Content Placeholder 2">
            <a:extLst>
              <a:ext uri="{FF2B5EF4-FFF2-40B4-BE49-F238E27FC236}">
                <a16:creationId xmlns:a16="http://schemas.microsoft.com/office/drawing/2014/main" id="{89444808-16A4-C6A5-F0A6-7EBC6F2783D4}"/>
              </a:ext>
            </a:extLst>
          </p:cNvPr>
          <p:cNvSpPr>
            <a:spLocks noGrp="1"/>
          </p:cNvSpPr>
          <p:nvPr>
            <p:ph idx="1"/>
          </p:nvPr>
        </p:nvSpPr>
        <p:spPr/>
        <p:txBody>
          <a:bodyPr/>
          <a:lstStyle/>
          <a:p>
            <a:pPr marL="0" indent="0">
              <a:buNone/>
            </a:pPr>
            <a:r>
              <a:rPr lang="en-US" sz="1400" dirty="0"/>
              <a:t>The entire encoder-decoder architecture is collectively trained on the loss function which encourages that the input is reconstructed at the output. Hence the loss function is the mean squared error between the encoder input and the decoder output.</a:t>
            </a:r>
            <a:endParaRPr lang="en-IN" sz="1400" dirty="0"/>
          </a:p>
        </p:txBody>
      </p:sp>
      <p:sp>
        <p:nvSpPr>
          <p:cNvPr id="4" name="Date Placeholder 3">
            <a:extLst>
              <a:ext uri="{FF2B5EF4-FFF2-40B4-BE49-F238E27FC236}">
                <a16:creationId xmlns:a16="http://schemas.microsoft.com/office/drawing/2014/main" id="{9015768A-D7C7-CF4C-13A2-92C1F671A37C}"/>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CC8594B4-322D-7D53-7FE4-85C7D4D7E38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8C10E7A-C6B9-403A-DFCE-19F4BEF199FA}"/>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2050" name="Picture 2">
            <a:extLst>
              <a:ext uri="{FF2B5EF4-FFF2-40B4-BE49-F238E27FC236}">
                <a16:creationId xmlns:a16="http://schemas.microsoft.com/office/drawing/2014/main" id="{D1F8B714-4B15-2138-10F9-89ABD2AEEE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19000"/>
            <a:ext cx="8001000" cy="4249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79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E0EB-BE82-A186-88B9-EA2287D16132}"/>
              </a:ext>
            </a:extLst>
          </p:cNvPr>
          <p:cNvSpPr>
            <a:spLocks noGrp="1"/>
          </p:cNvSpPr>
          <p:nvPr>
            <p:ph type="title"/>
          </p:nvPr>
        </p:nvSpPr>
        <p:spPr/>
        <p:txBody>
          <a:bodyPr/>
          <a:lstStyle/>
          <a:p>
            <a:r>
              <a:rPr lang="en-IN" dirty="0"/>
              <a:t>Variational Autoencoders </a:t>
            </a:r>
          </a:p>
        </p:txBody>
      </p:sp>
      <p:sp>
        <p:nvSpPr>
          <p:cNvPr id="3" name="Content Placeholder 2">
            <a:extLst>
              <a:ext uri="{FF2B5EF4-FFF2-40B4-BE49-F238E27FC236}">
                <a16:creationId xmlns:a16="http://schemas.microsoft.com/office/drawing/2014/main" id="{278E4DE9-9A0E-84E3-D292-347E6237F172}"/>
              </a:ext>
            </a:extLst>
          </p:cNvPr>
          <p:cNvSpPr>
            <a:spLocks noGrp="1"/>
          </p:cNvSpPr>
          <p:nvPr>
            <p:ph idx="1"/>
          </p:nvPr>
        </p:nvSpPr>
        <p:spPr/>
        <p:txBody>
          <a:bodyPr/>
          <a:lstStyle/>
          <a:p>
            <a:pPr marL="0" indent="0" algn="just">
              <a:buNone/>
            </a:pPr>
            <a:r>
              <a:rPr lang="en-US" sz="1400" dirty="0"/>
              <a:t>Variational autoencoder addresses the issue of non-regularized latent space in autoencoder and provides the generative capability to the entire space. </a:t>
            </a:r>
          </a:p>
          <a:p>
            <a:pPr marL="0" indent="0" algn="just">
              <a:buNone/>
            </a:pPr>
            <a:r>
              <a:rPr lang="en-US" sz="1400" dirty="0"/>
              <a:t>The encoder in the AE outputs latent vectors. Instead of outputting the vectors in the latent space, the encoder of VAE outputs parameters of a pre-defined distribution in the latent space for every input. </a:t>
            </a:r>
          </a:p>
          <a:p>
            <a:pPr marL="0" indent="0" algn="just">
              <a:buNone/>
            </a:pPr>
            <a:r>
              <a:rPr lang="en-US" sz="1400" dirty="0"/>
              <a:t>The VAE then imposes a constraint on this latent distribution forcing it to be a normal distribution. This constraint makes sure that the latent space is regularized.</a:t>
            </a:r>
            <a:endParaRPr lang="en-IN" sz="1400" dirty="0"/>
          </a:p>
        </p:txBody>
      </p:sp>
      <p:sp>
        <p:nvSpPr>
          <p:cNvPr id="4" name="Date Placeholder 3">
            <a:extLst>
              <a:ext uri="{FF2B5EF4-FFF2-40B4-BE49-F238E27FC236}">
                <a16:creationId xmlns:a16="http://schemas.microsoft.com/office/drawing/2014/main" id="{2FD31786-412A-8703-B280-25499DE63C6B}"/>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15FD3813-1EE5-246E-1E23-5EBAC4917D7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7EFB9B5-D16A-93D1-B697-997AE3BEAD8F}"/>
              </a:ext>
            </a:extLst>
          </p:cNvPr>
          <p:cNvSpPr>
            <a:spLocks noGrp="1"/>
          </p:cNvSpPr>
          <p:nvPr>
            <p:ph type="sldNum" sz="quarter" idx="12"/>
          </p:nvPr>
        </p:nvSpPr>
        <p:spPr/>
        <p:txBody>
          <a:bodyPr/>
          <a:lstStyle/>
          <a:p>
            <a:fld id="{BB2CE0DE-867F-455F-B20B-96D381B4AB71}" type="slidenum">
              <a:rPr lang="en-US" smtClean="0"/>
              <a:t>27</a:t>
            </a:fld>
            <a:endParaRPr lang="en-US"/>
          </a:p>
        </p:txBody>
      </p:sp>
    </p:spTree>
    <p:extLst>
      <p:ext uri="{BB962C8B-B14F-4D97-AF65-F5344CB8AC3E}">
        <p14:creationId xmlns:p14="http://schemas.microsoft.com/office/powerpoint/2010/main" val="3952096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E0EB-BE82-A186-88B9-EA2287D16132}"/>
              </a:ext>
            </a:extLst>
          </p:cNvPr>
          <p:cNvSpPr>
            <a:spLocks noGrp="1"/>
          </p:cNvSpPr>
          <p:nvPr>
            <p:ph type="title"/>
          </p:nvPr>
        </p:nvSpPr>
        <p:spPr/>
        <p:txBody>
          <a:bodyPr/>
          <a:lstStyle/>
          <a:p>
            <a:r>
              <a:rPr lang="en-IN" dirty="0"/>
              <a:t>Variational Autoencoders </a:t>
            </a:r>
          </a:p>
        </p:txBody>
      </p:sp>
      <p:sp>
        <p:nvSpPr>
          <p:cNvPr id="3" name="Content Placeholder 2">
            <a:extLst>
              <a:ext uri="{FF2B5EF4-FFF2-40B4-BE49-F238E27FC236}">
                <a16:creationId xmlns:a16="http://schemas.microsoft.com/office/drawing/2014/main" id="{278E4DE9-9A0E-84E3-D292-347E6237F172}"/>
              </a:ext>
            </a:extLst>
          </p:cNvPr>
          <p:cNvSpPr>
            <a:spLocks noGrp="1"/>
          </p:cNvSpPr>
          <p:nvPr>
            <p:ph idx="1"/>
          </p:nvPr>
        </p:nvSpPr>
        <p:spPr/>
        <p:txBody>
          <a:bodyPr/>
          <a:lstStyle/>
          <a:p>
            <a:pPr marL="0" indent="0" algn="just">
              <a:buNone/>
            </a:pPr>
            <a:r>
              <a:rPr lang="en-US" sz="1400" dirty="0"/>
              <a:t>Variational autoencoder addresses the issue of non-regularized latent space in autoencoder and provides the generative capability to the entire space. </a:t>
            </a:r>
          </a:p>
          <a:p>
            <a:pPr marL="0" indent="0" algn="just">
              <a:buNone/>
            </a:pPr>
            <a:r>
              <a:rPr lang="en-US" sz="1400" dirty="0"/>
              <a:t>The encoder in the AE outputs latent vectors. Instead of outputting the vectors in the latent space, the encoder of VAE outputs parameters of a pre-defined distribution in the latent space for every input. </a:t>
            </a:r>
          </a:p>
          <a:p>
            <a:pPr marL="0" indent="0" algn="just">
              <a:buNone/>
            </a:pPr>
            <a:r>
              <a:rPr lang="en-US" sz="1400" dirty="0"/>
              <a:t>The VAE then imposes a constraint on this latent distribution forcing it to be a normal distribution. This constraint makes sure that the latent space is regularized.</a:t>
            </a:r>
            <a:endParaRPr lang="en-IN" sz="1400" dirty="0"/>
          </a:p>
        </p:txBody>
      </p:sp>
      <p:sp>
        <p:nvSpPr>
          <p:cNvPr id="4" name="Date Placeholder 3">
            <a:extLst>
              <a:ext uri="{FF2B5EF4-FFF2-40B4-BE49-F238E27FC236}">
                <a16:creationId xmlns:a16="http://schemas.microsoft.com/office/drawing/2014/main" id="{2FD31786-412A-8703-B280-25499DE63C6B}"/>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15FD3813-1EE5-246E-1E23-5EBAC4917D7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7EFB9B5-D16A-93D1-B697-997AE3BEAD8F}"/>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7" name="Picture 6">
            <a:extLst>
              <a:ext uri="{FF2B5EF4-FFF2-40B4-BE49-F238E27FC236}">
                <a16:creationId xmlns:a16="http://schemas.microsoft.com/office/drawing/2014/main" id="{83B74F4B-CA5B-50D3-BBC2-81A558E54E7B}"/>
              </a:ext>
            </a:extLst>
          </p:cNvPr>
          <p:cNvPicPr>
            <a:picLocks noChangeAspect="1"/>
          </p:cNvPicPr>
          <p:nvPr/>
        </p:nvPicPr>
        <p:blipFill>
          <a:blip r:embed="rId2"/>
          <a:stretch>
            <a:fillRect/>
          </a:stretch>
        </p:blipFill>
        <p:spPr>
          <a:xfrm>
            <a:off x="76200" y="2907038"/>
            <a:ext cx="9144000" cy="3814437"/>
          </a:xfrm>
          <a:prstGeom prst="rect">
            <a:avLst/>
          </a:prstGeom>
        </p:spPr>
      </p:pic>
      <p:sp>
        <p:nvSpPr>
          <p:cNvPr id="8" name="Arrow: Up 7">
            <a:extLst>
              <a:ext uri="{FF2B5EF4-FFF2-40B4-BE49-F238E27FC236}">
                <a16:creationId xmlns:a16="http://schemas.microsoft.com/office/drawing/2014/main" id="{A3514A11-5766-8C1B-FDC4-119AC633240B}"/>
              </a:ext>
            </a:extLst>
          </p:cNvPr>
          <p:cNvSpPr/>
          <p:nvPr/>
        </p:nvSpPr>
        <p:spPr bwMode="auto">
          <a:xfrm>
            <a:off x="4305300" y="5805487"/>
            <a:ext cx="342900" cy="519113"/>
          </a:xfrm>
          <a:prstGeom prst="up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IN" sz="1800" b="0" i="0" u="none" strike="noStrike" cap="none" normalizeH="0" baseline="0">
              <a:ln>
                <a:noFill/>
              </a:ln>
              <a:solidFill>
                <a:schemeClr val="tx1"/>
              </a:solidFill>
              <a:effectLst/>
              <a:latin typeface="Verdana" pitchFamily="34" charset="0"/>
            </a:endParaRPr>
          </a:p>
        </p:txBody>
      </p:sp>
      <p:sp>
        <p:nvSpPr>
          <p:cNvPr id="9" name="TextBox 8">
            <a:extLst>
              <a:ext uri="{FF2B5EF4-FFF2-40B4-BE49-F238E27FC236}">
                <a16:creationId xmlns:a16="http://schemas.microsoft.com/office/drawing/2014/main" id="{BF1F3ECC-F425-F450-5B09-048A460DDF2C}"/>
              </a:ext>
            </a:extLst>
          </p:cNvPr>
          <p:cNvSpPr txBox="1"/>
          <p:nvPr/>
        </p:nvSpPr>
        <p:spPr>
          <a:xfrm>
            <a:off x="3063471" y="6400800"/>
            <a:ext cx="3169457" cy="369332"/>
          </a:xfrm>
          <a:prstGeom prst="rect">
            <a:avLst/>
          </a:prstGeom>
          <a:noFill/>
        </p:spPr>
        <p:txBody>
          <a:bodyPr wrap="none" rtlCol="0">
            <a:spAutoFit/>
          </a:bodyPr>
          <a:lstStyle/>
          <a:p>
            <a:r>
              <a:rPr lang="en-IN" dirty="0"/>
              <a:t>Probabilistic Latent Space</a:t>
            </a:r>
          </a:p>
        </p:txBody>
      </p:sp>
    </p:spTree>
    <p:extLst>
      <p:ext uri="{BB962C8B-B14F-4D97-AF65-F5344CB8AC3E}">
        <p14:creationId xmlns:p14="http://schemas.microsoft.com/office/powerpoint/2010/main" val="23885456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427B2-3343-6EFE-3A10-40518CE35A4B}"/>
              </a:ext>
            </a:extLst>
          </p:cNvPr>
          <p:cNvSpPr>
            <a:spLocks noGrp="1"/>
          </p:cNvSpPr>
          <p:nvPr>
            <p:ph type="title"/>
          </p:nvPr>
        </p:nvSpPr>
        <p:spPr/>
        <p:txBody>
          <a:bodyPr/>
          <a:lstStyle/>
          <a:p>
            <a:r>
              <a:rPr lang="en-IN" dirty="0"/>
              <a:t>VAE: Block Diagram</a:t>
            </a:r>
          </a:p>
        </p:txBody>
      </p:sp>
      <p:sp>
        <p:nvSpPr>
          <p:cNvPr id="3" name="Content Placeholder 2">
            <a:extLst>
              <a:ext uri="{FF2B5EF4-FFF2-40B4-BE49-F238E27FC236}">
                <a16:creationId xmlns:a16="http://schemas.microsoft.com/office/drawing/2014/main" id="{E12D46AF-D5DA-3D22-E5B4-784C5D5E61A3}"/>
              </a:ext>
            </a:extLst>
          </p:cNvPr>
          <p:cNvSpPr>
            <a:spLocks noGrp="1"/>
          </p:cNvSpPr>
          <p:nvPr>
            <p:ph idx="1"/>
          </p:nvPr>
        </p:nvSpPr>
        <p:spPr/>
        <p:txBody>
          <a:bodyPr/>
          <a:lstStyle/>
          <a:p>
            <a:pPr marL="0" indent="0" algn="just">
              <a:buNone/>
            </a:pPr>
            <a:r>
              <a:rPr lang="en-US" sz="1600" dirty="0"/>
              <a:t>The block diagram of VAE can be seen below. During training, the input data x is fed to the encoder function </a:t>
            </a:r>
            <a:r>
              <a:rPr lang="en-US" sz="1600" b="1" i="1" dirty="0" err="1"/>
              <a:t>e_theta</a:t>
            </a:r>
            <a:r>
              <a:rPr lang="en-US" sz="1600" b="1" i="1" dirty="0"/>
              <a:t>(x)</a:t>
            </a:r>
            <a:r>
              <a:rPr lang="en-US" sz="1600" dirty="0"/>
              <a:t>. Just like AE, the input is passed through a series of layers (parameterized by the variable theta) reducing its dimensions to achieve a compressed latent vector </a:t>
            </a:r>
            <a:r>
              <a:rPr lang="en-US" sz="1600" b="1" i="1" dirty="0"/>
              <a:t>z</a:t>
            </a:r>
            <a:r>
              <a:rPr lang="en-US" sz="1600" dirty="0"/>
              <a:t>. However, the latent vector is not the output of the encoder. Instead, the encoder outputs the mean and the standard deviation for each latent variable. The latent vector is then sampled from this mean and standard deviation which is then fed to the decoder to reconstruct the input. The decoder in the VAE works similarly to the one in AE.</a:t>
            </a:r>
            <a:endParaRPr lang="en-IN" sz="1600" dirty="0"/>
          </a:p>
        </p:txBody>
      </p:sp>
      <p:sp>
        <p:nvSpPr>
          <p:cNvPr id="4" name="Date Placeholder 3">
            <a:extLst>
              <a:ext uri="{FF2B5EF4-FFF2-40B4-BE49-F238E27FC236}">
                <a16:creationId xmlns:a16="http://schemas.microsoft.com/office/drawing/2014/main" id="{9F7A5D93-6BAC-3279-8B83-DCCC55901666}"/>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317EDFBC-7E88-6C7C-8611-474BECDB167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438E536-B6B6-83B9-A493-981BB909B368}"/>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7" name="Picture 6">
            <a:extLst>
              <a:ext uri="{FF2B5EF4-FFF2-40B4-BE49-F238E27FC236}">
                <a16:creationId xmlns:a16="http://schemas.microsoft.com/office/drawing/2014/main" id="{7A2ECFB1-2983-D02C-A1F9-CFE28830BBD9}"/>
              </a:ext>
            </a:extLst>
          </p:cNvPr>
          <p:cNvPicPr>
            <a:picLocks noChangeAspect="1"/>
          </p:cNvPicPr>
          <p:nvPr/>
        </p:nvPicPr>
        <p:blipFill>
          <a:blip r:embed="rId2"/>
          <a:stretch>
            <a:fillRect/>
          </a:stretch>
        </p:blipFill>
        <p:spPr>
          <a:xfrm>
            <a:off x="1181894" y="3493277"/>
            <a:ext cx="6786562" cy="3386494"/>
          </a:xfrm>
          <a:prstGeom prst="rect">
            <a:avLst/>
          </a:prstGeom>
        </p:spPr>
      </p:pic>
    </p:spTree>
    <p:extLst>
      <p:ext uri="{BB962C8B-B14F-4D97-AF65-F5344CB8AC3E}">
        <p14:creationId xmlns:p14="http://schemas.microsoft.com/office/powerpoint/2010/main" val="8488287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D042-4042-994F-EB21-4006EEC393B1}"/>
              </a:ext>
            </a:extLst>
          </p:cNvPr>
          <p:cNvSpPr>
            <a:spLocks noGrp="1"/>
          </p:cNvSpPr>
          <p:nvPr>
            <p:ph type="title"/>
          </p:nvPr>
        </p:nvSpPr>
        <p:spPr/>
        <p:txBody>
          <a:bodyPr/>
          <a:lstStyle/>
          <a:p>
            <a:r>
              <a:rPr lang="en-IN" dirty="0"/>
              <a:t>VAE: Loss Function </a:t>
            </a:r>
          </a:p>
        </p:txBody>
      </p:sp>
      <p:sp>
        <p:nvSpPr>
          <p:cNvPr id="3" name="Content Placeholder 2">
            <a:extLst>
              <a:ext uri="{FF2B5EF4-FFF2-40B4-BE49-F238E27FC236}">
                <a16:creationId xmlns:a16="http://schemas.microsoft.com/office/drawing/2014/main" id="{A555274A-0BE3-9013-655E-A6F070E5CA68}"/>
              </a:ext>
            </a:extLst>
          </p:cNvPr>
          <p:cNvSpPr>
            <a:spLocks noGrp="1"/>
          </p:cNvSpPr>
          <p:nvPr>
            <p:ph idx="1"/>
          </p:nvPr>
        </p:nvSpPr>
        <p:spPr/>
        <p:txBody>
          <a:bodyPr/>
          <a:lstStyle/>
          <a:p>
            <a:pPr marL="0" indent="0" algn="just">
              <a:buNone/>
            </a:pPr>
            <a:r>
              <a:rPr lang="en-US" sz="1800" dirty="0"/>
              <a:t>Training loss of VAE is defined as the sum of these the </a:t>
            </a:r>
          </a:p>
          <a:p>
            <a:pPr marL="0" indent="0" algn="just">
              <a:buNone/>
            </a:pPr>
            <a:r>
              <a:rPr lang="en-US" sz="1800" b="1" i="1" dirty="0"/>
              <a:t>reconstruction loss</a:t>
            </a:r>
            <a:r>
              <a:rPr lang="en-US" sz="1800" dirty="0"/>
              <a:t> and </a:t>
            </a:r>
          </a:p>
          <a:p>
            <a:pPr marL="0" indent="0" algn="just">
              <a:buNone/>
            </a:pPr>
            <a:r>
              <a:rPr lang="en-US" sz="1800" dirty="0"/>
              <a:t>the </a:t>
            </a:r>
            <a:r>
              <a:rPr lang="en-US" sz="1800" b="1" i="1" dirty="0"/>
              <a:t>similarity loss</a:t>
            </a:r>
            <a:r>
              <a:rPr lang="en-US" sz="1800" dirty="0"/>
              <a:t>. </a:t>
            </a:r>
          </a:p>
          <a:p>
            <a:pPr marL="0" indent="0" algn="just">
              <a:buNone/>
            </a:pPr>
            <a:r>
              <a:rPr lang="en-US" sz="1400" dirty="0"/>
              <a:t>The reconstruction error, just like in AE, is the mean squared loss of the input and reconstructed output. </a:t>
            </a:r>
          </a:p>
          <a:p>
            <a:pPr marL="0" indent="0" algn="just">
              <a:buNone/>
            </a:pPr>
            <a:r>
              <a:rPr lang="en-US" sz="1400" dirty="0"/>
              <a:t>The similarity loss is the KL (</a:t>
            </a:r>
            <a:r>
              <a:rPr lang="en-IN" sz="1400" b="1" dirty="0"/>
              <a:t>KL Divergence</a:t>
            </a:r>
            <a:r>
              <a:rPr lang="en-IN" sz="1400" dirty="0"/>
              <a:t> = </a:t>
            </a:r>
            <a:r>
              <a:rPr lang="en-IN" sz="1400" dirty="0" err="1"/>
              <a:t>Kullback</a:t>
            </a:r>
            <a:r>
              <a:rPr lang="en-IN" sz="1400" dirty="0"/>
              <a:t>–</a:t>
            </a:r>
            <a:r>
              <a:rPr lang="en-IN" sz="1400" dirty="0" err="1"/>
              <a:t>Leibler</a:t>
            </a:r>
            <a:r>
              <a:rPr lang="en-IN" sz="1400" dirty="0"/>
              <a:t> Divergence)</a:t>
            </a:r>
            <a:r>
              <a:rPr lang="en-US" sz="1400" dirty="0"/>
              <a:t> divergence between the latent space distribution and standard gaussian (zero mean and unit variance). </a:t>
            </a:r>
          </a:p>
          <a:p>
            <a:pPr marL="0" indent="0" algn="just">
              <a:buNone/>
            </a:pPr>
            <a:r>
              <a:rPr lang="en-US" sz="1400" dirty="0"/>
              <a:t>The loss function is then the sum of these two losses.</a:t>
            </a:r>
            <a:endParaRPr lang="en-IN" sz="1050" dirty="0"/>
          </a:p>
        </p:txBody>
      </p:sp>
      <p:sp>
        <p:nvSpPr>
          <p:cNvPr id="4" name="Date Placeholder 3">
            <a:extLst>
              <a:ext uri="{FF2B5EF4-FFF2-40B4-BE49-F238E27FC236}">
                <a16:creationId xmlns:a16="http://schemas.microsoft.com/office/drawing/2014/main" id="{7D9592FE-81E0-DFBA-61F6-BDED04668E2C}"/>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C83144F6-3B5D-CFB2-258F-510F1C6E1D3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40CB1C2-7CA7-7E14-627E-51A7A0841F3E}"/>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7" name="Picture 6">
            <a:extLst>
              <a:ext uri="{FF2B5EF4-FFF2-40B4-BE49-F238E27FC236}">
                <a16:creationId xmlns:a16="http://schemas.microsoft.com/office/drawing/2014/main" id="{B7B9F382-3F4B-568B-5041-C3A61A985D79}"/>
              </a:ext>
            </a:extLst>
          </p:cNvPr>
          <p:cNvPicPr>
            <a:picLocks noChangeAspect="1"/>
          </p:cNvPicPr>
          <p:nvPr/>
        </p:nvPicPr>
        <p:blipFill>
          <a:blip r:embed="rId3"/>
          <a:srcRect l="551" t="-60204" r="-551" b="60204"/>
          <a:stretch>
            <a:fillRect/>
          </a:stretch>
        </p:blipFill>
        <p:spPr>
          <a:xfrm>
            <a:off x="0" y="2632743"/>
            <a:ext cx="8852505" cy="2202113"/>
          </a:xfrm>
          <a:prstGeom prst="rect">
            <a:avLst/>
          </a:prstGeom>
        </p:spPr>
      </p:pic>
    </p:spTree>
    <p:extLst>
      <p:ext uri="{BB962C8B-B14F-4D97-AF65-F5344CB8AC3E}">
        <p14:creationId xmlns:p14="http://schemas.microsoft.com/office/powerpoint/2010/main" val="790918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16B8D-6017-522D-5360-143EF4AFF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9C60D-41E1-CC39-816F-0B4947511383}"/>
              </a:ext>
            </a:extLst>
          </p:cNvPr>
          <p:cNvSpPr>
            <a:spLocks noGrp="1"/>
          </p:cNvSpPr>
          <p:nvPr>
            <p:ph type="title"/>
          </p:nvPr>
        </p:nvSpPr>
        <p:spPr/>
        <p:txBody>
          <a:bodyPr/>
          <a:lstStyle/>
          <a:p>
            <a:r>
              <a:rPr lang="en-IN" dirty="0"/>
              <a:t>VAE: Loss Function </a:t>
            </a:r>
          </a:p>
        </p:txBody>
      </p:sp>
      <p:sp>
        <p:nvSpPr>
          <p:cNvPr id="3" name="Content Placeholder 2">
            <a:extLst>
              <a:ext uri="{FF2B5EF4-FFF2-40B4-BE49-F238E27FC236}">
                <a16:creationId xmlns:a16="http://schemas.microsoft.com/office/drawing/2014/main" id="{1E4FA9B5-135E-D806-9301-F4FCED1918C5}"/>
              </a:ext>
            </a:extLst>
          </p:cNvPr>
          <p:cNvSpPr>
            <a:spLocks noGrp="1"/>
          </p:cNvSpPr>
          <p:nvPr>
            <p:ph idx="1"/>
          </p:nvPr>
        </p:nvSpPr>
        <p:spPr/>
        <p:txBody>
          <a:bodyPr/>
          <a:lstStyle/>
          <a:p>
            <a:pPr marL="0" indent="0" algn="just">
              <a:buNone/>
            </a:pPr>
            <a:r>
              <a:rPr lang="en-US" sz="1800" dirty="0"/>
              <a:t>Training loss of VAE is defined as the sum of these the </a:t>
            </a:r>
          </a:p>
          <a:p>
            <a:pPr marL="0" indent="0" algn="just">
              <a:buNone/>
            </a:pPr>
            <a:r>
              <a:rPr lang="en-US" sz="1800" b="1" i="1" dirty="0"/>
              <a:t>reconstruction loss</a:t>
            </a:r>
            <a:r>
              <a:rPr lang="en-US" sz="1800" dirty="0"/>
              <a:t> and </a:t>
            </a:r>
          </a:p>
          <a:p>
            <a:pPr marL="0" indent="0" algn="just">
              <a:buNone/>
            </a:pPr>
            <a:r>
              <a:rPr lang="en-US" sz="1800" dirty="0"/>
              <a:t>the </a:t>
            </a:r>
            <a:r>
              <a:rPr lang="en-US" sz="1800" b="1" i="1" dirty="0"/>
              <a:t>similarity loss</a:t>
            </a:r>
            <a:r>
              <a:rPr lang="en-US" sz="1800" dirty="0"/>
              <a:t>. </a:t>
            </a:r>
          </a:p>
          <a:p>
            <a:pPr marL="0" indent="0" algn="just">
              <a:buNone/>
            </a:pPr>
            <a:r>
              <a:rPr lang="en-US" sz="1400" dirty="0"/>
              <a:t>The reconstruction error, just like in AE, is the mean squared loss of the input and reconstructed output. </a:t>
            </a:r>
          </a:p>
          <a:p>
            <a:pPr marL="0" indent="0" algn="just">
              <a:buNone/>
            </a:pPr>
            <a:r>
              <a:rPr lang="en-US" sz="1400" dirty="0"/>
              <a:t>The similarity loss is the KL (</a:t>
            </a:r>
            <a:r>
              <a:rPr lang="en-IN" sz="1400" b="1" dirty="0"/>
              <a:t>KL Divergence</a:t>
            </a:r>
            <a:r>
              <a:rPr lang="en-IN" sz="1400" dirty="0"/>
              <a:t> = </a:t>
            </a:r>
            <a:r>
              <a:rPr lang="en-IN" sz="1400" dirty="0" err="1"/>
              <a:t>Kullback</a:t>
            </a:r>
            <a:r>
              <a:rPr lang="en-IN" sz="1400" dirty="0"/>
              <a:t>–</a:t>
            </a:r>
            <a:r>
              <a:rPr lang="en-IN" sz="1400" dirty="0" err="1"/>
              <a:t>Leibler</a:t>
            </a:r>
            <a:r>
              <a:rPr lang="en-IN" sz="1400" dirty="0"/>
              <a:t> Divergence)</a:t>
            </a:r>
            <a:r>
              <a:rPr lang="en-US" sz="1400" dirty="0"/>
              <a:t> divergence between the latent space distribution and standard gaussian (zero mean and unit variance). </a:t>
            </a:r>
          </a:p>
          <a:p>
            <a:pPr marL="0" indent="0" algn="just">
              <a:buNone/>
            </a:pPr>
            <a:r>
              <a:rPr lang="en-US" sz="1400" dirty="0"/>
              <a:t>The loss function is then the sum of these two losses.</a:t>
            </a:r>
            <a:endParaRPr lang="en-IN" sz="1050" dirty="0"/>
          </a:p>
        </p:txBody>
      </p:sp>
      <p:sp>
        <p:nvSpPr>
          <p:cNvPr id="4" name="Date Placeholder 3">
            <a:extLst>
              <a:ext uri="{FF2B5EF4-FFF2-40B4-BE49-F238E27FC236}">
                <a16:creationId xmlns:a16="http://schemas.microsoft.com/office/drawing/2014/main" id="{856FAFF7-9D91-861C-2078-46CA794C99BD}"/>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3F12455B-8E77-036C-EC18-56C052E52CF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3A35DC0-D288-169D-444F-BE403D3DC066}"/>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7" name="Picture 6">
            <a:extLst>
              <a:ext uri="{FF2B5EF4-FFF2-40B4-BE49-F238E27FC236}">
                <a16:creationId xmlns:a16="http://schemas.microsoft.com/office/drawing/2014/main" id="{1B7FF836-6E49-5701-882F-1142D70DBDCF}"/>
              </a:ext>
            </a:extLst>
          </p:cNvPr>
          <p:cNvPicPr>
            <a:picLocks noChangeAspect="1"/>
          </p:cNvPicPr>
          <p:nvPr/>
        </p:nvPicPr>
        <p:blipFill>
          <a:blip r:embed="rId3"/>
          <a:stretch>
            <a:fillRect/>
          </a:stretch>
        </p:blipFill>
        <p:spPr>
          <a:xfrm>
            <a:off x="673049" y="3886200"/>
            <a:ext cx="7902626" cy="1493596"/>
          </a:xfrm>
          <a:prstGeom prst="rect">
            <a:avLst/>
          </a:prstGeom>
        </p:spPr>
      </p:pic>
      <p:sp>
        <p:nvSpPr>
          <p:cNvPr id="10" name="TextBox 9">
            <a:extLst>
              <a:ext uri="{FF2B5EF4-FFF2-40B4-BE49-F238E27FC236}">
                <a16:creationId xmlns:a16="http://schemas.microsoft.com/office/drawing/2014/main" id="{55CDDBBF-3442-1AAF-3FFA-6326B03D8197}"/>
              </a:ext>
            </a:extLst>
          </p:cNvPr>
          <p:cNvSpPr txBox="1"/>
          <p:nvPr/>
        </p:nvSpPr>
        <p:spPr>
          <a:xfrm>
            <a:off x="381000" y="5527042"/>
            <a:ext cx="8935459" cy="646331"/>
          </a:xfrm>
          <a:prstGeom prst="rect">
            <a:avLst/>
          </a:prstGeom>
          <a:noFill/>
        </p:spPr>
        <p:txBody>
          <a:bodyPr wrap="none" rtlCol="0">
            <a:spAutoFit/>
          </a:bodyPr>
          <a:lstStyle/>
          <a:p>
            <a:r>
              <a:rPr lang="en-US" b="1" dirty="0" err="1"/>
              <a:t>Kullback</a:t>
            </a:r>
            <a:r>
              <a:rPr lang="en-US" b="1" dirty="0"/>
              <a:t>–</a:t>
            </a:r>
            <a:r>
              <a:rPr lang="en-US" b="1" dirty="0" err="1"/>
              <a:t>Leibler</a:t>
            </a:r>
            <a:r>
              <a:rPr lang="en-US" b="1" dirty="0"/>
              <a:t> Divergence: </a:t>
            </a:r>
            <a:r>
              <a:rPr lang="en-US" dirty="0"/>
              <a:t>It's a </a:t>
            </a:r>
            <a:r>
              <a:rPr lang="en-US" b="1" dirty="0"/>
              <a:t>measure of how one probability </a:t>
            </a:r>
          </a:p>
          <a:p>
            <a:r>
              <a:rPr lang="en-US" b="1" dirty="0"/>
              <a:t>distribution diverges from another</a:t>
            </a:r>
            <a:r>
              <a:rPr lang="en-US" dirty="0"/>
              <a:t>.</a:t>
            </a:r>
            <a:endParaRPr lang="en-IN" dirty="0"/>
          </a:p>
        </p:txBody>
      </p:sp>
    </p:spTree>
    <p:extLst>
      <p:ext uri="{BB962C8B-B14F-4D97-AF65-F5344CB8AC3E}">
        <p14:creationId xmlns:p14="http://schemas.microsoft.com/office/powerpoint/2010/main" val="1624228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9B8C-DA28-4505-A735-E7903A9CA2E9}"/>
              </a:ext>
            </a:extLst>
          </p:cNvPr>
          <p:cNvSpPr>
            <a:spLocks noGrp="1"/>
          </p:cNvSpPr>
          <p:nvPr>
            <p:ph type="title"/>
          </p:nvPr>
        </p:nvSpPr>
        <p:spPr/>
        <p:txBody>
          <a:bodyPr/>
          <a:lstStyle/>
          <a:p>
            <a:r>
              <a:rPr lang="en-US" dirty="0"/>
              <a:t>Difference between AE and VAE</a:t>
            </a:r>
            <a:endParaRPr lang="en-IN" dirty="0"/>
          </a:p>
        </p:txBody>
      </p:sp>
      <p:sp>
        <p:nvSpPr>
          <p:cNvPr id="3" name="Content Placeholder 2">
            <a:extLst>
              <a:ext uri="{FF2B5EF4-FFF2-40B4-BE49-F238E27FC236}">
                <a16:creationId xmlns:a16="http://schemas.microsoft.com/office/drawing/2014/main" id="{4C89722E-203E-43E1-A25E-4584D392AEBD}"/>
              </a:ext>
            </a:extLst>
          </p:cNvPr>
          <p:cNvSpPr>
            <a:spLocks noGrp="1"/>
          </p:cNvSpPr>
          <p:nvPr>
            <p:ph idx="1"/>
          </p:nvPr>
        </p:nvSpPr>
        <p:spPr/>
        <p:txBody>
          <a:bodyPr/>
          <a:lstStyle/>
          <a:p>
            <a:pPr algn="just" fontAlgn="ctr">
              <a:buFont typeface="Arial" panose="020B0604020202020204" pitchFamily="34" charset="0"/>
              <a:buChar char="•"/>
            </a:pPr>
            <a:r>
              <a:rPr lang="en-US" sz="2400" b="0" i="0" dirty="0">
                <a:solidFill>
                  <a:srgbClr val="001D35"/>
                </a:solidFill>
                <a:effectLst/>
                <a:latin typeface="Google Sans"/>
              </a:rPr>
              <a:t>Autoencoders (AE)are good for dimensionality reduction and reconstruction, </a:t>
            </a:r>
            <a:r>
              <a:rPr lang="en-US" sz="2400" b="0" i="1" dirty="0">
                <a:solidFill>
                  <a:srgbClr val="0000FF"/>
                </a:solidFill>
                <a:effectLst/>
                <a:latin typeface="Google Sans"/>
              </a:rPr>
              <a:t>but not for generating new data</a:t>
            </a:r>
            <a:r>
              <a:rPr lang="en-US" sz="2400" b="0" i="0" dirty="0">
                <a:solidFill>
                  <a:srgbClr val="001D35"/>
                </a:solidFill>
                <a:effectLst/>
                <a:latin typeface="Google Sans"/>
              </a:rPr>
              <a:t>. </a:t>
            </a:r>
            <a:endParaRPr lang="en-US" sz="2400" b="0" i="0" dirty="0">
              <a:solidFill>
                <a:srgbClr val="0B57D0"/>
              </a:solidFill>
              <a:effectLst/>
              <a:latin typeface="Google Sans"/>
            </a:endParaRPr>
          </a:p>
          <a:p>
            <a:pPr algn="just">
              <a:buFont typeface="Arial" panose="020B0604020202020204" pitchFamily="34" charset="0"/>
              <a:buChar char="•"/>
            </a:pPr>
            <a:r>
              <a:rPr lang="en-US" sz="2400" b="0" i="0" dirty="0">
                <a:solidFill>
                  <a:srgbClr val="001D35"/>
                </a:solidFill>
                <a:effectLst/>
                <a:latin typeface="Google Sans"/>
              </a:rPr>
              <a:t>VAEs are more powerful generative models, capable of </a:t>
            </a:r>
            <a:r>
              <a:rPr lang="en-US" sz="2400" b="0" i="1" dirty="0">
                <a:solidFill>
                  <a:srgbClr val="0000FF"/>
                </a:solidFill>
                <a:effectLst/>
                <a:latin typeface="Google Sans"/>
              </a:rPr>
              <a:t>producing diverse data samples </a:t>
            </a:r>
            <a:r>
              <a:rPr lang="en-US" sz="2400" b="0" i="0" dirty="0">
                <a:solidFill>
                  <a:srgbClr val="001D35"/>
                </a:solidFill>
                <a:effectLst/>
                <a:latin typeface="Google Sans"/>
              </a:rPr>
              <a:t>based on the learned latent distribution</a:t>
            </a:r>
          </a:p>
          <a:p>
            <a:pPr marL="0" indent="0" algn="just">
              <a:buNone/>
            </a:pPr>
            <a:endParaRPr lang="en-IN" sz="2400" dirty="0"/>
          </a:p>
        </p:txBody>
      </p:sp>
      <p:sp>
        <p:nvSpPr>
          <p:cNvPr id="4" name="Date Placeholder 3">
            <a:extLst>
              <a:ext uri="{FF2B5EF4-FFF2-40B4-BE49-F238E27FC236}">
                <a16:creationId xmlns:a16="http://schemas.microsoft.com/office/drawing/2014/main" id="{5ADC27A6-9C76-42BB-8975-3D14BB2F5367}"/>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C5A3F019-E371-4EAB-A922-C5122317115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E40E86C-0BE2-4F7F-8E11-5997D8E140D3}"/>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7" name="Picture 6">
            <a:extLst>
              <a:ext uri="{FF2B5EF4-FFF2-40B4-BE49-F238E27FC236}">
                <a16:creationId xmlns:a16="http://schemas.microsoft.com/office/drawing/2014/main" id="{555FC87E-CFAF-4242-B612-91FFA7F80C07}"/>
              </a:ext>
            </a:extLst>
          </p:cNvPr>
          <p:cNvPicPr>
            <a:picLocks noChangeAspect="1"/>
          </p:cNvPicPr>
          <p:nvPr/>
        </p:nvPicPr>
        <p:blipFill>
          <a:blip r:embed="rId2"/>
          <a:stretch>
            <a:fillRect/>
          </a:stretch>
        </p:blipFill>
        <p:spPr>
          <a:xfrm>
            <a:off x="887413" y="3352800"/>
            <a:ext cx="7359650" cy="2895600"/>
          </a:xfrm>
          <a:prstGeom prst="rect">
            <a:avLst/>
          </a:prstGeom>
        </p:spPr>
      </p:pic>
    </p:spTree>
    <p:extLst>
      <p:ext uri="{BB962C8B-B14F-4D97-AF65-F5344CB8AC3E}">
        <p14:creationId xmlns:p14="http://schemas.microsoft.com/office/powerpoint/2010/main" val="4107107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C1001-47F0-0ED6-B8C1-8989BD975A74}"/>
              </a:ext>
            </a:extLst>
          </p:cNvPr>
          <p:cNvSpPr>
            <a:spLocks noGrp="1"/>
          </p:cNvSpPr>
          <p:nvPr>
            <p:ph type="title"/>
          </p:nvPr>
        </p:nvSpPr>
        <p:spPr/>
        <p:txBody>
          <a:bodyPr/>
          <a:lstStyle/>
          <a:p>
            <a:r>
              <a:rPr lang="en-IN" sz="2400" dirty="0"/>
              <a:t>Generative Adversarial Networks (GANs)</a:t>
            </a:r>
          </a:p>
        </p:txBody>
      </p:sp>
      <p:sp>
        <p:nvSpPr>
          <p:cNvPr id="3" name="Content Placeholder 2">
            <a:extLst>
              <a:ext uri="{FF2B5EF4-FFF2-40B4-BE49-F238E27FC236}">
                <a16:creationId xmlns:a16="http://schemas.microsoft.com/office/drawing/2014/main" id="{2FBED0DC-D9FB-61D0-9158-E7E2DABB82C1}"/>
              </a:ext>
            </a:extLst>
          </p:cNvPr>
          <p:cNvSpPr>
            <a:spLocks noGrp="1"/>
          </p:cNvSpPr>
          <p:nvPr>
            <p:ph idx="1"/>
          </p:nvPr>
        </p:nvSpPr>
        <p:spPr/>
        <p:txBody>
          <a:bodyPr/>
          <a:lstStyle/>
          <a:p>
            <a:pPr marL="0" indent="0">
              <a:buNone/>
            </a:pPr>
            <a:r>
              <a:rPr lang="en-US" sz="2000" dirty="0"/>
              <a:t>Base Research Paper</a:t>
            </a:r>
            <a:endParaRPr lang="en-IN" sz="2000" dirty="0"/>
          </a:p>
        </p:txBody>
      </p:sp>
      <p:sp>
        <p:nvSpPr>
          <p:cNvPr id="4" name="Date Placeholder 3">
            <a:extLst>
              <a:ext uri="{FF2B5EF4-FFF2-40B4-BE49-F238E27FC236}">
                <a16:creationId xmlns:a16="http://schemas.microsoft.com/office/drawing/2014/main" id="{9253EBD3-D71E-275A-6A0F-054DAB78E5E0}"/>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9250DB80-9FD3-D034-41C0-C1F8C2E2A71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DC39F0A-208D-F021-B07B-6164AE62F3FB}"/>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8" name="Picture 7">
            <a:extLst>
              <a:ext uri="{FF2B5EF4-FFF2-40B4-BE49-F238E27FC236}">
                <a16:creationId xmlns:a16="http://schemas.microsoft.com/office/drawing/2014/main" id="{EB5DB951-5938-B04A-DD05-A8789A05CCE3}"/>
              </a:ext>
            </a:extLst>
          </p:cNvPr>
          <p:cNvPicPr>
            <a:picLocks noChangeAspect="1"/>
          </p:cNvPicPr>
          <p:nvPr/>
        </p:nvPicPr>
        <p:blipFill>
          <a:blip r:embed="rId2"/>
          <a:stretch>
            <a:fillRect/>
          </a:stretch>
        </p:blipFill>
        <p:spPr>
          <a:xfrm>
            <a:off x="534080" y="1744647"/>
            <a:ext cx="8152719" cy="4960953"/>
          </a:xfrm>
          <a:prstGeom prst="rect">
            <a:avLst/>
          </a:prstGeom>
        </p:spPr>
      </p:pic>
    </p:spTree>
    <p:extLst>
      <p:ext uri="{BB962C8B-B14F-4D97-AF65-F5344CB8AC3E}">
        <p14:creationId xmlns:p14="http://schemas.microsoft.com/office/powerpoint/2010/main" val="2352510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61D44-5862-267D-F4A3-ABF4944004CE}"/>
              </a:ext>
            </a:extLst>
          </p:cNvPr>
          <p:cNvSpPr>
            <a:spLocks noGrp="1"/>
          </p:cNvSpPr>
          <p:nvPr>
            <p:ph type="title"/>
          </p:nvPr>
        </p:nvSpPr>
        <p:spPr/>
        <p:txBody>
          <a:bodyPr/>
          <a:lstStyle/>
          <a:p>
            <a:r>
              <a:rPr lang="en-US" dirty="0"/>
              <a:t>What is GANs?</a:t>
            </a:r>
            <a:endParaRPr lang="en-IN" dirty="0"/>
          </a:p>
        </p:txBody>
      </p:sp>
      <p:sp>
        <p:nvSpPr>
          <p:cNvPr id="3" name="Content Placeholder 2">
            <a:extLst>
              <a:ext uri="{FF2B5EF4-FFF2-40B4-BE49-F238E27FC236}">
                <a16:creationId xmlns:a16="http://schemas.microsoft.com/office/drawing/2014/main" id="{2CDED65C-74AD-8C44-8A70-CDF32ED11FA3}"/>
              </a:ext>
            </a:extLst>
          </p:cNvPr>
          <p:cNvSpPr>
            <a:spLocks noGrp="1"/>
          </p:cNvSpPr>
          <p:nvPr>
            <p:ph idx="1"/>
          </p:nvPr>
        </p:nvSpPr>
        <p:spPr/>
        <p:txBody>
          <a:bodyPr/>
          <a:lstStyle/>
          <a:p>
            <a:pPr marL="0" indent="0" algn="just">
              <a:buNone/>
            </a:pPr>
            <a:r>
              <a:rPr lang="en-US" sz="1800" kern="1200" dirty="0">
                <a:solidFill>
                  <a:schemeClr val="tx1"/>
                </a:solidFill>
              </a:rPr>
              <a:t>Many machine learning systems look at some kind of complicated input (say, an image) and produce a simple output (a label like, "cat"). By contrast, the goal of a generative model is something like the opposite: take a small piece of input—perhaps a few random numbers—and produce a complex output, like an image of a realistic-looking face. </a:t>
            </a:r>
          </a:p>
          <a:p>
            <a:pPr marL="0" indent="0" algn="just">
              <a:buNone/>
            </a:pPr>
            <a:r>
              <a:rPr lang="en-US" sz="1800" kern="1200" dirty="0">
                <a:solidFill>
                  <a:schemeClr val="tx1"/>
                </a:solidFill>
              </a:rPr>
              <a:t>A </a:t>
            </a:r>
            <a:r>
              <a:rPr lang="en-US" sz="1800" b="1" kern="1200" dirty="0">
                <a:solidFill>
                  <a:schemeClr val="tx1"/>
                </a:solidFill>
              </a:rPr>
              <a:t>generative adversarial network (GAN)</a:t>
            </a:r>
            <a:r>
              <a:rPr lang="en-US" sz="1800" kern="1200" dirty="0">
                <a:solidFill>
                  <a:schemeClr val="tx1"/>
                </a:solidFill>
              </a:rPr>
              <a:t> is generative model.</a:t>
            </a:r>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F9889267-1AF7-9927-E9C5-A768BDAD3D85}"/>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4966C2F9-EC19-0D36-B9EE-C97E250DBDFE}"/>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4C16E92-9448-F3B1-E829-9236772084BC}"/>
              </a:ext>
            </a:extLst>
          </p:cNvPr>
          <p:cNvSpPr>
            <a:spLocks noGrp="1"/>
          </p:cNvSpPr>
          <p:nvPr>
            <p:ph type="sldNum" sz="quarter" idx="12"/>
          </p:nvPr>
        </p:nvSpPr>
        <p:spPr/>
        <p:txBody>
          <a:bodyPr/>
          <a:lstStyle/>
          <a:p>
            <a:fld id="{BB2CE0DE-867F-455F-B20B-96D381B4AB71}" type="slidenum">
              <a:rPr lang="en-US" smtClean="0"/>
              <a:t>34</a:t>
            </a:fld>
            <a:endParaRPr lang="en-US"/>
          </a:p>
        </p:txBody>
      </p:sp>
      <p:pic>
        <p:nvPicPr>
          <p:cNvPr id="8" name="Picture 7">
            <a:extLst>
              <a:ext uri="{FF2B5EF4-FFF2-40B4-BE49-F238E27FC236}">
                <a16:creationId xmlns:a16="http://schemas.microsoft.com/office/drawing/2014/main" id="{88FC2807-E589-4571-ACC6-290821C71B15}"/>
              </a:ext>
            </a:extLst>
          </p:cNvPr>
          <p:cNvPicPr>
            <a:picLocks noChangeAspect="1"/>
          </p:cNvPicPr>
          <p:nvPr/>
        </p:nvPicPr>
        <p:blipFill>
          <a:blip r:embed="rId3"/>
          <a:stretch>
            <a:fillRect/>
          </a:stretch>
        </p:blipFill>
        <p:spPr>
          <a:xfrm>
            <a:off x="1466636" y="3429000"/>
            <a:ext cx="6096000" cy="3011277"/>
          </a:xfrm>
          <a:prstGeom prst="rect">
            <a:avLst/>
          </a:prstGeom>
        </p:spPr>
      </p:pic>
      <p:pic>
        <p:nvPicPr>
          <p:cNvPr id="10" name="Picture 9">
            <a:extLst>
              <a:ext uri="{FF2B5EF4-FFF2-40B4-BE49-F238E27FC236}">
                <a16:creationId xmlns:a16="http://schemas.microsoft.com/office/drawing/2014/main" id="{F8CF5FDC-2648-45F9-A39A-AF3552E91F33}"/>
              </a:ext>
            </a:extLst>
          </p:cNvPr>
          <p:cNvPicPr>
            <a:picLocks noChangeAspect="1"/>
          </p:cNvPicPr>
          <p:nvPr/>
        </p:nvPicPr>
        <p:blipFill>
          <a:blip r:embed="rId4"/>
          <a:stretch>
            <a:fillRect/>
          </a:stretch>
        </p:blipFill>
        <p:spPr>
          <a:xfrm>
            <a:off x="5410200" y="4877750"/>
            <a:ext cx="2057400" cy="1348389"/>
          </a:xfrm>
          <a:prstGeom prst="rect">
            <a:avLst/>
          </a:prstGeom>
        </p:spPr>
      </p:pic>
    </p:spTree>
    <p:extLst>
      <p:ext uri="{BB962C8B-B14F-4D97-AF65-F5344CB8AC3E}">
        <p14:creationId xmlns:p14="http://schemas.microsoft.com/office/powerpoint/2010/main" val="3345715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B32C-1D97-4396-BB32-EC62A5CFA5F6}"/>
              </a:ext>
            </a:extLst>
          </p:cNvPr>
          <p:cNvSpPr>
            <a:spLocks noGrp="1"/>
          </p:cNvSpPr>
          <p:nvPr>
            <p:ph type="title"/>
          </p:nvPr>
        </p:nvSpPr>
        <p:spPr/>
        <p:txBody>
          <a:bodyPr/>
          <a:lstStyle/>
          <a:p>
            <a:r>
              <a:rPr lang="en-IN" dirty="0"/>
              <a:t>Analogy for Students</a:t>
            </a:r>
          </a:p>
        </p:txBody>
      </p:sp>
      <p:sp>
        <p:nvSpPr>
          <p:cNvPr id="3" name="Content Placeholder 2">
            <a:extLst>
              <a:ext uri="{FF2B5EF4-FFF2-40B4-BE49-F238E27FC236}">
                <a16:creationId xmlns:a16="http://schemas.microsoft.com/office/drawing/2014/main" id="{42E1977B-E218-448C-B026-C1D443154E5F}"/>
              </a:ext>
            </a:extLst>
          </p:cNvPr>
          <p:cNvSpPr>
            <a:spLocks noGrp="1"/>
          </p:cNvSpPr>
          <p:nvPr>
            <p:ph idx="1"/>
          </p:nvPr>
        </p:nvSpPr>
        <p:spPr/>
        <p:txBody>
          <a:bodyPr/>
          <a:lstStyle/>
          <a:p>
            <a:pPr marL="0" indent="0" algn="just">
              <a:buNone/>
            </a:pPr>
            <a:r>
              <a:rPr lang="en-US" sz="1600" b="1" dirty="0"/>
              <a:t>Imagine a forger (Generator)</a:t>
            </a:r>
            <a:r>
              <a:rPr lang="en-US" sz="1600" dirty="0"/>
              <a:t> trying to make fake currency and </a:t>
            </a:r>
            <a:r>
              <a:rPr lang="en-US" sz="1600" b="1" dirty="0"/>
              <a:t>a detective (Discriminator)</a:t>
            </a:r>
            <a:r>
              <a:rPr lang="en-US" sz="1600" dirty="0"/>
              <a:t> trying to spot fakes.</a:t>
            </a:r>
          </a:p>
          <a:p>
            <a:pPr marL="0" indent="0" algn="just">
              <a:buNone/>
            </a:pPr>
            <a:r>
              <a:rPr lang="en-US" sz="1600" dirty="0"/>
              <a:t>The </a:t>
            </a:r>
            <a:r>
              <a:rPr lang="en-US" sz="1600" b="1" dirty="0"/>
              <a:t>forger improves</a:t>
            </a:r>
            <a:r>
              <a:rPr lang="en-US" sz="1600" dirty="0"/>
              <a:t> by learning from how well they trick the detective.</a:t>
            </a:r>
          </a:p>
          <a:p>
            <a:pPr marL="0" indent="0" algn="just">
              <a:buNone/>
            </a:pPr>
            <a:r>
              <a:rPr lang="en-US" sz="1600" dirty="0"/>
              <a:t>The </a:t>
            </a:r>
            <a:r>
              <a:rPr lang="en-US" sz="1600" b="1" dirty="0"/>
              <a:t>detective improves</a:t>
            </a:r>
            <a:r>
              <a:rPr lang="en-US" sz="1600" dirty="0"/>
              <a:t> by getting better at spotting fakes.</a:t>
            </a:r>
          </a:p>
          <a:p>
            <a:pPr marL="0" indent="0" algn="just">
              <a:buNone/>
            </a:pPr>
            <a:r>
              <a:rPr lang="en-US" sz="1600" dirty="0"/>
              <a:t>Over time, the </a:t>
            </a:r>
            <a:r>
              <a:rPr lang="en-US" sz="1600" b="1" dirty="0"/>
              <a:t>forger gets so good</a:t>
            </a:r>
            <a:r>
              <a:rPr lang="en-US" sz="1600" dirty="0"/>
              <a:t> that the </a:t>
            </a:r>
            <a:r>
              <a:rPr lang="en-US" sz="1600" b="1" dirty="0"/>
              <a:t>detective can’t tell</a:t>
            </a:r>
            <a:r>
              <a:rPr lang="en-US" sz="1600" dirty="0"/>
              <a:t> the difference.</a:t>
            </a:r>
          </a:p>
          <a:p>
            <a:pPr algn="just"/>
            <a:endParaRPr lang="en-IN" sz="1600" dirty="0"/>
          </a:p>
          <a:p>
            <a:pPr algn="just"/>
            <a:endParaRPr lang="en-IN" sz="1600" dirty="0"/>
          </a:p>
        </p:txBody>
      </p:sp>
      <p:sp>
        <p:nvSpPr>
          <p:cNvPr id="4" name="Date Placeholder 3">
            <a:extLst>
              <a:ext uri="{FF2B5EF4-FFF2-40B4-BE49-F238E27FC236}">
                <a16:creationId xmlns:a16="http://schemas.microsoft.com/office/drawing/2014/main" id="{F17961A2-6FF0-4264-8565-7E593B1B146D}"/>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2DDC17FE-8E2F-4D5C-A348-A5DB6DEEE73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869F3B1-7B92-416F-81CA-975D3211A049}"/>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8" name="Picture 7">
            <a:extLst>
              <a:ext uri="{FF2B5EF4-FFF2-40B4-BE49-F238E27FC236}">
                <a16:creationId xmlns:a16="http://schemas.microsoft.com/office/drawing/2014/main" id="{DFD3E017-94F2-A8F4-2EE4-AC4D961F7395}"/>
              </a:ext>
            </a:extLst>
          </p:cNvPr>
          <p:cNvPicPr>
            <a:picLocks noChangeAspect="1"/>
          </p:cNvPicPr>
          <p:nvPr/>
        </p:nvPicPr>
        <p:blipFill>
          <a:blip r:embed="rId3"/>
          <a:stretch>
            <a:fillRect/>
          </a:stretch>
        </p:blipFill>
        <p:spPr>
          <a:xfrm>
            <a:off x="850591" y="3015343"/>
            <a:ext cx="7433293" cy="3537857"/>
          </a:xfrm>
          <a:prstGeom prst="rect">
            <a:avLst/>
          </a:prstGeom>
        </p:spPr>
      </p:pic>
    </p:spTree>
    <p:extLst>
      <p:ext uri="{BB962C8B-B14F-4D97-AF65-F5344CB8AC3E}">
        <p14:creationId xmlns:p14="http://schemas.microsoft.com/office/powerpoint/2010/main" val="35889123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A1F8-6D3F-46B2-AB91-26F6FCB8D3E0}"/>
              </a:ext>
            </a:extLst>
          </p:cNvPr>
          <p:cNvSpPr>
            <a:spLocks noGrp="1"/>
          </p:cNvSpPr>
          <p:nvPr>
            <p:ph type="title"/>
          </p:nvPr>
        </p:nvSpPr>
        <p:spPr/>
        <p:txBody>
          <a:bodyPr/>
          <a:lstStyle/>
          <a:p>
            <a:r>
              <a:rPr lang="en-US" dirty="0"/>
              <a:t>What is GANs?</a:t>
            </a:r>
            <a:endParaRPr lang="en-IN" dirty="0"/>
          </a:p>
        </p:txBody>
      </p:sp>
      <p:sp>
        <p:nvSpPr>
          <p:cNvPr id="3" name="Content Placeholder 2">
            <a:extLst>
              <a:ext uri="{FF2B5EF4-FFF2-40B4-BE49-F238E27FC236}">
                <a16:creationId xmlns:a16="http://schemas.microsoft.com/office/drawing/2014/main" id="{1DE7723C-990C-417D-B919-BE5D016C1023}"/>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1A8FB69F-9488-4A0A-9CEE-312DEEA220D9}"/>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CA71FF30-DC2E-4470-87E7-942961C19F7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07FBB04-3E81-4716-B973-5037843F7786}"/>
              </a:ext>
            </a:extLst>
          </p:cNvPr>
          <p:cNvSpPr>
            <a:spLocks noGrp="1"/>
          </p:cNvSpPr>
          <p:nvPr>
            <p:ph type="sldNum" sz="quarter" idx="12"/>
          </p:nvPr>
        </p:nvSpPr>
        <p:spPr/>
        <p:txBody>
          <a:bodyPr/>
          <a:lstStyle/>
          <a:p>
            <a:fld id="{BB2CE0DE-867F-455F-B20B-96D381B4AB71}" type="slidenum">
              <a:rPr lang="en-US" smtClean="0"/>
              <a:t>36</a:t>
            </a:fld>
            <a:endParaRPr lang="en-US"/>
          </a:p>
        </p:txBody>
      </p:sp>
      <p:sp>
        <p:nvSpPr>
          <p:cNvPr id="7" name="AutoShape 2" descr="Generative-Adverarial-network-Gans.webp">
            <a:extLst>
              <a:ext uri="{FF2B5EF4-FFF2-40B4-BE49-F238E27FC236}">
                <a16:creationId xmlns:a16="http://schemas.microsoft.com/office/drawing/2014/main" id="{76CCDC36-4A8D-4032-96CD-1FDEA5AC146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E8C3A9CC-9749-460A-B1AD-B7317EF3D577}"/>
              </a:ext>
            </a:extLst>
          </p:cNvPr>
          <p:cNvPicPr>
            <a:picLocks noChangeAspect="1"/>
          </p:cNvPicPr>
          <p:nvPr/>
        </p:nvPicPr>
        <p:blipFill>
          <a:blip r:embed="rId2"/>
          <a:stretch>
            <a:fillRect/>
          </a:stretch>
        </p:blipFill>
        <p:spPr>
          <a:xfrm>
            <a:off x="534435" y="1249166"/>
            <a:ext cx="7620000" cy="3810000"/>
          </a:xfrm>
          <a:prstGeom prst="rect">
            <a:avLst/>
          </a:prstGeom>
        </p:spPr>
      </p:pic>
    </p:spTree>
    <p:extLst>
      <p:ext uri="{BB962C8B-B14F-4D97-AF65-F5344CB8AC3E}">
        <p14:creationId xmlns:p14="http://schemas.microsoft.com/office/powerpoint/2010/main" val="8568464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830C-3E9D-4A16-904E-278A1573A36B}"/>
              </a:ext>
            </a:extLst>
          </p:cNvPr>
          <p:cNvSpPr>
            <a:spLocks noGrp="1"/>
          </p:cNvSpPr>
          <p:nvPr>
            <p:ph type="title"/>
          </p:nvPr>
        </p:nvSpPr>
        <p:spPr/>
        <p:txBody>
          <a:bodyPr/>
          <a:lstStyle/>
          <a:p>
            <a:r>
              <a:rPr lang="en-US" dirty="0"/>
              <a:t>At brief, how GANs work ?</a:t>
            </a:r>
            <a:endParaRPr lang="en-IN" dirty="0"/>
          </a:p>
        </p:txBody>
      </p:sp>
      <p:sp>
        <p:nvSpPr>
          <p:cNvPr id="3" name="Content Placeholder 2">
            <a:extLst>
              <a:ext uri="{FF2B5EF4-FFF2-40B4-BE49-F238E27FC236}">
                <a16:creationId xmlns:a16="http://schemas.microsoft.com/office/drawing/2014/main" id="{246A937C-6414-4DB3-82B0-2C49366A159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5A2514E5-31A0-448C-99D2-6F4F01D745E2}"/>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53677740-6097-4A87-841B-A342CFB0728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D5CC5E9-FD07-4224-9939-68226B5730A4}"/>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8" name="Picture 7">
            <a:extLst>
              <a:ext uri="{FF2B5EF4-FFF2-40B4-BE49-F238E27FC236}">
                <a16:creationId xmlns:a16="http://schemas.microsoft.com/office/drawing/2014/main" id="{E4F7E36E-8B98-4BD7-B464-65D0B7766E4D}"/>
              </a:ext>
            </a:extLst>
          </p:cNvPr>
          <p:cNvPicPr>
            <a:picLocks noChangeAspect="1"/>
          </p:cNvPicPr>
          <p:nvPr/>
        </p:nvPicPr>
        <p:blipFill>
          <a:blip r:embed="rId2"/>
          <a:stretch>
            <a:fillRect/>
          </a:stretch>
        </p:blipFill>
        <p:spPr>
          <a:xfrm>
            <a:off x="621586" y="1219200"/>
            <a:ext cx="7983279" cy="4038600"/>
          </a:xfrm>
          <a:prstGeom prst="rect">
            <a:avLst/>
          </a:prstGeom>
        </p:spPr>
      </p:pic>
      <p:sp>
        <p:nvSpPr>
          <p:cNvPr id="9" name="AutoShape 2" descr="how_gans_work_.webp">
            <a:extLst>
              <a:ext uri="{FF2B5EF4-FFF2-40B4-BE49-F238E27FC236}">
                <a16:creationId xmlns:a16="http://schemas.microsoft.com/office/drawing/2014/main" id="{CC2E0AD6-73AE-4EF7-8CD2-E485B7F5C06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090971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476F-FAFD-5403-F24D-1D06493F1B33}"/>
              </a:ext>
            </a:extLst>
          </p:cNvPr>
          <p:cNvSpPr>
            <a:spLocks noGrp="1"/>
          </p:cNvSpPr>
          <p:nvPr>
            <p:ph type="title"/>
          </p:nvPr>
        </p:nvSpPr>
        <p:spPr/>
        <p:txBody>
          <a:bodyPr/>
          <a:lstStyle/>
          <a:p>
            <a:r>
              <a:rPr lang="en-US" dirty="0"/>
              <a:t>Generator</a:t>
            </a:r>
            <a:endParaRPr lang="en-IN" dirty="0"/>
          </a:p>
        </p:txBody>
      </p:sp>
      <p:sp>
        <p:nvSpPr>
          <p:cNvPr id="3" name="Content Placeholder 2">
            <a:extLst>
              <a:ext uri="{FF2B5EF4-FFF2-40B4-BE49-F238E27FC236}">
                <a16:creationId xmlns:a16="http://schemas.microsoft.com/office/drawing/2014/main" id="{14C9F6B2-D98E-B658-CD78-CC5D7D6D0F0B}"/>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4C2B2512-2EBF-4582-6695-5C59FFEF9095}"/>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896C63C3-306A-5892-AF42-ACA293FC85B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895EC61-0BDA-16C0-170E-438F85B1C897}"/>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8" name="Picture 7">
            <a:extLst>
              <a:ext uri="{FF2B5EF4-FFF2-40B4-BE49-F238E27FC236}">
                <a16:creationId xmlns:a16="http://schemas.microsoft.com/office/drawing/2014/main" id="{86540EE7-0F6C-245F-F048-C7543C8FCE33}"/>
              </a:ext>
            </a:extLst>
          </p:cNvPr>
          <p:cNvPicPr>
            <a:picLocks noChangeAspect="1"/>
          </p:cNvPicPr>
          <p:nvPr/>
        </p:nvPicPr>
        <p:blipFill>
          <a:blip r:embed="rId2"/>
          <a:stretch>
            <a:fillRect/>
          </a:stretch>
        </p:blipFill>
        <p:spPr>
          <a:xfrm>
            <a:off x="-76200" y="1219200"/>
            <a:ext cx="8915400" cy="2081643"/>
          </a:xfrm>
          <a:prstGeom prst="rect">
            <a:avLst/>
          </a:prstGeom>
        </p:spPr>
      </p:pic>
    </p:spTree>
    <p:extLst>
      <p:ext uri="{BB962C8B-B14F-4D97-AF65-F5344CB8AC3E}">
        <p14:creationId xmlns:p14="http://schemas.microsoft.com/office/powerpoint/2010/main" val="41273433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A0872-0753-03FA-E88D-477B26203B49}"/>
              </a:ext>
            </a:extLst>
          </p:cNvPr>
          <p:cNvSpPr>
            <a:spLocks noGrp="1"/>
          </p:cNvSpPr>
          <p:nvPr>
            <p:ph type="title"/>
          </p:nvPr>
        </p:nvSpPr>
        <p:spPr/>
        <p:txBody>
          <a:bodyPr/>
          <a:lstStyle/>
          <a:p>
            <a:r>
              <a:rPr lang="en-US" dirty="0"/>
              <a:t>Discriminator</a:t>
            </a:r>
            <a:endParaRPr lang="en-IN" dirty="0"/>
          </a:p>
        </p:txBody>
      </p:sp>
      <p:sp>
        <p:nvSpPr>
          <p:cNvPr id="3" name="Content Placeholder 2">
            <a:extLst>
              <a:ext uri="{FF2B5EF4-FFF2-40B4-BE49-F238E27FC236}">
                <a16:creationId xmlns:a16="http://schemas.microsoft.com/office/drawing/2014/main" id="{7601EB1C-A980-C0DA-FD20-D883F93C1CD5}"/>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80D11A85-FF9E-F22B-B7C0-EA2EC51FE03C}"/>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D812CB58-0D28-64AA-7212-7C3ED3AB5C5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D47FB39-4AB4-760A-BC7B-BA467466C7FE}"/>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8" name="Picture 7">
            <a:extLst>
              <a:ext uri="{FF2B5EF4-FFF2-40B4-BE49-F238E27FC236}">
                <a16:creationId xmlns:a16="http://schemas.microsoft.com/office/drawing/2014/main" id="{84153503-A412-01E1-5C09-1BE7EE719BE5}"/>
              </a:ext>
            </a:extLst>
          </p:cNvPr>
          <p:cNvPicPr>
            <a:picLocks noChangeAspect="1"/>
          </p:cNvPicPr>
          <p:nvPr/>
        </p:nvPicPr>
        <p:blipFill>
          <a:blip r:embed="rId2"/>
          <a:stretch>
            <a:fillRect/>
          </a:stretch>
        </p:blipFill>
        <p:spPr>
          <a:xfrm>
            <a:off x="159721" y="1219200"/>
            <a:ext cx="8830907" cy="3172268"/>
          </a:xfrm>
          <a:prstGeom prst="rect">
            <a:avLst/>
          </a:prstGeom>
        </p:spPr>
      </p:pic>
    </p:spTree>
    <p:extLst>
      <p:ext uri="{BB962C8B-B14F-4D97-AF65-F5344CB8AC3E}">
        <p14:creationId xmlns:p14="http://schemas.microsoft.com/office/powerpoint/2010/main" val="19893064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C421C-747E-4A97-9D77-99F2DF78CC57}"/>
              </a:ext>
            </a:extLst>
          </p:cNvPr>
          <p:cNvSpPr>
            <a:spLocks noGrp="1"/>
          </p:cNvSpPr>
          <p:nvPr>
            <p:ph type="title"/>
          </p:nvPr>
        </p:nvSpPr>
        <p:spPr/>
        <p:txBody>
          <a:bodyPr/>
          <a:lstStyle/>
          <a:p>
            <a:r>
              <a:rPr lang="en-US" dirty="0"/>
              <a:t>At brief, how GANs work ?</a:t>
            </a:r>
            <a:endParaRPr lang="en-IN" dirty="0"/>
          </a:p>
        </p:txBody>
      </p:sp>
      <p:sp>
        <p:nvSpPr>
          <p:cNvPr id="3" name="Content Placeholder 2">
            <a:extLst>
              <a:ext uri="{FF2B5EF4-FFF2-40B4-BE49-F238E27FC236}">
                <a16:creationId xmlns:a16="http://schemas.microsoft.com/office/drawing/2014/main" id="{54C22FA8-6E8C-4990-9082-70BA4E9D106D}"/>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87D0F13F-672E-4DD3-9A5D-9D126E64F770}"/>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78FCC5CA-16A8-4A73-8AE1-1BABC0FB8EF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84037F-0770-4AC2-BEF8-CCF468007FDD}"/>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7" name="Picture 6">
            <a:extLst>
              <a:ext uri="{FF2B5EF4-FFF2-40B4-BE49-F238E27FC236}">
                <a16:creationId xmlns:a16="http://schemas.microsoft.com/office/drawing/2014/main" id="{3DA8AC2B-E915-4706-8EDD-BED6FCEDA49E}"/>
              </a:ext>
            </a:extLst>
          </p:cNvPr>
          <p:cNvPicPr>
            <a:picLocks noChangeAspect="1"/>
          </p:cNvPicPr>
          <p:nvPr/>
        </p:nvPicPr>
        <p:blipFill>
          <a:blip r:embed="rId2"/>
          <a:stretch>
            <a:fillRect/>
          </a:stretch>
        </p:blipFill>
        <p:spPr>
          <a:xfrm>
            <a:off x="574675" y="1232899"/>
            <a:ext cx="7620000" cy="3810000"/>
          </a:xfrm>
          <a:prstGeom prst="rect">
            <a:avLst/>
          </a:prstGeom>
        </p:spPr>
      </p:pic>
    </p:spTree>
    <p:extLst>
      <p:ext uri="{BB962C8B-B14F-4D97-AF65-F5344CB8AC3E}">
        <p14:creationId xmlns:p14="http://schemas.microsoft.com/office/powerpoint/2010/main" val="32453947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3FC56-E74D-4C51-B76C-F7ED34773F94}"/>
              </a:ext>
            </a:extLst>
          </p:cNvPr>
          <p:cNvSpPr>
            <a:spLocks noGrp="1"/>
          </p:cNvSpPr>
          <p:nvPr>
            <p:ph type="title"/>
          </p:nvPr>
        </p:nvSpPr>
        <p:spPr/>
        <p:txBody>
          <a:bodyPr/>
          <a:lstStyle/>
          <a:p>
            <a:r>
              <a:rPr lang="en-US" dirty="0"/>
              <a:t>Five steps of GANs</a:t>
            </a:r>
            <a:endParaRPr lang="en-IN" dirty="0"/>
          </a:p>
        </p:txBody>
      </p:sp>
      <p:sp>
        <p:nvSpPr>
          <p:cNvPr id="3" name="Content Placeholder 2">
            <a:extLst>
              <a:ext uri="{FF2B5EF4-FFF2-40B4-BE49-F238E27FC236}">
                <a16:creationId xmlns:a16="http://schemas.microsoft.com/office/drawing/2014/main" id="{F2EA143A-2411-45F4-A329-9702E31DFBCA}"/>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B377F009-7FC0-451E-9223-B79D849165C8}"/>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81B0E240-4A63-485B-B214-E4B21DC049F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3AEC94D3-E3DA-43A6-97FF-10F15B21AAF0}"/>
              </a:ext>
            </a:extLst>
          </p:cNvPr>
          <p:cNvSpPr>
            <a:spLocks noGrp="1"/>
          </p:cNvSpPr>
          <p:nvPr>
            <p:ph type="sldNum" sz="quarter" idx="12"/>
          </p:nvPr>
        </p:nvSpPr>
        <p:spPr/>
        <p:txBody>
          <a:bodyPr/>
          <a:lstStyle/>
          <a:p>
            <a:fld id="{BB2CE0DE-867F-455F-B20B-96D381B4AB71}" type="slidenum">
              <a:rPr lang="en-US" smtClean="0"/>
              <a:t>41</a:t>
            </a:fld>
            <a:endParaRPr lang="en-US"/>
          </a:p>
        </p:txBody>
      </p:sp>
      <p:pic>
        <p:nvPicPr>
          <p:cNvPr id="8" name="Picture 7">
            <a:extLst>
              <a:ext uri="{FF2B5EF4-FFF2-40B4-BE49-F238E27FC236}">
                <a16:creationId xmlns:a16="http://schemas.microsoft.com/office/drawing/2014/main" id="{A6CF7D00-E8FF-49A5-ADE4-BCE797136C0E}"/>
              </a:ext>
            </a:extLst>
          </p:cNvPr>
          <p:cNvPicPr>
            <a:picLocks noChangeAspect="1"/>
          </p:cNvPicPr>
          <p:nvPr/>
        </p:nvPicPr>
        <p:blipFill>
          <a:blip r:embed="rId2"/>
          <a:stretch>
            <a:fillRect/>
          </a:stretch>
        </p:blipFill>
        <p:spPr>
          <a:xfrm>
            <a:off x="402908" y="1224154"/>
            <a:ext cx="8344533" cy="3278209"/>
          </a:xfrm>
          <a:prstGeom prst="rect">
            <a:avLst/>
          </a:prstGeom>
        </p:spPr>
      </p:pic>
      <p:pic>
        <p:nvPicPr>
          <p:cNvPr id="10" name="Picture 9">
            <a:extLst>
              <a:ext uri="{FF2B5EF4-FFF2-40B4-BE49-F238E27FC236}">
                <a16:creationId xmlns:a16="http://schemas.microsoft.com/office/drawing/2014/main" id="{659B9C83-D442-4AF8-9D4C-09E3E025369B}"/>
              </a:ext>
            </a:extLst>
          </p:cNvPr>
          <p:cNvPicPr>
            <a:picLocks noChangeAspect="1"/>
          </p:cNvPicPr>
          <p:nvPr/>
        </p:nvPicPr>
        <p:blipFill>
          <a:blip r:embed="rId3"/>
          <a:stretch>
            <a:fillRect/>
          </a:stretch>
        </p:blipFill>
        <p:spPr>
          <a:xfrm>
            <a:off x="150019" y="5067442"/>
            <a:ext cx="8843962" cy="594475"/>
          </a:xfrm>
          <a:prstGeom prst="rect">
            <a:avLst/>
          </a:prstGeom>
        </p:spPr>
      </p:pic>
    </p:spTree>
    <p:extLst>
      <p:ext uri="{BB962C8B-B14F-4D97-AF65-F5344CB8AC3E}">
        <p14:creationId xmlns:p14="http://schemas.microsoft.com/office/powerpoint/2010/main" val="243927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6492-5CBA-3CC9-8760-69C25F197142}"/>
              </a:ext>
            </a:extLst>
          </p:cNvPr>
          <p:cNvSpPr>
            <a:spLocks noGrp="1"/>
          </p:cNvSpPr>
          <p:nvPr>
            <p:ph type="title"/>
          </p:nvPr>
        </p:nvSpPr>
        <p:spPr/>
        <p:txBody>
          <a:bodyPr/>
          <a:lstStyle/>
          <a:p>
            <a:r>
              <a:rPr lang="en-US" dirty="0"/>
              <a:t>Training GANs</a:t>
            </a:r>
            <a:endParaRPr lang="en-IN" dirty="0"/>
          </a:p>
        </p:txBody>
      </p:sp>
      <p:sp>
        <p:nvSpPr>
          <p:cNvPr id="3" name="Content Placeholder 2">
            <a:extLst>
              <a:ext uri="{FF2B5EF4-FFF2-40B4-BE49-F238E27FC236}">
                <a16:creationId xmlns:a16="http://schemas.microsoft.com/office/drawing/2014/main" id="{B9BA36CB-6225-4DA2-3E17-66F183FC5A37}"/>
              </a:ext>
            </a:extLst>
          </p:cNvPr>
          <p:cNvSpPr>
            <a:spLocks noGrp="1"/>
          </p:cNvSpPr>
          <p:nvPr>
            <p:ph idx="1"/>
          </p:nvPr>
        </p:nvSpPr>
        <p:spPr/>
        <p:txBody>
          <a:bodyPr/>
          <a:lstStyle/>
          <a:p>
            <a:pPr marL="0" indent="0" algn="just">
              <a:buNone/>
            </a:pPr>
            <a:r>
              <a:rPr lang="en-US" sz="1600" dirty="0"/>
              <a:t>In this GAN architecture diagram, both the Generator and the Discriminator are trained using the Discriminator’s loss. The Discriminator strives to minimize the loss; the Generator seeks to maximize the loss for the fake examples it produces.</a:t>
            </a:r>
          </a:p>
          <a:p>
            <a:pPr marL="0" indent="0" algn="just">
              <a:buNone/>
            </a:pPr>
            <a:endParaRPr lang="en-IN" sz="1600" dirty="0"/>
          </a:p>
        </p:txBody>
      </p:sp>
      <p:sp>
        <p:nvSpPr>
          <p:cNvPr id="4" name="Date Placeholder 3">
            <a:extLst>
              <a:ext uri="{FF2B5EF4-FFF2-40B4-BE49-F238E27FC236}">
                <a16:creationId xmlns:a16="http://schemas.microsoft.com/office/drawing/2014/main" id="{7FCA7A83-71C0-3839-EE92-92C18EADFCC8}"/>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5FDC1754-80CB-B3A0-67D4-F37B12C0B4F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56A217A-6902-1F3F-8C87-6F31C716053E}"/>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7" name="Picture 6">
            <a:extLst>
              <a:ext uri="{FF2B5EF4-FFF2-40B4-BE49-F238E27FC236}">
                <a16:creationId xmlns:a16="http://schemas.microsoft.com/office/drawing/2014/main" id="{975E1FA5-B472-88EC-B0FD-3CBED8A55BE6}"/>
              </a:ext>
            </a:extLst>
          </p:cNvPr>
          <p:cNvPicPr>
            <a:picLocks noChangeAspect="1"/>
          </p:cNvPicPr>
          <p:nvPr/>
        </p:nvPicPr>
        <p:blipFill>
          <a:blip r:embed="rId2"/>
          <a:stretch>
            <a:fillRect/>
          </a:stretch>
        </p:blipFill>
        <p:spPr>
          <a:xfrm>
            <a:off x="947738" y="2311039"/>
            <a:ext cx="7239000" cy="3963046"/>
          </a:xfrm>
          <a:prstGeom prst="rect">
            <a:avLst/>
          </a:prstGeom>
        </p:spPr>
      </p:pic>
    </p:spTree>
    <p:extLst>
      <p:ext uri="{BB962C8B-B14F-4D97-AF65-F5344CB8AC3E}">
        <p14:creationId xmlns:p14="http://schemas.microsoft.com/office/powerpoint/2010/main" val="39647181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5803B-622F-4E5D-B6B8-49D6DC4928C8}"/>
              </a:ext>
            </a:extLst>
          </p:cNvPr>
          <p:cNvSpPr>
            <a:spLocks noGrp="1"/>
          </p:cNvSpPr>
          <p:nvPr>
            <p:ph type="title"/>
          </p:nvPr>
        </p:nvSpPr>
        <p:spPr/>
        <p:txBody>
          <a:bodyPr/>
          <a:lstStyle/>
          <a:p>
            <a:r>
              <a:rPr lang="en-IN" dirty="0"/>
              <a:t>GAN training example</a:t>
            </a:r>
          </a:p>
        </p:txBody>
      </p:sp>
      <p:sp>
        <p:nvSpPr>
          <p:cNvPr id="3" name="Content Placeholder 2">
            <a:extLst>
              <a:ext uri="{FF2B5EF4-FFF2-40B4-BE49-F238E27FC236}">
                <a16:creationId xmlns:a16="http://schemas.microsoft.com/office/drawing/2014/main" id="{07EC086C-636B-423C-A6C5-367D081DBBF4}"/>
              </a:ext>
            </a:extLst>
          </p:cNvPr>
          <p:cNvSpPr>
            <a:spLocks noGrp="1"/>
          </p:cNvSpPr>
          <p:nvPr>
            <p:ph idx="1"/>
          </p:nvPr>
        </p:nvSpPr>
        <p:spPr/>
        <p:txBody>
          <a:bodyPr/>
          <a:lstStyle/>
          <a:p>
            <a:pPr algn="just"/>
            <a:r>
              <a:rPr lang="en-US" sz="1800" b="0" i="0" dirty="0">
                <a:solidFill>
                  <a:srgbClr val="333333"/>
                </a:solidFill>
                <a:effectLst/>
                <a:latin typeface="AmazonEmber"/>
              </a:rPr>
              <a:t>Let's contextualize the above with an example of the GAN model in image-to-image translation.</a:t>
            </a:r>
          </a:p>
          <a:p>
            <a:pPr algn="just"/>
            <a:r>
              <a:rPr lang="en-US" sz="1800" b="0" i="0" dirty="0">
                <a:solidFill>
                  <a:srgbClr val="333333"/>
                </a:solidFill>
                <a:effectLst/>
                <a:latin typeface="AmazonEmber"/>
              </a:rPr>
              <a:t>Consider that the input image is a human face that the GAN attempts to modify. For example, the attributes can be the shapes of eyes or ears. Let's say the generator changes the real images by adding sunglasses to them. The discriminator receives a set of images, some of real people with sunglasses and some generated images that were modified to include sunglasses.</a:t>
            </a:r>
          </a:p>
          <a:p>
            <a:pPr algn="just"/>
            <a:r>
              <a:rPr lang="en-US" sz="1800" b="0" i="0" dirty="0">
                <a:solidFill>
                  <a:srgbClr val="333333"/>
                </a:solidFill>
                <a:effectLst/>
                <a:latin typeface="AmazonEmber"/>
              </a:rPr>
              <a:t>If the discriminator can differentiate between fake and real, the generator updates its parameters to generate even better fake images. If the generator produces images that fool the discriminator, the discriminator updates its parameters. Competition improves both networks until equilibrium is reached.</a:t>
            </a:r>
          </a:p>
          <a:p>
            <a:pPr marL="0" indent="0" algn="just">
              <a:buNone/>
            </a:pPr>
            <a:endParaRPr lang="en-IN" sz="1800" dirty="0"/>
          </a:p>
        </p:txBody>
      </p:sp>
      <p:sp>
        <p:nvSpPr>
          <p:cNvPr id="4" name="Date Placeholder 3">
            <a:extLst>
              <a:ext uri="{FF2B5EF4-FFF2-40B4-BE49-F238E27FC236}">
                <a16:creationId xmlns:a16="http://schemas.microsoft.com/office/drawing/2014/main" id="{33557597-820B-4DB8-9677-330F4D381F43}"/>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67F08D7D-2D30-4E77-9F0A-BE48A22FA18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599DC8E9-DB7C-46F5-B159-22015A52CF72}"/>
              </a:ext>
            </a:extLst>
          </p:cNvPr>
          <p:cNvSpPr>
            <a:spLocks noGrp="1"/>
          </p:cNvSpPr>
          <p:nvPr>
            <p:ph type="sldNum" sz="quarter" idx="12"/>
          </p:nvPr>
        </p:nvSpPr>
        <p:spPr/>
        <p:txBody>
          <a:bodyPr/>
          <a:lstStyle/>
          <a:p>
            <a:fld id="{BB2CE0DE-867F-455F-B20B-96D381B4AB71}" type="slidenum">
              <a:rPr lang="en-US" smtClean="0"/>
              <a:t>43</a:t>
            </a:fld>
            <a:endParaRPr lang="en-US"/>
          </a:p>
        </p:txBody>
      </p:sp>
    </p:spTree>
    <p:extLst>
      <p:ext uri="{BB962C8B-B14F-4D97-AF65-F5344CB8AC3E}">
        <p14:creationId xmlns:p14="http://schemas.microsoft.com/office/powerpoint/2010/main" val="10667865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F5D9D-B0A7-4D85-BB19-803E87783C62}"/>
              </a:ext>
            </a:extLst>
          </p:cNvPr>
          <p:cNvSpPr>
            <a:spLocks noGrp="1"/>
          </p:cNvSpPr>
          <p:nvPr>
            <p:ph type="title"/>
          </p:nvPr>
        </p:nvSpPr>
        <p:spPr/>
        <p:txBody>
          <a:bodyPr/>
          <a:lstStyle/>
          <a:p>
            <a:r>
              <a:rPr lang="en-US" sz="2400" dirty="0"/>
              <a:t>How does a generative adversarial network work?</a:t>
            </a:r>
            <a:endParaRPr lang="en-IN" sz="2400" dirty="0"/>
          </a:p>
        </p:txBody>
      </p:sp>
      <p:sp>
        <p:nvSpPr>
          <p:cNvPr id="3" name="Content Placeholder 2">
            <a:extLst>
              <a:ext uri="{FF2B5EF4-FFF2-40B4-BE49-F238E27FC236}">
                <a16:creationId xmlns:a16="http://schemas.microsoft.com/office/drawing/2014/main" id="{1DF94007-7F2E-4D43-9D4E-0F88F395A7F8}"/>
              </a:ext>
            </a:extLst>
          </p:cNvPr>
          <p:cNvSpPr>
            <a:spLocks noGrp="1"/>
          </p:cNvSpPr>
          <p:nvPr>
            <p:ph idx="1"/>
          </p:nvPr>
        </p:nvSpPr>
        <p:spPr/>
        <p:txBody>
          <a:bodyPr/>
          <a:lstStyle/>
          <a:p>
            <a:pPr marL="0" indent="0" algn="just">
              <a:buNone/>
            </a:pPr>
            <a:r>
              <a:rPr lang="en-US" sz="1600" b="0" i="0" dirty="0">
                <a:solidFill>
                  <a:srgbClr val="333333"/>
                </a:solidFill>
                <a:effectLst/>
                <a:latin typeface="AmazonEmber"/>
              </a:rPr>
              <a:t>A generative adversarial network system comprises two deep neural networks—the </a:t>
            </a:r>
            <a:r>
              <a:rPr lang="en-US" sz="1600" b="0" i="1" dirty="0">
                <a:solidFill>
                  <a:srgbClr val="333333"/>
                </a:solidFill>
                <a:effectLst/>
                <a:latin typeface="AmazonEmber"/>
              </a:rPr>
              <a:t>generator network</a:t>
            </a:r>
            <a:r>
              <a:rPr lang="en-US" sz="1600" b="0" i="0" dirty="0">
                <a:solidFill>
                  <a:srgbClr val="333333"/>
                </a:solidFill>
                <a:effectLst/>
                <a:latin typeface="AmazonEmber"/>
              </a:rPr>
              <a:t> and the </a:t>
            </a:r>
            <a:r>
              <a:rPr lang="en-US" sz="1600" b="0" i="1" dirty="0">
                <a:solidFill>
                  <a:srgbClr val="333333"/>
                </a:solidFill>
                <a:effectLst/>
                <a:latin typeface="AmazonEmber"/>
              </a:rPr>
              <a:t>discriminator network</a:t>
            </a:r>
            <a:r>
              <a:rPr lang="en-US" sz="1600" b="0" i="0" dirty="0">
                <a:solidFill>
                  <a:srgbClr val="333333"/>
                </a:solidFill>
                <a:effectLst/>
                <a:latin typeface="AmazonEmber"/>
              </a:rPr>
              <a:t>. Both networks train in an adversarial game, where one tries to generate new data and the other attempts to predict if the output is fake or real data.</a:t>
            </a:r>
          </a:p>
          <a:p>
            <a:pPr marL="0" indent="0" algn="just">
              <a:buNone/>
            </a:pPr>
            <a:r>
              <a:rPr lang="en-US" sz="1600" b="0" i="0" dirty="0">
                <a:solidFill>
                  <a:srgbClr val="333333"/>
                </a:solidFill>
                <a:effectLst/>
                <a:latin typeface="AmazonEmber"/>
              </a:rPr>
              <a:t>Technically, the GAN works as follows. A complex mathematical equation forms the basis of the entire computing process, but this is a simplistic overview:</a:t>
            </a:r>
          </a:p>
          <a:p>
            <a:pPr algn="just">
              <a:buFont typeface="+mj-lt"/>
              <a:buAutoNum type="arabicPeriod"/>
            </a:pPr>
            <a:r>
              <a:rPr lang="en-US" sz="1600" b="0" i="0" dirty="0">
                <a:solidFill>
                  <a:srgbClr val="333333"/>
                </a:solidFill>
                <a:effectLst/>
                <a:latin typeface="AmazonEmber"/>
              </a:rPr>
              <a:t>The generator neural network analyzes the training set and identifies data attributes</a:t>
            </a:r>
          </a:p>
          <a:p>
            <a:pPr algn="just">
              <a:buFont typeface="+mj-lt"/>
              <a:buAutoNum type="arabicPeriod"/>
            </a:pPr>
            <a:r>
              <a:rPr lang="en-US" sz="1600" b="0" i="0" dirty="0">
                <a:solidFill>
                  <a:srgbClr val="333333"/>
                </a:solidFill>
                <a:effectLst/>
                <a:latin typeface="AmazonEmber"/>
              </a:rPr>
              <a:t>The discriminator neural network also analyzes the initial training data and distinguishes between the attributes independently</a:t>
            </a:r>
          </a:p>
          <a:p>
            <a:pPr algn="just">
              <a:buFont typeface="+mj-lt"/>
              <a:buAutoNum type="arabicPeriod"/>
            </a:pPr>
            <a:r>
              <a:rPr lang="en-US" sz="1600" b="0" i="0" dirty="0">
                <a:solidFill>
                  <a:srgbClr val="333333"/>
                </a:solidFill>
                <a:effectLst/>
                <a:latin typeface="AmazonEmber"/>
              </a:rPr>
              <a:t>The generator modifies some data attributes by adding noise (or random changes) to certain attributes</a:t>
            </a:r>
          </a:p>
          <a:p>
            <a:pPr algn="just">
              <a:buFont typeface="+mj-lt"/>
              <a:buAutoNum type="arabicPeriod"/>
            </a:pPr>
            <a:r>
              <a:rPr lang="en-US" sz="1600" b="0" i="0" dirty="0">
                <a:solidFill>
                  <a:srgbClr val="333333"/>
                </a:solidFill>
                <a:effectLst/>
                <a:latin typeface="AmazonEmber"/>
              </a:rPr>
              <a:t>The generator passes the modified data to the discriminator</a:t>
            </a:r>
          </a:p>
          <a:p>
            <a:pPr algn="just">
              <a:buFont typeface="+mj-lt"/>
              <a:buAutoNum type="arabicPeriod"/>
            </a:pPr>
            <a:r>
              <a:rPr lang="en-US" sz="1600" b="0" i="0" dirty="0">
                <a:solidFill>
                  <a:srgbClr val="333333"/>
                </a:solidFill>
                <a:effectLst/>
                <a:latin typeface="AmazonEmber"/>
              </a:rPr>
              <a:t>The discriminator calculates the probability that the generated output belongs to the original dataset</a:t>
            </a:r>
          </a:p>
          <a:p>
            <a:pPr algn="just">
              <a:buFont typeface="+mj-lt"/>
              <a:buAutoNum type="arabicPeriod"/>
            </a:pPr>
            <a:r>
              <a:rPr lang="en-US" sz="1600" b="0" i="0" dirty="0">
                <a:solidFill>
                  <a:srgbClr val="333333"/>
                </a:solidFill>
                <a:effectLst/>
                <a:latin typeface="AmazonEmber"/>
              </a:rPr>
              <a:t>The discriminator gives some guidance to the generator to reduce the noise vector randomization in the next cycle</a:t>
            </a:r>
          </a:p>
          <a:p>
            <a:pPr marL="0" indent="0" algn="just">
              <a:buNone/>
            </a:pPr>
            <a:r>
              <a:rPr lang="en-US" sz="1200" b="0" i="0" dirty="0">
                <a:solidFill>
                  <a:srgbClr val="333333"/>
                </a:solidFill>
                <a:effectLst/>
                <a:latin typeface="AmazonEmber"/>
              </a:rPr>
              <a:t>The generator attempts to maximize the probability of mistake by the discriminator, but the discriminator attempts to minimize the probability of error. In training iterations, both the generator and discriminator evolve and confront each other continuously until they reach an equilibrium state. In the equilibrium state, the discriminator can no longer recognize synthesized data. At this point, the training process is over.</a:t>
            </a:r>
            <a:endParaRPr lang="en-US" sz="2000" b="0" i="0" dirty="0">
              <a:solidFill>
                <a:srgbClr val="333333"/>
              </a:solidFill>
              <a:effectLst/>
              <a:latin typeface="AmazonEmber"/>
            </a:endParaRPr>
          </a:p>
          <a:p>
            <a:pPr marL="0" indent="0" algn="just">
              <a:buNone/>
            </a:pPr>
            <a:endParaRPr lang="en-IN" sz="1600" dirty="0"/>
          </a:p>
        </p:txBody>
      </p:sp>
      <p:sp>
        <p:nvSpPr>
          <p:cNvPr id="4" name="Date Placeholder 3">
            <a:extLst>
              <a:ext uri="{FF2B5EF4-FFF2-40B4-BE49-F238E27FC236}">
                <a16:creationId xmlns:a16="http://schemas.microsoft.com/office/drawing/2014/main" id="{6ABC44D6-4365-44B9-A1EA-35325BEBFEC6}"/>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89046F4F-738E-45C5-8EE5-0D1D3674745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A4404DBB-E9B6-42F2-BF7A-830B97314C18}"/>
              </a:ext>
            </a:extLst>
          </p:cNvPr>
          <p:cNvSpPr>
            <a:spLocks noGrp="1"/>
          </p:cNvSpPr>
          <p:nvPr>
            <p:ph type="sldNum" sz="quarter" idx="12"/>
          </p:nvPr>
        </p:nvSpPr>
        <p:spPr/>
        <p:txBody>
          <a:bodyPr/>
          <a:lstStyle/>
          <a:p>
            <a:fld id="{BB2CE0DE-867F-455F-B20B-96D381B4AB71}" type="slidenum">
              <a:rPr lang="en-US" smtClean="0"/>
              <a:t>44</a:t>
            </a:fld>
            <a:endParaRPr lang="en-US"/>
          </a:p>
        </p:txBody>
      </p:sp>
    </p:spTree>
    <p:extLst>
      <p:ext uri="{BB962C8B-B14F-4D97-AF65-F5344CB8AC3E}">
        <p14:creationId xmlns:p14="http://schemas.microsoft.com/office/powerpoint/2010/main" val="38506223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36705-ACA2-4F72-8F52-3FF948128F25}"/>
              </a:ext>
            </a:extLst>
          </p:cNvPr>
          <p:cNvSpPr>
            <a:spLocks noGrp="1"/>
          </p:cNvSpPr>
          <p:nvPr>
            <p:ph type="title"/>
          </p:nvPr>
        </p:nvSpPr>
        <p:spPr/>
        <p:txBody>
          <a:bodyPr/>
          <a:lstStyle/>
          <a:p>
            <a:r>
              <a:rPr lang="en-US" sz="2400" dirty="0"/>
              <a:t>How does a generative adversarial network work?</a:t>
            </a:r>
            <a:endParaRPr lang="en-IN" sz="2400" dirty="0"/>
          </a:p>
        </p:txBody>
      </p:sp>
      <p:sp>
        <p:nvSpPr>
          <p:cNvPr id="3" name="Content Placeholder 2">
            <a:extLst>
              <a:ext uri="{FF2B5EF4-FFF2-40B4-BE49-F238E27FC236}">
                <a16:creationId xmlns:a16="http://schemas.microsoft.com/office/drawing/2014/main" id="{F18442CE-23CB-4766-8056-775C86AC5B09}"/>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191CF35A-0B88-4EA3-9326-2B5145D3574E}"/>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48216BE5-8934-4BF1-A17F-302C27868F8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6A74FB0-8F7B-49E5-96FD-40F89E57BA62}"/>
              </a:ext>
            </a:extLst>
          </p:cNvPr>
          <p:cNvSpPr>
            <a:spLocks noGrp="1"/>
          </p:cNvSpPr>
          <p:nvPr>
            <p:ph type="sldNum" sz="quarter" idx="12"/>
          </p:nvPr>
        </p:nvSpPr>
        <p:spPr/>
        <p:txBody>
          <a:bodyPr/>
          <a:lstStyle/>
          <a:p>
            <a:fld id="{BB2CE0DE-867F-455F-B20B-96D381B4AB71}" type="slidenum">
              <a:rPr lang="en-US" smtClean="0"/>
              <a:t>45</a:t>
            </a:fld>
            <a:endParaRPr lang="en-US"/>
          </a:p>
        </p:txBody>
      </p:sp>
      <p:pic>
        <p:nvPicPr>
          <p:cNvPr id="9" name="Picture 8">
            <a:extLst>
              <a:ext uri="{FF2B5EF4-FFF2-40B4-BE49-F238E27FC236}">
                <a16:creationId xmlns:a16="http://schemas.microsoft.com/office/drawing/2014/main" id="{90B3D42F-F26F-44BD-94A4-9E4A738D0DDF}"/>
              </a:ext>
            </a:extLst>
          </p:cNvPr>
          <p:cNvPicPr>
            <a:picLocks noChangeAspect="1"/>
          </p:cNvPicPr>
          <p:nvPr/>
        </p:nvPicPr>
        <p:blipFill>
          <a:blip r:embed="rId2"/>
          <a:stretch>
            <a:fillRect/>
          </a:stretch>
        </p:blipFill>
        <p:spPr>
          <a:xfrm>
            <a:off x="329166" y="1172110"/>
            <a:ext cx="8492018" cy="3524036"/>
          </a:xfrm>
          <a:prstGeom prst="rect">
            <a:avLst/>
          </a:prstGeom>
        </p:spPr>
      </p:pic>
    </p:spTree>
    <p:extLst>
      <p:ext uri="{BB962C8B-B14F-4D97-AF65-F5344CB8AC3E}">
        <p14:creationId xmlns:p14="http://schemas.microsoft.com/office/powerpoint/2010/main" val="21314212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F4B80-3FAC-45B9-97D8-8ACAE9A125DB}"/>
              </a:ext>
            </a:extLst>
          </p:cNvPr>
          <p:cNvSpPr>
            <a:spLocks noGrp="1"/>
          </p:cNvSpPr>
          <p:nvPr>
            <p:ph type="title"/>
          </p:nvPr>
        </p:nvSpPr>
        <p:spPr/>
        <p:txBody>
          <a:bodyPr/>
          <a:lstStyle/>
          <a:p>
            <a:r>
              <a:rPr lang="en-US" dirty="0">
                <a:solidFill>
                  <a:srgbClr val="232F3E"/>
                </a:solidFill>
                <a:latin typeface="AmazonEmberBold"/>
              </a:rPr>
              <a:t>T</a:t>
            </a:r>
            <a:r>
              <a:rPr lang="en-US" b="0" i="0" dirty="0">
                <a:solidFill>
                  <a:srgbClr val="232F3E"/>
                </a:solidFill>
                <a:effectLst/>
                <a:latin typeface="AmazonEmberBold"/>
              </a:rPr>
              <a:t>ypes of generative adversarial networks</a:t>
            </a:r>
            <a:endParaRPr lang="en-IN" dirty="0"/>
          </a:p>
        </p:txBody>
      </p:sp>
      <p:sp>
        <p:nvSpPr>
          <p:cNvPr id="3" name="Content Placeholder 2">
            <a:extLst>
              <a:ext uri="{FF2B5EF4-FFF2-40B4-BE49-F238E27FC236}">
                <a16:creationId xmlns:a16="http://schemas.microsoft.com/office/drawing/2014/main" id="{E062A074-F475-4516-91BD-CD6820D580AF}"/>
              </a:ext>
            </a:extLst>
          </p:cNvPr>
          <p:cNvSpPr>
            <a:spLocks noGrp="1"/>
          </p:cNvSpPr>
          <p:nvPr>
            <p:ph idx="1"/>
          </p:nvPr>
        </p:nvSpPr>
        <p:spPr/>
        <p:txBody>
          <a:bodyPr/>
          <a:lstStyle/>
          <a:p>
            <a:pPr algn="just"/>
            <a:r>
              <a:rPr lang="en-US" sz="1400" b="0" i="0" dirty="0">
                <a:solidFill>
                  <a:schemeClr val="tx1"/>
                </a:solidFill>
                <a:effectLst/>
                <a:latin typeface="AmazonEmber"/>
              </a:rPr>
              <a:t>There are different types of GAN models depending on the mathematical formulas used and the different ways the generator and discriminator interact with each other.</a:t>
            </a:r>
          </a:p>
          <a:p>
            <a:pPr algn="just"/>
            <a:r>
              <a:rPr lang="en-US" sz="1400" dirty="0">
                <a:solidFill>
                  <a:schemeClr val="tx1"/>
                </a:solidFill>
                <a:latin typeface="AmazonEmber"/>
              </a:rPr>
              <a:t>S</a:t>
            </a:r>
            <a:r>
              <a:rPr lang="en-US" sz="1400" b="0" i="0" dirty="0">
                <a:solidFill>
                  <a:schemeClr val="tx1"/>
                </a:solidFill>
                <a:effectLst/>
                <a:latin typeface="AmazonEmber"/>
              </a:rPr>
              <a:t>ome commonly used models are listed below, but the list is not comprehensive. There are numerous other GAN types—that solve different types of problems.</a:t>
            </a:r>
          </a:p>
          <a:p>
            <a:pPr marL="0" indent="0" algn="just">
              <a:buNone/>
            </a:pPr>
            <a:endParaRPr lang="en-IN" sz="1400" dirty="0">
              <a:solidFill>
                <a:schemeClr val="tx1"/>
              </a:solidFill>
            </a:endParaRPr>
          </a:p>
          <a:p>
            <a:pPr marL="0" indent="0" algn="just">
              <a:buNone/>
            </a:pPr>
            <a:r>
              <a:rPr lang="en-US" sz="1400" b="1" i="0" dirty="0">
                <a:solidFill>
                  <a:schemeClr val="tx1"/>
                </a:solidFill>
                <a:effectLst/>
                <a:latin typeface="AmazonEmberBold"/>
              </a:rPr>
              <a:t>Conditional GAN: </a:t>
            </a:r>
            <a:r>
              <a:rPr lang="en-US" sz="1400" b="0" i="0" dirty="0">
                <a:solidFill>
                  <a:schemeClr val="tx1"/>
                </a:solidFill>
                <a:effectLst/>
                <a:latin typeface="AmazonEmber"/>
              </a:rPr>
              <a:t>A conditional GAN (</a:t>
            </a:r>
            <a:r>
              <a:rPr lang="en-US" sz="1400" b="0" i="0" dirty="0" err="1">
                <a:solidFill>
                  <a:schemeClr val="tx1"/>
                </a:solidFill>
                <a:effectLst/>
                <a:latin typeface="AmazonEmber"/>
              </a:rPr>
              <a:t>cGAN</a:t>
            </a:r>
            <a:r>
              <a:rPr lang="en-US" sz="1400" b="0" i="0" dirty="0">
                <a:solidFill>
                  <a:schemeClr val="tx1"/>
                </a:solidFill>
                <a:effectLst/>
                <a:latin typeface="AmazonEmber"/>
              </a:rPr>
              <a:t>) introduces the concept of conditionality, allowing for targeted data generation. The generator and discriminator receive additional information, typically as class labels or some other form of conditioning data. For instance, if generating images, the condition could be a label that describes the image content. Conditioning allows the generator to produce data that meets specific conditions.</a:t>
            </a:r>
          </a:p>
          <a:p>
            <a:pPr marL="0" indent="0" algn="just">
              <a:buNone/>
            </a:pPr>
            <a:r>
              <a:rPr lang="en-US" sz="1400" b="1" i="0" dirty="0">
                <a:solidFill>
                  <a:schemeClr val="tx1"/>
                </a:solidFill>
                <a:effectLst/>
                <a:latin typeface="AmazonEmberBold"/>
              </a:rPr>
              <a:t>Deep convolutional GAN: </a:t>
            </a:r>
            <a:r>
              <a:rPr lang="en-US" sz="1400" b="0" i="0" dirty="0">
                <a:solidFill>
                  <a:schemeClr val="tx1"/>
                </a:solidFill>
                <a:effectLst/>
                <a:latin typeface="AmazonEmber"/>
              </a:rPr>
              <a:t>Recognizing the power of convolutional neural networks (CNNs) in image processing, Deep convolutional GAN (DCGAN) integrates CNN architectures into GANs. With DCGAN, the generator uses transposed convolutions to upscale data distribution, and the discriminator also uses convolutional layers to classify data. The DCGAN also introduces architectural guidelines to make training more stable.</a:t>
            </a:r>
          </a:p>
          <a:p>
            <a:pPr marL="0" indent="0" algn="just">
              <a:buNone/>
            </a:pPr>
            <a:r>
              <a:rPr lang="en-US" sz="1400" b="1" i="0" dirty="0">
                <a:solidFill>
                  <a:schemeClr val="tx1"/>
                </a:solidFill>
                <a:effectLst/>
                <a:latin typeface="AmazonEmberBold"/>
              </a:rPr>
              <a:t>Super-resolution GAN: </a:t>
            </a:r>
            <a:r>
              <a:rPr lang="en-US" sz="1400" b="0" i="0" dirty="0">
                <a:solidFill>
                  <a:schemeClr val="tx1"/>
                </a:solidFill>
                <a:effectLst/>
                <a:latin typeface="AmazonEmber"/>
              </a:rPr>
              <a:t>Super-resolution GANS (SRGANs) focus on upscaling low-resolution images to high resolution. The goal is to enhance images to a higher resolution while maintaining image quality and details.</a:t>
            </a:r>
          </a:p>
          <a:p>
            <a:pPr marL="0" indent="0" algn="just">
              <a:buNone/>
            </a:pPr>
            <a:r>
              <a:rPr lang="en-US" sz="1400" b="1" i="0" dirty="0" err="1">
                <a:solidFill>
                  <a:schemeClr val="tx1"/>
                </a:solidFill>
                <a:effectLst/>
                <a:latin typeface="Google Sans"/>
              </a:rPr>
              <a:t>StyleGAN</a:t>
            </a:r>
            <a:r>
              <a:rPr lang="en-US" sz="1400" b="0" i="0" dirty="0">
                <a:solidFill>
                  <a:schemeClr val="tx1"/>
                </a:solidFill>
                <a:effectLst/>
                <a:latin typeface="Google Sans"/>
              </a:rPr>
              <a:t> is designed for generating high-resolution, realistic images with fine-grained control over style and attributes, making it suitable for tasks like photo-realistic image synthesis. </a:t>
            </a:r>
          </a:p>
          <a:p>
            <a:pPr marL="0" indent="0" algn="just">
              <a:buNone/>
            </a:pPr>
            <a:r>
              <a:rPr lang="en-US" sz="1400" b="1" i="0" dirty="0" err="1">
                <a:solidFill>
                  <a:schemeClr val="tx1"/>
                </a:solidFill>
                <a:effectLst/>
                <a:latin typeface="Google Sans"/>
              </a:rPr>
              <a:t>CycleGAN</a:t>
            </a:r>
            <a:r>
              <a:rPr lang="en-US" sz="1400" b="1" i="0" dirty="0">
                <a:solidFill>
                  <a:schemeClr val="tx1"/>
                </a:solidFill>
                <a:effectLst/>
                <a:latin typeface="Google Sans"/>
              </a:rPr>
              <a:t>, </a:t>
            </a:r>
            <a:r>
              <a:rPr lang="en-US" sz="1400" b="0" i="0" dirty="0">
                <a:solidFill>
                  <a:schemeClr val="tx1"/>
                </a:solidFill>
                <a:effectLst/>
                <a:latin typeface="Google Sans"/>
              </a:rPr>
              <a:t>on the other hand, focuses on unpaired image-to-image translation, enabling tasks like style transfer, season translation, and object transformation without the need for paired training data. </a:t>
            </a:r>
            <a:endParaRPr lang="en-IN" sz="1400" dirty="0">
              <a:solidFill>
                <a:schemeClr val="tx1"/>
              </a:solidFill>
            </a:endParaRPr>
          </a:p>
          <a:p>
            <a:pPr marL="0" indent="0" algn="just">
              <a:buNone/>
            </a:pPr>
            <a:endParaRPr lang="en-US" sz="1400" b="0" i="0" dirty="0">
              <a:solidFill>
                <a:schemeClr val="tx1"/>
              </a:solidFill>
              <a:effectLst/>
              <a:latin typeface="AmazonEmber"/>
            </a:endParaRPr>
          </a:p>
          <a:p>
            <a:pPr marL="0" indent="0" algn="just">
              <a:buNone/>
            </a:pPr>
            <a:endParaRPr lang="en-IN" sz="1400" dirty="0">
              <a:solidFill>
                <a:schemeClr val="tx1"/>
              </a:solidFill>
            </a:endParaRPr>
          </a:p>
        </p:txBody>
      </p:sp>
      <p:sp>
        <p:nvSpPr>
          <p:cNvPr id="4" name="Date Placeholder 3">
            <a:extLst>
              <a:ext uri="{FF2B5EF4-FFF2-40B4-BE49-F238E27FC236}">
                <a16:creationId xmlns:a16="http://schemas.microsoft.com/office/drawing/2014/main" id="{388F9ED6-D013-47CD-A83F-5AC1500169FC}"/>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E6741880-4F0C-40C7-B145-644BA8CC4DF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071653C-C3EA-445F-BCF6-2F94B2115E4B}"/>
              </a:ext>
            </a:extLst>
          </p:cNvPr>
          <p:cNvSpPr>
            <a:spLocks noGrp="1"/>
          </p:cNvSpPr>
          <p:nvPr>
            <p:ph type="sldNum" sz="quarter" idx="12"/>
          </p:nvPr>
        </p:nvSpPr>
        <p:spPr/>
        <p:txBody>
          <a:bodyPr/>
          <a:lstStyle/>
          <a:p>
            <a:fld id="{BB2CE0DE-867F-455F-B20B-96D381B4AB71}" type="slidenum">
              <a:rPr lang="en-US" smtClean="0"/>
              <a:t>46</a:t>
            </a:fld>
            <a:endParaRPr lang="en-US"/>
          </a:p>
        </p:txBody>
      </p:sp>
    </p:spTree>
    <p:extLst>
      <p:ext uri="{BB962C8B-B14F-4D97-AF65-F5344CB8AC3E}">
        <p14:creationId xmlns:p14="http://schemas.microsoft.com/office/powerpoint/2010/main" val="14870277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E46C-3386-47D9-8C3D-26FA6A83371D}"/>
              </a:ext>
            </a:extLst>
          </p:cNvPr>
          <p:cNvSpPr>
            <a:spLocks noGrp="1"/>
          </p:cNvSpPr>
          <p:nvPr>
            <p:ph type="title"/>
          </p:nvPr>
        </p:nvSpPr>
        <p:spPr/>
        <p:txBody>
          <a:bodyPr/>
          <a:lstStyle/>
          <a:p>
            <a:r>
              <a:rPr lang="en-US" dirty="0"/>
              <a:t>Applications of GANs</a:t>
            </a:r>
            <a:endParaRPr lang="en-IN" dirty="0"/>
          </a:p>
        </p:txBody>
      </p:sp>
      <p:sp>
        <p:nvSpPr>
          <p:cNvPr id="3" name="Content Placeholder 2">
            <a:extLst>
              <a:ext uri="{FF2B5EF4-FFF2-40B4-BE49-F238E27FC236}">
                <a16:creationId xmlns:a16="http://schemas.microsoft.com/office/drawing/2014/main" id="{35F6C80B-0A46-4BC5-9B6E-259EC29DD2AC}"/>
              </a:ext>
            </a:extLst>
          </p:cNvPr>
          <p:cNvSpPr>
            <a:spLocks noGrp="1"/>
          </p:cNvSpPr>
          <p:nvPr>
            <p:ph idx="1"/>
          </p:nvPr>
        </p:nvSpPr>
        <p:spPr/>
        <p:txBody>
          <a:bodyPr/>
          <a:lstStyle/>
          <a:p>
            <a:pPr marL="0" indent="0">
              <a:buNone/>
            </a:pPr>
            <a:r>
              <a:rPr lang="en-US" sz="1600" dirty="0"/>
              <a:t>1. Generating realistic images: GANs can create entirely new, realistic images, such as human faces, landscapes, or objects, based on learned patterns from training data</a:t>
            </a:r>
          </a:p>
          <a:p>
            <a:pPr marL="0" indent="0">
              <a:buNone/>
            </a:pPr>
            <a:r>
              <a:rPr lang="en-US" sz="1600" dirty="0"/>
              <a:t>2. Image-to-image translation: GANs can translate images from one domain to another, like converting a sketch to a realistic photo, changing seasons in a picture, or translating day to night. </a:t>
            </a:r>
          </a:p>
          <a:p>
            <a:pPr marL="0" indent="0">
              <a:buNone/>
            </a:pPr>
            <a:r>
              <a:rPr lang="en-US" sz="1600" dirty="0"/>
              <a:t>3. Super-resolution: GANs can enhance the resolution of low-resolution images, improving clarity and detail. </a:t>
            </a:r>
          </a:p>
          <a:p>
            <a:pPr marL="0" indent="0">
              <a:buNone/>
            </a:pPr>
            <a:r>
              <a:rPr lang="en-US" sz="1600" dirty="0"/>
              <a:t>4. Video prediction: GANs can predict future frames in a video sequence, useful for tasks like video forecasting or generating virtual environments. </a:t>
            </a:r>
          </a:p>
          <a:p>
            <a:pPr marL="0" indent="0">
              <a:buNone/>
            </a:pPr>
            <a:r>
              <a:rPr lang="en-US" sz="1600" dirty="0"/>
              <a:t>5. Text-to-image synthesis: GANs can generate images based on textual descriptions, allowing for AI-generated art and content creation</a:t>
            </a:r>
          </a:p>
          <a:p>
            <a:pPr marL="0" indent="0">
              <a:buNone/>
            </a:pPr>
            <a:r>
              <a:rPr lang="en-US" sz="1600" dirty="0"/>
              <a:t>6. Speech Synthesis: Generating human speech from text or other input. Music Generation: Creating new musical pieces or melodies. </a:t>
            </a:r>
            <a:endParaRPr lang="en-IN" sz="1600" dirty="0"/>
          </a:p>
        </p:txBody>
      </p:sp>
      <p:sp>
        <p:nvSpPr>
          <p:cNvPr id="4" name="Date Placeholder 3">
            <a:extLst>
              <a:ext uri="{FF2B5EF4-FFF2-40B4-BE49-F238E27FC236}">
                <a16:creationId xmlns:a16="http://schemas.microsoft.com/office/drawing/2014/main" id="{018AA952-B730-4531-8AC6-1182616B2FD7}"/>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C5941569-F6E8-4879-922C-A73E3F4C360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127224F-3043-4A25-B580-A0D11740022B}"/>
              </a:ext>
            </a:extLst>
          </p:cNvPr>
          <p:cNvSpPr>
            <a:spLocks noGrp="1"/>
          </p:cNvSpPr>
          <p:nvPr>
            <p:ph type="sldNum" sz="quarter" idx="12"/>
          </p:nvPr>
        </p:nvSpPr>
        <p:spPr/>
        <p:txBody>
          <a:bodyPr/>
          <a:lstStyle/>
          <a:p>
            <a:fld id="{BB2CE0DE-867F-455F-B20B-96D381B4AB71}" type="slidenum">
              <a:rPr lang="en-US" smtClean="0"/>
              <a:t>47</a:t>
            </a:fld>
            <a:endParaRPr lang="en-US"/>
          </a:p>
        </p:txBody>
      </p:sp>
    </p:spTree>
    <p:extLst>
      <p:ext uri="{BB962C8B-B14F-4D97-AF65-F5344CB8AC3E}">
        <p14:creationId xmlns:p14="http://schemas.microsoft.com/office/powerpoint/2010/main" val="7521368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9DE01-AFAB-4B6B-A9D4-D77F26437682}"/>
              </a:ext>
            </a:extLst>
          </p:cNvPr>
          <p:cNvSpPr>
            <a:spLocks noGrp="1"/>
          </p:cNvSpPr>
          <p:nvPr>
            <p:ph type="title"/>
          </p:nvPr>
        </p:nvSpPr>
        <p:spPr/>
        <p:txBody>
          <a:bodyPr/>
          <a:lstStyle/>
          <a:p>
            <a:r>
              <a:rPr lang="en-IN" dirty="0"/>
              <a:t>Advantages of GAN</a:t>
            </a:r>
          </a:p>
        </p:txBody>
      </p:sp>
      <p:sp>
        <p:nvSpPr>
          <p:cNvPr id="3" name="Content Placeholder 2">
            <a:extLst>
              <a:ext uri="{FF2B5EF4-FFF2-40B4-BE49-F238E27FC236}">
                <a16:creationId xmlns:a16="http://schemas.microsoft.com/office/drawing/2014/main" id="{09C43F05-6448-4753-B834-3EDC2062BFD5}"/>
              </a:ext>
            </a:extLst>
          </p:cNvPr>
          <p:cNvSpPr>
            <a:spLocks noGrp="1"/>
          </p:cNvSpPr>
          <p:nvPr>
            <p:ph idx="1"/>
          </p:nvPr>
        </p:nvSpPr>
        <p:spPr/>
        <p:txBody>
          <a:bodyPr/>
          <a:lstStyle/>
          <a:p>
            <a:pPr algn="just" fontAlgn="base">
              <a:buFont typeface="+mj-lt"/>
              <a:buAutoNum type="arabicPeriod"/>
            </a:pPr>
            <a:r>
              <a:rPr lang="en-US" sz="1800" b="1" i="0" dirty="0">
                <a:solidFill>
                  <a:srgbClr val="273239"/>
                </a:solidFill>
                <a:effectLst/>
                <a:latin typeface="Nunito" pitchFamily="2" charset="0"/>
              </a:rPr>
              <a:t>Synthetic Data Generation: </a:t>
            </a:r>
            <a:r>
              <a:rPr lang="en-US" sz="1800" b="0" i="0" dirty="0">
                <a:solidFill>
                  <a:srgbClr val="273239"/>
                </a:solidFill>
                <a:effectLst/>
                <a:latin typeface="Nunito" pitchFamily="2" charset="0"/>
              </a:rPr>
              <a:t>GANs produce new, synthetic data resembling real data distributions which is useful for augmentation, anomaly detection and creative tasks.</a:t>
            </a:r>
          </a:p>
          <a:p>
            <a:pPr algn="just" fontAlgn="base">
              <a:buFont typeface="+mj-lt"/>
              <a:buAutoNum type="arabicPeriod" startAt="2"/>
            </a:pPr>
            <a:r>
              <a:rPr lang="en-US" sz="1800" b="1" i="0" dirty="0">
                <a:solidFill>
                  <a:srgbClr val="273239"/>
                </a:solidFill>
                <a:effectLst/>
                <a:latin typeface="Nunito" pitchFamily="2" charset="0"/>
              </a:rPr>
              <a:t>High-Quality Results</a:t>
            </a:r>
            <a:r>
              <a:rPr lang="en-US" sz="1800" b="0" i="0" dirty="0">
                <a:solidFill>
                  <a:srgbClr val="273239"/>
                </a:solidFill>
                <a:effectLst/>
                <a:latin typeface="Nunito" pitchFamily="2" charset="0"/>
              </a:rPr>
              <a:t>: They can generate photorealistic images, videos, music and other media with high quality.</a:t>
            </a:r>
          </a:p>
          <a:p>
            <a:pPr algn="just" fontAlgn="base">
              <a:buFont typeface="+mj-lt"/>
              <a:buAutoNum type="arabicPeriod" startAt="3"/>
            </a:pPr>
            <a:r>
              <a:rPr lang="en-US" sz="1800" b="1" i="0" dirty="0">
                <a:solidFill>
                  <a:srgbClr val="273239"/>
                </a:solidFill>
                <a:effectLst/>
                <a:latin typeface="Nunito" pitchFamily="2" charset="0"/>
              </a:rPr>
              <a:t>Unsupervised Learning</a:t>
            </a:r>
            <a:r>
              <a:rPr lang="en-US" sz="1800" b="0" i="0" dirty="0">
                <a:solidFill>
                  <a:srgbClr val="273239"/>
                </a:solidFill>
                <a:effectLst/>
                <a:latin typeface="Nunito" pitchFamily="2" charset="0"/>
              </a:rPr>
              <a:t>: They don’t require labeled data helps in making them effective in scenarios where labeling is expensive or difficult.</a:t>
            </a:r>
          </a:p>
          <a:p>
            <a:pPr algn="just" fontAlgn="base">
              <a:buFont typeface="+mj-lt"/>
              <a:buAutoNum type="arabicPeriod" startAt="4"/>
            </a:pPr>
            <a:r>
              <a:rPr lang="en-US" sz="1800" b="1" i="0" dirty="0">
                <a:solidFill>
                  <a:srgbClr val="273239"/>
                </a:solidFill>
                <a:effectLst/>
                <a:latin typeface="Nunito" pitchFamily="2" charset="0"/>
              </a:rPr>
              <a:t>Versatility</a:t>
            </a:r>
            <a:r>
              <a:rPr lang="en-US" sz="1800" b="0" i="0" dirty="0">
                <a:solidFill>
                  <a:srgbClr val="273239"/>
                </a:solidFill>
                <a:effectLst/>
                <a:latin typeface="Nunito" pitchFamily="2" charset="0"/>
              </a:rPr>
              <a:t>: They can be applied across many tasks including image synthesis, text-to-image generation, style transfer, anomaly detection and more.</a:t>
            </a:r>
          </a:p>
          <a:p>
            <a:pPr marL="0" indent="0" algn="just">
              <a:buNone/>
            </a:pPr>
            <a:endParaRPr lang="en-IN" sz="1800" dirty="0"/>
          </a:p>
        </p:txBody>
      </p:sp>
      <p:sp>
        <p:nvSpPr>
          <p:cNvPr id="4" name="Date Placeholder 3">
            <a:extLst>
              <a:ext uri="{FF2B5EF4-FFF2-40B4-BE49-F238E27FC236}">
                <a16:creationId xmlns:a16="http://schemas.microsoft.com/office/drawing/2014/main" id="{6B406542-0B04-4C6B-A5AB-325EE07DD55F}"/>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3FE81B7E-EEA4-44ED-A52C-F175F129570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265E1C2-C1EC-4931-81F4-DF7E11605298}"/>
              </a:ext>
            </a:extLst>
          </p:cNvPr>
          <p:cNvSpPr>
            <a:spLocks noGrp="1"/>
          </p:cNvSpPr>
          <p:nvPr>
            <p:ph type="sldNum" sz="quarter" idx="12"/>
          </p:nvPr>
        </p:nvSpPr>
        <p:spPr/>
        <p:txBody>
          <a:bodyPr/>
          <a:lstStyle/>
          <a:p>
            <a:fld id="{BB2CE0DE-867F-455F-B20B-96D381B4AB71}" type="slidenum">
              <a:rPr lang="en-US" smtClean="0"/>
              <a:t>48</a:t>
            </a:fld>
            <a:endParaRPr lang="en-US"/>
          </a:p>
        </p:txBody>
      </p:sp>
    </p:spTree>
    <p:extLst>
      <p:ext uri="{BB962C8B-B14F-4D97-AF65-F5344CB8AC3E}">
        <p14:creationId xmlns:p14="http://schemas.microsoft.com/office/powerpoint/2010/main" val="25460808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A9B2E-79A2-4782-ABF3-223B0706E304}"/>
              </a:ext>
            </a:extLst>
          </p:cNvPr>
          <p:cNvSpPr>
            <a:spLocks noGrp="1"/>
          </p:cNvSpPr>
          <p:nvPr>
            <p:ph type="title"/>
          </p:nvPr>
        </p:nvSpPr>
        <p:spPr/>
        <p:txBody>
          <a:bodyPr/>
          <a:lstStyle/>
          <a:p>
            <a:r>
              <a:rPr lang="en-US" dirty="0"/>
              <a:t>Limitations of GANs</a:t>
            </a:r>
            <a:endParaRPr lang="en-IN" dirty="0"/>
          </a:p>
        </p:txBody>
      </p:sp>
      <p:sp>
        <p:nvSpPr>
          <p:cNvPr id="3" name="Content Placeholder 2">
            <a:extLst>
              <a:ext uri="{FF2B5EF4-FFF2-40B4-BE49-F238E27FC236}">
                <a16:creationId xmlns:a16="http://schemas.microsoft.com/office/drawing/2014/main" id="{79CA46FB-074E-4399-A8CF-3F89AABDA1A6}"/>
              </a:ext>
            </a:extLst>
          </p:cNvPr>
          <p:cNvSpPr>
            <a:spLocks noGrp="1"/>
          </p:cNvSpPr>
          <p:nvPr>
            <p:ph idx="1"/>
          </p:nvPr>
        </p:nvSpPr>
        <p:spPr/>
        <p:txBody>
          <a:bodyPr/>
          <a:lstStyle/>
          <a:p>
            <a:pPr marL="0" indent="0" algn="just">
              <a:buNone/>
            </a:pPr>
            <a:r>
              <a:rPr lang="en-US" sz="1600" b="1" dirty="0"/>
              <a:t>1. Training Instability: </a:t>
            </a:r>
            <a:r>
              <a:rPr lang="en-US" sz="1600" dirty="0"/>
              <a:t>This adversarial setup can lead to unstable convergence, where the networks do not improve in a balanced manner. If the discriminator becomes too strong, the generator may struggle to produce realistic data, and vice versa. This instability can result in prolonged training times and inconsistent results.</a:t>
            </a:r>
          </a:p>
          <a:p>
            <a:pPr marL="0" indent="0" algn="just">
              <a:buNone/>
            </a:pPr>
            <a:r>
              <a:rPr lang="en-US" sz="1600" b="1" dirty="0"/>
              <a:t>2. Mode Collapse: </a:t>
            </a:r>
            <a:r>
              <a:rPr lang="en-US" sz="1600" dirty="0"/>
              <a:t>Mode collapse is a common issue in GAN training, where the generator produces a limited variety of outputs, failing to capture the diversity of the real data distribution.</a:t>
            </a:r>
          </a:p>
          <a:p>
            <a:pPr marL="0" indent="0" algn="just">
              <a:buNone/>
            </a:pPr>
            <a:r>
              <a:rPr lang="en-US" sz="1600" b="1" dirty="0"/>
              <a:t>3. Sensitivity to Hyperparameters: </a:t>
            </a:r>
            <a:r>
              <a:rPr lang="en-US" sz="1600" dirty="0"/>
              <a:t>GANs are highly sensitive to hyperparameters, such as learning rates, batch sizes, and network architectures. Small changes in these parameters can significantly impact the training process and the quality of the generated outputs. </a:t>
            </a:r>
          </a:p>
          <a:p>
            <a:pPr marL="0" indent="0" algn="just">
              <a:buNone/>
            </a:pPr>
            <a:r>
              <a:rPr lang="en-US" sz="1600" b="1" dirty="0"/>
              <a:t>4. High Computational Cost: </a:t>
            </a:r>
            <a:r>
              <a:rPr lang="en-US" sz="1600" dirty="0"/>
              <a:t>Training GANs is computationally intensive, often requiring powerful hardware, such as GPUs or TPUs, and substantial time. </a:t>
            </a:r>
            <a:endParaRPr lang="en-IN" sz="1600" dirty="0"/>
          </a:p>
        </p:txBody>
      </p:sp>
      <p:sp>
        <p:nvSpPr>
          <p:cNvPr id="4" name="Date Placeholder 3">
            <a:extLst>
              <a:ext uri="{FF2B5EF4-FFF2-40B4-BE49-F238E27FC236}">
                <a16:creationId xmlns:a16="http://schemas.microsoft.com/office/drawing/2014/main" id="{50CD4E78-5F48-4A01-A949-D41EB348C86F}"/>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BC92DA8E-F3DC-4506-940D-DDB4CFA0DF0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378F00B-2F00-4481-A580-F3A3EA0F0422}"/>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12750654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55D32-BA2D-459E-8A55-6D8A3BC119EF}"/>
              </a:ext>
            </a:extLst>
          </p:cNvPr>
          <p:cNvSpPr>
            <a:spLocks noGrp="1"/>
          </p:cNvSpPr>
          <p:nvPr>
            <p:ph type="title"/>
          </p:nvPr>
        </p:nvSpPr>
        <p:spPr/>
        <p:txBody>
          <a:bodyPr/>
          <a:lstStyle/>
          <a:p>
            <a:r>
              <a:rPr lang="en-US" dirty="0"/>
              <a:t>Diffusion Models vs GANs</a:t>
            </a:r>
            <a:endParaRPr lang="en-IN" dirty="0"/>
          </a:p>
        </p:txBody>
      </p:sp>
      <p:sp>
        <p:nvSpPr>
          <p:cNvPr id="3" name="Content Placeholder 2">
            <a:extLst>
              <a:ext uri="{FF2B5EF4-FFF2-40B4-BE49-F238E27FC236}">
                <a16:creationId xmlns:a16="http://schemas.microsoft.com/office/drawing/2014/main" id="{62F2367A-73B7-457F-B2DC-0272196593D8}"/>
              </a:ext>
            </a:extLst>
          </p:cNvPr>
          <p:cNvSpPr>
            <a:spLocks noGrp="1"/>
          </p:cNvSpPr>
          <p:nvPr>
            <p:ph idx="1"/>
          </p:nvPr>
        </p:nvSpPr>
        <p:spPr/>
        <p:txBody>
          <a:bodyPr/>
          <a:lstStyle/>
          <a:p>
            <a:pPr algn="just"/>
            <a:r>
              <a:rPr lang="en-US" b="0" i="0" dirty="0">
                <a:solidFill>
                  <a:srgbClr val="001D35"/>
                </a:solidFill>
                <a:effectLst/>
                <a:latin typeface="Google Sans"/>
              </a:rPr>
              <a:t>GANs (Generative Adversarial Networks) and Diffusion Models are both types of generative AI models, but they differ significantly in their </a:t>
            </a:r>
            <a:r>
              <a:rPr lang="en-US" b="1" i="0" dirty="0">
                <a:solidFill>
                  <a:srgbClr val="001D35"/>
                </a:solidFill>
                <a:effectLst/>
                <a:latin typeface="Google Sans"/>
              </a:rPr>
              <a:t>approach</a:t>
            </a:r>
            <a:r>
              <a:rPr lang="en-US" b="0" i="0" dirty="0">
                <a:solidFill>
                  <a:srgbClr val="001D35"/>
                </a:solidFill>
                <a:effectLst/>
                <a:latin typeface="Google Sans"/>
              </a:rPr>
              <a:t> and characteristics.</a:t>
            </a:r>
          </a:p>
          <a:p>
            <a:pPr algn="just"/>
            <a:r>
              <a:rPr lang="en-US" b="0" i="0" dirty="0">
                <a:solidFill>
                  <a:srgbClr val="001D35"/>
                </a:solidFill>
                <a:effectLst/>
                <a:latin typeface="Google Sans"/>
              </a:rPr>
              <a:t>GANs mine a generator against a discriminator, while diffusion models iteratively add and remove noise to generate data. </a:t>
            </a:r>
          </a:p>
          <a:p>
            <a:pPr algn="just"/>
            <a:r>
              <a:rPr lang="en-US" b="1" i="0" dirty="0">
                <a:solidFill>
                  <a:srgbClr val="001D35"/>
                </a:solidFill>
                <a:effectLst/>
                <a:latin typeface="Google Sans"/>
              </a:rPr>
              <a:t>GANs</a:t>
            </a:r>
            <a:r>
              <a:rPr lang="en-US" b="0" i="0" dirty="0">
                <a:solidFill>
                  <a:srgbClr val="001D35"/>
                </a:solidFill>
                <a:effectLst/>
                <a:latin typeface="Google Sans"/>
              </a:rPr>
              <a:t> are generally </a:t>
            </a:r>
            <a:r>
              <a:rPr lang="en-US" b="1" i="0" dirty="0">
                <a:solidFill>
                  <a:srgbClr val="001D35"/>
                </a:solidFill>
                <a:effectLst/>
                <a:latin typeface="Google Sans"/>
              </a:rPr>
              <a:t>faster</a:t>
            </a:r>
            <a:r>
              <a:rPr lang="en-US" b="0" i="0" dirty="0">
                <a:solidFill>
                  <a:srgbClr val="001D35"/>
                </a:solidFill>
                <a:effectLst/>
                <a:latin typeface="Google Sans"/>
              </a:rPr>
              <a:t> but can be </a:t>
            </a:r>
            <a:r>
              <a:rPr lang="en-US" b="1" i="0" dirty="0">
                <a:solidFill>
                  <a:srgbClr val="001D35"/>
                </a:solidFill>
                <a:effectLst/>
                <a:latin typeface="Google Sans"/>
              </a:rPr>
              <a:t>unstable</a:t>
            </a:r>
            <a:r>
              <a:rPr lang="en-US" b="0" i="0" dirty="0">
                <a:solidFill>
                  <a:srgbClr val="001D35"/>
                </a:solidFill>
                <a:effectLst/>
                <a:latin typeface="Google Sans"/>
              </a:rPr>
              <a:t>, while </a:t>
            </a:r>
            <a:r>
              <a:rPr lang="en-US" b="1" i="0" dirty="0">
                <a:solidFill>
                  <a:srgbClr val="001D35"/>
                </a:solidFill>
                <a:effectLst/>
                <a:latin typeface="Google Sans"/>
              </a:rPr>
              <a:t>diffusion models </a:t>
            </a:r>
            <a:r>
              <a:rPr lang="en-US" b="0" i="0" dirty="0">
                <a:solidFill>
                  <a:srgbClr val="001D35"/>
                </a:solidFill>
                <a:effectLst/>
                <a:latin typeface="Google Sans"/>
              </a:rPr>
              <a:t>are more </a:t>
            </a:r>
            <a:r>
              <a:rPr lang="en-US" b="1" i="0" dirty="0">
                <a:solidFill>
                  <a:srgbClr val="001D35"/>
                </a:solidFill>
                <a:effectLst/>
                <a:latin typeface="Google Sans"/>
              </a:rPr>
              <a:t>stable</a:t>
            </a:r>
            <a:r>
              <a:rPr lang="en-US" b="0" i="0" dirty="0">
                <a:solidFill>
                  <a:srgbClr val="001D35"/>
                </a:solidFill>
                <a:effectLst/>
                <a:latin typeface="Google Sans"/>
              </a:rPr>
              <a:t> but </a:t>
            </a:r>
            <a:r>
              <a:rPr lang="en-US" b="1" i="0" dirty="0">
                <a:solidFill>
                  <a:srgbClr val="001D35"/>
                </a:solidFill>
                <a:effectLst/>
                <a:latin typeface="Google Sans"/>
              </a:rPr>
              <a:t>slower</a:t>
            </a:r>
            <a:r>
              <a:rPr lang="en-US" b="0" i="0" dirty="0">
                <a:solidFill>
                  <a:srgbClr val="001D35"/>
                </a:solidFill>
                <a:effectLst/>
                <a:latin typeface="Google Sans"/>
              </a:rPr>
              <a:t>. </a:t>
            </a:r>
          </a:p>
          <a:p>
            <a:pPr algn="just"/>
            <a:endParaRPr lang="en-IN" dirty="0"/>
          </a:p>
        </p:txBody>
      </p:sp>
      <p:sp>
        <p:nvSpPr>
          <p:cNvPr id="4" name="Date Placeholder 3">
            <a:extLst>
              <a:ext uri="{FF2B5EF4-FFF2-40B4-BE49-F238E27FC236}">
                <a16:creationId xmlns:a16="http://schemas.microsoft.com/office/drawing/2014/main" id="{389F22AB-9E1A-4ED5-AAF4-AC4634C42C13}"/>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95921F52-12BA-4FB6-905D-8DA2F46C4B0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5BF212E-61F7-454B-985C-8D7AA1CD1649}"/>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31086058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0873E-925F-49DA-8BEF-CA08D5FF4133}"/>
              </a:ext>
            </a:extLst>
          </p:cNvPr>
          <p:cNvSpPr>
            <a:spLocks noGrp="1"/>
          </p:cNvSpPr>
          <p:nvPr>
            <p:ph type="title"/>
          </p:nvPr>
        </p:nvSpPr>
        <p:spPr/>
        <p:txBody>
          <a:bodyPr/>
          <a:lstStyle/>
          <a:p>
            <a:r>
              <a:rPr lang="en-IN" dirty="0"/>
              <a:t>Introduction to Diffusion Models</a:t>
            </a:r>
          </a:p>
        </p:txBody>
      </p:sp>
      <p:sp>
        <p:nvSpPr>
          <p:cNvPr id="3" name="Content Placeholder 2">
            <a:extLst>
              <a:ext uri="{FF2B5EF4-FFF2-40B4-BE49-F238E27FC236}">
                <a16:creationId xmlns:a16="http://schemas.microsoft.com/office/drawing/2014/main" id="{51AB319D-0489-4463-AF1F-CF5AC8C603C1}"/>
              </a:ext>
            </a:extLst>
          </p:cNvPr>
          <p:cNvSpPr>
            <a:spLocks noGrp="1"/>
          </p:cNvSpPr>
          <p:nvPr>
            <p:ph idx="1"/>
          </p:nvPr>
        </p:nvSpPr>
        <p:spPr/>
        <p:txBody>
          <a:bodyPr/>
          <a:lstStyle/>
          <a:p>
            <a:pPr marL="0" indent="0" algn="just">
              <a:buNone/>
            </a:pPr>
            <a:r>
              <a:rPr lang="en-US" sz="1400" b="0" i="0" dirty="0">
                <a:solidFill>
                  <a:schemeClr val="tx1"/>
                </a:solidFill>
                <a:effectLst/>
                <a:latin typeface="Open Sans" panose="020B0606030504020204" pitchFamily="34" charset="0"/>
              </a:rPr>
              <a:t>In a seminal 2015 paper named “The Deep Unsupervised Learning using Nonequilibrium Thermodynamics,” </a:t>
            </a:r>
            <a:r>
              <a:rPr lang="en-US" sz="1400" b="0" i="0" dirty="0" err="1">
                <a:solidFill>
                  <a:schemeClr val="tx1"/>
                </a:solidFill>
                <a:effectLst/>
                <a:latin typeface="Open Sans" panose="020B0606030504020204" pitchFamily="34" charset="0"/>
              </a:rPr>
              <a:t>Sohl</a:t>
            </a:r>
            <a:r>
              <a:rPr lang="en-US" sz="1400" b="0" i="0" dirty="0">
                <a:solidFill>
                  <a:schemeClr val="tx1"/>
                </a:solidFill>
                <a:effectLst/>
                <a:latin typeface="Open Sans" panose="020B0606030504020204" pitchFamily="34" charset="0"/>
              </a:rPr>
              <a:t>-Dickstein et al. first introduced diffusion models in deep learning. Again in 2019, Song et al. published a paper called, “Generative Modeling by Estimating Gradients of the Data Distribution,” using the same principle but with a different approach. The actual development and training of diffusion models gained momentum in 2020 with the publication of Ho et al.’s paper, “Denoising Diffusion Probabilistic Models,” which has since become widely popular. </a:t>
            </a:r>
          </a:p>
          <a:p>
            <a:pPr marL="0" indent="0" algn="just">
              <a:buNone/>
            </a:pPr>
            <a:r>
              <a:rPr lang="en-US" sz="1400" b="0" i="0" dirty="0">
                <a:solidFill>
                  <a:schemeClr val="tx1"/>
                </a:solidFill>
                <a:effectLst/>
                <a:latin typeface="Open Sans" panose="020B0606030504020204" pitchFamily="34" charset="0"/>
              </a:rPr>
              <a:t>Diffusion models are a new class of deep generative models that break the long-time dominance of </a:t>
            </a:r>
            <a:r>
              <a:rPr lang="en-US" sz="1400" b="0" i="0" u="none" strike="noStrike" dirty="0">
                <a:solidFill>
                  <a:schemeClr val="tx1"/>
                </a:solidFill>
                <a:effectLst/>
                <a:latin typeface="Open Sans" panose="020B0606030504020204" pitchFamily="34" charset="0"/>
              </a:rPr>
              <a:t>Generative Adversarial Networks (GANs)</a:t>
            </a:r>
            <a:r>
              <a:rPr lang="en-US" sz="1400" b="0" i="0" dirty="0">
                <a:solidFill>
                  <a:schemeClr val="tx1"/>
                </a:solidFill>
                <a:effectLst/>
                <a:latin typeface="Open Sans" panose="020B0606030504020204" pitchFamily="34" charset="0"/>
              </a:rPr>
              <a:t> in the challenging task of image synthesis in a variety of domains, ranging from computer vision, natural language processing, temporal data modeling to multi-modal modeling. </a:t>
            </a:r>
          </a:p>
          <a:p>
            <a:pPr marL="0" indent="0" algn="just">
              <a:buNone/>
            </a:pPr>
            <a:r>
              <a:rPr lang="en-US" sz="1400" b="0" i="0" dirty="0">
                <a:solidFill>
                  <a:schemeClr val="tx1"/>
                </a:solidFill>
                <a:effectLst/>
                <a:latin typeface="Open Sans" panose="020B0606030504020204" pitchFamily="34" charset="0"/>
              </a:rPr>
              <a:t>These models have demonstrated their versatility and effectiveness in addressing challenges and solving problems within diverse areas, including computational chemistry and medical image reconstruction. </a:t>
            </a:r>
          </a:p>
          <a:p>
            <a:pPr marL="0" indent="0" algn="just">
              <a:buNone/>
            </a:pPr>
            <a:r>
              <a:rPr lang="en-US" sz="1400" b="0" i="0" dirty="0">
                <a:solidFill>
                  <a:schemeClr val="tx1"/>
                </a:solidFill>
                <a:effectLst/>
                <a:latin typeface="Open Sans" panose="020B0606030504020204" pitchFamily="34" charset="0"/>
              </a:rPr>
              <a:t>Diffusion models work on the core principle of creating data comparable to the inputs they were trained on. They function fundamentally by corrupting training data by successively adding gaussian noise, and then learning to recover the data by reversing this noising process. In this article, we will take a look at some of the technical underpinnings of diffusion models, focusing first on their key concepts, image generation techniques, their comparison with GANs followed by their training and applications.</a:t>
            </a:r>
            <a:endParaRPr lang="en-IN" sz="1400" dirty="0">
              <a:solidFill>
                <a:schemeClr val="tx1"/>
              </a:solidFill>
            </a:endParaRPr>
          </a:p>
        </p:txBody>
      </p:sp>
      <p:sp>
        <p:nvSpPr>
          <p:cNvPr id="4" name="Date Placeholder 3">
            <a:extLst>
              <a:ext uri="{FF2B5EF4-FFF2-40B4-BE49-F238E27FC236}">
                <a16:creationId xmlns:a16="http://schemas.microsoft.com/office/drawing/2014/main" id="{75CB036E-50E9-4136-8192-1A00AD726CD4}"/>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B2DF45A0-46B5-4C53-8E96-1278B432D7F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4A91266-E9D1-4B31-8CFE-8E9C7BA277EC}"/>
              </a:ext>
            </a:extLst>
          </p:cNvPr>
          <p:cNvSpPr>
            <a:spLocks noGrp="1"/>
          </p:cNvSpPr>
          <p:nvPr>
            <p:ph type="sldNum" sz="quarter" idx="12"/>
          </p:nvPr>
        </p:nvSpPr>
        <p:spPr/>
        <p:txBody>
          <a:bodyPr/>
          <a:lstStyle/>
          <a:p>
            <a:fld id="{BB2CE0DE-867F-455F-B20B-96D381B4AB71}" type="slidenum">
              <a:rPr lang="en-US" smtClean="0"/>
              <a:t>51</a:t>
            </a:fld>
            <a:endParaRPr lang="en-US"/>
          </a:p>
        </p:txBody>
      </p:sp>
    </p:spTree>
    <p:extLst>
      <p:ext uri="{BB962C8B-B14F-4D97-AF65-F5344CB8AC3E}">
        <p14:creationId xmlns:p14="http://schemas.microsoft.com/office/powerpoint/2010/main" val="33817505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A5A53-9388-4958-A3E1-DBB96547139F}"/>
              </a:ext>
            </a:extLst>
          </p:cNvPr>
          <p:cNvSpPr>
            <a:spLocks noGrp="1"/>
          </p:cNvSpPr>
          <p:nvPr>
            <p:ph type="title"/>
          </p:nvPr>
        </p:nvSpPr>
        <p:spPr/>
        <p:txBody>
          <a:bodyPr/>
          <a:lstStyle/>
          <a:p>
            <a:r>
              <a:rPr lang="en-US" dirty="0"/>
              <a:t>Why It’s Called a Diffusion Model</a:t>
            </a:r>
            <a:endParaRPr lang="en-IN" dirty="0"/>
          </a:p>
        </p:txBody>
      </p:sp>
      <p:sp>
        <p:nvSpPr>
          <p:cNvPr id="3" name="Content Placeholder 2">
            <a:extLst>
              <a:ext uri="{FF2B5EF4-FFF2-40B4-BE49-F238E27FC236}">
                <a16:creationId xmlns:a16="http://schemas.microsoft.com/office/drawing/2014/main" id="{08F4ED72-7C0A-46A6-8A5D-155E93A96FD2}"/>
              </a:ext>
            </a:extLst>
          </p:cNvPr>
          <p:cNvSpPr>
            <a:spLocks noGrp="1"/>
          </p:cNvSpPr>
          <p:nvPr>
            <p:ph idx="1"/>
          </p:nvPr>
        </p:nvSpPr>
        <p:spPr/>
        <p:txBody>
          <a:bodyPr/>
          <a:lstStyle/>
          <a:p>
            <a:pPr algn="just"/>
            <a:r>
              <a:rPr lang="en-US" sz="2000" dirty="0"/>
              <a:t>The name comes from the fact that the forward process </a:t>
            </a:r>
            <a:r>
              <a:rPr lang="en-US" sz="2000" b="1" dirty="0"/>
              <a:t>diffuses</a:t>
            </a:r>
            <a:r>
              <a:rPr lang="en-US" sz="2000" dirty="0"/>
              <a:t> (adds) noise, and the reverse process tries to </a:t>
            </a:r>
            <a:r>
              <a:rPr lang="en-US" sz="2000" b="1" dirty="0"/>
              <a:t>invert</a:t>
            </a:r>
            <a:r>
              <a:rPr lang="en-US" sz="2000" dirty="0"/>
              <a:t> this diffusion.</a:t>
            </a:r>
          </a:p>
          <a:p>
            <a:pPr algn="just"/>
            <a:r>
              <a:rPr lang="en-US" sz="2000" dirty="0"/>
              <a:t>This concept is inspired by </a:t>
            </a:r>
            <a:r>
              <a:rPr lang="en-US" sz="2000" b="1" dirty="0"/>
              <a:t>thermodynamics</a:t>
            </a:r>
            <a:r>
              <a:rPr lang="en-US" sz="2000" dirty="0"/>
              <a:t> where particles move from order to disorder (diffusion), and the reverse process seeks to model that backward (denoising).</a:t>
            </a:r>
          </a:p>
          <a:p>
            <a:pPr algn="just"/>
            <a:endParaRPr lang="en-IN" sz="2000" dirty="0"/>
          </a:p>
          <a:p>
            <a:pPr marL="0" indent="0" algn="just">
              <a:buNone/>
            </a:pPr>
            <a:endParaRPr lang="en-IN" sz="2000" dirty="0"/>
          </a:p>
        </p:txBody>
      </p:sp>
      <p:sp>
        <p:nvSpPr>
          <p:cNvPr id="4" name="Date Placeholder 3">
            <a:extLst>
              <a:ext uri="{FF2B5EF4-FFF2-40B4-BE49-F238E27FC236}">
                <a16:creationId xmlns:a16="http://schemas.microsoft.com/office/drawing/2014/main" id="{5BCBD98A-B43F-42CA-92FB-07DB82B35A56}"/>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77D04EAD-1BE2-4ED2-A30B-22DC6519D36F}"/>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0B25D6C-AE2E-4020-B6E1-0BA7944EA67B}"/>
              </a:ext>
            </a:extLst>
          </p:cNvPr>
          <p:cNvSpPr>
            <a:spLocks noGrp="1"/>
          </p:cNvSpPr>
          <p:nvPr>
            <p:ph type="sldNum" sz="quarter" idx="12"/>
          </p:nvPr>
        </p:nvSpPr>
        <p:spPr/>
        <p:txBody>
          <a:bodyPr/>
          <a:lstStyle/>
          <a:p>
            <a:fld id="{BB2CE0DE-867F-455F-B20B-96D381B4AB71}" type="slidenum">
              <a:rPr lang="en-US" smtClean="0"/>
              <a:t>52</a:t>
            </a:fld>
            <a:endParaRPr lang="en-US"/>
          </a:p>
        </p:txBody>
      </p:sp>
    </p:spTree>
    <p:extLst>
      <p:ext uri="{BB962C8B-B14F-4D97-AF65-F5344CB8AC3E}">
        <p14:creationId xmlns:p14="http://schemas.microsoft.com/office/powerpoint/2010/main" val="8161093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4055E-22DB-4D66-88E4-CE903DDC5E5B}"/>
              </a:ext>
            </a:extLst>
          </p:cNvPr>
          <p:cNvSpPr>
            <a:spLocks noGrp="1"/>
          </p:cNvSpPr>
          <p:nvPr>
            <p:ph type="title"/>
          </p:nvPr>
        </p:nvSpPr>
        <p:spPr/>
        <p:txBody>
          <a:bodyPr/>
          <a:lstStyle/>
          <a:p>
            <a:r>
              <a:rPr lang="en-IN" dirty="0"/>
              <a:t>Architecture of Diffusion Models</a:t>
            </a:r>
          </a:p>
        </p:txBody>
      </p:sp>
      <p:sp>
        <p:nvSpPr>
          <p:cNvPr id="3" name="Content Placeholder 2">
            <a:extLst>
              <a:ext uri="{FF2B5EF4-FFF2-40B4-BE49-F238E27FC236}">
                <a16:creationId xmlns:a16="http://schemas.microsoft.com/office/drawing/2014/main" id="{66F1D730-33AC-462A-84B5-B416BC2696D3}"/>
              </a:ext>
            </a:extLst>
          </p:cNvPr>
          <p:cNvSpPr>
            <a:spLocks noGrp="1"/>
          </p:cNvSpPr>
          <p:nvPr>
            <p:ph idx="1"/>
          </p:nvPr>
        </p:nvSpPr>
        <p:spPr/>
        <p:txBody>
          <a:bodyPr/>
          <a:lstStyle/>
          <a:p>
            <a:pPr marL="0" indent="0" algn="just">
              <a:buNone/>
            </a:pPr>
            <a:r>
              <a:rPr lang="en-US" sz="1400" dirty="0"/>
              <a:t>The architecture of diffusion models typically involves two main components:</a:t>
            </a:r>
          </a:p>
          <a:p>
            <a:pPr marL="0" indent="0" algn="just">
              <a:buNone/>
            </a:pPr>
            <a:r>
              <a:rPr lang="en-US" sz="1400" b="1" dirty="0"/>
              <a:t>Forward Diffusion Process</a:t>
            </a:r>
          </a:p>
          <a:p>
            <a:pPr marL="0" indent="0" algn="just">
              <a:buNone/>
            </a:pPr>
            <a:r>
              <a:rPr lang="en-US" sz="1400" dirty="0"/>
              <a:t>In this process, noise is incrementally added to the data over a series of steps. This is akin to a Markov chain where each step slightly degrades the data by adding Gaussian noise.</a:t>
            </a:r>
          </a:p>
          <a:p>
            <a:pPr marL="0" indent="0" algn="just">
              <a:buNone/>
            </a:pPr>
            <a:endParaRPr lang="en-US" sz="1400" dirty="0"/>
          </a:p>
          <a:p>
            <a:pPr marL="0" indent="0" algn="just">
              <a:buNone/>
            </a:pPr>
            <a:endParaRPr lang="en-US" sz="1400" dirty="0"/>
          </a:p>
          <a:p>
            <a:pPr marL="0" indent="0" algn="just">
              <a:buNone/>
            </a:pPr>
            <a:endParaRPr lang="en-US" sz="1400" dirty="0"/>
          </a:p>
          <a:p>
            <a:pPr marL="0" indent="0" algn="just">
              <a:buNone/>
            </a:pPr>
            <a:endParaRPr lang="en-US" sz="1400" dirty="0"/>
          </a:p>
          <a:p>
            <a:pPr marL="0" indent="0" algn="just">
              <a:buNone/>
            </a:pPr>
            <a:endParaRPr lang="en-US" sz="1400" dirty="0"/>
          </a:p>
          <a:p>
            <a:pPr marL="0" indent="0" algn="just">
              <a:buNone/>
            </a:pPr>
            <a:endParaRPr lang="en-US" sz="1400" dirty="0"/>
          </a:p>
          <a:p>
            <a:pPr marL="0" indent="0" algn="just">
              <a:buNone/>
            </a:pPr>
            <a:endParaRPr lang="en-US" sz="1400" dirty="0"/>
          </a:p>
          <a:p>
            <a:pPr marL="0" indent="0" algn="just">
              <a:buNone/>
            </a:pPr>
            <a:endParaRPr lang="en-US" sz="1400" dirty="0"/>
          </a:p>
          <a:p>
            <a:pPr marL="0" indent="0" algn="just">
              <a:buNone/>
            </a:pPr>
            <a:r>
              <a:rPr lang="en-US" sz="1400" b="0" i="0" dirty="0">
                <a:solidFill>
                  <a:srgbClr val="273239"/>
                </a:solidFill>
                <a:effectLst/>
                <a:latin typeface="Nunito" pitchFamily="2" charset="0"/>
              </a:rPr>
              <a:t>Mathematically, this can be represented as:</a:t>
            </a:r>
            <a:endParaRPr lang="en-US" sz="2400" dirty="0"/>
          </a:p>
          <a:p>
            <a:pPr marL="0" indent="0" algn="just">
              <a:buNone/>
            </a:pPr>
            <a:endParaRPr lang="en-US" sz="1400" dirty="0"/>
          </a:p>
          <a:p>
            <a:pPr marL="0" indent="0" algn="just">
              <a:buNone/>
            </a:pPr>
            <a:endParaRPr lang="en-IN" sz="1400" dirty="0"/>
          </a:p>
        </p:txBody>
      </p:sp>
      <p:sp>
        <p:nvSpPr>
          <p:cNvPr id="4" name="Date Placeholder 3">
            <a:extLst>
              <a:ext uri="{FF2B5EF4-FFF2-40B4-BE49-F238E27FC236}">
                <a16:creationId xmlns:a16="http://schemas.microsoft.com/office/drawing/2014/main" id="{F4E6C686-007D-4685-9185-0D76CBF6C937}"/>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294D7CC2-BE40-464D-8D31-35677946FC98}"/>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DF7E34AB-CB69-4B81-90DF-ADA802CC24F9}"/>
              </a:ext>
            </a:extLst>
          </p:cNvPr>
          <p:cNvSpPr>
            <a:spLocks noGrp="1"/>
          </p:cNvSpPr>
          <p:nvPr>
            <p:ph type="sldNum" sz="quarter" idx="12"/>
          </p:nvPr>
        </p:nvSpPr>
        <p:spPr/>
        <p:txBody>
          <a:bodyPr/>
          <a:lstStyle/>
          <a:p>
            <a:fld id="{BB2CE0DE-867F-455F-B20B-96D381B4AB71}" type="slidenum">
              <a:rPr lang="en-US" smtClean="0"/>
              <a:t>53</a:t>
            </a:fld>
            <a:endParaRPr lang="en-US"/>
          </a:p>
        </p:txBody>
      </p:sp>
      <p:pic>
        <p:nvPicPr>
          <p:cNvPr id="7" name="Picture 6">
            <a:extLst>
              <a:ext uri="{FF2B5EF4-FFF2-40B4-BE49-F238E27FC236}">
                <a16:creationId xmlns:a16="http://schemas.microsoft.com/office/drawing/2014/main" id="{9E1A82A4-AB1B-445B-9097-20F837A77A87}"/>
              </a:ext>
            </a:extLst>
          </p:cNvPr>
          <p:cNvPicPr>
            <a:picLocks noChangeAspect="1"/>
          </p:cNvPicPr>
          <p:nvPr/>
        </p:nvPicPr>
        <p:blipFill>
          <a:blip r:embed="rId3"/>
          <a:stretch>
            <a:fillRect/>
          </a:stretch>
        </p:blipFill>
        <p:spPr>
          <a:xfrm>
            <a:off x="460375" y="2667000"/>
            <a:ext cx="8229600" cy="1333195"/>
          </a:xfrm>
          <a:prstGeom prst="rect">
            <a:avLst/>
          </a:prstGeom>
        </p:spPr>
      </p:pic>
      <p:pic>
        <p:nvPicPr>
          <p:cNvPr id="9" name="Picture 8">
            <a:extLst>
              <a:ext uri="{FF2B5EF4-FFF2-40B4-BE49-F238E27FC236}">
                <a16:creationId xmlns:a16="http://schemas.microsoft.com/office/drawing/2014/main" id="{663A4D64-40DA-4302-87D9-81B19FAB5891}"/>
              </a:ext>
            </a:extLst>
          </p:cNvPr>
          <p:cNvPicPr>
            <a:picLocks noChangeAspect="1"/>
          </p:cNvPicPr>
          <p:nvPr/>
        </p:nvPicPr>
        <p:blipFill>
          <a:blip r:embed="rId4"/>
          <a:stretch>
            <a:fillRect/>
          </a:stretch>
        </p:blipFill>
        <p:spPr>
          <a:xfrm>
            <a:off x="566738" y="4799615"/>
            <a:ext cx="4085680" cy="1524191"/>
          </a:xfrm>
          <a:prstGeom prst="rect">
            <a:avLst/>
          </a:prstGeom>
        </p:spPr>
      </p:pic>
    </p:spTree>
    <p:extLst>
      <p:ext uri="{BB962C8B-B14F-4D97-AF65-F5344CB8AC3E}">
        <p14:creationId xmlns:p14="http://schemas.microsoft.com/office/powerpoint/2010/main" val="2585311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A4FEB-4A93-47E9-93C0-B308F8B2C172}"/>
              </a:ext>
            </a:extLst>
          </p:cNvPr>
          <p:cNvSpPr>
            <a:spLocks noGrp="1"/>
          </p:cNvSpPr>
          <p:nvPr>
            <p:ph type="title"/>
          </p:nvPr>
        </p:nvSpPr>
        <p:spPr/>
        <p:txBody>
          <a:bodyPr/>
          <a:lstStyle/>
          <a:p>
            <a:r>
              <a:rPr lang="en-IN" dirty="0"/>
              <a:t>Architecture of Diffusion Models</a:t>
            </a:r>
          </a:p>
        </p:txBody>
      </p:sp>
      <p:sp>
        <p:nvSpPr>
          <p:cNvPr id="3" name="Content Placeholder 2">
            <a:extLst>
              <a:ext uri="{FF2B5EF4-FFF2-40B4-BE49-F238E27FC236}">
                <a16:creationId xmlns:a16="http://schemas.microsoft.com/office/drawing/2014/main" id="{93153019-6A73-42F2-99E6-0802AAA229D7}"/>
              </a:ext>
            </a:extLst>
          </p:cNvPr>
          <p:cNvSpPr>
            <a:spLocks noGrp="1"/>
          </p:cNvSpPr>
          <p:nvPr>
            <p:ph idx="1"/>
          </p:nvPr>
        </p:nvSpPr>
        <p:spPr/>
        <p:txBody>
          <a:bodyPr/>
          <a:lstStyle/>
          <a:p>
            <a:pPr marL="0" indent="0" algn="l" fontAlgn="base">
              <a:buNone/>
            </a:pPr>
            <a:r>
              <a:rPr lang="en-US" sz="1800" b="1" i="0" dirty="0">
                <a:solidFill>
                  <a:srgbClr val="273239"/>
                </a:solidFill>
                <a:effectLst/>
                <a:latin typeface="Nunito" pitchFamily="2" charset="0"/>
              </a:rPr>
              <a:t>Reverse Diffusion Process: </a:t>
            </a:r>
            <a:r>
              <a:rPr lang="en-US" sz="1800" b="0" i="0" dirty="0">
                <a:solidFill>
                  <a:srgbClr val="273239"/>
                </a:solidFill>
                <a:effectLst/>
                <a:latin typeface="Nunito" pitchFamily="2" charset="0"/>
              </a:rPr>
              <a:t>The reverse process aims to reconstruct the original data by denoising the noisy data in a series of steps, reversing the forward diffusion.</a:t>
            </a:r>
          </a:p>
          <a:p>
            <a:pPr marL="0" indent="0" algn="l" fontAlgn="base">
              <a:buNone/>
            </a:pPr>
            <a:endParaRPr lang="en-US" sz="1800" dirty="0">
              <a:solidFill>
                <a:srgbClr val="273239"/>
              </a:solidFill>
              <a:latin typeface="Nunito" pitchFamily="2" charset="0"/>
            </a:endParaRPr>
          </a:p>
          <a:p>
            <a:pPr marL="0" indent="0" algn="l" fontAlgn="base">
              <a:buNone/>
            </a:pPr>
            <a:endParaRPr lang="en-US" sz="1800" b="0" i="0" dirty="0">
              <a:solidFill>
                <a:srgbClr val="273239"/>
              </a:solidFill>
              <a:effectLst/>
              <a:latin typeface="Nunito" pitchFamily="2" charset="0"/>
            </a:endParaRPr>
          </a:p>
          <a:p>
            <a:pPr marL="0" indent="0" algn="l" fontAlgn="base">
              <a:buNone/>
            </a:pPr>
            <a:endParaRPr lang="en-US" sz="1800" dirty="0">
              <a:solidFill>
                <a:srgbClr val="273239"/>
              </a:solidFill>
              <a:latin typeface="Nunito" pitchFamily="2" charset="0"/>
            </a:endParaRPr>
          </a:p>
          <a:p>
            <a:pPr marL="0" indent="0" algn="l" fontAlgn="base">
              <a:buNone/>
            </a:pPr>
            <a:endParaRPr lang="en-US" sz="1800" b="0" i="0" dirty="0">
              <a:solidFill>
                <a:srgbClr val="273239"/>
              </a:solidFill>
              <a:effectLst/>
              <a:latin typeface="Nunito" pitchFamily="2" charset="0"/>
            </a:endParaRPr>
          </a:p>
          <a:p>
            <a:pPr marL="0" indent="0" algn="l" fontAlgn="base">
              <a:buNone/>
            </a:pPr>
            <a:endParaRPr lang="en-US" sz="1800" dirty="0">
              <a:solidFill>
                <a:srgbClr val="273239"/>
              </a:solidFill>
              <a:latin typeface="Nunito" pitchFamily="2" charset="0"/>
            </a:endParaRPr>
          </a:p>
          <a:p>
            <a:pPr marL="0" indent="0" algn="l" fontAlgn="base">
              <a:buNone/>
            </a:pPr>
            <a:endParaRPr lang="en-US" sz="1800" b="0" i="0" dirty="0">
              <a:solidFill>
                <a:srgbClr val="273239"/>
              </a:solidFill>
              <a:effectLst/>
              <a:latin typeface="Nunito" pitchFamily="2" charset="0"/>
            </a:endParaRPr>
          </a:p>
          <a:p>
            <a:pPr marL="0" indent="0" algn="l" fontAlgn="base">
              <a:buNone/>
            </a:pPr>
            <a:r>
              <a:rPr lang="en-US" sz="1800" b="0" i="0">
                <a:solidFill>
                  <a:srgbClr val="273239"/>
                </a:solidFill>
                <a:effectLst/>
                <a:latin typeface="Nunito" pitchFamily="2" charset="0"/>
              </a:rPr>
              <a:t>This is typically modelled using a neural network that predicts the noise added at each step:</a:t>
            </a:r>
            <a:endParaRPr lang="en-US" sz="1800" b="0" i="0" dirty="0">
              <a:solidFill>
                <a:srgbClr val="273239"/>
              </a:solidFill>
              <a:effectLst/>
              <a:latin typeface="Nunito" pitchFamily="2" charset="0"/>
            </a:endParaRPr>
          </a:p>
          <a:p>
            <a:pPr marL="0" indent="0">
              <a:buNone/>
            </a:pPr>
            <a:endParaRPr lang="en-IN" sz="1800" dirty="0"/>
          </a:p>
        </p:txBody>
      </p:sp>
      <p:sp>
        <p:nvSpPr>
          <p:cNvPr id="4" name="Date Placeholder 3">
            <a:extLst>
              <a:ext uri="{FF2B5EF4-FFF2-40B4-BE49-F238E27FC236}">
                <a16:creationId xmlns:a16="http://schemas.microsoft.com/office/drawing/2014/main" id="{7EF24558-C8B1-4527-9F92-3DAB3A288428}"/>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B88CF832-8A8B-4382-8424-359A95ABE54A}"/>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4084726-5F97-4A8A-AE80-18173DD066DF}"/>
              </a:ext>
            </a:extLst>
          </p:cNvPr>
          <p:cNvSpPr>
            <a:spLocks noGrp="1"/>
          </p:cNvSpPr>
          <p:nvPr>
            <p:ph type="sldNum" sz="quarter" idx="12"/>
          </p:nvPr>
        </p:nvSpPr>
        <p:spPr/>
        <p:txBody>
          <a:bodyPr/>
          <a:lstStyle/>
          <a:p>
            <a:fld id="{BB2CE0DE-867F-455F-B20B-96D381B4AB71}" type="slidenum">
              <a:rPr lang="en-US" smtClean="0"/>
              <a:t>54</a:t>
            </a:fld>
            <a:endParaRPr lang="en-US"/>
          </a:p>
        </p:txBody>
      </p:sp>
      <p:pic>
        <p:nvPicPr>
          <p:cNvPr id="7" name="Picture 6">
            <a:extLst>
              <a:ext uri="{FF2B5EF4-FFF2-40B4-BE49-F238E27FC236}">
                <a16:creationId xmlns:a16="http://schemas.microsoft.com/office/drawing/2014/main" id="{EA467C57-886B-41B6-98B1-1F17526F7A45}"/>
              </a:ext>
            </a:extLst>
          </p:cNvPr>
          <p:cNvPicPr>
            <a:picLocks noChangeAspect="1"/>
          </p:cNvPicPr>
          <p:nvPr/>
        </p:nvPicPr>
        <p:blipFill>
          <a:blip r:embed="rId2"/>
          <a:stretch>
            <a:fillRect/>
          </a:stretch>
        </p:blipFill>
        <p:spPr>
          <a:xfrm>
            <a:off x="228600" y="2209800"/>
            <a:ext cx="8686800" cy="1466163"/>
          </a:xfrm>
          <a:prstGeom prst="rect">
            <a:avLst/>
          </a:prstGeom>
        </p:spPr>
      </p:pic>
      <p:pic>
        <p:nvPicPr>
          <p:cNvPr id="9" name="Picture 8">
            <a:extLst>
              <a:ext uri="{FF2B5EF4-FFF2-40B4-BE49-F238E27FC236}">
                <a16:creationId xmlns:a16="http://schemas.microsoft.com/office/drawing/2014/main" id="{65C5B085-E018-42FB-AE2C-D18432135A5E}"/>
              </a:ext>
            </a:extLst>
          </p:cNvPr>
          <p:cNvPicPr>
            <a:picLocks noChangeAspect="1"/>
          </p:cNvPicPr>
          <p:nvPr/>
        </p:nvPicPr>
        <p:blipFill>
          <a:blip r:embed="rId3"/>
          <a:stretch>
            <a:fillRect/>
          </a:stretch>
        </p:blipFill>
        <p:spPr>
          <a:xfrm>
            <a:off x="990600" y="4724272"/>
            <a:ext cx="4826114" cy="1466162"/>
          </a:xfrm>
          <a:prstGeom prst="rect">
            <a:avLst/>
          </a:prstGeom>
        </p:spPr>
      </p:pic>
    </p:spTree>
    <p:extLst>
      <p:ext uri="{BB962C8B-B14F-4D97-AF65-F5344CB8AC3E}">
        <p14:creationId xmlns:p14="http://schemas.microsoft.com/office/powerpoint/2010/main" val="5527847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9DC6C-9B5B-4CF8-8CAE-D0D9CE1C0E5D}"/>
              </a:ext>
            </a:extLst>
          </p:cNvPr>
          <p:cNvSpPr>
            <a:spLocks noGrp="1"/>
          </p:cNvSpPr>
          <p:nvPr>
            <p:ph type="title"/>
          </p:nvPr>
        </p:nvSpPr>
        <p:spPr/>
        <p:txBody>
          <a:bodyPr/>
          <a:lstStyle/>
          <a:p>
            <a:r>
              <a:rPr lang="en-IN" dirty="0"/>
              <a:t>Architecture of Diffusion Models</a:t>
            </a:r>
          </a:p>
        </p:txBody>
      </p:sp>
      <p:sp>
        <p:nvSpPr>
          <p:cNvPr id="3" name="Content Placeholder 2">
            <a:extLst>
              <a:ext uri="{FF2B5EF4-FFF2-40B4-BE49-F238E27FC236}">
                <a16:creationId xmlns:a16="http://schemas.microsoft.com/office/drawing/2014/main" id="{5A16DC90-1AF7-4A8F-B964-69896532F96A}"/>
              </a:ext>
            </a:extLst>
          </p:cNvPr>
          <p:cNvSpPr>
            <a:spLocks noGrp="1"/>
          </p:cNvSpPr>
          <p:nvPr>
            <p:ph idx="1"/>
          </p:nvPr>
        </p:nvSpPr>
        <p:spPr/>
        <p:txBody>
          <a:bodyPr/>
          <a:lstStyle/>
          <a:p>
            <a:pPr marL="0" indent="0" algn="just">
              <a:buNone/>
            </a:pPr>
            <a:r>
              <a:rPr lang="en-US" sz="1200" dirty="0"/>
              <a:t>Let's go deeper into the </a:t>
            </a:r>
            <a:r>
              <a:rPr lang="en-US" sz="1200" b="1" dirty="0"/>
              <a:t>mathematical representation of the forward process</a:t>
            </a:r>
            <a:r>
              <a:rPr lang="en-US" sz="1200" dirty="0"/>
              <a:t> in diffusion models, specifically this equation from the image:</a:t>
            </a:r>
            <a:endParaRPr lang="en-IN" sz="1200" dirty="0"/>
          </a:p>
        </p:txBody>
      </p:sp>
      <p:sp>
        <p:nvSpPr>
          <p:cNvPr id="4" name="Date Placeholder 3">
            <a:extLst>
              <a:ext uri="{FF2B5EF4-FFF2-40B4-BE49-F238E27FC236}">
                <a16:creationId xmlns:a16="http://schemas.microsoft.com/office/drawing/2014/main" id="{D74970CB-2BE0-4031-BF0D-F173294ACF5C}"/>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60B31CB2-D253-44E9-9C9B-DCB084E23DC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9007709-971E-40B4-9D4E-819A68A01AF2}"/>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8" name="Picture 7">
            <a:extLst>
              <a:ext uri="{FF2B5EF4-FFF2-40B4-BE49-F238E27FC236}">
                <a16:creationId xmlns:a16="http://schemas.microsoft.com/office/drawing/2014/main" id="{E08E068F-8434-44AD-8D4C-FF286130BACA}"/>
              </a:ext>
            </a:extLst>
          </p:cNvPr>
          <p:cNvPicPr>
            <a:picLocks noChangeAspect="1"/>
          </p:cNvPicPr>
          <p:nvPr/>
        </p:nvPicPr>
        <p:blipFill>
          <a:blip r:embed="rId2"/>
          <a:stretch>
            <a:fillRect/>
          </a:stretch>
        </p:blipFill>
        <p:spPr>
          <a:xfrm>
            <a:off x="623299" y="1689977"/>
            <a:ext cx="5268945" cy="685800"/>
          </a:xfrm>
          <a:prstGeom prst="rect">
            <a:avLst/>
          </a:prstGeom>
        </p:spPr>
      </p:pic>
      <p:pic>
        <p:nvPicPr>
          <p:cNvPr id="10" name="Picture 9">
            <a:extLst>
              <a:ext uri="{FF2B5EF4-FFF2-40B4-BE49-F238E27FC236}">
                <a16:creationId xmlns:a16="http://schemas.microsoft.com/office/drawing/2014/main" id="{75B6C718-F481-4DFC-9C44-DF1B4F3C42D2}"/>
              </a:ext>
            </a:extLst>
          </p:cNvPr>
          <p:cNvPicPr>
            <a:picLocks noChangeAspect="1"/>
          </p:cNvPicPr>
          <p:nvPr/>
        </p:nvPicPr>
        <p:blipFill>
          <a:blip r:embed="rId3"/>
          <a:stretch>
            <a:fillRect/>
          </a:stretch>
        </p:blipFill>
        <p:spPr>
          <a:xfrm>
            <a:off x="457199" y="2528176"/>
            <a:ext cx="7634605" cy="1888665"/>
          </a:xfrm>
          <a:prstGeom prst="rect">
            <a:avLst/>
          </a:prstGeom>
        </p:spPr>
      </p:pic>
      <p:pic>
        <p:nvPicPr>
          <p:cNvPr id="12" name="Picture 11">
            <a:extLst>
              <a:ext uri="{FF2B5EF4-FFF2-40B4-BE49-F238E27FC236}">
                <a16:creationId xmlns:a16="http://schemas.microsoft.com/office/drawing/2014/main" id="{F9D70E90-C3A6-4BF1-9486-4CAEB308E2DE}"/>
              </a:ext>
            </a:extLst>
          </p:cNvPr>
          <p:cNvPicPr>
            <a:picLocks noChangeAspect="1"/>
          </p:cNvPicPr>
          <p:nvPr/>
        </p:nvPicPr>
        <p:blipFill>
          <a:blip r:embed="rId4"/>
          <a:stretch>
            <a:fillRect/>
          </a:stretch>
        </p:blipFill>
        <p:spPr>
          <a:xfrm>
            <a:off x="457200" y="4570830"/>
            <a:ext cx="8001000" cy="2182923"/>
          </a:xfrm>
          <a:prstGeom prst="rect">
            <a:avLst/>
          </a:prstGeom>
        </p:spPr>
      </p:pic>
    </p:spTree>
    <p:extLst>
      <p:ext uri="{BB962C8B-B14F-4D97-AF65-F5344CB8AC3E}">
        <p14:creationId xmlns:p14="http://schemas.microsoft.com/office/powerpoint/2010/main" val="8885732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9DC6C-9B5B-4CF8-8CAE-D0D9CE1C0E5D}"/>
              </a:ext>
            </a:extLst>
          </p:cNvPr>
          <p:cNvSpPr>
            <a:spLocks noGrp="1"/>
          </p:cNvSpPr>
          <p:nvPr>
            <p:ph type="title"/>
          </p:nvPr>
        </p:nvSpPr>
        <p:spPr/>
        <p:txBody>
          <a:bodyPr/>
          <a:lstStyle/>
          <a:p>
            <a:r>
              <a:rPr lang="en-IN" dirty="0"/>
              <a:t>Architecture of Diffusion Models</a:t>
            </a:r>
          </a:p>
        </p:txBody>
      </p:sp>
      <p:sp>
        <p:nvSpPr>
          <p:cNvPr id="3" name="Content Placeholder 2">
            <a:extLst>
              <a:ext uri="{FF2B5EF4-FFF2-40B4-BE49-F238E27FC236}">
                <a16:creationId xmlns:a16="http://schemas.microsoft.com/office/drawing/2014/main" id="{5A16DC90-1AF7-4A8F-B964-69896532F96A}"/>
              </a:ext>
            </a:extLst>
          </p:cNvPr>
          <p:cNvSpPr>
            <a:spLocks noGrp="1"/>
          </p:cNvSpPr>
          <p:nvPr>
            <p:ph idx="1"/>
          </p:nvPr>
        </p:nvSpPr>
        <p:spPr/>
        <p:txBody>
          <a:bodyPr/>
          <a:lstStyle/>
          <a:p>
            <a:pPr marL="0" indent="0" algn="just">
              <a:buNone/>
            </a:pPr>
            <a:endParaRPr lang="en-IN" sz="1600" dirty="0"/>
          </a:p>
        </p:txBody>
      </p:sp>
      <p:sp>
        <p:nvSpPr>
          <p:cNvPr id="4" name="Date Placeholder 3">
            <a:extLst>
              <a:ext uri="{FF2B5EF4-FFF2-40B4-BE49-F238E27FC236}">
                <a16:creationId xmlns:a16="http://schemas.microsoft.com/office/drawing/2014/main" id="{D74970CB-2BE0-4031-BF0D-F173294ACF5C}"/>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60B31CB2-D253-44E9-9C9B-DCB084E23DC1}"/>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9007709-971E-40B4-9D4E-819A68A01AF2}"/>
              </a:ext>
            </a:extLst>
          </p:cNvPr>
          <p:cNvSpPr>
            <a:spLocks noGrp="1"/>
          </p:cNvSpPr>
          <p:nvPr>
            <p:ph type="sldNum" sz="quarter" idx="12"/>
          </p:nvPr>
        </p:nvSpPr>
        <p:spPr/>
        <p:txBody>
          <a:bodyPr/>
          <a:lstStyle/>
          <a:p>
            <a:fld id="{BB2CE0DE-867F-455F-B20B-96D381B4AB71}" type="slidenum">
              <a:rPr lang="en-US" smtClean="0"/>
              <a:t>56</a:t>
            </a:fld>
            <a:endParaRPr lang="en-US"/>
          </a:p>
        </p:txBody>
      </p:sp>
      <p:pic>
        <p:nvPicPr>
          <p:cNvPr id="8" name="Picture 7">
            <a:extLst>
              <a:ext uri="{FF2B5EF4-FFF2-40B4-BE49-F238E27FC236}">
                <a16:creationId xmlns:a16="http://schemas.microsoft.com/office/drawing/2014/main" id="{E08E068F-8434-44AD-8D4C-FF286130BACA}"/>
              </a:ext>
            </a:extLst>
          </p:cNvPr>
          <p:cNvPicPr>
            <a:picLocks noChangeAspect="1"/>
          </p:cNvPicPr>
          <p:nvPr/>
        </p:nvPicPr>
        <p:blipFill>
          <a:blip r:embed="rId3"/>
          <a:stretch>
            <a:fillRect/>
          </a:stretch>
        </p:blipFill>
        <p:spPr>
          <a:xfrm>
            <a:off x="507661" y="1095178"/>
            <a:ext cx="4826340" cy="628191"/>
          </a:xfrm>
          <a:prstGeom prst="rect">
            <a:avLst/>
          </a:prstGeom>
        </p:spPr>
      </p:pic>
      <p:pic>
        <p:nvPicPr>
          <p:cNvPr id="14" name="Picture 13">
            <a:extLst>
              <a:ext uri="{FF2B5EF4-FFF2-40B4-BE49-F238E27FC236}">
                <a16:creationId xmlns:a16="http://schemas.microsoft.com/office/drawing/2014/main" id="{4DBC560F-70DE-435B-89FB-C7588829A2B7}"/>
              </a:ext>
            </a:extLst>
          </p:cNvPr>
          <p:cNvPicPr>
            <a:picLocks noChangeAspect="1"/>
          </p:cNvPicPr>
          <p:nvPr/>
        </p:nvPicPr>
        <p:blipFill>
          <a:blip r:embed="rId4"/>
          <a:stretch>
            <a:fillRect/>
          </a:stretch>
        </p:blipFill>
        <p:spPr>
          <a:xfrm>
            <a:off x="381000" y="1854084"/>
            <a:ext cx="5218470" cy="1749996"/>
          </a:xfrm>
          <a:prstGeom prst="rect">
            <a:avLst/>
          </a:prstGeom>
        </p:spPr>
      </p:pic>
      <p:pic>
        <p:nvPicPr>
          <p:cNvPr id="16" name="Picture 15">
            <a:extLst>
              <a:ext uri="{FF2B5EF4-FFF2-40B4-BE49-F238E27FC236}">
                <a16:creationId xmlns:a16="http://schemas.microsoft.com/office/drawing/2014/main" id="{9DDFB9A3-EE7D-47A1-9234-363B2ECBCACB}"/>
              </a:ext>
            </a:extLst>
          </p:cNvPr>
          <p:cNvPicPr>
            <a:picLocks noChangeAspect="1"/>
          </p:cNvPicPr>
          <p:nvPr/>
        </p:nvPicPr>
        <p:blipFill>
          <a:blip r:embed="rId5"/>
          <a:stretch>
            <a:fillRect/>
          </a:stretch>
        </p:blipFill>
        <p:spPr>
          <a:xfrm>
            <a:off x="381000" y="3728102"/>
            <a:ext cx="5103796" cy="1543197"/>
          </a:xfrm>
          <a:prstGeom prst="rect">
            <a:avLst/>
          </a:prstGeom>
        </p:spPr>
      </p:pic>
      <p:pic>
        <p:nvPicPr>
          <p:cNvPr id="18" name="Picture 17">
            <a:extLst>
              <a:ext uri="{FF2B5EF4-FFF2-40B4-BE49-F238E27FC236}">
                <a16:creationId xmlns:a16="http://schemas.microsoft.com/office/drawing/2014/main" id="{D99DD3A0-24CB-435E-846E-6C31DBDA79D9}"/>
              </a:ext>
            </a:extLst>
          </p:cNvPr>
          <p:cNvPicPr>
            <a:picLocks noChangeAspect="1"/>
          </p:cNvPicPr>
          <p:nvPr/>
        </p:nvPicPr>
        <p:blipFill>
          <a:blip r:embed="rId6"/>
          <a:stretch>
            <a:fillRect/>
          </a:stretch>
        </p:blipFill>
        <p:spPr>
          <a:xfrm>
            <a:off x="295784" y="5417975"/>
            <a:ext cx="5529262" cy="1318975"/>
          </a:xfrm>
          <a:prstGeom prst="rect">
            <a:avLst/>
          </a:prstGeom>
        </p:spPr>
      </p:pic>
    </p:spTree>
    <p:extLst>
      <p:ext uri="{BB962C8B-B14F-4D97-AF65-F5344CB8AC3E}">
        <p14:creationId xmlns:p14="http://schemas.microsoft.com/office/powerpoint/2010/main" val="16822759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573C7-F9A9-4BE0-9DCC-873E203A74C6}"/>
              </a:ext>
            </a:extLst>
          </p:cNvPr>
          <p:cNvSpPr>
            <a:spLocks noGrp="1"/>
          </p:cNvSpPr>
          <p:nvPr>
            <p:ph type="title"/>
          </p:nvPr>
        </p:nvSpPr>
        <p:spPr/>
        <p:txBody>
          <a:bodyPr/>
          <a:lstStyle/>
          <a:p>
            <a:r>
              <a:rPr lang="en-IN" dirty="0"/>
              <a:t>Architecture of Diffusion Models</a:t>
            </a:r>
          </a:p>
        </p:txBody>
      </p:sp>
      <p:sp>
        <p:nvSpPr>
          <p:cNvPr id="3" name="Content Placeholder 2">
            <a:extLst>
              <a:ext uri="{FF2B5EF4-FFF2-40B4-BE49-F238E27FC236}">
                <a16:creationId xmlns:a16="http://schemas.microsoft.com/office/drawing/2014/main" id="{7EADD992-6515-49E1-8961-A71F0D50C4DD}"/>
              </a:ext>
            </a:extLst>
          </p:cNvPr>
          <p:cNvSpPr>
            <a:spLocks noGrp="1"/>
          </p:cNvSpPr>
          <p:nvPr>
            <p:ph idx="1"/>
          </p:nvPr>
        </p:nvSpPr>
        <p:spPr/>
        <p:txBody>
          <a:bodyPr/>
          <a:lstStyle/>
          <a:p>
            <a:pPr marL="0" indent="0">
              <a:buNone/>
            </a:pPr>
            <a:r>
              <a:rPr lang="en-US" sz="1400" dirty="0"/>
              <a:t>Reverse Diffusion Process</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en-US" sz="1000" dirty="0"/>
              <a:t>This is one of the </a:t>
            </a:r>
            <a:r>
              <a:rPr lang="en-US" sz="1000" b="1" dirty="0"/>
              <a:t>core equations</a:t>
            </a:r>
            <a:r>
              <a:rPr lang="en-US" sz="1000" dirty="0"/>
              <a:t> of how diffusion models generate data (e.g., images) from noise.</a:t>
            </a:r>
            <a:endParaRPr lang="en-IN" sz="1400" dirty="0"/>
          </a:p>
        </p:txBody>
      </p:sp>
      <p:sp>
        <p:nvSpPr>
          <p:cNvPr id="4" name="Date Placeholder 3">
            <a:extLst>
              <a:ext uri="{FF2B5EF4-FFF2-40B4-BE49-F238E27FC236}">
                <a16:creationId xmlns:a16="http://schemas.microsoft.com/office/drawing/2014/main" id="{1E3E1661-C74D-469A-A43F-7DEC06D6CFE9}"/>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DE092055-527C-4B9D-B026-EC0469A4478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82F1C8E-9680-4B30-B0B4-FA0290942880}"/>
              </a:ext>
            </a:extLst>
          </p:cNvPr>
          <p:cNvSpPr>
            <a:spLocks noGrp="1"/>
          </p:cNvSpPr>
          <p:nvPr>
            <p:ph type="sldNum" sz="quarter" idx="12"/>
          </p:nvPr>
        </p:nvSpPr>
        <p:spPr/>
        <p:txBody>
          <a:bodyPr/>
          <a:lstStyle/>
          <a:p>
            <a:fld id="{BB2CE0DE-867F-455F-B20B-96D381B4AB71}" type="slidenum">
              <a:rPr lang="en-US" smtClean="0"/>
              <a:t>57</a:t>
            </a:fld>
            <a:endParaRPr lang="en-US"/>
          </a:p>
        </p:txBody>
      </p:sp>
      <p:pic>
        <p:nvPicPr>
          <p:cNvPr id="7" name="Picture 6">
            <a:extLst>
              <a:ext uri="{FF2B5EF4-FFF2-40B4-BE49-F238E27FC236}">
                <a16:creationId xmlns:a16="http://schemas.microsoft.com/office/drawing/2014/main" id="{C5A0BC96-2B03-4931-B3C7-606B1D6E433F}"/>
              </a:ext>
            </a:extLst>
          </p:cNvPr>
          <p:cNvPicPr>
            <a:picLocks noChangeAspect="1"/>
          </p:cNvPicPr>
          <p:nvPr/>
        </p:nvPicPr>
        <p:blipFill>
          <a:blip r:embed="rId2"/>
          <a:stretch>
            <a:fillRect/>
          </a:stretch>
        </p:blipFill>
        <p:spPr>
          <a:xfrm>
            <a:off x="646416" y="1600200"/>
            <a:ext cx="7162800" cy="1208941"/>
          </a:xfrm>
          <a:prstGeom prst="rect">
            <a:avLst/>
          </a:prstGeom>
        </p:spPr>
      </p:pic>
      <p:pic>
        <p:nvPicPr>
          <p:cNvPr id="9" name="Picture 8">
            <a:extLst>
              <a:ext uri="{FF2B5EF4-FFF2-40B4-BE49-F238E27FC236}">
                <a16:creationId xmlns:a16="http://schemas.microsoft.com/office/drawing/2014/main" id="{F529B019-05B8-4F39-BDA8-9B35E8E3FA86}"/>
              </a:ext>
            </a:extLst>
          </p:cNvPr>
          <p:cNvPicPr>
            <a:picLocks noChangeAspect="1"/>
          </p:cNvPicPr>
          <p:nvPr/>
        </p:nvPicPr>
        <p:blipFill>
          <a:blip r:embed="rId3"/>
          <a:stretch>
            <a:fillRect/>
          </a:stretch>
        </p:blipFill>
        <p:spPr>
          <a:xfrm>
            <a:off x="566738" y="4132750"/>
            <a:ext cx="7535327" cy="2191056"/>
          </a:xfrm>
          <a:prstGeom prst="rect">
            <a:avLst/>
          </a:prstGeom>
        </p:spPr>
      </p:pic>
      <p:pic>
        <p:nvPicPr>
          <p:cNvPr id="11" name="Picture 10">
            <a:extLst>
              <a:ext uri="{FF2B5EF4-FFF2-40B4-BE49-F238E27FC236}">
                <a16:creationId xmlns:a16="http://schemas.microsoft.com/office/drawing/2014/main" id="{194C9E04-BE24-4C65-998C-5AF3E17A358F}"/>
              </a:ext>
            </a:extLst>
          </p:cNvPr>
          <p:cNvPicPr>
            <a:picLocks noChangeAspect="1"/>
          </p:cNvPicPr>
          <p:nvPr/>
        </p:nvPicPr>
        <p:blipFill>
          <a:blip r:embed="rId4"/>
          <a:stretch>
            <a:fillRect/>
          </a:stretch>
        </p:blipFill>
        <p:spPr>
          <a:xfrm>
            <a:off x="646416" y="3465949"/>
            <a:ext cx="4209960" cy="514401"/>
          </a:xfrm>
          <a:prstGeom prst="rect">
            <a:avLst/>
          </a:prstGeom>
        </p:spPr>
      </p:pic>
    </p:spTree>
    <p:extLst>
      <p:ext uri="{BB962C8B-B14F-4D97-AF65-F5344CB8AC3E}">
        <p14:creationId xmlns:p14="http://schemas.microsoft.com/office/powerpoint/2010/main" val="2884036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58677-1EE1-41D6-8881-694301EA6C5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376DA99-76F3-46C4-9EB8-7F7CB6596F36}"/>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1E850695-C340-494F-BB00-7EF1CD53D7C9}"/>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DCB9037E-5EFA-474B-9DC9-897BE0487B50}"/>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82E65A0-A6DB-431C-A15F-2FB1AE45E08E}"/>
              </a:ext>
            </a:extLst>
          </p:cNvPr>
          <p:cNvSpPr>
            <a:spLocks noGrp="1"/>
          </p:cNvSpPr>
          <p:nvPr>
            <p:ph type="sldNum" sz="quarter" idx="12"/>
          </p:nvPr>
        </p:nvSpPr>
        <p:spPr/>
        <p:txBody>
          <a:bodyPr/>
          <a:lstStyle/>
          <a:p>
            <a:fld id="{BB2CE0DE-867F-455F-B20B-96D381B4AB71}" type="slidenum">
              <a:rPr lang="en-US" smtClean="0"/>
              <a:t>58</a:t>
            </a:fld>
            <a:endParaRPr lang="en-US"/>
          </a:p>
        </p:txBody>
      </p:sp>
      <p:pic>
        <p:nvPicPr>
          <p:cNvPr id="8" name="Picture 7">
            <a:extLst>
              <a:ext uri="{FF2B5EF4-FFF2-40B4-BE49-F238E27FC236}">
                <a16:creationId xmlns:a16="http://schemas.microsoft.com/office/drawing/2014/main" id="{AE78F3DF-29F4-41D1-BCE1-B08A7E510240}"/>
              </a:ext>
            </a:extLst>
          </p:cNvPr>
          <p:cNvPicPr>
            <a:picLocks noChangeAspect="1"/>
          </p:cNvPicPr>
          <p:nvPr/>
        </p:nvPicPr>
        <p:blipFill>
          <a:blip r:embed="rId2"/>
          <a:stretch>
            <a:fillRect/>
          </a:stretch>
        </p:blipFill>
        <p:spPr>
          <a:xfrm>
            <a:off x="566739" y="49531"/>
            <a:ext cx="6519862" cy="3092075"/>
          </a:xfrm>
          <a:prstGeom prst="rect">
            <a:avLst/>
          </a:prstGeom>
        </p:spPr>
      </p:pic>
      <p:pic>
        <p:nvPicPr>
          <p:cNvPr id="12" name="Picture 11">
            <a:extLst>
              <a:ext uri="{FF2B5EF4-FFF2-40B4-BE49-F238E27FC236}">
                <a16:creationId xmlns:a16="http://schemas.microsoft.com/office/drawing/2014/main" id="{65D1639E-9F7D-47DE-8158-0E768A759C29}"/>
              </a:ext>
            </a:extLst>
          </p:cNvPr>
          <p:cNvPicPr>
            <a:picLocks noChangeAspect="1"/>
          </p:cNvPicPr>
          <p:nvPr/>
        </p:nvPicPr>
        <p:blipFill>
          <a:blip r:embed="rId3"/>
          <a:stretch>
            <a:fillRect/>
          </a:stretch>
        </p:blipFill>
        <p:spPr>
          <a:xfrm>
            <a:off x="547901" y="3733800"/>
            <a:ext cx="6763694" cy="3086531"/>
          </a:xfrm>
          <a:prstGeom prst="rect">
            <a:avLst/>
          </a:prstGeom>
        </p:spPr>
      </p:pic>
      <p:sp>
        <p:nvSpPr>
          <p:cNvPr id="13" name="TextBox 12">
            <a:extLst>
              <a:ext uri="{FF2B5EF4-FFF2-40B4-BE49-F238E27FC236}">
                <a16:creationId xmlns:a16="http://schemas.microsoft.com/office/drawing/2014/main" id="{29DF04D3-DAE7-4588-810C-EBA7901A6C71}"/>
              </a:ext>
            </a:extLst>
          </p:cNvPr>
          <p:cNvSpPr txBox="1"/>
          <p:nvPr/>
        </p:nvSpPr>
        <p:spPr>
          <a:xfrm>
            <a:off x="457200" y="3314555"/>
            <a:ext cx="2864823" cy="369332"/>
          </a:xfrm>
          <a:prstGeom prst="rect">
            <a:avLst/>
          </a:prstGeom>
          <a:noFill/>
        </p:spPr>
        <p:txBody>
          <a:bodyPr wrap="none" rtlCol="0">
            <a:spAutoFit/>
          </a:bodyPr>
          <a:lstStyle/>
          <a:p>
            <a:r>
              <a:rPr lang="en-IN" dirty="0"/>
              <a:t>Role of Neural Network</a:t>
            </a:r>
          </a:p>
        </p:txBody>
      </p:sp>
    </p:spTree>
    <p:extLst>
      <p:ext uri="{BB962C8B-B14F-4D97-AF65-F5344CB8AC3E}">
        <p14:creationId xmlns:p14="http://schemas.microsoft.com/office/powerpoint/2010/main" val="765588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40C3C-0FC7-4B2C-BCD8-1788C30254C6}"/>
              </a:ext>
            </a:extLst>
          </p:cNvPr>
          <p:cNvSpPr>
            <a:spLocks noGrp="1"/>
          </p:cNvSpPr>
          <p:nvPr>
            <p:ph type="title"/>
          </p:nvPr>
        </p:nvSpPr>
        <p:spPr/>
        <p:txBody>
          <a:bodyPr/>
          <a:lstStyle/>
          <a:p>
            <a:r>
              <a:rPr lang="en-IN" dirty="0"/>
              <a:t>Applications of Diffusion Models</a:t>
            </a:r>
          </a:p>
        </p:txBody>
      </p:sp>
      <p:sp>
        <p:nvSpPr>
          <p:cNvPr id="3" name="Content Placeholder 2">
            <a:extLst>
              <a:ext uri="{FF2B5EF4-FFF2-40B4-BE49-F238E27FC236}">
                <a16:creationId xmlns:a16="http://schemas.microsoft.com/office/drawing/2014/main" id="{A9EE4AFA-0BCE-49DB-B519-2BB1F1F9810C}"/>
              </a:ext>
            </a:extLst>
          </p:cNvPr>
          <p:cNvSpPr>
            <a:spLocks noGrp="1"/>
          </p:cNvSpPr>
          <p:nvPr>
            <p:ph idx="1"/>
          </p:nvPr>
        </p:nvSpPr>
        <p:spPr/>
        <p:txBody>
          <a:bodyPr/>
          <a:lstStyle/>
          <a:p>
            <a:pPr algn="just" rtl="0" fontAlgn="base"/>
            <a:r>
              <a:rPr lang="en-US" sz="1800" b="0" i="0" dirty="0">
                <a:solidFill>
                  <a:srgbClr val="273239"/>
                </a:solidFill>
                <a:effectLst/>
                <a:latin typeface="Nunito" pitchFamily="2" charset="0"/>
              </a:rPr>
              <a:t>Diffusion models have shown great promise in various applications, particularly in generative tasks. Some notable applications include:</a:t>
            </a:r>
          </a:p>
          <a:p>
            <a:pPr algn="just" fontAlgn="base">
              <a:buFont typeface="Arial" panose="020B0604020202020204" pitchFamily="34" charset="0"/>
              <a:buChar char="•"/>
            </a:pPr>
            <a:r>
              <a:rPr lang="en-US" sz="1800" b="1" i="0" dirty="0">
                <a:solidFill>
                  <a:srgbClr val="273239"/>
                </a:solidFill>
                <a:effectLst/>
                <a:latin typeface="Nunito" pitchFamily="2" charset="0"/>
              </a:rPr>
              <a:t>Image Generation</a:t>
            </a:r>
            <a:r>
              <a:rPr lang="en-US" sz="1800" b="0" i="0" dirty="0">
                <a:solidFill>
                  <a:srgbClr val="273239"/>
                </a:solidFill>
                <a:effectLst/>
                <a:latin typeface="Nunito" pitchFamily="2" charset="0"/>
              </a:rPr>
              <a:t>: Diffusion models can generate high-quality, realistic images from random noise. They have been used to create diverse datasets for training other machine learning models.</a:t>
            </a:r>
          </a:p>
          <a:p>
            <a:pPr algn="just" fontAlgn="base">
              <a:buFont typeface="Arial" panose="020B0604020202020204" pitchFamily="34" charset="0"/>
              <a:buChar char="•"/>
            </a:pPr>
            <a:r>
              <a:rPr lang="en-US" sz="1800" b="1" i="0" dirty="0">
                <a:solidFill>
                  <a:srgbClr val="273239"/>
                </a:solidFill>
                <a:effectLst/>
                <a:latin typeface="Nunito" pitchFamily="2" charset="0"/>
              </a:rPr>
              <a:t>Speech Synthesis</a:t>
            </a:r>
            <a:r>
              <a:rPr lang="en-US" sz="1800" b="0" i="0" dirty="0">
                <a:solidFill>
                  <a:srgbClr val="273239"/>
                </a:solidFill>
                <a:effectLst/>
                <a:latin typeface="Nunito" pitchFamily="2" charset="0"/>
              </a:rPr>
              <a:t>: These models can generate human-like speech by modelling the distribution of audio signals.</a:t>
            </a:r>
          </a:p>
          <a:p>
            <a:pPr algn="just" fontAlgn="base">
              <a:buFont typeface="Arial" panose="020B0604020202020204" pitchFamily="34" charset="0"/>
              <a:buChar char="•"/>
            </a:pPr>
            <a:r>
              <a:rPr lang="en-US" sz="1800" b="1" i="0" dirty="0">
                <a:solidFill>
                  <a:srgbClr val="273239"/>
                </a:solidFill>
                <a:effectLst/>
                <a:latin typeface="Nunito" pitchFamily="2" charset="0"/>
              </a:rPr>
              <a:t>Data Augmentation</a:t>
            </a:r>
            <a:r>
              <a:rPr lang="en-US" sz="1800" b="0" i="0" dirty="0">
                <a:solidFill>
                  <a:srgbClr val="273239"/>
                </a:solidFill>
                <a:effectLst/>
                <a:latin typeface="Nunito" pitchFamily="2" charset="0"/>
              </a:rPr>
              <a:t>: Diffusion models can be used to augment existing datasets with new, synthetic samples, improving the performance of machine learning models.</a:t>
            </a:r>
          </a:p>
          <a:p>
            <a:pPr algn="just" fontAlgn="base">
              <a:buFont typeface="Arial" panose="020B0604020202020204" pitchFamily="34" charset="0"/>
              <a:buChar char="•"/>
            </a:pPr>
            <a:r>
              <a:rPr lang="en-US" sz="1800" b="1" i="0" dirty="0">
                <a:solidFill>
                  <a:srgbClr val="273239"/>
                </a:solidFill>
                <a:effectLst/>
                <a:latin typeface="Nunito" pitchFamily="2" charset="0"/>
              </a:rPr>
              <a:t>Anomaly Detection</a:t>
            </a:r>
            <a:r>
              <a:rPr lang="en-US" sz="1800" b="0" i="0" dirty="0">
                <a:solidFill>
                  <a:srgbClr val="273239"/>
                </a:solidFill>
                <a:effectLst/>
                <a:latin typeface="Nunito" pitchFamily="2" charset="0"/>
              </a:rPr>
              <a:t>: By modelling the normal data distribution, diffusion models can help identify anomalies that deviate from this distribution.</a:t>
            </a:r>
          </a:p>
          <a:p>
            <a:pPr marL="0" indent="0" algn="just">
              <a:buNone/>
            </a:pPr>
            <a:endParaRPr lang="en-IN" sz="1800" dirty="0"/>
          </a:p>
        </p:txBody>
      </p:sp>
      <p:sp>
        <p:nvSpPr>
          <p:cNvPr id="4" name="Date Placeholder 3">
            <a:extLst>
              <a:ext uri="{FF2B5EF4-FFF2-40B4-BE49-F238E27FC236}">
                <a16:creationId xmlns:a16="http://schemas.microsoft.com/office/drawing/2014/main" id="{F2856FDD-F002-4409-A651-3B8E1B882BA5}"/>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161F1C20-A508-467B-88E9-7AF36BDE0B2B}"/>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F19AE63E-6722-4BD7-89B0-F6FC7E5A4D7C}"/>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12142031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CDD54-569B-4AE7-8A3C-85CB7F6285B8}"/>
              </a:ext>
            </a:extLst>
          </p:cNvPr>
          <p:cNvSpPr>
            <a:spLocks noGrp="1"/>
          </p:cNvSpPr>
          <p:nvPr>
            <p:ph type="title"/>
          </p:nvPr>
        </p:nvSpPr>
        <p:spPr/>
        <p:txBody>
          <a:bodyPr/>
          <a:lstStyle/>
          <a:p>
            <a:r>
              <a:rPr lang="en-IN" dirty="0"/>
              <a:t>Advantages of Diffusion Models</a:t>
            </a:r>
          </a:p>
        </p:txBody>
      </p:sp>
      <p:sp>
        <p:nvSpPr>
          <p:cNvPr id="3" name="Content Placeholder 2">
            <a:extLst>
              <a:ext uri="{FF2B5EF4-FFF2-40B4-BE49-F238E27FC236}">
                <a16:creationId xmlns:a16="http://schemas.microsoft.com/office/drawing/2014/main" id="{10C95016-166D-4D59-9837-5EE07053AB0B}"/>
              </a:ext>
            </a:extLst>
          </p:cNvPr>
          <p:cNvSpPr>
            <a:spLocks noGrp="1"/>
          </p:cNvSpPr>
          <p:nvPr>
            <p:ph idx="1"/>
          </p:nvPr>
        </p:nvSpPr>
        <p:spPr/>
        <p:txBody>
          <a:bodyPr/>
          <a:lstStyle/>
          <a:p>
            <a:pPr algn="l" fontAlgn="base">
              <a:buFont typeface="+mj-lt"/>
              <a:buAutoNum type="arabicPeriod"/>
            </a:pPr>
            <a:r>
              <a:rPr lang="en-US" sz="1800" b="1" i="0" dirty="0">
                <a:solidFill>
                  <a:srgbClr val="273239"/>
                </a:solidFill>
                <a:effectLst/>
                <a:latin typeface="Nunito" pitchFamily="2" charset="0"/>
              </a:rPr>
              <a:t>Flexibility:</a:t>
            </a:r>
            <a:r>
              <a:rPr lang="en-US" sz="1800" b="0" i="0" dirty="0">
                <a:solidFill>
                  <a:srgbClr val="273239"/>
                </a:solidFill>
                <a:effectLst/>
                <a:latin typeface="Nunito" pitchFamily="2" charset="0"/>
              </a:rPr>
              <a:t> They can model complex data distributions without requiring explicit likelihood estimation.</a:t>
            </a:r>
          </a:p>
          <a:p>
            <a:pPr algn="l" fontAlgn="base">
              <a:buFont typeface="+mj-lt"/>
              <a:buAutoNum type="arabicPeriod" startAt="2"/>
            </a:pPr>
            <a:r>
              <a:rPr lang="en-US" sz="1800" b="1" i="0" dirty="0">
                <a:solidFill>
                  <a:srgbClr val="273239"/>
                </a:solidFill>
                <a:effectLst/>
                <a:latin typeface="Nunito" pitchFamily="2" charset="0"/>
              </a:rPr>
              <a:t>High-Quality Generation:</a:t>
            </a:r>
            <a:r>
              <a:rPr lang="en-US" sz="1800" b="0" i="0" dirty="0">
                <a:solidFill>
                  <a:srgbClr val="273239"/>
                </a:solidFill>
                <a:effectLst/>
                <a:latin typeface="Nunito" pitchFamily="2" charset="0"/>
              </a:rPr>
              <a:t> Diffusion models generate high-quality samples, often surpassing other generative models like GANs.</a:t>
            </a:r>
          </a:p>
          <a:p>
            <a:pPr algn="l" fontAlgn="base">
              <a:buFont typeface="+mj-lt"/>
              <a:buAutoNum type="arabicPeriod" startAt="3"/>
            </a:pPr>
            <a:r>
              <a:rPr lang="en-US" sz="1800" b="1" i="0" dirty="0">
                <a:solidFill>
                  <a:srgbClr val="273239"/>
                </a:solidFill>
                <a:effectLst/>
                <a:latin typeface="Nunito" pitchFamily="2" charset="0"/>
              </a:rPr>
              <a:t>Stable Training:</a:t>
            </a:r>
            <a:r>
              <a:rPr lang="en-US" sz="1800" b="0" i="0" dirty="0">
                <a:solidFill>
                  <a:srgbClr val="273239"/>
                </a:solidFill>
                <a:effectLst/>
                <a:latin typeface="Nunito" pitchFamily="2" charset="0"/>
              </a:rPr>
              <a:t> Unlike GANs, diffusion models avoid issues like mode collapse and unstable training dynamics.</a:t>
            </a:r>
          </a:p>
          <a:p>
            <a:pPr algn="l" fontAlgn="base">
              <a:buFont typeface="+mj-lt"/>
              <a:buAutoNum type="arabicPeriod" startAt="4"/>
            </a:pPr>
            <a:r>
              <a:rPr lang="en-US" sz="1800" b="1" i="0" dirty="0">
                <a:solidFill>
                  <a:srgbClr val="273239"/>
                </a:solidFill>
                <a:effectLst/>
                <a:latin typeface="Nunito" pitchFamily="2" charset="0"/>
              </a:rPr>
              <a:t>Theoretical Foundations:</a:t>
            </a:r>
            <a:r>
              <a:rPr lang="en-US" sz="1800" b="0" i="0" dirty="0">
                <a:solidFill>
                  <a:srgbClr val="273239"/>
                </a:solidFill>
                <a:effectLst/>
                <a:latin typeface="Nunito" pitchFamily="2" charset="0"/>
              </a:rPr>
              <a:t> Based on well-understood principles from stochastic processes and statistical mechanics.</a:t>
            </a:r>
          </a:p>
          <a:p>
            <a:pPr algn="l" fontAlgn="base">
              <a:buFont typeface="+mj-lt"/>
              <a:buAutoNum type="arabicPeriod" startAt="5"/>
            </a:pPr>
            <a:r>
              <a:rPr lang="en-US" sz="1800" b="1" i="0" dirty="0">
                <a:solidFill>
                  <a:srgbClr val="273239"/>
                </a:solidFill>
                <a:effectLst/>
                <a:latin typeface="Nunito" pitchFamily="2" charset="0"/>
              </a:rPr>
              <a:t>Scalability:</a:t>
            </a:r>
            <a:r>
              <a:rPr lang="en-US" sz="1800" b="0" i="0" dirty="0">
                <a:solidFill>
                  <a:srgbClr val="273239"/>
                </a:solidFill>
                <a:effectLst/>
                <a:latin typeface="Nunito" pitchFamily="2" charset="0"/>
              </a:rPr>
              <a:t> Can be effectively scaled to high-dimensional data and large datasets.</a:t>
            </a:r>
          </a:p>
          <a:p>
            <a:pPr algn="l" fontAlgn="base">
              <a:buFont typeface="+mj-lt"/>
              <a:buAutoNum type="arabicPeriod" startAt="6"/>
            </a:pPr>
            <a:r>
              <a:rPr lang="en-US" sz="1800" b="1" i="0" dirty="0">
                <a:solidFill>
                  <a:srgbClr val="273239"/>
                </a:solidFill>
                <a:effectLst/>
                <a:latin typeface="Nunito" pitchFamily="2" charset="0"/>
              </a:rPr>
              <a:t>Robustness:</a:t>
            </a:r>
            <a:r>
              <a:rPr lang="en-US" sz="1800" b="0" i="0" dirty="0">
                <a:solidFill>
                  <a:srgbClr val="273239"/>
                </a:solidFill>
                <a:effectLst/>
                <a:latin typeface="Nunito" pitchFamily="2" charset="0"/>
              </a:rPr>
              <a:t> More robust to hyperparameter changes compared to GANs.</a:t>
            </a:r>
          </a:p>
          <a:p>
            <a:pPr marL="0" indent="0">
              <a:buNone/>
            </a:pPr>
            <a:endParaRPr lang="en-IN" sz="1800" dirty="0"/>
          </a:p>
        </p:txBody>
      </p:sp>
      <p:sp>
        <p:nvSpPr>
          <p:cNvPr id="4" name="Date Placeholder 3">
            <a:extLst>
              <a:ext uri="{FF2B5EF4-FFF2-40B4-BE49-F238E27FC236}">
                <a16:creationId xmlns:a16="http://schemas.microsoft.com/office/drawing/2014/main" id="{4B39A92D-8186-490B-88F8-4BBEA5F7D3A8}"/>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EB8752CC-54E0-4C7A-892F-FCA8CE76CB5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74FEE58-7FD8-4D7E-9CD5-56009D88E0D5}"/>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26506850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2FF26-A110-4531-9990-5B5333AB8DEE}"/>
              </a:ext>
            </a:extLst>
          </p:cNvPr>
          <p:cNvSpPr>
            <a:spLocks noGrp="1"/>
          </p:cNvSpPr>
          <p:nvPr>
            <p:ph type="title"/>
          </p:nvPr>
        </p:nvSpPr>
        <p:spPr/>
        <p:txBody>
          <a:bodyPr/>
          <a:lstStyle/>
          <a:p>
            <a:r>
              <a:rPr lang="en-IN" dirty="0"/>
              <a:t>Limitations of Diffusion Models</a:t>
            </a:r>
          </a:p>
        </p:txBody>
      </p:sp>
      <p:sp>
        <p:nvSpPr>
          <p:cNvPr id="3" name="Content Placeholder 2">
            <a:extLst>
              <a:ext uri="{FF2B5EF4-FFF2-40B4-BE49-F238E27FC236}">
                <a16:creationId xmlns:a16="http://schemas.microsoft.com/office/drawing/2014/main" id="{589FD295-EEB6-420F-AB9D-67ABE73630B5}"/>
              </a:ext>
            </a:extLst>
          </p:cNvPr>
          <p:cNvSpPr>
            <a:spLocks noGrp="1"/>
          </p:cNvSpPr>
          <p:nvPr>
            <p:ph idx="1"/>
          </p:nvPr>
        </p:nvSpPr>
        <p:spPr/>
        <p:txBody>
          <a:bodyPr/>
          <a:lstStyle/>
          <a:p>
            <a:pPr algn="l" fontAlgn="base">
              <a:buFont typeface="+mj-lt"/>
              <a:buAutoNum type="arabicPeriod"/>
            </a:pPr>
            <a:r>
              <a:rPr lang="en-US" sz="1600" b="1" i="0" dirty="0">
                <a:solidFill>
                  <a:srgbClr val="273239"/>
                </a:solidFill>
                <a:effectLst/>
                <a:latin typeface="Nunito" pitchFamily="2" charset="0"/>
              </a:rPr>
              <a:t>Computationally Intensive:</a:t>
            </a:r>
            <a:r>
              <a:rPr lang="en-US" sz="1600" b="0" i="0" dirty="0">
                <a:solidFill>
                  <a:srgbClr val="273239"/>
                </a:solidFill>
                <a:effectLst/>
                <a:latin typeface="Nunito" pitchFamily="2" charset="0"/>
              </a:rPr>
              <a:t> Requires significant computational resources due to the large number of iterative steps.</a:t>
            </a:r>
          </a:p>
          <a:p>
            <a:pPr algn="l" fontAlgn="base">
              <a:buFont typeface="+mj-lt"/>
              <a:buAutoNum type="arabicPeriod" startAt="2"/>
            </a:pPr>
            <a:r>
              <a:rPr lang="en-US" sz="1600" b="1" i="0" dirty="0">
                <a:solidFill>
                  <a:srgbClr val="273239"/>
                </a:solidFill>
                <a:effectLst/>
                <a:latin typeface="Nunito" pitchFamily="2" charset="0"/>
              </a:rPr>
              <a:t>Slow Sampling:</a:t>
            </a:r>
            <a:r>
              <a:rPr lang="en-US" sz="1600" b="0" i="0" dirty="0">
                <a:solidFill>
                  <a:srgbClr val="273239"/>
                </a:solidFill>
                <a:effectLst/>
                <a:latin typeface="Nunito" pitchFamily="2" charset="0"/>
              </a:rPr>
              <a:t> Generating samples can be slow because of the many steps needed for the reverse diffusion process.</a:t>
            </a:r>
          </a:p>
          <a:p>
            <a:pPr algn="l" fontAlgn="base">
              <a:buFont typeface="+mj-lt"/>
              <a:buAutoNum type="arabicPeriod" startAt="3"/>
            </a:pPr>
            <a:r>
              <a:rPr lang="en-US" sz="1600" b="1" i="0" dirty="0">
                <a:solidFill>
                  <a:srgbClr val="273239"/>
                </a:solidFill>
                <a:effectLst/>
                <a:latin typeface="Nunito" pitchFamily="2" charset="0"/>
              </a:rPr>
              <a:t>Complexity:</a:t>
            </a:r>
            <a:r>
              <a:rPr lang="en-US" sz="1600" b="0" i="0" dirty="0">
                <a:solidFill>
                  <a:srgbClr val="273239"/>
                </a:solidFill>
                <a:effectLst/>
                <a:latin typeface="Nunito" pitchFamily="2" charset="0"/>
              </a:rPr>
              <a:t> The architecture and training process can be complex, making them challenging to implement and understand.</a:t>
            </a:r>
          </a:p>
          <a:p>
            <a:pPr algn="l" fontAlgn="base">
              <a:buFont typeface="+mj-lt"/>
              <a:buAutoNum type="arabicPeriod" startAt="4"/>
            </a:pPr>
            <a:r>
              <a:rPr lang="en-US" sz="1600" b="1" i="0" dirty="0">
                <a:solidFill>
                  <a:srgbClr val="273239"/>
                </a:solidFill>
                <a:effectLst/>
                <a:latin typeface="Nunito" pitchFamily="2" charset="0"/>
              </a:rPr>
              <a:t>Memory Usage:</a:t>
            </a:r>
            <a:r>
              <a:rPr lang="en-US" sz="1600" b="0" i="0" dirty="0">
                <a:solidFill>
                  <a:srgbClr val="273239"/>
                </a:solidFill>
                <a:effectLst/>
                <a:latin typeface="Nunito" pitchFamily="2" charset="0"/>
              </a:rPr>
              <a:t> High memory consumption during training due to the need to store multiple intermediate steps.</a:t>
            </a:r>
          </a:p>
          <a:p>
            <a:pPr algn="l" fontAlgn="base">
              <a:buFont typeface="+mj-lt"/>
              <a:buAutoNum type="arabicPeriod" startAt="5"/>
            </a:pPr>
            <a:r>
              <a:rPr lang="en-US" sz="1600" b="1" i="0" dirty="0">
                <a:solidFill>
                  <a:srgbClr val="273239"/>
                </a:solidFill>
                <a:effectLst/>
                <a:latin typeface="Nunito" pitchFamily="2" charset="0"/>
              </a:rPr>
              <a:t>Fine-Tuning:</a:t>
            </a:r>
            <a:r>
              <a:rPr lang="en-US" sz="1600" b="0" i="0" dirty="0">
                <a:solidFill>
                  <a:srgbClr val="273239"/>
                </a:solidFill>
                <a:effectLst/>
                <a:latin typeface="Nunito" pitchFamily="2" charset="0"/>
              </a:rPr>
              <a:t> Requires careful tuning of noise schedules and other hyperparameters to achieve optimal performance.</a:t>
            </a:r>
          </a:p>
          <a:p>
            <a:pPr algn="l" fontAlgn="base">
              <a:buFont typeface="+mj-lt"/>
              <a:buAutoNum type="arabicPeriod" startAt="6"/>
            </a:pPr>
            <a:r>
              <a:rPr lang="en-US" sz="1600" b="1" i="0" dirty="0">
                <a:solidFill>
                  <a:srgbClr val="273239"/>
                </a:solidFill>
                <a:effectLst/>
                <a:latin typeface="Nunito" pitchFamily="2" charset="0"/>
              </a:rPr>
              <a:t>Resource Demand:</a:t>
            </a:r>
            <a:r>
              <a:rPr lang="en-US" sz="1600" b="0" i="0" dirty="0">
                <a:solidFill>
                  <a:srgbClr val="273239"/>
                </a:solidFill>
                <a:effectLst/>
                <a:latin typeface="Nunito" pitchFamily="2" charset="0"/>
              </a:rPr>
              <a:t> High demand for GPUs or TPUs, making them less accessible for small-scale research or applications with limited resources.</a:t>
            </a:r>
          </a:p>
          <a:p>
            <a:pPr marL="0" indent="0">
              <a:buNone/>
            </a:pPr>
            <a:endParaRPr lang="en-IN" sz="1600" dirty="0"/>
          </a:p>
        </p:txBody>
      </p:sp>
      <p:sp>
        <p:nvSpPr>
          <p:cNvPr id="4" name="Date Placeholder 3">
            <a:extLst>
              <a:ext uri="{FF2B5EF4-FFF2-40B4-BE49-F238E27FC236}">
                <a16:creationId xmlns:a16="http://schemas.microsoft.com/office/drawing/2014/main" id="{5FF1AF74-1217-475E-AC38-5054AB718AC1}"/>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EC372CCB-B570-477F-A898-B287E348F97C}"/>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903BEBAC-CDD3-458A-BF83-6F53C45D8EDE}"/>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6910661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5AD6C-E084-4F89-8543-BDBE8362306F}"/>
              </a:ext>
            </a:extLst>
          </p:cNvPr>
          <p:cNvSpPr>
            <a:spLocks noGrp="1"/>
          </p:cNvSpPr>
          <p:nvPr>
            <p:ph type="title"/>
          </p:nvPr>
        </p:nvSpPr>
        <p:spPr/>
        <p:txBody>
          <a:bodyPr/>
          <a:lstStyle/>
          <a:p>
            <a:r>
              <a:rPr lang="en-US" sz="2400" dirty="0"/>
              <a:t>Vector Quantized Diffusion (VQ-Diffusion) models</a:t>
            </a:r>
            <a:endParaRPr lang="en-IN" sz="2400" dirty="0"/>
          </a:p>
        </p:txBody>
      </p:sp>
      <p:sp>
        <p:nvSpPr>
          <p:cNvPr id="3" name="Content Placeholder 2">
            <a:extLst>
              <a:ext uri="{FF2B5EF4-FFF2-40B4-BE49-F238E27FC236}">
                <a16:creationId xmlns:a16="http://schemas.microsoft.com/office/drawing/2014/main" id="{7D74F9B9-F355-4E4E-992A-F0608DD92765}"/>
              </a:ext>
            </a:extLst>
          </p:cNvPr>
          <p:cNvSpPr>
            <a:spLocks noGrp="1"/>
          </p:cNvSpPr>
          <p:nvPr>
            <p:ph idx="1"/>
          </p:nvPr>
        </p:nvSpPr>
        <p:spPr/>
        <p:txBody>
          <a:bodyPr/>
          <a:lstStyle/>
          <a:p>
            <a:pPr marL="0" indent="0" algn="just">
              <a:buNone/>
            </a:pPr>
            <a:r>
              <a:rPr lang="en-US" sz="1800" dirty="0"/>
              <a:t>A </a:t>
            </a:r>
            <a:r>
              <a:rPr lang="en-US" sz="1800" b="1" dirty="0"/>
              <a:t>Vector Quantized Diffusion Model</a:t>
            </a:r>
            <a:r>
              <a:rPr lang="en-US" sz="1800" dirty="0"/>
              <a:t> combines </a:t>
            </a:r>
            <a:r>
              <a:rPr lang="en-US" sz="1800" b="1" dirty="0"/>
              <a:t>vector quantization (VQ)</a:t>
            </a:r>
            <a:r>
              <a:rPr lang="en-US" sz="1800" dirty="0"/>
              <a:t> with </a:t>
            </a:r>
            <a:r>
              <a:rPr lang="en-US" sz="1800" b="1" dirty="0"/>
              <a:t>diffusion models</a:t>
            </a:r>
            <a:r>
              <a:rPr lang="en-US" sz="1800" dirty="0"/>
              <a:t> to generate </a:t>
            </a:r>
            <a:r>
              <a:rPr lang="en-US" sz="1800" b="1" dirty="0"/>
              <a:t>discrete data</a:t>
            </a:r>
            <a:r>
              <a:rPr lang="en-US" sz="1800" dirty="0"/>
              <a:t> (like text, code, or quantized image patches). It is especially useful when the output space is </a:t>
            </a:r>
            <a:r>
              <a:rPr lang="en-US" sz="1800" b="1" dirty="0"/>
              <a:t>discrete</a:t>
            </a:r>
            <a:r>
              <a:rPr lang="en-US" sz="1800" dirty="0"/>
              <a:t>, unlike the typical diffusion models which work in continuous pixel space.</a:t>
            </a:r>
          </a:p>
          <a:p>
            <a:pPr marL="0" indent="0" algn="just">
              <a:buNone/>
            </a:pPr>
            <a:endParaRPr lang="en-IN" sz="1800" dirty="0"/>
          </a:p>
        </p:txBody>
      </p:sp>
      <p:sp>
        <p:nvSpPr>
          <p:cNvPr id="4" name="Date Placeholder 3">
            <a:extLst>
              <a:ext uri="{FF2B5EF4-FFF2-40B4-BE49-F238E27FC236}">
                <a16:creationId xmlns:a16="http://schemas.microsoft.com/office/drawing/2014/main" id="{AF1AEE9D-7443-43BC-8BEE-D49364DF6740}"/>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2D8379C5-6DAF-469B-A870-5DFFE242592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0578782A-A022-4923-A824-5F286B97C5D1}"/>
              </a:ext>
            </a:extLst>
          </p:cNvPr>
          <p:cNvSpPr>
            <a:spLocks noGrp="1"/>
          </p:cNvSpPr>
          <p:nvPr>
            <p:ph type="sldNum" sz="quarter" idx="12"/>
          </p:nvPr>
        </p:nvSpPr>
        <p:spPr/>
        <p:txBody>
          <a:bodyPr/>
          <a:lstStyle/>
          <a:p>
            <a:fld id="{BB2CE0DE-867F-455F-B20B-96D381B4AB71}" type="slidenum">
              <a:rPr lang="en-US" smtClean="0"/>
              <a:t>62</a:t>
            </a:fld>
            <a:endParaRPr lang="en-US"/>
          </a:p>
        </p:txBody>
      </p:sp>
    </p:spTree>
    <p:extLst>
      <p:ext uri="{BB962C8B-B14F-4D97-AF65-F5344CB8AC3E}">
        <p14:creationId xmlns:p14="http://schemas.microsoft.com/office/powerpoint/2010/main" val="35376781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5955-CD07-4A37-8332-2416B4C5EFA4}"/>
              </a:ext>
            </a:extLst>
          </p:cNvPr>
          <p:cNvSpPr>
            <a:spLocks noGrp="1"/>
          </p:cNvSpPr>
          <p:nvPr>
            <p:ph type="title"/>
          </p:nvPr>
        </p:nvSpPr>
        <p:spPr/>
        <p:txBody>
          <a:bodyPr/>
          <a:lstStyle/>
          <a:p>
            <a:r>
              <a:rPr lang="en-US" sz="2400" dirty="0"/>
              <a:t>What is a Codebook in Vector Quantization?</a:t>
            </a:r>
            <a:endParaRPr lang="en-IN" sz="2400" dirty="0"/>
          </a:p>
        </p:txBody>
      </p:sp>
      <p:sp>
        <p:nvSpPr>
          <p:cNvPr id="3" name="Content Placeholder 2">
            <a:extLst>
              <a:ext uri="{FF2B5EF4-FFF2-40B4-BE49-F238E27FC236}">
                <a16:creationId xmlns:a16="http://schemas.microsoft.com/office/drawing/2014/main" id="{247E422F-A404-4D84-AF63-D9F0A9E141A7}"/>
              </a:ext>
            </a:extLst>
          </p:cNvPr>
          <p:cNvSpPr>
            <a:spLocks noGrp="1"/>
          </p:cNvSpPr>
          <p:nvPr>
            <p:ph idx="1"/>
          </p:nvPr>
        </p:nvSpPr>
        <p:spPr/>
        <p:txBody>
          <a:bodyPr/>
          <a:lstStyle/>
          <a:p>
            <a:pPr marL="0" indent="0">
              <a:buNone/>
            </a:pPr>
            <a:r>
              <a:rPr lang="en-US" sz="1800" dirty="0"/>
              <a:t>A codebook is a learned collection of discrete vectors (also called code vectors, embeddings, or prototypes) used to represent high-dimensional continuous data with discrete tokens.</a:t>
            </a:r>
          </a:p>
          <a:p>
            <a:pPr marL="0" indent="0" algn="just">
              <a:buNone/>
            </a:pPr>
            <a:r>
              <a:rPr lang="en-US" sz="1600" b="1" dirty="0"/>
              <a:t>Analogy: Dictionary for Vectors</a:t>
            </a:r>
          </a:p>
          <a:p>
            <a:pPr algn="just"/>
            <a:r>
              <a:rPr lang="en-US" sz="1600" dirty="0"/>
              <a:t>Think of a codebook like a </a:t>
            </a:r>
            <a:r>
              <a:rPr lang="en-US" sz="1600" b="1" dirty="0"/>
              <a:t>dictionary</a:t>
            </a:r>
            <a:r>
              <a:rPr lang="en-US" sz="1600" dirty="0"/>
              <a:t>:</a:t>
            </a:r>
          </a:p>
          <a:p>
            <a:pPr algn="just">
              <a:buFont typeface="Arial" panose="020B0604020202020204" pitchFamily="34" charset="0"/>
              <a:buChar char="•"/>
            </a:pPr>
            <a:r>
              <a:rPr lang="en-US" sz="1600" dirty="0"/>
              <a:t>Each entry in the codebook has a </a:t>
            </a:r>
            <a:r>
              <a:rPr lang="en-US" sz="1600" b="1" dirty="0"/>
              <a:t>fixed vector</a:t>
            </a:r>
            <a:r>
              <a:rPr lang="en-US" sz="1600" dirty="0"/>
              <a:t> (e.g., a 64-dimensional vector).</a:t>
            </a:r>
          </a:p>
          <a:p>
            <a:pPr algn="just">
              <a:buFont typeface="Arial" panose="020B0604020202020204" pitchFamily="34" charset="0"/>
              <a:buChar char="•"/>
            </a:pPr>
            <a:r>
              <a:rPr lang="en-US" sz="1600" dirty="0"/>
              <a:t>During encoding, any input vector (like an image patch) is </a:t>
            </a:r>
            <a:r>
              <a:rPr lang="en-US" sz="1600" b="1" dirty="0"/>
              <a:t>matched to its closest code</a:t>
            </a:r>
            <a:r>
              <a:rPr lang="en-US" sz="1600" dirty="0"/>
              <a:t> in this dictionary.</a:t>
            </a:r>
          </a:p>
          <a:p>
            <a:pPr algn="just">
              <a:buFont typeface="Arial" panose="020B0604020202020204" pitchFamily="34" charset="0"/>
              <a:buChar char="•"/>
            </a:pPr>
            <a:r>
              <a:rPr lang="en-US" sz="1600" dirty="0"/>
              <a:t>The </a:t>
            </a:r>
            <a:r>
              <a:rPr lang="en-US" sz="1600" b="1" dirty="0"/>
              <a:t>index</a:t>
            </a:r>
            <a:r>
              <a:rPr lang="en-US" sz="1600" dirty="0"/>
              <a:t> of that code is used as the </a:t>
            </a:r>
            <a:r>
              <a:rPr lang="en-US" sz="1600" b="1" dirty="0"/>
              <a:t>discrete token</a:t>
            </a:r>
            <a:r>
              <a:rPr lang="en-US" sz="1600" dirty="0"/>
              <a:t>.</a:t>
            </a:r>
          </a:p>
          <a:p>
            <a:pPr marL="0" indent="0">
              <a:buNone/>
            </a:pPr>
            <a:endParaRPr lang="en-IN" sz="1800" dirty="0"/>
          </a:p>
        </p:txBody>
      </p:sp>
      <p:sp>
        <p:nvSpPr>
          <p:cNvPr id="4" name="Date Placeholder 3">
            <a:extLst>
              <a:ext uri="{FF2B5EF4-FFF2-40B4-BE49-F238E27FC236}">
                <a16:creationId xmlns:a16="http://schemas.microsoft.com/office/drawing/2014/main" id="{6979F6D9-8B2F-4792-986D-B7A3B6EF039A}"/>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12614B52-7870-4B8E-A363-8C7DE27954B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46BEE2C-AFF6-421A-A152-8AB7274325F8}"/>
              </a:ext>
            </a:extLst>
          </p:cNvPr>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34422297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11A7E-675B-48A9-ADA1-78551EA8EBD7}"/>
              </a:ext>
            </a:extLst>
          </p:cNvPr>
          <p:cNvSpPr>
            <a:spLocks noGrp="1"/>
          </p:cNvSpPr>
          <p:nvPr>
            <p:ph type="title"/>
          </p:nvPr>
        </p:nvSpPr>
        <p:spPr/>
        <p:txBody>
          <a:bodyPr/>
          <a:lstStyle/>
          <a:p>
            <a:r>
              <a:rPr lang="en-US" sz="2000" dirty="0"/>
              <a:t>Vector Quantized Diffusion (VQ-Diffusion) models</a:t>
            </a:r>
            <a:endParaRPr lang="en-IN" sz="2000" dirty="0"/>
          </a:p>
        </p:txBody>
      </p:sp>
      <p:sp>
        <p:nvSpPr>
          <p:cNvPr id="3" name="Content Placeholder 2">
            <a:extLst>
              <a:ext uri="{FF2B5EF4-FFF2-40B4-BE49-F238E27FC236}">
                <a16:creationId xmlns:a16="http://schemas.microsoft.com/office/drawing/2014/main" id="{4B57B1F5-B701-4740-B8F3-032A07628B54}"/>
              </a:ext>
            </a:extLst>
          </p:cNvPr>
          <p:cNvSpPr>
            <a:spLocks noGrp="1"/>
          </p:cNvSpPr>
          <p:nvPr>
            <p:ph idx="1"/>
          </p:nvPr>
        </p:nvSpPr>
        <p:spPr/>
        <p:txBody>
          <a:bodyPr/>
          <a:lstStyle/>
          <a:p>
            <a:pPr marL="0" indent="0">
              <a:buNone/>
            </a:pPr>
            <a:r>
              <a:rPr lang="en-IN" sz="1600" b="1" dirty="0"/>
              <a:t>1. Vector Quantization (VQ)</a:t>
            </a:r>
          </a:p>
          <a:p>
            <a:pPr>
              <a:buFont typeface="Arial" panose="020B0604020202020204" pitchFamily="34" charset="0"/>
              <a:buChar char="•"/>
            </a:pPr>
            <a:r>
              <a:rPr lang="en-IN" sz="1600" dirty="0"/>
              <a:t>Converts high-dimensional continuous data (e.g., image patches) into </a:t>
            </a:r>
            <a:r>
              <a:rPr lang="en-IN" sz="1600" b="1" dirty="0"/>
              <a:t>discrete tokens</a:t>
            </a:r>
            <a:r>
              <a:rPr lang="en-IN" sz="1600" dirty="0"/>
              <a:t> from a codebook.</a:t>
            </a:r>
          </a:p>
          <a:p>
            <a:pPr>
              <a:buFont typeface="Arial" panose="020B0604020202020204" pitchFamily="34" charset="0"/>
              <a:buChar char="•"/>
            </a:pPr>
            <a:r>
              <a:rPr lang="en-IN" sz="1600" dirty="0"/>
              <a:t>Each input vector is </a:t>
            </a:r>
            <a:r>
              <a:rPr lang="en-IN" sz="1600" b="1" dirty="0"/>
              <a:t>replaced by the nearest code</a:t>
            </a:r>
            <a:r>
              <a:rPr lang="en-IN" sz="1600" dirty="0"/>
              <a:t> from a learned set of embeddings.</a:t>
            </a:r>
          </a:p>
          <a:p>
            <a:pPr>
              <a:buFont typeface="Arial" panose="020B0604020202020204" pitchFamily="34" charset="0"/>
              <a:buChar char="•"/>
            </a:pPr>
            <a:r>
              <a:rPr lang="en-IN" sz="1600" dirty="0"/>
              <a:t>This is typically done using </a:t>
            </a:r>
            <a:r>
              <a:rPr lang="en-IN" sz="1600" b="1" dirty="0"/>
              <a:t>VQ-VAE (Vector Quantized Variational Autoencoder)</a:t>
            </a:r>
            <a:r>
              <a:rPr lang="en-IN" sz="1600" dirty="0"/>
              <a:t>:</a:t>
            </a:r>
          </a:p>
          <a:p>
            <a:pPr marL="742950" lvl="1" indent="-285750">
              <a:buFont typeface="Arial" panose="020B0604020202020204" pitchFamily="34" charset="0"/>
              <a:buChar char="•"/>
            </a:pPr>
            <a:r>
              <a:rPr lang="en-IN" sz="1400" b="1" dirty="0"/>
              <a:t>Encoder</a:t>
            </a:r>
            <a:r>
              <a:rPr lang="en-IN" sz="1400" dirty="0"/>
              <a:t> → maps image to discrete latent tokens.</a:t>
            </a:r>
          </a:p>
          <a:p>
            <a:pPr marL="742950" lvl="1" indent="-285750">
              <a:buFont typeface="Arial" panose="020B0604020202020204" pitchFamily="34" charset="0"/>
              <a:buChar char="•"/>
            </a:pPr>
            <a:r>
              <a:rPr lang="en-IN" sz="1400" b="1" dirty="0"/>
              <a:t>Decoder</a:t>
            </a:r>
            <a:r>
              <a:rPr lang="en-IN" sz="1400" dirty="0"/>
              <a:t> → reconstructs the image from the quantized tokens.</a:t>
            </a:r>
          </a:p>
          <a:p>
            <a:pPr marL="0" indent="0">
              <a:buNone/>
            </a:pPr>
            <a:r>
              <a:rPr lang="en-IN" sz="1600" b="1" dirty="0"/>
              <a:t>2. Diffusion on Discrete Tokens</a:t>
            </a:r>
          </a:p>
          <a:p>
            <a:pPr>
              <a:buFont typeface="Arial" panose="020B0604020202020204" pitchFamily="34" charset="0"/>
              <a:buChar char="•"/>
            </a:pPr>
            <a:r>
              <a:rPr lang="en-IN" sz="1600" dirty="0"/>
              <a:t>Instead of adding Gaussian noise to pixels, </a:t>
            </a:r>
            <a:r>
              <a:rPr lang="en-IN" sz="1600" b="1" dirty="0"/>
              <a:t>discrete corruption</a:t>
            </a:r>
            <a:r>
              <a:rPr lang="en-IN" sz="1600" dirty="0"/>
              <a:t> is applied to tokens:</a:t>
            </a:r>
          </a:p>
          <a:p>
            <a:pPr marL="742950" lvl="1" indent="-285750">
              <a:buFont typeface="Arial" panose="020B0604020202020204" pitchFamily="34" charset="0"/>
              <a:buChar char="•"/>
            </a:pPr>
            <a:r>
              <a:rPr lang="en-IN" sz="1400" dirty="0"/>
              <a:t>E.g., randomly replacing tokens with others or masking them .</a:t>
            </a:r>
          </a:p>
          <a:p>
            <a:pPr>
              <a:buFont typeface="Arial" panose="020B0604020202020204" pitchFamily="34" charset="0"/>
              <a:buChar char="•"/>
            </a:pPr>
            <a:r>
              <a:rPr lang="en-IN" sz="1600" dirty="0"/>
              <a:t>The </a:t>
            </a:r>
            <a:r>
              <a:rPr lang="en-IN" sz="1600" b="1" dirty="0"/>
              <a:t>reverse diffusion process</a:t>
            </a:r>
            <a:r>
              <a:rPr lang="en-IN" sz="1600" dirty="0"/>
              <a:t> learns to denoise and recover the original token sequence.</a:t>
            </a:r>
          </a:p>
          <a:p>
            <a:pPr marL="0" indent="0">
              <a:buNone/>
            </a:pPr>
            <a:endParaRPr lang="en-IN" sz="1600" dirty="0"/>
          </a:p>
        </p:txBody>
      </p:sp>
      <p:sp>
        <p:nvSpPr>
          <p:cNvPr id="4" name="Date Placeholder 3">
            <a:extLst>
              <a:ext uri="{FF2B5EF4-FFF2-40B4-BE49-F238E27FC236}">
                <a16:creationId xmlns:a16="http://schemas.microsoft.com/office/drawing/2014/main" id="{1E73C7BF-3027-4D8A-8B2C-45B592A5CD38}"/>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8BA66624-A959-4961-A552-85F427FF030D}"/>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A984667-1BB1-41E0-8EAB-E118830ABB97}"/>
              </a:ext>
            </a:extLst>
          </p:cNvPr>
          <p:cNvSpPr>
            <a:spLocks noGrp="1"/>
          </p:cNvSpPr>
          <p:nvPr>
            <p:ph type="sldNum" sz="quarter" idx="12"/>
          </p:nvPr>
        </p:nvSpPr>
        <p:spPr/>
        <p:txBody>
          <a:bodyPr/>
          <a:lstStyle/>
          <a:p>
            <a:fld id="{BB2CE0DE-867F-455F-B20B-96D381B4AB71}" type="slidenum">
              <a:rPr lang="en-US" smtClean="0"/>
              <a:t>64</a:t>
            </a:fld>
            <a:endParaRPr lang="en-US"/>
          </a:p>
        </p:txBody>
      </p:sp>
    </p:spTree>
    <p:extLst>
      <p:ext uri="{BB962C8B-B14F-4D97-AF65-F5344CB8AC3E}">
        <p14:creationId xmlns:p14="http://schemas.microsoft.com/office/powerpoint/2010/main" val="42266323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1C7E3-B6DA-4CC5-B312-45D256915BC2}"/>
              </a:ext>
            </a:extLst>
          </p:cNvPr>
          <p:cNvSpPr>
            <a:spLocks noGrp="1"/>
          </p:cNvSpPr>
          <p:nvPr>
            <p:ph type="title"/>
          </p:nvPr>
        </p:nvSpPr>
        <p:spPr/>
        <p:txBody>
          <a:bodyPr/>
          <a:lstStyle/>
          <a:p>
            <a:r>
              <a:rPr lang="en-IN" sz="2000" dirty="0"/>
              <a:t>How VQ-Diffusion Works</a:t>
            </a:r>
            <a:endParaRPr lang="en-IN" sz="3600" dirty="0"/>
          </a:p>
        </p:txBody>
      </p:sp>
      <p:sp>
        <p:nvSpPr>
          <p:cNvPr id="3" name="Content Placeholder 2">
            <a:extLst>
              <a:ext uri="{FF2B5EF4-FFF2-40B4-BE49-F238E27FC236}">
                <a16:creationId xmlns:a16="http://schemas.microsoft.com/office/drawing/2014/main" id="{5B27CB19-B995-4B79-93CD-A52C765BD2A3}"/>
              </a:ext>
            </a:extLst>
          </p:cNvPr>
          <p:cNvSpPr>
            <a:spLocks noGrp="1"/>
          </p:cNvSpPr>
          <p:nvPr>
            <p:ph idx="1"/>
          </p:nvPr>
        </p:nvSpPr>
        <p:spPr/>
        <p:txBody>
          <a:bodyPr/>
          <a:lstStyle/>
          <a:p>
            <a:pPr algn="just"/>
            <a:r>
              <a:rPr lang="en-US" sz="1800" b="1" dirty="0"/>
              <a:t>Pretrain VQ-VAE</a:t>
            </a:r>
            <a:r>
              <a:rPr lang="en-US" sz="1800" dirty="0"/>
              <a:t>: Compress images (or other data) into discrete latent tokens.</a:t>
            </a:r>
          </a:p>
          <a:p>
            <a:pPr algn="just"/>
            <a:r>
              <a:rPr lang="en-US" sz="1800" b="1" dirty="0"/>
              <a:t>Apply discrete diffusion</a:t>
            </a:r>
            <a:r>
              <a:rPr lang="en-US" sz="1800" dirty="0"/>
              <a:t>:</a:t>
            </a:r>
          </a:p>
          <a:p>
            <a:pPr algn="just">
              <a:buFont typeface="Arial" panose="020B0604020202020204" pitchFamily="34" charset="0"/>
              <a:buChar char="•"/>
            </a:pPr>
            <a:r>
              <a:rPr lang="en-US" sz="1800" dirty="0"/>
              <a:t>Corrupt the sequence of tokens step-by-step (e.g., replace some tokens randomly).</a:t>
            </a:r>
          </a:p>
          <a:p>
            <a:pPr algn="just"/>
            <a:r>
              <a:rPr lang="en-US" sz="1800" b="1" dirty="0"/>
              <a:t>Train a Transformer or Diffusion network</a:t>
            </a:r>
            <a:r>
              <a:rPr lang="en-US" sz="1800" dirty="0"/>
              <a:t> to reverse this corruption.</a:t>
            </a:r>
          </a:p>
          <a:p>
            <a:pPr algn="just"/>
            <a:r>
              <a:rPr lang="en-US" sz="1800" b="1" dirty="0"/>
              <a:t>Sample from noise</a:t>
            </a:r>
            <a:r>
              <a:rPr lang="en-US" sz="1800" dirty="0"/>
              <a:t> (e.g., all-masked or all-random tokens) and </a:t>
            </a:r>
            <a:r>
              <a:rPr lang="en-US" sz="1800" b="1" dirty="0"/>
              <a:t>denoise iteratively</a:t>
            </a:r>
            <a:r>
              <a:rPr lang="en-US" sz="1800" dirty="0"/>
              <a:t> to generate realistic sequences of tokens.</a:t>
            </a:r>
          </a:p>
          <a:p>
            <a:pPr algn="just"/>
            <a:r>
              <a:rPr lang="en-US" sz="1800" b="1" dirty="0"/>
              <a:t>Decode the tokens</a:t>
            </a:r>
            <a:r>
              <a:rPr lang="en-US" sz="1800" dirty="0"/>
              <a:t> into final output (image, text, etc.).</a:t>
            </a:r>
          </a:p>
          <a:p>
            <a:pPr algn="just"/>
            <a:endParaRPr lang="en-IN" sz="1800" dirty="0"/>
          </a:p>
          <a:p>
            <a:pPr marL="0" indent="0" algn="just">
              <a:buNone/>
            </a:pPr>
            <a:endParaRPr lang="en-IN" sz="1800" dirty="0"/>
          </a:p>
        </p:txBody>
      </p:sp>
      <p:sp>
        <p:nvSpPr>
          <p:cNvPr id="4" name="Date Placeholder 3">
            <a:extLst>
              <a:ext uri="{FF2B5EF4-FFF2-40B4-BE49-F238E27FC236}">
                <a16:creationId xmlns:a16="http://schemas.microsoft.com/office/drawing/2014/main" id="{65F75762-91C0-493F-9D42-F4AB48E13719}"/>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15F442B8-8830-415B-B629-EC6C3C641C1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A232511-C722-4034-8416-DA6CFE3E1D05}"/>
              </a:ext>
            </a:extLst>
          </p:cNvPr>
          <p:cNvSpPr>
            <a:spLocks noGrp="1"/>
          </p:cNvSpPr>
          <p:nvPr>
            <p:ph type="sldNum" sz="quarter" idx="12"/>
          </p:nvPr>
        </p:nvSpPr>
        <p:spPr/>
        <p:txBody>
          <a:bodyPr/>
          <a:lstStyle/>
          <a:p>
            <a:fld id="{BB2CE0DE-867F-455F-B20B-96D381B4AB71}" type="slidenum">
              <a:rPr lang="en-US" smtClean="0"/>
              <a:t>65</a:t>
            </a:fld>
            <a:endParaRPr lang="en-US"/>
          </a:p>
        </p:txBody>
      </p:sp>
    </p:spTree>
    <p:extLst>
      <p:ext uri="{BB962C8B-B14F-4D97-AF65-F5344CB8AC3E}">
        <p14:creationId xmlns:p14="http://schemas.microsoft.com/office/powerpoint/2010/main" val="20419662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1C7E3-B6DA-4CC5-B312-45D256915BC2}"/>
              </a:ext>
            </a:extLst>
          </p:cNvPr>
          <p:cNvSpPr>
            <a:spLocks noGrp="1"/>
          </p:cNvSpPr>
          <p:nvPr>
            <p:ph type="title"/>
          </p:nvPr>
        </p:nvSpPr>
        <p:spPr/>
        <p:txBody>
          <a:bodyPr/>
          <a:lstStyle/>
          <a:p>
            <a:r>
              <a:rPr lang="en-US" sz="2000" dirty="0"/>
              <a:t>Vector Quantized Diffusion (VQ-Diffusion) models</a:t>
            </a:r>
            <a:endParaRPr lang="en-IN" sz="2000" dirty="0"/>
          </a:p>
        </p:txBody>
      </p:sp>
      <p:sp>
        <p:nvSpPr>
          <p:cNvPr id="3" name="Content Placeholder 2">
            <a:extLst>
              <a:ext uri="{FF2B5EF4-FFF2-40B4-BE49-F238E27FC236}">
                <a16:creationId xmlns:a16="http://schemas.microsoft.com/office/drawing/2014/main" id="{5B27CB19-B995-4B79-93CD-A52C765BD2A3}"/>
              </a:ext>
            </a:extLst>
          </p:cNvPr>
          <p:cNvSpPr>
            <a:spLocks noGrp="1"/>
          </p:cNvSpPr>
          <p:nvPr>
            <p:ph idx="1"/>
          </p:nvPr>
        </p:nvSpPr>
        <p:spPr/>
        <p:txBody>
          <a:bodyPr/>
          <a:lstStyle/>
          <a:p>
            <a:pPr marL="0" indent="0">
              <a:buNone/>
            </a:pPr>
            <a:r>
              <a:rPr lang="en-US" sz="1800" dirty="0"/>
              <a:t>VQ-Diffusion is a two-stage model:</a:t>
            </a:r>
          </a:p>
          <a:p>
            <a:pPr>
              <a:buFont typeface="+mj-lt"/>
              <a:buAutoNum type="arabicPeriod"/>
            </a:pPr>
            <a:r>
              <a:rPr lang="en-US" sz="1800" dirty="0"/>
              <a:t>Compress the data into discrete codes using vector quantization.</a:t>
            </a:r>
          </a:p>
          <a:p>
            <a:pPr>
              <a:buFont typeface="+mj-lt"/>
              <a:buAutoNum type="arabicPeriod"/>
            </a:pPr>
            <a:r>
              <a:rPr lang="en-US" sz="1800" dirty="0"/>
              <a:t>Apply diffusion not on pixels but on the discrete codes, learning to denoise them over time.</a:t>
            </a:r>
          </a:p>
          <a:p>
            <a:pPr marL="0" indent="0">
              <a:buNone/>
            </a:pPr>
            <a:endParaRPr lang="en-US" sz="1800" dirty="0"/>
          </a:p>
          <a:p>
            <a:pPr marL="0" indent="0">
              <a:buNone/>
            </a:pPr>
            <a:r>
              <a:rPr lang="en-US" sz="1800" dirty="0"/>
              <a:t>This allows high-quality and efficient generation of structured data (e.g., image synthesis, text generation) in a </a:t>
            </a:r>
            <a:r>
              <a:rPr lang="en-US" sz="1800" b="1" dirty="0"/>
              <a:t>discrete latent space</a:t>
            </a:r>
            <a:r>
              <a:rPr lang="en-US" sz="1800" dirty="0"/>
              <a:t>.</a:t>
            </a:r>
          </a:p>
          <a:p>
            <a:endParaRPr lang="en-IN" sz="1800" dirty="0"/>
          </a:p>
          <a:p>
            <a:pPr marL="0" indent="0">
              <a:buNone/>
            </a:pPr>
            <a:endParaRPr lang="en-IN" sz="1800" dirty="0"/>
          </a:p>
        </p:txBody>
      </p:sp>
      <p:sp>
        <p:nvSpPr>
          <p:cNvPr id="4" name="Date Placeholder 3">
            <a:extLst>
              <a:ext uri="{FF2B5EF4-FFF2-40B4-BE49-F238E27FC236}">
                <a16:creationId xmlns:a16="http://schemas.microsoft.com/office/drawing/2014/main" id="{65F75762-91C0-493F-9D42-F4AB48E13719}"/>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15F442B8-8830-415B-B629-EC6C3C641C1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7A232511-C722-4034-8416-DA6CFE3E1D05}"/>
              </a:ext>
            </a:extLst>
          </p:cNvPr>
          <p:cNvSpPr>
            <a:spLocks noGrp="1"/>
          </p:cNvSpPr>
          <p:nvPr>
            <p:ph type="sldNum" sz="quarter" idx="12"/>
          </p:nvPr>
        </p:nvSpPr>
        <p:spPr/>
        <p:txBody>
          <a:bodyPr/>
          <a:lstStyle/>
          <a:p>
            <a:fld id="{BB2CE0DE-867F-455F-B20B-96D381B4AB71}" type="slidenum">
              <a:rPr lang="en-US" smtClean="0"/>
              <a:t>66</a:t>
            </a:fld>
            <a:endParaRPr lang="en-US"/>
          </a:p>
        </p:txBody>
      </p:sp>
    </p:spTree>
    <p:extLst>
      <p:ext uri="{BB962C8B-B14F-4D97-AF65-F5344CB8AC3E}">
        <p14:creationId xmlns:p14="http://schemas.microsoft.com/office/powerpoint/2010/main" val="4997601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0685C-7467-4DB3-9802-9A27A2DEA4EE}"/>
              </a:ext>
            </a:extLst>
          </p:cNvPr>
          <p:cNvSpPr>
            <a:spLocks noGrp="1"/>
          </p:cNvSpPr>
          <p:nvPr>
            <p:ph type="title"/>
          </p:nvPr>
        </p:nvSpPr>
        <p:spPr/>
        <p:txBody>
          <a:bodyPr/>
          <a:lstStyle/>
          <a:p>
            <a:r>
              <a:rPr lang="en-US" sz="2000" b="0" i="0" dirty="0">
                <a:solidFill>
                  <a:srgbClr val="212529"/>
                </a:solidFill>
                <a:effectLst/>
                <a:latin typeface="Montserrat" panose="00000500000000000000" pitchFamily="2" charset="0"/>
              </a:rPr>
              <a:t>Challenges and Limitations of Generative AI</a:t>
            </a:r>
            <a:endParaRPr lang="en-IN" sz="2000" dirty="0"/>
          </a:p>
        </p:txBody>
      </p:sp>
      <p:sp>
        <p:nvSpPr>
          <p:cNvPr id="3" name="Content Placeholder 2">
            <a:extLst>
              <a:ext uri="{FF2B5EF4-FFF2-40B4-BE49-F238E27FC236}">
                <a16:creationId xmlns:a16="http://schemas.microsoft.com/office/drawing/2014/main" id="{30067C0B-4C96-46F8-9E49-9A16E8B547E2}"/>
              </a:ext>
            </a:extLst>
          </p:cNvPr>
          <p:cNvSpPr>
            <a:spLocks noGrp="1"/>
          </p:cNvSpPr>
          <p:nvPr>
            <p:ph idx="1"/>
          </p:nvPr>
        </p:nvSpPr>
        <p:spPr/>
        <p:txBody>
          <a:bodyPr/>
          <a:lstStyle/>
          <a:p>
            <a:pPr marL="0" indent="0" algn="just">
              <a:buNone/>
            </a:pPr>
            <a:r>
              <a:rPr lang="en-US" sz="1200" b="0" i="0" dirty="0">
                <a:solidFill>
                  <a:srgbClr val="212529"/>
                </a:solidFill>
                <a:effectLst/>
                <a:latin typeface="Times New Roman" panose="02020603050405020304" pitchFamily="18" charset="0"/>
                <a:cs typeface="Times New Roman" panose="02020603050405020304" pitchFamily="18" charset="0"/>
              </a:rPr>
              <a:t>Generative AI is revolutionizing industries, but it comes with several challenges and limitations that impact its effectiveness and ethical use.</a:t>
            </a:r>
          </a:p>
          <a:p>
            <a:pPr marL="0" indent="0" algn="just">
              <a:buNone/>
            </a:pPr>
            <a:r>
              <a:rPr lang="en-US" sz="1200" b="1" i="0" dirty="0">
                <a:solidFill>
                  <a:srgbClr val="212529"/>
                </a:solidFill>
                <a:effectLst/>
                <a:latin typeface="Times New Roman" panose="02020603050405020304" pitchFamily="18" charset="0"/>
                <a:cs typeface="Times New Roman" panose="02020603050405020304" pitchFamily="18" charset="0"/>
              </a:rPr>
              <a:t>1. Data Quality and Quantity: </a:t>
            </a:r>
            <a:r>
              <a:rPr lang="en-US" sz="1200" b="0" i="0" dirty="0">
                <a:solidFill>
                  <a:srgbClr val="212529"/>
                </a:solidFill>
                <a:effectLst/>
                <a:latin typeface="Times New Roman" panose="02020603050405020304" pitchFamily="18" charset="0"/>
                <a:cs typeface="Times New Roman" panose="02020603050405020304" pitchFamily="18" charset="0"/>
              </a:rPr>
              <a:t>Generative AI needs a lot of good data to learn. If the data is not good like if it’s biased or incomplete the AI will produce poor results. These risks of generative AI can lead to wrong or harmful content.</a:t>
            </a:r>
          </a:p>
          <a:p>
            <a:pPr marL="0" indent="0" algn="just">
              <a:buNone/>
            </a:pPr>
            <a:r>
              <a:rPr lang="en-US" sz="1200" b="1" i="0" dirty="0">
                <a:solidFill>
                  <a:srgbClr val="212529"/>
                </a:solidFill>
                <a:effectLst/>
                <a:latin typeface="Times New Roman" panose="02020603050405020304" pitchFamily="18" charset="0"/>
                <a:cs typeface="Times New Roman" panose="02020603050405020304" pitchFamily="18" charset="0"/>
              </a:rPr>
              <a:t>2. Bias in AI Models: </a:t>
            </a:r>
            <a:r>
              <a:rPr lang="en-US" sz="1200" b="0" i="0" dirty="0">
                <a:solidFill>
                  <a:srgbClr val="212529"/>
                </a:solidFill>
                <a:effectLst/>
                <a:latin typeface="Times New Roman" panose="02020603050405020304" pitchFamily="18" charset="0"/>
                <a:cs typeface="Times New Roman" panose="02020603050405020304" pitchFamily="18" charset="0"/>
              </a:rPr>
              <a:t>Bias in AI is a big problem. If the training data has biases related to race, gender, or other factors, the AI will likely repeat these biases in its outputs. The challenges of generative AI can cause ethical issues and harm the reputation of organizations.</a:t>
            </a:r>
          </a:p>
          <a:p>
            <a:pPr marL="0" indent="0" algn="just">
              <a:buNone/>
            </a:pPr>
            <a:r>
              <a:rPr lang="en-US" sz="1200" b="1" i="0" dirty="0">
                <a:solidFill>
                  <a:srgbClr val="212529"/>
                </a:solidFill>
                <a:effectLst/>
                <a:latin typeface="Times New Roman" panose="02020603050405020304" pitchFamily="18" charset="0"/>
                <a:cs typeface="Times New Roman" panose="02020603050405020304" pitchFamily="18" charset="0"/>
              </a:rPr>
              <a:t>3. Intellectual Property Issues: </a:t>
            </a:r>
            <a:r>
              <a:rPr lang="en-US" sz="1200" b="0" i="0" dirty="0">
                <a:solidFill>
                  <a:srgbClr val="212529"/>
                </a:solidFill>
                <a:effectLst/>
                <a:latin typeface="Times New Roman" panose="02020603050405020304" pitchFamily="18" charset="0"/>
                <a:cs typeface="Times New Roman" panose="02020603050405020304" pitchFamily="18" charset="0"/>
              </a:rPr>
              <a:t>Generative AI can create content similar to existing works, which raises questions about who owns that content. These Generative AI problems can lead to legal problems for organizations.</a:t>
            </a:r>
          </a:p>
          <a:p>
            <a:pPr marL="0" indent="0" algn="just">
              <a:buNone/>
            </a:pPr>
            <a:r>
              <a:rPr lang="en-US" sz="1200" b="1" i="0" dirty="0">
                <a:solidFill>
                  <a:srgbClr val="212529"/>
                </a:solidFill>
                <a:effectLst/>
                <a:latin typeface="Times New Roman" panose="02020603050405020304" pitchFamily="18" charset="0"/>
                <a:cs typeface="Times New Roman" panose="02020603050405020304" pitchFamily="18" charset="0"/>
              </a:rPr>
              <a:t>4. Lack of Interpretability: </a:t>
            </a:r>
            <a:r>
              <a:rPr lang="en-US" sz="1200" b="0" i="0" dirty="0">
                <a:solidFill>
                  <a:srgbClr val="212529"/>
                </a:solidFill>
                <a:effectLst/>
                <a:latin typeface="Times New Roman" panose="02020603050405020304" pitchFamily="18" charset="0"/>
                <a:cs typeface="Times New Roman" panose="02020603050405020304" pitchFamily="18" charset="0"/>
              </a:rPr>
              <a:t>Many generative AI models are complex and hard to understand. These challenges of generative AI make it difficult for users to know how decisions are made, which can be a problem in sensitive areas like healthcare.</a:t>
            </a:r>
          </a:p>
          <a:p>
            <a:pPr marL="0" indent="0" algn="just">
              <a:buNone/>
            </a:pPr>
            <a:r>
              <a:rPr lang="en-US" sz="1200" b="1" i="0" dirty="0">
                <a:solidFill>
                  <a:srgbClr val="212529"/>
                </a:solidFill>
                <a:effectLst/>
                <a:latin typeface="Times New Roman" panose="02020603050405020304" pitchFamily="18" charset="0"/>
                <a:cs typeface="Times New Roman" panose="02020603050405020304" pitchFamily="18" charset="0"/>
              </a:rPr>
              <a:t>5. Ethical Concerns: </a:t>
            </a:r>
            <a:r>
              <a:rPr lang="en-US" sz="1200" b="0" i="0" dirty="0">
                <a:solidFill>
                  <a:srgbClr val="212529"/>
                </a:solidFill>
                <a:effectLst/>
                <a:latin typeface="Times New Roman" panose="02020603050405020304" pitchFamily="18" charset="0"/>
                <a:cs typeface="Times New Roman" panose="02020603050405020304" pitchFamily="18" charset="0"/>
              </a:rPr>
              <a:t>Generative AI can be misused, such as creating deepfakes or false information. The limitations of Generative AI pose risks to individuals and society.</a:t>
            </a:r>
          </a:p>
          <a:p>
            <a:pPr marL="0" indent="0" algn="just">
              <a:buNone/>
            </a:pPr>
            <a:r>
              <a:rPr lang="en-US" sz="1200" b="1" i="0" dirty="0">
                <a:solidFill>
                  <a:srgbClr val="212529"/>
                </a:solidFill>
                <a:effectLst/>
                <a:latin typeface="Times New Roman" panose="02020603050405020304" pitchFamily="18" charset="0"/>
                <a:cs typeface="Times New Roman" panose="02020603050405020304" pitchFamily="18" charset="0"/>
              </a:rPr>
              <a:t>6. Resource Intensity: </a:t>
            </a:r>
            <a:r>
              <a:rPr lang="en-US" sz="1200" b="0" i="0" dirty="0">
                <a:solidFill>
                  <a:srgbClr val="212529"/>
                </a:solidFill>
                <a:effectLst/>
                <a:latin typeface="Times New Roman" panose="02020603050405020304" pitchFamily="18" charset="0"/>
                <a:cs typeface="Times New Roman" panose="02020603050405020304" pitchFamily="18" charset="0"/>
              </a:rPr>
              <a:t>Training generative AI models can use a lot of computing power as well as energy, leading to high costs and environmental concerns, which are significant challenges of generative AI.</a:t>
            </a:r>
          </a:p>
          <a:p>
            <a:pPr marL="0" indent="0" algn="just">
              <a:buNone/>
            </a:pPr>
            <a:r>
              <a:rPr lang="en-US" sz="1200" b="1" i="0" dirty="0">
                <a:solidFill>
                  <a:srgbClr val="212529"/>
                </a:solidFill>
                <a:effectLst/>
                <a:latin typeface="Times New Roman" panose="02020603050405020304" pitchFamily="18" charset="0"/>
                <a:cs typeface="Times New Roman" panose="02020603050405020304" pitchFamily="18" charset="0"/>
              </a:rPr>
              <a:t>7. Consistency in Output</a:t>
            </a:r>
            <a:r>
              <a:rPr lang="en-US" sz="1200" b="0" i="0" dirty="0">
                <a:solidFill>
                  <a:srgbClr val="212529"/>
                </a:solidFill>
                <a:effectLst/>
                <a:latin typeface="Times New Roman" panose="02020603050405020304" pitchFamily="18" charset="0"/>
                <a:cs typeface="Times New Roman" panose="02020603050405020304" pitchFamily="18" charset="0"/>
              </a:rPr>
              <a:t>: Generative AI can produce different results for the same input, which can also be unpredictable. This is one of the Gen AI challenges in applications where consistency is important.</a:t>
            </a:r>
          </a:p>
          <a:p>
            <a:pPr marL="0" indent="0" algn="just">
              <a:buNone/>
            </a:pPr>
            <a:r>
              <a:rPr lang="en-US" sz="1200" b="1" i="0" dirty="0">
                <a:solidFill>
                  <a:srgbClr val="212529"/>
                </a:solidFill>
                <a:effectLst/>
                <a:latin typeface="Times New Roman" panose="02020603050405020304" pitchFamily="18" charset="0"/>
                <a:cs typeface="Times New Roman" panose="02020603050405020304" pitchFamily="18" charset="0"/>
              </a:rPr>
              <a:t>8. Security Risks: </a:t>
            </a:r>
            <a:r>
              <a:rPr lang="en-US" sz="1200" b="0" i="0" dirty="0">
                <a:solidFill>
                  <a:srgbClr val="212529"/>
                </a:solidFill>
                <a:effectLst/>
                <a:latin typeface="Times New Roman" panose="02020603050405020304" pitchFamily="18" charset="0"/>
                <a:cs typeface="Times New Roman" panose="02020603050405020304" pitchFamily="18" charset="0"/>
              </a:rPr>
              <a:t>Generative AI can be vulnerable to attacks, and malicious users can manipulate AI to create harmful or misleading content, highlighting one of the critical challenges of generative AI.</a:t>
            </a:r>
          </a:p>
          <a:p>
            <a:pPr marL="0" indent="0" algn="just">
              <a:buNone/>
            </a:pPr>
            <a:r>
              <a:rPr lang="en-US" sz="1200" b="1" i="0" dirty="0">
                <a:solidFill>
                  <a:srgbClr val="212529"/>
                </a:solidFill>
                <a:effectLst/>
                <a:latin typeface="Times New Roman" panose="02020603050405020304" pitchFamily="18" charset="0"/>
                <a:cs typeface="Times New Roman" panose="02020603050405020304" pitchFamily="18" charset="0"/>
              </a:rPr>
              <a:t>9. User Acceptance and Trust: </a:t>
            </a:r>
            <a:r>
              <a:rPr lang="en-US" sz="1200" b="0" i="0" dirty="0">
                <a:solidFill>
                  <a:srgbClr val="212529"/>
                </a:solidFill>
                <a:effectLst/>
                <a:latin typeface="Times New Roman" panose="02020603050405020304" pitchFamily="18" charset="0"/>
                <a:cs typeface="Times New Roman" panose="02020603050405020304" pitchFamily="18" charset="0"/>
              </a:rPr>
              <a:t>For generative AI to be widely accepted, users need to trust it. Concerns about the reliability of AI-generated content can hinder acceptance, especially in sensitive fields like journalism, representing significant challenges of generative AI.</a:t>
            </a:r>
          </a:p>
          <a:p>
            <a:pPr marL="0" indent="0" algn="just">
              <a:buNone/>
            </a:pPr>
            <a:endParaRPr lang="en-IN" sz="1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8AC32B0-35B0-456B-A34C-8D03F9D285AB}"/>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56994C3D-FFCA-4CE1-A9E7-7E1E3FFF1035}"/>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81882BCD-D5DE-4605-9271-3BB42D927DCF}"/>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22573559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80D68-3456-420E-AE78-6B4F5B86A270}"/>
              </a:ext>
            </a:extLst>
          </p:cNvPr>
          <p:cNvSpPr>
            <a:spLocks noGrp="1"/>
          </p:cNvSpPr>
          <p:nvPr>
            <p:ph type="title"/>
          </p:nvPr>
        </p:nvSpPr>
        <p:spPr/>
        <p:txBody>
          <a:bodyPr/>
          <a:lstStyle/>
          <a:p>
            <a:r>
              <a:rPr lang="en-US" dirty="0"/>
              <a:t>Future of Gen AI</a:t>
            </a:r>
            <a:endParaRPr lang="en-IN" dirty="0"/>
          </a:p>
        </p:txBody>
      </p:sp>
      <p:sp>
        <p:nvSpPr>
          <p:cNvPr id="3" name="Content Placeholder 2">
            <a:extLst>
              <a:ext uri="{FF2B5EF4-FFF2-40B4-BE49-F238E27FC236}">
                <a16:creationId xmlns:a16="http://schemas.microsoft.com/office/drawing/2014/main" id="{38C9DBBC-5998-454A-8920-C6D70A0F5141}"/>
              </a:ext>
            </a:extLst>
          </p:cNvPr>
          <p:cNvSpPr>
            <a:spLocks noGrp="1"/>
          </p:cNvSpPr>
          <p:nvPr>
            <p:ph idx="1"/>
          </p:nvPr>
        </p:nvSpPr>
        <p:spPr/>
        <p:txBody>
          <a:bodyPr/>
          <a:lstStyle/>
          <a:p>
            <a:pPr marL="0" indent="0" algn="just">
              <a:buNone/>
            </a:pPr>
            <a:r>
              <a:rPr lang="en-US" sz="1300" b="0" i="0" dirty="0">
                <a:solidFill>
                  <a:schemeClr val="tx1"/>
                </a:solidFill>
                <a:effectLst/>
                <a:latin typeface="Times New Roman" panose="02020603050405020304" pitchFamily="18" charset="0"/>
                <a:cs typeface="Times New Roman" panose="02020603050405020304" pitchFamily="18" charset="0"/>
              </a:rPr>
              <a:t>The future of Generative AI (</a:t>
            </a:r>
            <a:r>
              <a:rPr lang="en-US" sz="1300" b="0" i="0" dirty="0" err="1">
                <a:solidFill>
                  <a:schemeClr val="tx1"/>
                </a:solidFill>
                <a:effectLst/>
                <a:latin typeface="Times New Roman" panose="02020603050405020304" pitchFamily="18" charset="0"/>
                <a:cs typeface="Times New Roman" panose="02020603050405020304" pitchFamily="18" charset="0"/>
              </a:rPr>
              <a:t>GenAI</a:t>
            </a:r>
            <a:r>
              <a:rPr lang="en-US" sz="1300" b="0" i="0" dirty="0">
                <a:solidFill>
                  <a:schemeClr val="tx1"/>
                </a:solidFill>
                <a:effectLst/>
                <a:latin typeface="Times New Roman" panose="02020603050405020304" pitchFamily="18" charset="0"/>
                <a:cs typeface="Times New Roman" panose="02020603050405020304" pitchFamily="18" charset="0"/>
              </a:rPr>
              <a:t>) is poised for significant growth and integration across various industries, impacting how we work, create, and interact with technology. Key trends include advancements in Large Language </a:t>
            </a:r>
            <a:r>
              <a:rPr lang="en-US" sz="1300" dirty="0">
                <a:solidFill>
                  <a:schemeClr val="tx1"/>
                </a:solidFill>
                <a:latin typeface="Times New Roman" panose="02020603050405020304" pitchFamily="18" charset="0"/>
                <a:cs typeface="Times New Roman" panose="02020603050405020304" pitchFamily="18" charset="0"/>
              </a:rPr>
              <a:t>M</a:t>
            </a:r>
            <a:r>
              <a:rPr lang="en-US" sz="1300" b="0" i="0" dirty="0">
                <a:solidFill>
                  <a:schemeClr val="tx1"/>
                </a:solidFill>
                <a:effectLst/>
                <a:latin typeface="Times New Roman" panose="02020603050405020304" pitchFamily="18" charset="0"/>
                <a:cs typeface="Times New Roman" panose="02020603050405020304" pitchFamily="18" charset="0"/>
              </a:rPr>
              <a:t>odels (LLMs), integration with other AI technologies, and a focus on  responsible development and deployment. </a:t>
            </a:r>
          </a:p>
          <a:p>
            <a:pPr marL="0" indent="0" algn="just">
              <a:buNone/>
            </a:pPr>
            <a:r>
              <a:rPr lang="en-US" sz="1300" b="1" dirty="0">
                <a:solidFill>
                  <a:schemeClr val="tx1"/>
                </a:solidFill>
                <a:latin typeface="Times New Roman" panose="02020603050405020304" pitchFamily="18" charset="0"/>
                <a:cs typeface="Times New Roman" panose="02020603050405020304" pitchFamily="18" charset="0"/>
              </a:rPr>
              <a:t>1. Advancements in LLMs and Multimodal AI: </a:t>
            </a:r>
          </a:p>
          <a:p>
            <a:pPr marL="0" indent="0" algn="just">
              <a:buNone/>
            </a:pPr>
            <a:r>
              <a:rPr lang="en-US" sz="1300" dirty="0">
                <a:solidFill>
                  <a:schemeClr val="tx1"/>
                </a:solidFill>
                <a:latin typeface="Times New Roman" panose="02020603050405020304" pitchFamily="18" charset="0"/>
                <a:cs typeface="Times New Roman" panose="02020603050405020304" pitchFamily="18" charset="0"/>
              </a:rPr>
              <a:t>LLMs will continue to evolve, becoming more powerful and efficient, with a focus on domain-specific models tailored to particular industries or tasks. </a:t>
            </a:r>
          </a:p>
          <a:p>
            <a:pPr marL="0" indent="0" algn="just">
              <a:buNone/>
            </a:pPr>
            <a:r>
              <a:rPr lang="en-US" sz="1300" dirty="0">
                <a:solidFill>
                  <a:schemeClr val="tx1"/>
                </a:solidFill>
                <a:latin typeface="Times New Roman" panose="02020603050405020304" pitchFamily="18" charset="0"/>
                <a:cs typeface="Times New Roman" panose="02020603050405020304" pitchFamily="18" charset="0"/>
              </a:rPr>
              <a:t>Multimodal AI, which combines different types of data (text, images, audio, video), will become more prevalent, leading to more sophisticated and versatile AI applications. </a:t>
            </a:r>
          </a:p>
          <a:p>
            <a:pPr marL="0" indent="0" algn="just">
              <a:buNone/>
            </a:pPr>
            <a:r>
              <a:rPr lang="en-US" sz="1300" b="1" dirty="0">
                <a:solidFill>
                  <a:schemeClr val="tx1"/>
                </a:solidFill>
                <a:latin typeface="Times New Roman" panose="02020603050405020304" pitchFamily="18" charset="0"/>
                <a:cs typeface="Times New Roman" panose="02020603050405020304" pitchFamily="18" charset="0"/>
              </a:rPr>
              <a:t>2. Increased Integration and Automation:</a:t>
            </a:r>
          </a:p>
          <a:p>
            <a:pPr marL="0" indent="0" algn="just">
              <a:buNone/>
            </a:pPr>
            <a:r>
              <a:rPr lang="en-US" sz="1300" dirty="0" err="1">
                <a:solidFill>
                  <a:schemeClr val="tx1"/>
                </a:solidFill>
                <a:latin typeface="Times New Roman" panose="02020603050405020304" pitchFamily="18" charset="0"/>
                <a:cs typeface="Times New Roman" panose="02020603050405020304" pitchFamily="18" charset="0"/>
              </a:rPr>
              <a:t>GenAI</a:t>
            </a:r>
            <a:r>
              <a:rPr lang="en-US" sz="1300" dirty="0">
                <a:solidFill>
                  <a:schemeClr val="tx1"/>
                </a:solidFill>
                <a:latin typeface="Times New Roman" panose="02020603050405020304" pitchFamily="18" charset="0"/>
                <a:cs typeface="Times New Roman" panose="02020603050405020304" pitchFamily="18" charset="0"/>
              </a:rPr>
              <a:t> will be increasingly integrated into various aspects of business operations, automating tasks, improving efficiency, and driving innovation. </a:t>
            </a:r>
          </a:p>
          <a:p>
            <a:pPr marL="0" indent="0" algn="just">
              <a:buNone/>
            </a:pPr>
            <a:r>
              <a:rPr lang="en-US" sz="1300" dirty="0">
                <a:solidFill>
                  <a:schemeClr val="tx1"/>
                </a:solidFill>
                <a:latin typeface="Times New Roman" panose="02020603050405020304" pitchFamily="18" charset="0"/>
                <a:cs typeface="Times New Roman" panose="02020603050405020304" pitchFamily="18" charset="0"/>
              </a:rPr>
              <a:t>AI agents, capable of performing complex tasks autonomously, are expected to become more common.</a:t>
            </a:r>
          </a:p>
          <a:p>
            <a:pPr marL="0" indent="0" algn="just">
              <a:buNone/>
            </a:pPr>
            <a:r>
              <a:rPr lang="en-US" sz="1300" b="1" dirty="0">
                <a:solidFill>
                  <a:schemeClr val="tx1"/>
                </a:solidFill>
                <a:latin typeface="Times New Roman" panose="02020603050405020304" pitchFamily="18" charset="0"/>
                <a:cs typeface="Times New Roman" panose="02020603050405020304" pitchFamily="18" charset="0"/>
              </a:rPr>
              <a:t>3. Domain-Specific Models and Focus on Practical Applications:</a:t>
            </a:r>
          </a:p>
          <a:p>
            <a:pPr marL="0" indent="0" algn="just">
              <a:buNone/>
            </a:pPr>
            <a:r>
              <a:rPr lang="en-US" sz="1300" dirty="0">
                <a:solidFill>
                  <a:schemeClr val="tx1"/>
                </a:solidFill>
                <a:latin typeface="Times New Roman" panose="02020603050405020304" pitchFamily="18" charset="0"/>
                <a:cs typeface="Times New Roman" panose="02020603050405020304" pitchFamily="18" charset="0"/>
              </a:rPr>
              <a:t>While general-purpose models are valuable, there will be a growing demand for domain-specific </a:t>
            </a:r>
            <a:r>
              <a:rPr lang="en-US" sz="1300" dirty="0" err="1">
                <a:solidFill>
                  <a:schemeClr val="tx1"/>
                </a:solidFill>
                <a:latin typeface="Times New Roman" panose="02020603050405020304" pitchFamily="18" charset="0"/>
                <a:cs typeface="Times New Roman" panose="02020603050405020304" pitchFamily="18" charset="0"/>
              </a:rPr>
              <a:t>GenAI</a:t>
            </a:r>
            <a:r>
              <a:rPr lang="en-US" sz="1300" dirty="0">
                <a:solidFill>
                  <a:schemeClr val="tx1"/>
                </a:solidFill>
                <a:latin typeface="Times New Roman" panose="02020603050405020304" pitchFamily="18" charset="0"/>
                <a:cs typeface="Times New Roman" panose="02020603050405020304" pitchFamily="18" charset="0"/>
              </a:rPr>
              <a:t> models tailored to the unique needs of different industries and business functions. </a:t>
            </a:r>
          </a:p>
          <a:p>
            <a:pPr marL="0" indent="0" algn="just">
              <a:buNone/>
            </a:pPr>
            <a:r>
              <a:rPr lang="en-US" sz="1300" dirty="0">
                <a:solidFill>
                  <a:schemeClr val="tx1"/>
                </a:solidFill>
                <a:latin typeface="Times New Roman" panose="02020603050405020304" pitchFamily="18" charset="0"/>
                <a:cs typeface="Times New Roman" panose="02020603050405020304" pitchFamily="18" charset="0"/>
              </a:rPr>
              <a:t>The focus will shift towards practical applications, such as content creation, automation, and real-time data analysis, rather than just theoretical advancements. </a:t>
            </a:r>
          </a:p>
          <a:p>
            <a:pPr marL="0" indent="0" algn="just">
              <a:buNone/>
            </a:pPr>
            <a:r>
              <a:rPr lang="en-US" sz="1300" b="1" dirty="0">
                <a:solidFill>
                  <a:schemeClr val="tx1"/>
                </a:solidFill>
                <a:latin typeface="Times New Roman" panose="02020603050405020304" pitchFamily="18" charset="0"/>
                <a:cs typeface="Times New Roman" panose="02020603050405020304" pitchFamily="18" charset="0"/>
              </a:rPr>
              <a:t>4. Rise of Smaller LLMs: </a:t>
            </a:r>
            <a:r>
              <a:rPr lang="en-US" sz="1300" dirty="0">
                <a:solidFill>
                  <a:schemeClr val="tx1"/>
                </a:solidFill>
                <a:latin typeface="Times New Roman" panose="02020603050405020304" pitchFamily="18" charset="0"/>
                <a:cs typeface="Times New Roman" panose="02020603050405020304" pitchFamily="18" charset="0"/>
              </a:rPr>
              <a:t>AI development companies are finally looking for smaller LLMs. LLMs, which work behind the scenes in today's popular chatbots, have very large parameters, containing billions of them. However, these are beyond the capabilities of most companies to create. Maintaining smaller LLMs is affordable for companies, and it is also easier to operate them.</a:t>
            </a:r>
            <a:endParaRPr lang="en-IN" sz="1300" dirty="0">
              <a:solidFill>
                <a:schemeClr val="tx1"/>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C1240FD-42A9-496B-9EAE-53C60773BE5A}"/>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DBE75D35-34DC-4AF4-B981-271AA366458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C72C6DD5-7142-4F84-B97A-A9057859B5ED}"/>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258221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6E633-EF67-422C-89EC-2B78CCB8DECB}"/>
              </a:ext>
            </a:extLst>
          </p:cNvPr>
          <p:cNvSpPr>
            <a:spLocks noGrp="1"/>
          </p:cNvSpPr>
          <p:nvPr>
            <p:ph type="title"/>
          </p:nvPr>
        </p:nvSpPr>
        <p:spPr/>
        <p:txBody>
          <a:bodyPr/>
          <a:lstStyle/>
          <a:p>
            <a:r>
              <a:rPr lang="en-US" dirty="0"/>
              <a:t>Ethical Aspects of Generative AI</a:t>
            </a:r>
            <a:endParaRPr lang="en-IN" dirty="0"/>
          </a:p>
        </p:txBody>
      </p:sp>
      <p:sp>
        <p:nvSpPr>
          <p:cNvPr id="3" name="Content Placeholder 2">
            <a:extLst>
              <a:ext uri="{FF2B5EF4-FFF2-40B4-BE49-F238E27FC236}">
                <a16:creationId xmlns:a16="http://schemas.microsoft.com/office/drawing/2014/main" id="{483773F0-23CE-4E5C-A100-07F98EA9E611}"/>
              </a:ext>
            </a:extLst>
          </p:cNvPr>
          <p:cNvSpPr>
            <a:spLocks noGrp="1"/>
          </p:cNvSpPr>
          <p:nvPr>
            <p:ph idx="1"/>
          </p:nvPr>
        </p:nvSpPr>
        <p:spPr/>
        <p:txBody>
          <a:bodyPr/>
          <a:lstStyle/>
          <a:p>
            <a:pPr marL="0" indent="0" algn="just">
              <a:buNone/>
            </a:pPr>
            <a:r>
              <a:rPr lang="en-US" sz="1600" b="0" i="0" dirty="0">
                <a:solidFill>
                  <a:srgbClr val="001D35"/>
                </a:solidFill>
                <a:effectLst/>
                <a:latin typeface="Google Sans"/>
              </a:rPr>
              <a:t>Generative AI (</a:t>
            </a:r>
            <a:r>
              <a:rPr lang="en-US" sz="1600" b="0" i="0" dirty="0" err="1">
                <a:solidFill>
                  <a:srgbClr val="001D35"/>
                </a:solidFill>
                <a:effectLst/>
                <a:latin typeface="Google Sans"/>
              </a:rPr>
              <a:t>GenAI</a:t>
            </a:r>
            <a:r>
              <a:rPr lang="en-US" sz="1600" b="0" i="0" dirty="0">
                <a:solidFill>
                  <a:srgbClr val="001D35"/>
                </a:solidFill>
                <a:effectLst/>
                <a:latin typeface="Google Sans"/>
              </a:rPr>
              <a:t>) presents a range of ethical challenges, including bias, misinformation, copyright infringement, and the potential for misuse. Addressing these concerns requires a proactive approach focused on transparency, accountability, and responsible development and deployment. </a:t>
            </a:r>
          </a:p>
          <a:p>
            <a:pPr marL="0" indent="0" algn="just">
              <a:buNone/>
            </a:pPr>
            <a:r>
              <a:rPr lang="en-US" sz="1600" dirty="0"/>
              <a:t>1. Environmental impacts: Building, training, and using generative AI models requires the use of a significant amount of energy and contributes carbon emissions. It also consumes a lot of water for cooling. </a:t>
            </a:r>
          </a:p>
          <a:p>
            <a:pPr marL="0" indent="0" algn="just">
              <a:buNone/>
            </a:pPr>
            <a:r>
              <a:rPr lang="en-US" sz="1600" dirty="0"/>
              <a:t>2. Accessibility: Although many generative AI tools are currently free, more and more are applying a cost to access them or to use premium features. This creates barriers for those who are unable to afford access.</a:t>
            </a:r>
          </a:p>
          <a:p>
            <a:pPr marL="0" indent="0" algn="just">
              <a:buNone/>
            </a:pPr>
            <a:r>
              <a:rPr lang="en-US" sz="1600" dirty="0"/>
              <a:t>3. Copyright and Intellectual Property: </a:t>
            </a:r>
            <a:r>
              <a:rPr lang="en-US" sz="1600" dirty="0" err="1"/>
              <a:t>GenAI</a:t>
            </a:r>
            <a:r>
              <a:rPr lang="en-US" sz="1600" dirty="0"/>
              <a:t> models are trained on vast datasets, and there are concerns about whether this training infringes on copyright and intellectual property rights. </a:t>
            </a:r>
          </a:p>
          <a:p>
            <a:pPr marL="0" indent="0" algn="just">
              <a:buNone/>
            </a:pPr>
            <a:r>
              <a:rPr lang="en-US" sz="1600" dirty="0"/>
              <a:t>4. Data Privacy and Security: </a:t>
            </a:r>
            <a:r>
              <a:rPr lang="en-US" sz="1600" dirty="0" err="1"/>
              <a:t>GenAI</a:t>
            </a:r>
            <a:r>
              <a:rPr lang="en-US" sz="1600" dirty="0"/>
              <a:t> systems collect and process u ser data, raising concerns about data privacy, security, and the potential for misuse of personal information. </a:t>
            </a:r>
          </a:p>
          <a:p>
            <a:pPr marL="0" indent="0" algn="just">
              <a:buNone/>
            </a:pPr>
            <a:r>
              <a:rPr lang="en-US" sz="1600" dirty="0"/>
              <a:t>5. Misuse for Malicious Purposes: </a:t>
            </a:r>
            <a:r>
              <a:rPr lang="en-US" sz="1600" dirty="0" err="1"/>
              <a:t>GenAI</a:t>
            </a:r>
            <a:r>
              <a:rPr lang="en-US" sz="1600" dirty="0"/>
              <a:t> can be used to create harmful content, including propaganda, malware, and other malicious tools.</a:t>
            </a:r>
            <a:endParaRPr lang="en-IN" sz="1600" dirty="0"/>
          </a:p>
        </p:txBody>
      </p:sp>
      <p:sp>
        <p:nvSpPr>
          <p:cNvPr id="4" name="Date Placeholder 3">
            <a:extLst>
              <a:ext uri="{FF2B5EF4-FFF2-40B4-BE49-F238E27FC236}">
                <a16:creationId xmlns:a16="http://schemas.microsoft.com/office/drawing/2014/main" id="{BF518553-70E1-4772-8717-DC8C0ED15CDA}"/>
              </a:ext>
            </a:extLst>
          </p:cNvPr>
          <p:cNvSpPr>
            <a:spLocks noGrp="1"/>
          </p:cNvSpPr>
          <p:nvPr>
            <p:ph type="dt" sz="half" idx="10"/>
          </p:nvPr>
        </p:nvSpPr>
        <p:spPr/>
        <p:txBody>
          <a:bodyPr/>
          <a:lstStyle/>
          <a:p>
            <a:fld id="{59A993AC-6FC6-4FD7-BA84-6FD82A41DCAC}" type="datetime3">
              <a:rPr lang="en-US" smtClean="0"/>
              <a:t>24 June 2025</a:t>
            </a:fld>
            <a:endParaRPr lang="en-US"/>
          </a:p>
        </p:txBody>
      </p:sp>
      <p:sp>
        <p:nvSpPr>
          <p:cNvPr id="5" name="Footer Placeholder 4">
            <a:extLst>
              <a:ext uri="{FF2B5EF4-FFF2-40B4-BE49-F238E27FC236}">
                <a16:creationId xmlns:a16="http://schemas.microsoft.com/office/drawing/2014/main" id="{596A1402-8B8F-46A3-A9C9-CA280E3F28F7}"/>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FE51472-0B3E-45C1-86D9-2750B945FDAF}"/>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2659995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914400" y="3200400"/>
            <a:ext cx="7010400" cy="2209800"/>
          </a:xfrm>
        </p:spPr>
        <p:txBody>
          <a:bodyPr/>
          <a:lstStyle/>
          <a:p>
            <a:pPr>
              <a:lnSpc>
                <a:spcPct val="80000"/>
              </a:lnSpc>
            </a:pPr>
            <a:endParaRPr lang="en-US" sz="2000" dirty="0">
              <a:solidFill>
                <a:schemeClr val="tx1"/>
              </a:solidFill>
            </a:endParaRPr>
          </a:p>
          <a:p>
            <a:pPr>
              <a:lnSpc>
                <a:spcPct val="80000"/>
              </a:lnSpc>
            </a:pPr>
            <a:endParaRPr lang="en-US" sz="2000" dirty="0"/>
          </a:p>
          <a:p>
            <a:pPr eaLnBrk="1" hangingPunct="1">
              <a:lnSpc>
                <a:spcPct val="80000"/>
              </a:lnSpc>
            </a:pPr>
            <a:endParaRPr lang="en-US" altLang="en-US" sz="2000" dirty="0"/>
          </a:p>
          <a:p>
            <a:pPr algn="ctr">
              <a:lnSpc>
                <a:spcPct val="80000"/>
              </a:lnSpc>
            </a:pPr>
            <a:endParaRPr lang="en-US" altLang="en-US" sz="2000" dirty="0"/>
          </a:p>
        </p:txBody>
      </p:sp>
      <p:sp>
        <p:nvSpPr>
          <p:cNvPr id="2" name="Date Placeholder 1"/>
          <p:cNvSpPr>
            <a:spLocks noGrp="1"/>
          </p:cNvSpPr>
          <p:nvPr>
            <p:ph type="dt" sz="half" idx="10"/>
          </p:nvPr>
        </p:nvSpPr>
        <p:spPr/>
        <p:txBody>
          <a:bodyPr/>
          <a:lstStyle/>
          <a:p>
            <a:fld id="{D30E5203-D257-4421-8252-8FD553B4A6C3}" type="datetime3">
              <a:rPr lang="en-US" smtClean="0"/>
              <a:t>24 June 2025</a:t>
            </a:fld>
            <a:endParaRPr lang="en-US"/>
          </a:p>
        </p:txBody>
      </p:sp>
      <p:sp>
        <p:nvSpPr>
          <p:cNvPr id="3" name="Slide Number Placeholder 2"/>
          <p:cNvSpPr>
            <a:spLocks noGrp="1"/>
          </p:cNvSpPr>
          <p:nvPr>
            <p:ph type="sldNum" sz="quarter" idx="12"/>
          </p:nvPr>
        </p:nvSpPr>
        <p:spPr/>
        <p:txBody>
          <a:bodyPr/>
          <a:lstStyle/>
          <a:p>
            <a:fld id="{5DCC653A-8BE1-4A16-A754-27859D86C4A9}" type="slidenum">
              <a:rPr lang="en-US" smtClean="0"/>
              <a:t>70</a:t>
            </a:fld>
            <a:endParaRPr lang="en-US"/>
          </a:p>
        </p:txBody>
      </p:sp>
      <p:sp>
        <p:nvSpPr>
          <p:cNvPr id="4" name="Footer Placeholder 3"/>
          <p:cNvSpPr>
            <a:spLocks noGrp="1"/>
          </p:cNvSpPr>
          <p:nvPr>
            <p:ph type="ftr" sz="quarter" idx="11"/>
          </p:nvPr>
        </p:nvSpPr>
        <p:spPr/>
        <p:txBody>
          <a:bodyPr/>
          <a:lstStyle/>
          <a:p>
            <a:r>
              <a:rPr lang="en-US"/>
              <a:t>BMSCE</a:t>
            </a:r>
          </a:p>
        </p:txBody>
      </p:sp>
    </p:spTree>
    <p:extLst>
      <p:ext uri="{BB962C8B-B14F-4D97-AF65-F5344CB8AC3E}">
        <p14:creationId xmlns:p14="http://schemas.microsoft.com/office/powerpoint/2010/main" val="347076982"/>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6276</TotalTime>
  <Words>6770</Words>
  <Application>Microsoft Office PowerPoint</Application>
  <PresentationFormat>On-screen Show (4:3)</PresentationFormat>
  <Paragraphs>595</Paragraphs>
  <Slides>70</Slides>
  <Notes>16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70</vt:i4>
      </vt:variant>
    </vt:vector>
  </HeadingPairs>
  <TitlesOfParts>
    <vt:vector size="84" baseType="lpstr">
      <vt:lpstr>Amazon Ember Display</vt:lpstr>
      <vt:lpstr>AmazonEmber</vt:lpstr>
      <vt:lpstr>AmazonEmberBold</vt:lpstr>
      <vt:lpstr>Arial</vt:lpstr>
      <vt:lpstr>Calibri</vt:lpstr>
      <vt:lpstr>futura-pt</vt:lpstr>
      <vt:lpstr>Google Sans</vt:lpstr>
      <vt:lpstr>Montserrat</vt:lpstr>
      <vt:lpstr>Nunito</vt:lpstr>
      <vt:lpstr>Open Sans</vt:lpstr>
      <vt:lpstr>Times New Roman</vt:lpstr>
      <vt:lpstr>Verdana</vt:lpstr>
      <vt:lpstr>Wingdings</vt:lpstr>
      <vt:lpstr>Theme1</vt:lpstr>
      <vt:lpstr>Deep Learning and Generative AI MSCS202</vt:lpstr>
      <vt:lpstr>Unit-4</vt:lpstr>
      <vt:lpstr>What is Gen AI ?</vt:lpstr>
      <vt:lpstr>The Birth of Generative AI</vt:lpstr>
      <vt:lpstr>Continued Milestones in GenAI</vt:lpstr>
      <vt:lpstr>Difference between Gen AI and Discriminative AI</vt:lpstr>
      <vt:lpstr>Difference between Gen AI and Discriminative AI</vt:lpstr>
      <vt:lpstr>Types of Generative models</vt:lpstr>
      <vt:lpstr>PowerPoint Presentation</vt:lpstr>
      <vt:lpstr>Autoregressive (AR) model</vt:lpstr>
      <vt:lpstr>AR models</vt:lpstr>
      <vt:lpstr>AR models</vt:lpstr>
      <vt:lpstr>Mathematical Explanation</vt:lpstr>
      <vt:lpstr>Types of Autoregressive Models</vt:lpstr>
      <vt:lpstr>AR (1) Models</vt:lpstr>
      <vt:lpstr>AR (1) Models</vt:lpstr>
      <vt:lpstr>Applications of AR models</vt:lpstr>
      <vt:lpstr>Autoencoders</vt:lpstr>
      <vt:lpstr>Why Autoencoders are required?</vt:lpstr>
      <vt:lpstr>Why Autoencoders are required?</vt:lpstr>
      <vt:lpstr>Autoencoder: What it is ?</vt:lpstr>
      <vt:lpstr>Autoencoder Architecture</vt:lpstr>
      <vt:lpstr>Autoencoder: Architecture</vt:lpstr>
      <vt:lpstr>Autoencoder: Architecture</vt:lpstr>
      <vt:lpstr>Autoencoder: Architecture</vt:lpstr>
      <vt:lpstr>Autoencoder: Loss Function</vt:lpstr>
      <vt:lpstr>Variational Autoencoders </vt:lpstr>
      <vt:lpstr>Variational Autoencoders </vt:lpstr>
      <vt:lpstr>VAE: Block Diagram</vt:lpstr>
      <vt:lpstr>VAE: Loss Function </vt:lpstr>
      <vt:lpstr>VAE: Loss Function </vt:lpstr>
      <vt:lpstr>Difference between AE and VAE</vt:lpstr>
      <vt:lpstr>Generative Adversarial Networks (GANs)</vt:lpstr>
      <vt:lpstr>What is GANs?</vt:lpstr>
      <vt:lpstr>Analogy for Students</vt:lpstr>
      <vt:lpstr>What is GANs?</vt:lpstr>
      <vt:lpstr>At brief, how GANs work ?</vt:lpstr>
      <vt:lpstr>Generator</vt:lpstr>
      <vt:lpstr>Discriminator</vt:lpstr>
      <vt:lpstr>At brief, how GANs work ?</vt:lpstr>
      <vt:lpstr>Five steps of GANs</vt:lpstr>
      <vt:lpstr>Training GANs</vt:lpstr>
      <vt:lpstr>GAN training example</vt:lpstr>
      <vt:lpstr>How does a generative adversarial network work?</vt:lpstr>
      <vt:lpstr>How does a generative adversarial network work?</vt:lpstr>
      <vt:lpstr>Types of generative adversarial networks</vt:lpstr>
      <vt:lpstr>Applications of GANs</vt:lpstr>
      <vt:lpstr>Advantages of GAN</vt:lpstr>
      <vt:lpstr>Limitations of GANs</vt:lpstr>
      <vt:lpstr>Diffusion Models vs GANs</vt:lpstr>
      <vt:lpstr>Introduction to Diffusion Models</vt:lpstr>
      <vt:lpstr>Why It’s Called a Diffusion Model</vt:lpstr>
      <vt:lpstr>Architecture of Diffusion Models</vt:lpstr>
      <vt:lpstr>Architecture of Diffusion Models</vt:lpstr>
      <vt:lpstr>Architecture of Diffusion Models</vt:lpstr>
      <vt:lpstr>Architecture of Diffusion Models</vt:lpstr>
      <vt:lpstr>Architecture of Diffusion Models</vt:lpstr>
      <vt:lpstr>PowerPoint Presentation</vt:lpstr>
      <vt:lpstr>Applications of Diffusion Models</vt:lpstr>
      <vt:lpstr>Advantages of Diffusion Models</vt:lpstr>
      <vt:lpstr>Limitations of Diffusion Models</vt:lpstr>
      <vt:lpstr>Vector Quantized Diffusion (VQ-Diffusion) models</vt:lpstr>
      <vt:lpstr>What is a Codebook in Vector Quantization?</vt:lpstr>
      <vt:lpstr>Vector Quantized Diffusion (VQ-Diffusion) models</vt:lpstr>
      <vt:lpstr>How VQ-Diffusion Works</vt:lpstr>
      <vt:lpstr>Vector Quantized Diffusion (VQ-Diffusion) models</vt:lpstr>
      <vt:lpstr>Challenges and Limitations of Generative AI</vt:lpstr>
      <vt:lpstr>Future of Gen AI</vt:lpstr>
      <vt:lpstr>Ethical Aspects of Generative AI</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BMSCECSE</cp:lastModifiedBy>
  <cp:revision>670</cp:revision>
  <cp:lastPrinted>2014-08-07T03:39:40Z</cp:lastPrinted>
  <dcterms:created xsi:type="dcterms:W3CDTF">2014-08-06T04:28:49Z</dcterms:created>
  <dcterms:modified xsi:type="dcterms:W3CDTF">2025-06-24T12:24:44Z</dcterms:modified>
</cp:coreProperties>
</file>