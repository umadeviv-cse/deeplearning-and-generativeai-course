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59"/>
  </p:notesMasterIdLst>
  <p:handoutMasterIdLst>
    <p:handoutMasterId r:id="rId160"/>
  </p:handoutMasterIdLst>
  <p:sldIdLst>
    <p:sldId id="256" r:id="rId2"/>
    <p:sldId id="748" r:id="rId3"/>
    <p:sldId id="292" r:id="rId4"/>
    <p:sldId id="705" r:id="rId5"/>
    <p:sldId id="709" r:id="rId6"/>
    <p:sldId id="710" r:id="rId7"/>
    <p:sldId id="711" r:id="rId8"/>
    <p:sldId id="712" r:id="rId9"/>
    <p:sldId id="713" r:id="rId10"/>
    <p:sldId id="715" r:id="rId11"/>
    <p:sldId id="716" r:id="rId12"/>
    <p:sldId id="717" r:id="rId13"/>
    <p:sldId id="718" r:id="rId14"/>
    <p:sldId id="714" r:id="rId15"/>
    <p:sldId id="719" r:id="rId16"/>
    <p:sldId id="720" r:id="rId17"/>
    <p:sldId id="721" r:id="rId18"/>
    <p:sldId id="722" r:id="rId19"/>
    <p:sldId id="774" r:id="rId20"/>
    <p:sldId id="778" r:id="rId21"/>
    <p:sldId id="771" r:id="rId22"/>
    <p:sldId id="772" r:id="rId23"/>
    <p:sldId id="775" r:id="rId24"/>
    <p:sldId id="776" r:id="rId25"/>
    <p:sldId id="773" r:id="rId26"/>
    <p:sldId id="755" r:id="rId27"/>
    <p:sldId id="779" r:id="rId28"/>
    <p:sldId id="780" r:id="rId29"/>
    <p:sldId id="781" r:id="rId30"/>
    <p:sldId id="782" r:id="rId31"/>
    <p:sldId id="783" r:id="rId32"/>
    <p:sldId id="784" r:id="rId33"/>
    <p:sldId id="786" r:id="rId34"/>
    <p:sldId id="785" r:id="rId35"/>
    <p:sldId id="789" r:id="rId36"/>
    <p:sldId id="790" r:id="rId37"/>
    <p:sldId id="787" r:id="rId38"/>
    <p:sldId id="788" r:id="rId39"/>
    <p:sldId id="791" r:id="rId40"/>
    <p:sldId id="924" r:id="rId41"/>
    <p:sldId id="925" r:id="rId42"/>
    <p:sldId id="792" r:id="rId43"/>
    <p:sldId id="794" r:id="rId44"/>
    <p:sldId id="795" r:id="rId45"/>
    <p:sldId id="796" r:id="rId46"/>
    <p:sldId id="799" r:id="rId47"/>
    <p:sldId id="801" r:id="rId48"/>
    <p:sldId id="802" r:id="rId49"/>
    <p:sldId id="803" r:id="rId50"/>
    <p:sldId id="816" r:id="rId51"/>
    <p:sldId id="797" r:id="rId52"/>
    <p:sldId id="798" r:id="rId53"/>
    <p:sldId id="800" r:id="rId54"/>
    <p:sldId id="811" r:id="rId55"/>
    <p:sldId id="813" r:id="rId56"/>
    <p:sldId id="814" r:id="rId57"/>
    <p:sldId id="827" r:id="rId58"/>
    <p:sldId id="815" r:id="rId59"/>
    <p:sldId id="807" r:id="rId60"/>
    <p:sldId id="808" r:id="rId61"/>
    <p:sldId id="809" r:id="rId62"/>
    <p:sldId id="810" r:id="rId63"/>
    <p:sldId id="817" r:id="rId64"/>
    <p:sldId id="804" r:id="rId65"/>
    <p:sldId id="866" r:id="rId66"/>
    <p:sldId id="818" r:id="rId67"/>
    <p:sldId id="822" r:id="rId68"/>
    <p:sldId id="867" r:id="rId69"/>
    <p:sldId id="823" r:id="rId70"/>
    <p:sldId id="824" r:id="rId71"/>
    <p:sldId id="825" r:id="rId72"/>
    <p:sldId id="826" r:id="rId73"/>
    <p:sldId id="821" r:id="rId74"/>
    <p:sldId id="819" r:id="rId75"/>
    <p:sldId id="828" r:id="rId76"/>
    <p:sldId id="829" r:id="rId77"/>
    <p:sldId id="756" r:id="rId78"/>
    <p:sldId id="830" r:id="rId79"/>
    <p:sldId id="760" r:id="rId80"/>
    <p:sldId id="761" r:id="rId81"/>
    <p:sldId id="762" r:id="rId82"/>
    <p:sldId id="854" r:id="rId83"/>
    <p:sldId id="869" r:id="rId84"/>
    <p:sldId id="870" r:id="rId85"/>
    <p:sldId id="832" r:id="rId86"/>
    <p:sldId id="835" r:id="rId87"/>
    <p:sldId id="836" r:id="rId88"/>
    <p:sldId id="837" r:id="rId89"/>
    <p:sldId id="848" r:id="rId90"/>
    <p:sldId id="847" r:id="rId91"/>
    <p:sldId id="846" r:id="rId92"/>
    <p:sldId id="849" r:id="rId93"/>
    <p:sldId id="850" r:id="rId94"/>
    <p:sldId id="851" r:id="rId95"/>
    <p:sldId id="852" r:id="rId96"/>
    <p:sldId id="856" r:id="rId97"/>
    <p:sldId id="857" r:id="rId98"/>
    <p:sldId id="863" r:id="rId99"/>
    <p:sldId id="858" r:id="rId100"/>
    <p:sldId id="859" r:id="rId101"/>
    <p:sldId id="860" r:id="rId102"/>
    <p:sldId id="861" r:id="rId103"/>
    <p:sldId id="862" r:id="rId104"/>
    <p:sldId id="864" r:id="rId105"/>
    <p:sldId id="865" r:id="rId106"/>
    <p:sldId id="871" r:id="rId107"/>
    <p:sldId id="872" r:id="rId108"/>
    <p:sldId id="884" r:id="rId109"/>
    <p:sldId id="874" r:id="rId110"/>
    <p:sldId id="875" r:id="rId111"/>
    <p:sldId id="876" r:id="rId112"/>
    <p:sldId id="878" r:id="rId113"/>
    <p:sldId id="877" r:id="rId114"/>
    <p:sldId id="879" r:id="rId115"/>
    <p:sldId id="880" r:id="rId116"/>
    <p:sldId id="881" r:id="rId117"/>
    <p:sldId id="882" r:id="rId118"/>
    <p:sldId id="883" r:id="rId119"/>
    <p:sldId id="885" r:id="rId120"/>
    <p:sldId id="886" r:id="rId121"/>
    <p:sldId id="887" r:id="rId122"/>
    <p:sldId id="888" r:id="rId123"/>
    <p:sldId id="889" r:id="rId124"/>
    <p:sldId id="890" r:id="rId125"/>
    <p:sldId id="891" r:id="rId126"/>
    <p:sldId id="893" r:id="rId127"/>
    <p:sldId id="894" r:id="rId128"/>
    <p:sldId id="895" r:id="rId129"/>
    <p:sldId id="898" r:id="rId130"/>
    <p:sldId id="899" r:id="rId131"/>
    <p:sldId id="896" r:id="rId132"/>
    <p:sldId id="897" r:id="rId133"/>
    <p:sldId id="900" r:id="rId134"/>
    <p:sldId id="902" r:id="rId135"/>
    <p:sldId id="903" r:id="rId136"/>
    <p:sldId id="906" r:id="rId137"/>
    <p:sldId id="904" r:id="rId138"/>
    <p:sldId id="905" r:id="rId139"/>
    <p:sldId id="907" r:id="rId140"/>
    <p:sldId id="908" r:id="rId141"/>
    <p:sldId id="909" r:id="rId142"/>
    <p:sldId id="910" r:id="rId143"/>
    <p:sldId id="911" r:id="rId144"/>
    <p:sldId id="913" r:id="rId145"/>
    <p:sldId id="914" r:id="rId146"/>
    <p:sldId id="915" r:id="rId147"/>
    <p:sldId id="912" r:id="rId148"/>
    <p:sldId id="901" r:id="rId149"/>
    <p:sldId id="916" r:id="rId150"/>
    <p:sldId id="920" r:id="rId151"/>
    <p:sldId id="919" r:id="rId152"/>
    <p:sldId id="921" r:id="rId153"/>
    <p:sldId id="918" r:id="rId154"/>
    <p:sldId id="922" r:id="rId155"/>
    <p:sldId id="923" r:id="rId156"/>
    <p:sldId id="917" r:id="rId157"/>
    <p:sldId id="397" r:id="rId15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9C2D063-C901-40C0-9A77-5AA75D497DD5}">
          <p14:sldIdLst>
            <p14:sldId id="256"/>
            <p14:sldId id="748"/>
            <p14:sldId id="292"/>
            <p14:sldId id="705"/>
            <p14:sldId id="709"/>
            <p14:sldId id="710"/>
            <p14:sldId id="711"/>
            <p14:sldId id="712"/>
            <p14:sldId id="713"/>
            <p14:sldId id="715"/>
            <p14:sldId id="716"/>
            <p14:sldId id="717"/>
            <p14:sldId id="718"/>
            <p14:sldId id="714"/>
            <p14:sldId id="719"/>
            <p14:sldId id="720"/>
            <p14:sldId id="721"/>
            <p14:sldId id="722"/>
            <p14:sldId id="774"/>
            <p14:sldId id="778"/>
            <p14:sldId id="771"/>
            <p14:sldId id="772"/>
            <p14:sldId id="775"/>
            <p14:sldId id="776"/>
            <p14:sldId id="773"/>
            <p14:sldId id="755"/>
            <p14:sldId id="779"/>
            <p14:sldId id="780"/>
            <p14:sldId id="781"/>
            <p14:sldId id="782"/>
            <p14:sldId id="783"/>
            <p14:sldId id="784"/>
            <p14:sldId id="786"/>
            <p14:sldId id="785"/>
            <p14:sldId id="789"/>
            <p14:sldId id="790"/>
            <p14:sldId id="787"/>
            <p14:sldId id="788"/>
            <p14:sldId id="791"/>
            <p14:sldId id="924"/>
            <p14:sldId id="925"/>
            <p14:sldId id="792"/>
            <p14:sldId id="794"/>
            <p14:sldId id="795"/>
            <p14:sldId id="796"/>
            <p14:sldId id="799"/>
            <p14:sldId id="801"/>
            <p14:sldId id="802"/>
            <p14:sldId id="803"/>
            <p14:sldId id="816"/>
            <p14:sldId id="797"/>
            <p14:sldId id="798"/>
            <p14:sldId id="800"/>
            <p14:sldId id="811"/>
            <p14:sldId id="813"/>
            <p14:sldId id="814"/>
            <p14:sldId id="827"/>
            <p14:sldId id="815"/>
            <p14:sldId id="807"/>
            <p14:sldId id="808"/>
            <p14:sldId id="809"/>
            <p14:sldId id="810"/>
            <p14:sldId id="817"/>
            <p14:sldId id="804"/>
            <p14:sldId id="866"/>
            <p14:sldId id="818"/>
            <p14:sldId id="822"/>
            <p14:sldId id="867"/>
            <p14:sldId id="823"/>
            <p14:sldId id="824"/>
            <p14:sldId id="825"/>
            <p14:sldId id="826"/>
            <p14:sldId id="821"/>
            <p14:sldId id="819"/>
            <p14:sldId id="828"/>
            <p14:sldId id="829"/>
            <p14:sldId id="756"/>
            <p14:sldId id="830"/>
            <p14:sldId id="760"/>
            <p14:sldId id="761"/>
            <p14:sldId id="762"/>
            <p14:sldId id="854"/>
            <p14:sldId id="869"/>
            <p14:sldId id="870"/>
            <p14:sldId id="832"/>
            <p14:sldId id="835"/>
            <p14:sldId id="836"/>
            <p14:sldId id="837"/>
            <p14:sldId id="848"/>
            <p14:sldId id="847"/>
            <p14:sldId id="846"/>
            <p14:sldId id="849"/>
            <p14:sldId id="850"/>
            <p14:sldId id="851"/>
            <p14:sldId id="852"/>
            <p14:sldId id="856"/>
            <p14:sldId id="857"/>
            <p14:sldId id="863"/>
            <p14:sldId id="858"/>
            <p14:sldId id="859"/>
            <p14:sldId id="860"/>
            <p14:sldId id="861"/>
            <p14:sldId id="862"/>
            <p14:sldId id="864"/>
            <p14:sldId id="865"/>
            <p14:sldId id="871"/>
            <p14:sldId id="872"/>
            <p14:sldId id="884"/>
            <p14:sldId id="874"/>
            <p14:sldId id="875"/>
            <p14:sldId id="876"/>
            <p14:sldId id="878"/>
            <p14:sldId id="877"/>
            <p14:sldId id="879"/>
            <p14:sldId id="880"/>
            <p14:sldId id="881"/>
            <p14:sldId id="882"/>
            <p14:sldId id="883"/>
            <p14:sldId id="885"/>
            <p14:sldId id="886"/>
            <p14:sldId id="887"/>
            <p14:sldId id="888"/>
            <p14:sldId id="889"/>
            <p14:sldId id="890"/>
            <p14:sldId id="891"/>
            <p14:sldId id="893"/>
            <p14:sldId id="894"/>
            <p14:sldId id="895"/>
            <p14:sldId id="898"/>
            <p14:sldId id="899"/>
            <p14:sldId id="896"/>
            <p14:sldId id="897"/>
            <p14:sldId id="900"/>
            <p14:sldId id="902"/>
            <p14:sldId id="903"/>
            <p14:sldId id="906"/>
            <p14:sldId id="904"/>
            <p14:sldId id="905"/>
            <p14:sldId id="907"/>
            <p14:sldId id="908"/>
            <p14:sldId id="909"/>
            <p14:sldId id="910"/>
            <p14:sldId id="911"/>
            <p14:sldId id="913"/>
            <p14:sldId id="914"/>
            <p14:sldId id="915"/>
            <p14:sldId id="912"/>
            <p14:sldId id="901"/>
            <p14:sldId id="916"/>
            <p14:sldId id="920"/>
            <p14:sldId id="919"/>
            <p14:sldId id="921"/>
            <p14:sldId id="918"/>
            <p14:sldId id="922"/>
            <p14:sldId id="923"/>
            <p14:sldId id="917"/>
          </p14:sldIdLst>
        </p14:section>
        <p14:section name="Untitled Section" id="{F0B178FD-1802-40F5-8200-8345810CD19E}">
          <p14:sldIdLst>
            <p14:sldId id="397"/>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3366"/>
    <a:srgbClr val="FF00FF"/>
    <a:srgbClr val="0000CC"/>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5196" autoAdjust="0"/>
  </p:normalViewPr>
  <p:slideViewPr>
    <p:cSldViewPr>
      <p:cViewPr>
        <p:scale>
          <a:sx n="82" d="100"/>
          <a:sy n="82" d="100"/>
        </p:scale>
        <p:origin x="2454" y="774"/>
      </p:cViewPr>
      <p:guideLst>
        <p:guide orient="horz" pos="2160"/>
        <p:guide pos="2880"/>
      </p:guideLst>
    </p:cSldViewPr>
  </p:slideViewPr>
  <p:notesTextViewPr>
    <p:cViewPr>
      <p:scale>
        <a:sx n="1" d="1"/>
        <a:sy n="1" d="1"/>
      </p:scale>
      <p:origin x="0" y="0"/>
    </p:cViewPr>
  </p:notesTextViewPr>
  <p:sorterViewPr>
    <p:cViewPr varScale="1">
      <p:scale>
        <a:sx n="1" d="1"/>
        <a:sy n="1" d="1"/>
      </p:scale>
      <p:origin x="0" y="-23172"/>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notesMaster" Target="notesMasters/notesMaster1.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handoutMaster" Target="handoutMasters/handoutMaster1.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viewProps" Target="view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theme" Target="theme/theme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51B98B6-28A3-42EF-9039-12AB1A555551}" type="datetimeFigureOut">
              <a:rPr lang="en-US" smtClean="0"/>
              <a:t>4/21/2026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A88C4BE-D9B4-4E78-8734-7751C0C9DE95}" type="slidenum">
              <a:rPr lang="en-US" smtClean="0"/>
              <a:t>‹#›</a:t>
            </a:fld>
            <a:endParaRPr lang="en-US"/>
          </a:p>
        </p:txBody>
      </p:sp>
    </p:spTree>
    <p:extLst>
      <p:ext uri="{BB962C8B-B14F-4D97-AF65-F5344CB8AC3E}">
        <p14:creationId xmlns:p14="http://schemas.microsoft.com/office/powerpoint/2010/main" val="24467337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4B2B1B1-579B-4CB6-9798-0F2CDEE5F975}" type="datetimeFigureOut">
              <a:rPr lang="en-US" smtClean="0"/>
              <a:t>4/21/2026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1EDAD17-33F0-4D65-82A5-1BBB03DED615}" type="slidenum">
              <a:rPr lang="en-US" smtClean="0"/>
              <a:t>‹#›</a:t>
            </a:fld>
            <a:endParaRPr lang="en-US"/>
          </a:p>
        </p:txBody>
      </p:sp>
    </p:spTree>
    <p:extLst>
      <p:ext uri="{BB962C8B-B14F-4D97-AF65-F5344CB8AC3E}">
        <p14:creationId xmlns:p14="http://schemas.microsoft.com/office/powerpoint/2010/main" val="29124455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a:t>
            </a:fld>
            <a:endParaRPr lang="en-US"/>
          </a:p>
        </p:txBody>
      </p:sp>
    </p:spTree>
    <p:extLst>
      <p:ext uri="{BB962C8B-B14F-4D97-AF65-F5344CB8AC3E}">
        <p14:creationId xmlns:p14="http://schemas.microsoft.com/office/powerpoint/2010/main" val="11194767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74CF1EF-08E9-4CAE-8B3C-D98EE6374704}" type="slidenum">
              <a:rPr lang="en-US" smtClean="0"/>
              <a:t>3</a:t>
            </a:fld>
            <a:endParaRPr lang="en-US"/>
          </a:p>
        </p:txBody>
      </p:sp>
    </p:spTree>
    <p:extLst>
      <p:ext uri="{BB962C8B-B14F-4D97-AF65-F5344CB8AC3E}">
        <p14:creationId xmlns:p14="http://schemas.microsoft.com/office/powerpoint/2010/main" val="35422212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5</a:t>
            </a:fld>
            <a:endParaRPr lang="en-US"/>
          </a:p>
        </p:txBody>
      </p:sp>
    </p:spTree>
    <p:extLst>
      <p:ext uri="{BB962C8B-B14F-4D97-AF65-F5344CB8AC3E}">
        <p14:creationId xmlns:p14="http://schemas.microsoft.com/office/powerpoint/2010/main" val="37686086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7</a:t>
            </a:fld>
            <a:endParaRPr lang="en-US"/>
          </a:p>
        </p:txBody>
      </p:sp>
    </p:spTree>
    <p:extLst>
      <p:ext uri="{BB962C8B-B14F-4D97-AF65-F5344CB8AC3E}">
        <p14:creationId xmlns:p14="http://schemas.microsoft.com/office/powerpoint/2010/main" val="23625826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10</a:t>
            </a:fld>
            <a:endParaRPr lang="en-US"/>
          </a:p>
        </p:txBody>
      </p:sp>
    </p:spTree>
    <p:extLst>
      <p:ext uri="{BB962C8B-B14F-4D97-AF65-F5344CB8AC3E}">
        <p14:creationId xmlns:p14="http://schemas.microsoft.com/office/powerpoint/2010/main" val="36134794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24</a:t>
            </a:fld>
            <a:endParaRPr lang="en-US"/>
          </a:p>
        </p:txBody>
      </p:sp>
    </p:spTree>
    <p:extLst>
      <p:ext uri="{BB962C8B-B14F-4D97-AF65-F5344CB8AC3E}">
        <p14:creationId xmlns:p14="http://schemas.microsoft.com/office/powerpoint/2010/main" val="4960189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https://datahacker.rs/edge-detection-extended/</a:t>
            </a:r>
          </a:p>
        </p:txBody>
      </p:sp>
      <p:sp>
        <p:nvSpPr>
          <p:cNvPr id="4" name="Slide Number Placeholder 3"/>
          <p:cNvSpPr>
            <a:spLocks noGrp="1"/>
          </p:cNvSpPr>
          <p:nvPr>
            <p:ph type="sldNum" sz="quarter" idx="5"/>
          </p:nvPr>
        </p:nvSpPr>
        <p:spPr/>
        <p:txBody>
          <a:bodyPr/>
          <a:lstStyle/>
          <a:p>
            <a:fld id="{C1EDAD17-33F0-4D65-82A5-1BBB03DED615}" type="slidenum">
              <a:rPr lang="en-US" smtClean="0"/>
              <a:t>25</a:t>
            </a:fld>
            <a:endParaRPr lang="en-US"/>
          </a:p>
        </p:txBody>
      </p:sp>
    </p:spTree>
    <p:extLst>
      <p:ext uri="{BB962C8B-B14F-4D97-AF65-F5344CB8AC3E}">
        <p14:creationId xmlns:p14="http://schemas.microsoft.com/office/powerpoint/2010/main" val="32314347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26</a:t>
            </a:fld>
            <a:endParaRPr lang="en-US"/>
          </a:p>
        </p:txBody>
      </p:sp>
    </p:spTree>
    <p:extLst>
      <p:ext uri="{BB962C8B-B14F-4D97-AF65-F5344CB8AC3E}">
        <p14:creationId xmlns:p14="http://schemas.microsoft.com/office/powerpoint/2010/main" val="6715427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32</a:t>
            </a:fld>
            <a:endParaRPr lang="en-US"/>
          </a:p>
        </p:txBody>
      </p:sp>
    </p:spTree>
    <p:extLst>
      <p:ext uri="{BB962C8B-B14F-4D97-AF65-F5344CB8AC3E}">
        <p14:creationId xmlns:p14="http://schemas.microsoft.com/office/powerpoint/2010/main" val="32892438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42424"/>
                </a:solidFill>
                <a:effectLst/>
                <a:latin typeface="source-serif-pro"/>
              </a:rPr>
              <a:t>If you want to convolve, let’s say, a7 by 7 image with this 3 by 3 filter with a stride of two, what that means is you take the element Y’s product as usual in this upper left 3 by 3region and then multiply and add (that gives you 91 as the first element of the output).</a:t>
            </a:r>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33</a:t>
            </a:fld>
            <a:endParaRPr lang="en-US"/>
          </a:p>
        </p:txBody>
      </p:sp>
    </p:spTree>
    <p:extLst>
      <p:ext uri="{BB962C8B-B14F-4D97-AF65-F5344CB8AC3E}">
        <p14:creationId xmlns:p14="http://schemas.microsoft.com/office/powerpoint/2010/main" val="5419702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42424"/>
                </a:solidFill>
                <a:effectLst/>
                <a:latin typeface="source-serif-pro"/>
              </a:rPr>
              <a:t>But then instead of stepping the blue box over by one step, we are going to step over by two steps. So, we are going to make it hop over two steps like on GIF 2. Notice how the blue box jump over by two steps. And then you do the usual element Y’s product (summing it turns out 100)and now we are going to do they do that again, and make the blue box jump over by two steps (summing it up gives you 83).</a:t>
            </a:r>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34</a:t>
            </a:fld>
            <a:endParaRPr lang="en-US"/>
          </a:p>
        </p:txBody>
      </p:sp>
    </p:spTree>
    <p:extLst>
      <p:ext uri="{BB962C8B-B14F-4D97-AF65-F5344CB8AC3E}">
        <p14:creationId xmlns:p14="http://schemas.microsoft.com/office/powerpoint/2010/main" val="16243310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38</a:t>
            </a:fld>
            <a:endParaRPr lang="en-US"/>
          </a:p>
        </p:txBody>
      </p:sp>
    </p:spTree>
    <p:extLst>
      <p:ext uri="{BB962C8B-B14F-4D97-AF65-F5344CB8AC3E}">
        <p14:creationId xmlns:p14="http://schemas.microsoft.com/office/powerpoint/2010/main" val="31058246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42424"/>
                </a:solidFill>
                <a:effectLst/>
                <a:latin typeface="source-serif-pro"/>
              </a:rPr>
              <a:t>The 4 by 4 matrix output matrix, the output of the convolution operation, plays a role similar to </a:t>
            </a:r>
            <a:r>
              <a:rPr lang="en-US" b="0" i="1" dirty="0">
                <a:solidFill>
                  <a:srgbClr val="242424"/>
                </a:solidFill>
                <a:effectLst/>
                <a:latin typeface="source-serif-pro"/>
              </a:rPr>
              <a:t>w</a:t>
            </a:r>
            <a:r>
              <a:rPr lang="en-US" b="0" i="0" dirty="0">
                <a:solidFill>
                  <a:srgbClr val="242424"/>
                </a:solidFill>
                <a:effectLst/>
                <a:latin typeface="source-serif-pro"/>
              </a:rPr>
              <a:t>^[1] </a:t>
            </a:r>
            <a:r>
              <a:rPr lang="en-US" b="0" i="1" dirty="0">
                <a:solidFill>
                  <a:srgbClr val="242424"/>
                </a:solidFill>
                <a:effectLst/>
                <a:latin typeface="source-serif-pro"/>
              </a:rPr>
              <a:t>a</a:t>
            </a:r>
            <a:r>
              <a:rPr lang="en-US" b="0" i="0" dirty="0">
                <a:solidFill>
                  <a:srgbClr val="242424"/>
                </a:solidFill>
                <a:effectLst/>
                <a:latin typeface="source-serif-pro"/>
              </a:rPr>
              <a:t>^[0]. and the output image plays a role similar to </a:t>
            </a:r>
            <a:r>
              <a:rPr lang="en-US" b="0" i="1" dirty="0">
                <a:solidFill>
                  <a:srgbClr val="242424"/>
                </a:solidFill>
                <a:effectLst/>
                <a:latin typeface="source-serif-pro"/>
              </a:rPr>
              <a:t>a</a:t>
            </a:r>
            <a:r>
              <a:rPr lang="en-US" b="0" i="0" dirty="0">
                <a:solidFill>
                  <a:srgbClr val="242424"/>
                </a:solidFill>
                <a:effectLst/>
                <a:latin typeface="source-serif-pro"/>
              </a:rPr>
              <a:t>^[1] = </a:t>
            </a:r>
            <a:r>
              <a:rPr lang="en-US" b="0" i="1" dirty="0">
                <a:solidFill>
                  <a:srgbClr val="242424"/>
                </a:solidFill>
                <a:effectLst/>
                <a:latin typeface="source-serif-pro"/>
              </a:rPr>
              <a:t>g</a:t>
            </a:r>
            <a:r>
              <a:rPr lang="en-US" b="0" i="0" dirty="0">
                <a:solidFill>
                  <a:srgbClr val="242424"/>
                </a:solidFill>
                <a:effectLst/>
                <a:latin typeface="source-serif-pro"/>
              </a:rPr>
              <a:t>(</a:t>
            </a:r>
            <a:r>
              <a:rPr lang="en-US" b="0" i="1" dirty="0">
                <a:solidFill>
                  <a:srgbClr val="242424"/>
                </a:solidFill>
                <a:effectLst/>
                <a:latin typeface="source-serif-pro"/>
              </a:rPr>
              <a:t>z</a:t>
            </a:r>
            <a:r>
              <a:rPr lang="en-US" b="0" i="0" dirty="0">
                <a:solidFill>
                  <a:srgbClr val="242424"/>
                </a:solidFill>
                <a:effectLst/>
                <a:latin typeface="source-serif-pro"/>
              </a:rPr>
              <a:t>^[1]), where </a:t>
            </a:r>
            <a:r>
              <a:rPr lang="en-US" b="0" i="1" dirty="0">
                <a:solidFill>
                  <a:srgbClr val="242424"/>
                </a:solidFill>
                <a:effectLst/>
                <a:latin typeface="source-serif-pro"/>
              </a:rPr>
              <a:t>g</a:t>
            </a:r>
            <a:r>
              <a:rPr lang="en-US" b="0" i="0" dirty="0">
                <a:solidFill>
                  <a:srgbClr val="242424"/>
                </a:solidFill>
                <a:effectLst/>
                <a:latin typeface="source-serif-pro"/>
              </a:rPr>
              <a:t> is the non-linearity function such as the ReLU and </a:t>
            </a:r>
            <a:r>
              <a:rPr lang="en-US" b="0" i="1" dirty="0">
                <a:solidFill>
                  <a:srgbClr val="242424"/>
                </a:solidFill>
                <a:effectLst/>
                <a:latin typeface="source-serif-pro"/>
              </a:rPr>
              <a:t>z</a:t>
            </a:r>
            <a:r>
              <a:rPr lang="en-US" b="0" i="0" dirty="0">
                <a:solidFill>
                  <a:srgbClr val="242424"/>
                </a:solidFill>
                <a:effectLst/>
                <a:latin typeface="source-serif-pro"/>
              </a:rPr>
              <a:t>^[1] = </a:t>
            </a:r>
            <a:r>
              <a:rPr lang="en-US" b="0" i="1" dirty="0">
                <a:solidFill>
                  <a:srgbClr val="242424"/>
                </a:solidFill>
                <a:effectLst/>
                <a:latin typeface="source-serif-pro"/>
              </a:rPr>
              <a:t>w</a:t>
            </a:r>
            <a:r>
              <a:rPr lang="en-US" b="0" i="0" dirty="0">
                <a:solidFill>
                  <a:srgbClr val="242424"/>
                </a:solidFill>
                <a:effectLst/>
                <a:latin typeface="source-serif-pro"/>
              </a:rPr>
              <a:t>^[1] </a:t>
            </a:r>
            <a:r>
              <a:rPr lang="en-US" b="0" i="1" dirty="0">
                <a:solidFill>
                  <a:srgbClr val="242424"/>
                </a:solidFill>
                <a:effectLst/>
                <a:latin typeface="source-serif-pro"/>
              </a:rPr>
              <a:t>a</a:t>
            </a:r>
            <a:r>
              <a:rPr lang="en-US" b="0" i="0" dirty="0">
                <a:solidFill>
                  <a:srgbClr val="242424"/>
                </a:solidFill>
                <a:effectLst/>
                <a:latin typeface="source-serif-pro"/>
              </a:rPr>
              <a:t>^[0] + </a:t>
            </a:r>
            <a:r>
              <a:rPr lang="en-US" b="0" i="1" dirty="0">
                <a:solidFill>
                  <a:srgbClr val="242424"/>
                </a:solidFill>
                <a:effectLst/>
                <a:latin typeface="source-serif-pro"/>
              </a:rPr>
              <a:t>b</a:t>
            </a:r>
            <a:r>
              <a:rPr lang="en-US" b="0" i="0" dirty="0">
                <a:solidFill>
                  <a:srgbClr val="242424"/>
                </a:solidFill>
                <a:effectLst/>
                <a:latin typeface="source-serif-pro"/>
              </a:rPr>
              <a:t>^[1]. So we are really just going from </a:t>
            </a:r>
            <a:r>
              <a:rPr lang="en-US" b="0" i="1" dirty="0">
                <a:solidFill>
                  <a:srgbClr val="242424"/>
                </a:solidFill>
                <a:effectLst/>
                <a:latin typeface="source-serif-pro"/>
              </a:rPr>
              <a:t>a</a:t>
            </a:r>
            <a:r>
              <a:rPr lang="en-US" b="0" i="0" dirty="0">
                <a:solidFill>
                  <a:srgbClr val="242424"/>
                </a:solidFill>
                <a:effectLst/>
                <a:latin typeface="source-serif-pro"/>
              </a:rPr>
              <a:t>^[0] to </a:t>
            </a:r>
            <a:r>
              <a:rPr lang="en-US" b="0" i="1" dirty="0">
                <a:solidFill>
                  <a:srgbClr val="242424"/>
                </a:solidFill>
                <a:effectLst/>
                <a:latin typeface="source-serif-pro"/>
              </a:rPr>
              <a:t>a</a:t>
            </a:r>
            <a:r>
              <a:rPr lang="en-US" b="0" i="0" dirty="0">
                <a:solidFill>
                  <a:srgbClr val="242424"/>
                </a:solidFill>
                <a:effectLst/>
                <a:latin typeface="source-serif-pro"/>
              </a:rPr>
              <a:t>^[1], where a^[0] is the 6 by 6 by 3 input image and a^[1] is the 4 by 4 by 2 output image.</a:t>
            </a:r>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47</a:t>
            </a:fld>
            <a:endParaRPr lang="en-US"/>
          </a:p>
        </p:txBody>
      </p:sp>
    </p:spTree>
    <p:extLst>
      <p:ext uri="{BB962C8B-B14F-4D97-AF65-F5344CB8AC3E}">
        <p14:creationId xmlns:p14="http://schemas.microsoft.com/office/powerpoint/2010/main" val="41026937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endParaRPr lang="en-US" dirty="0"/>
          </a:p>
        </p:txBody>
      </p:sp>
      <p:sp>
        <p:nvSpPr>
          <p:cNvPr id="4" name="Slide Number Placeholder 3"/>
          <p:cNvSpPr>
            <a:spLocks noGrp="1"/>
          </p:cNvSpPr>
          <p:nvPr>
            <p:ph type="sldNum" sz="quarter" idx="5"/>
          </p:nvPr>
        </p:nvSpPr>
        <p:spPr/>
        <p:txBody>
          <a:bodyPr/>
          <a:lstStyle/>
          <a:p>
            <a:fld id="{C1EDAD17-33F0-4D65-82A5-1BBB03DED615}" type="slidenum">
              <a:rPr lang="en-US" smtClean="0"/>
              <a:t>51</a:t>
            </a:fld>
            <a:endParaRPr lang="en-US"/>
          </a:p>
        </p:txBody>
      </p:sp>
    </p:spTree>
    <p:extLst>
      <p:ext uri="{BB962C8B-B14F-4D97-AF65-F5344CB8AC3E}">
        <p14:creationId xmlns:p14="http://schemas.microsoft.com/office/powerpoint/2010/main" val="25876113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0" dirty="0">
                <a:solidFill>
                  <a:srgbClr val="242424"/>
                </a:solidFill>
                <a:effectLst/>
                <a:latin typeface="sohne"/>
              </a:rPr>
              <a:t>Calculating the output when an image passes through a Pooling (Max) layer</a:t>
            </a:r>
          </a:p>
          <a:p>
            <a:pPr marL="0" indent="0">
              <a:buNone/>
            </a:pPr>
            <a:r>
              <a:rPr lang="en-US" sz="1200" dirty="0"/>
              <a:t>The input dimensions of the image — &gt; I</a:t>
            </a:r>
          </a:p>
          <a:p>
            <a:pPr marL="0" indent="0">
              <a:buNone/>
            </a:pPr>
            <a:r>
              <a:rPr lang="en-US" sz="1200" dirty="0"/>
              <a:t>For a pooling layer, one can specify only the filter/kernel size (F) and the strides (S).</a:t>
            </a:r>
          </a:p>
          <a:p>
            <a:pPr marL="0" indent="0">
              <a:buNone/>
            </a:pPr>
            <a:endParaRPr lang="en-US" sz="1200" dirty="0"/>
          </a:p>
          <a:p>
            <a:pPr marL="0" indent="0">
              <a:buNone/>
            </a:pPr>
            <a:r>
              <a:rPr lang="en-US" sz="1200" dirty="0"/>
              <a:t>Pooling Output dimension = </a:t>
            </a:r>
          </a:p>
          <a:p>
            <a:pPr marL="0" indent="0">
              <a:buNone/>
            </a:pPr>
            <a:r>
              <a:rPr lang="en-US" sz="1200" dirty="0"/>
              <a:t>[(I - F) / S] + 1 x D</a:t>
            </a:r>
            <a:endParaRPr lang="en-IN" sz="1200" dirty="0"/>
          </a:p>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63</a:t>
            </a:fld>
            <a:endParaRPr lang="en-US"/>
          </a:p>
        </p:txBody>
      </p:sp>
    </p:spTree>
    <p:extLst>
      <p:ext uri="{BB962C8B-B14F-4D97-AF65-F5344CB8AC3E}">
        <p14:creationId xmlns:p14="http://schemas.microsoft.com/office/powerpoint/2010/main" val="4424122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106</a:t>
            </a:fld>
            <a:endParaRPr lang="en-US"/>
          </a:p>
        </p:txBody>
      </p:sp>
    </p:spTree>
    <p:extLst>
      <p:ext uri="{BB962C8B-B14F-4D97-AF65-F5344CB8AC3E}">
        <p14:creationId xmlns:p14="http://schemas.microsoft.com/office/powerpoint/2010/main" val="16095505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242424"/>
                </a:solidFill>
                <a:effectLst/>
                <a:latin typeface="source-serif-pro"/>
              </a:rPr>
              <a:t>The input to the </a:t>
            </a:r>
            <a:r>
              <a:rPr lang="en-US" b="0" i="0" dirty="0" err="1">
                <a:solidFill>
                  <a:srgbClr val="242424"/>
                </a:solidFill>
                <a:effectLst/>
                <a:latin typeface="source-serif-pro"/>
              </a:rPr>
              <a:t>AlexNet</a:t>
            </a:r>
            <a:r>
              <a:rPr lang="en-US" b="0" i="0" dirty="0">
                <a:solidFill>
                  <a:srgbClr val="242424"/>
                </a:solidFill>
                <a:effectLst/>
                <a:latin typeface="source-serif-pro"/>
              </a:rPr>
              <a:t> network is a 227 x 227 size RGB image, so it’s having 3 different channels- red, green, and blue.</a:t>
            </a:r>
          </a:p>
          <a:p>
            <a:pPr algn="l"/>
            <a:r>
              <a:rPr lang="en-US" b="0" i="0" dirty="0">
                <a:solidFill>
                  <a:srgbClr val="242424"/>
                </a:solidFill>
                <a:effectLst/>
                <a:latin typeface="source-serif-pro"/>
              </a:rPr>
              <a:t>Then we have the </a:t>
            </a:r>
            <a:r>
              <a:rPr lang="en-US" b="1" i="1" dirty="0">
                <a:solidFill>
                  <a:srgbClr val="242424"/>
                </a:solidFill>
                <a:effectLst/>
                <a:latin typeface="source-serif-pro"/>
              </a:rPr>
              <a:t>First Convolution Layer</a:t>
            </a:r>
            <a:r>
              <a:rPr lang="en-US" b="0" i="0" dirty="0">
                <a:solidFill>
                  <a:srgbClr val="242424"/>
                </a:solidFill>
                <a:effectLst/>
                <a:latin typeface="source-serif-pro"/>
              </a:rPr>
              <a:t> in the </a:t>
            </a:r>
            <a:r>
              <a:rPr lang="en-US" b="0" i="0" dirty="0" err="1">
                <a:solidFill>
                  <a:srgbClr val="242424"/>
                </a:solidFill>
                <a:effectLst/>
                <a:latin typeface="source-serif-pro"/>
              </a:rPr>
              <a:t>AlexNet</a:t>
            </a:r>
            <a:r>
              <a:rPr lang="en-US" b="0" i="0" dirty="0">
                <a:solidFill>
                  <a:srgbClr val="242424"/>
                </a:solidFill>
                <a:effectLst/>
                <a:latin typeface="source-serif-pro"/>
              </a:rPr>
              <a:t> that has 96 different kernels with each kernel’s size of 11 x 11 and with stride equals 4. So the output of the first convolution layer gives you 96 different channels or feature maps because there are 96 different kernels and each feature map contains features of size 55 x 55</a:t>
            </a:r>
          </a:p>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107</a:t>
            </a:fld>
            <a:endParaRPr lang="en-US"/>
          </a:p>
        </p:txBody>
      </p:sp>
    </p:spTree>
    <p:extLst>
      <p:ext uri="{BB962C8B-B14F-4D97-AF65-F5344CB8AC3E}">
        <p14:creationId xmlns:p14="http://schemas.microsoft.com/office/powerpoint/2010/main" val="34308946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111</a:t>
            </a:fld>
            <a:endParaRPr lang="en-US"/>
          </a:p>
        </p:txBody>
      </p:sp>
    </p:spTree>
    <p:extLst>
      <p:ext uri="{BB962C8B-B14F-4D97-AF65-F5344CB8AC3E}">
        <p14:creationId xmlns:p14="http://schemas.microsoft.com/office/powerpoint/2010/main" val="26483578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121</a:t>
            </a:fld>
            <a:endParaRPr lang="en-US"/>
          </a:p>
        </p:txBody>
      </p:sp>
    </p:spTree>
    <p:extLst>
      <p:ext uri="{BB962C8B-B14F-4D97-AF65-F5344CB8AC3E}">
        <p14:creationId xmlns:p14="http://schemas.microsoft.com/office/powerpoint/2010/main" val="27655812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122</a:t>
            </a:fld>
            <a:endParaRPr lang="en-US"/>
          </a:p>
        </p:txBody>
      </p:sp>
    </p:spTree>
    <p:extLst>
      <p:ext uri="{BB962C8B-B14F-4D97-AF65-F5344CB8AC3E}">
        <p14:creationId xmlns:p14="http://schemas.microsoft.com/office/powerpoint/2010/main" val="22909307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123</a:t>
            </a:fld>
            <a:endParaRPr lang="en-US"/>
          </a:p>
        </p:txBody>
      </p:sp>
    </p:spTree>
    <p:extLst>
      <p:ext uri="{BB962C8B-B14F-4D97-AF65-F5344CB8AC3E}">
        <p14:creationId xmlns:p14="http://schemas.microsoft.com/office/powerpoint/2010/main" val="3582344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73239"/>
                </a:solidFill>
                <a:effectLst/>
                <a:latin typeface="Nunito" pitchFamily="2" charset="0"/>
              </a:rPr>
              <a:t>In the above plot, we can observe that a 56-layer CNN gives more error rate on both training and testing dataset than a 20-layer CNN architecture. After analyzing more on error rate the authors were able to reach conclusion that it is caused by vanishing/exploding gradient. </a:t>
            </a:r>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133</a:t>
            </a:fld>
            <a:endParaRPr lang="en-US"/>
          </a:p>
        </p:txBody>
      </p:sp>
    </p:spTree>
    <p:extLst>
      <p:ext uri="{BB962C8B-B14F-4D97-AF65-F5344CB8AC3E}">
        <p14:creationId xmlns:p14="http://schemas.microsoft.com/office/powerpoint/2010/main" val="15689077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143</a:t>
            </a:fld>
            <a:endParaRPr lang="en-US"/>
          </a:p>
        </p:txBody>
      </p:sp>
    </p:spTree>
    <p:extLst>
      <p:ext uri="{BB962C8B-B14F-4D97-AF65-F5344CB8AC3E}">
        <p14:creationId xmlns:p14="http://schemas.microsoft.com/office/powerpoint/2010/main" val="297603075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endParaRPr lang="en-US" b="0" i="0" dirty="0">
              <a:solidFill>
                <a:srgbClr val="001D35"/>
              </a:solidFill>
              <a:effectLst/>
              <a:latin typeface="Google Sans"/>
            </a:endParaRPr>
          </a:p>
        </p:txBody>
      </p:sp>
      <p:sp>
        <p:nvSpPr>
          <p:cNvPr id="4" name="Slide Number Placeholder 3"/>
          <p:cNvSpPr>
            <a:spLocks noGrp="1"/>
          </p:cNvSpPr>
          <p:nvPr>
            <p:ph type="sldNum" sz="quarter" idx="5"/>
          </p:nvPr>
        </p:nvSpPr>
        <p:spPr/>
        <p:txBody>
          <a:bodyPr/>
          <a:lstStyle/>
          <a:p>
            <a:fld id="{C1EDAD17-33F0-4D65-82A5-1BBB03DED615}" type="slidenum">
              <a:rPr lang="en-US" smtClean="0"/>
              <a:t>146</a:t>
            </a:fld>
            <a:endParaRPr lang="en-US"/>
          </a:p>
        </p:txBody>
      </p:sp>
    </p:spTree>
    <p:extLst>
      <p:ext uri="{BB962C8B-B14F-4D97-AF65-F5344CB8AC3E}">
        <p14:creationId xmlns:p14="http://schemas.microsoft.com/office/powerpoint/2010/main" val="417279398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150</a:t>
            </a:fld>
            <a:endParaRPr lang="en-US"/>
          </a:p>
        </p:txBody>
      </p:sp>
    </p:spTree>
    <p:extLst>
      <p:ext uri="{BB962C8B-B14F-4D97-AF65-F5344CB8AC3E}">
        <p14:creationId xmlns:p14="http://schemas.microsoft.com/office/powerpoint/2010/main" val="31369398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151</a:t>
            </a:fld>
            <a:endParaRPr lang="en-US"/>
          </a:p>
        </p:txBody>
      </p:sp>
    </p:spTree>
    <p:extLst>
      <p:ext uri="{BB962C8B-B14F-4D97-AF65-F5344CB8AC3E}">
        <p14:creationId xmlns:p14="http://schemas.microsoft.com/office/powerpoint/2010/main" val="396246336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152</a:t>
            </a:fld>
            <a:endParaRPr lang="en-US"/>
          </a:p>
        </p:txBody>
      </p:sp>
    </p:spTree>
    <p:extLst>
      <p:ext uri="{BB962C8B-B14F-4D97-AF65-F5344CB8AC3E}">
        <p14:creationId xmlns:p14="http://schemas.microsoft.com/office/powerpoint/2010/main" val="181866299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153</a:t>
            </a:fld>
            <a:endParaRPr lang="en-US"/>
          </a:p>
        </p:txBody>
      </p:sp>
    </p:spTree>
    <p:extLst>
      <p:ext uri="{BB962C8B-B14F-4D97-AF65-F5344CB8AC3E}">
        <p14:creationId xmlns:p14="http://schemas.microsoft.com/office/powerpoint/2010/main" val="422052648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https://colab.research.google.com/github/ageron/handson-ml2/blob/master/02_end_to_end_machine_learning_project.ipynb#scrollTo=tLb7or7j1rMW</a:t>
            </a:r>
          </a:p>
        </p:txBody>
      </p:sp>
      <p:sp>
        <p:nvSpPr>
          <p:cNvPr id="4" name="Slide Number Placeholder 3"/>
          <p:cNvSpPr>
            <a:spLocks noGrp="1"/>
          </p:cNvSpPr>
          <p:nvPr>
            <p:ph type="sldNum" sz="quarter" idx="10"/>
          </p:nvPr>
        </p:nvSpPr>
        <p:spPr/>
        <p:txBody>
          <a:bodyPr/>
          <a:lstStyle/>
          <a:p>
            <a:fld id="{C74CF1EF-08E9-4CAE-8B3C-D98EE6374704}" type="slidenum">
              <a:rPr lang="en-US" smtClean="0"/>
              <a:t>157</a:t>
            </a:fld>
            <a:endParaRPr lang="en-US"/>
          </a:p>
        </p:txBody>
      </p:sp>
    </p:spTree>
    <p:extLst>
      <p:ext uri="{BB962C8B-B14F-4D97-AF65-F5344CB8AC3E}">
        <p14:creationId xmlns:p14="http://schemas.microsoft.com/office/powerpoint/2010/main" val="33341191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AutoShape 7"/>
          <p:cNvSpPr>
            <a:spLocks noChangeArrowheads="1"/>
          </p:cNvSpPr>
          <p:nvPr/>
        </p:nvSpPr>
        <p:spPr bwMode="auto">
          <a:xfrm>
            <a:off x="685800" y="2393950"/>
            <a:ext cx="7772400" cy="109538"/>
          </a:xfrm>
          <a:custGeom>
            <a:avLst/>
            <a:gdLst>
              <a:gd name="T0" fmla="*/ 0 w 1000"/>
              <a:gd name="T1" fmla="*/ 0 h 1000"/>
              <a:gd name="T2" fmla="*/ 2147483647 w 1000"/>
              <a:gd name="T3" fmla="*/ 0 h 1000"/>
              <a:gd name="T4" fmla="*/ 2147483647 w 1000"/>
              <a:gd name="T5" fmla="*/ 2147483647 h 1000"/>
              <a:gd name="T6" fmla="*/ 0 w 1000"/>
              <a:gd name="T7" fmla="*/ 2147483647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US"/>
          </a:p>
        </p:txBody>
      </p:sp>
      <p:sp>
        <p:nvSpPr>
          <p:cNvPr id="64514" name="Rectangle 2"/>
          <p:cNvSpPr>
            <a:spLocks noGrp="1" noChangeArrowheads="1"/>
          </p:cNvSpPr>
          <p:nvPr>
            <p:ph type="ctrTitle"/>
          </p:nvPr>
        </p:nvSpPr>
        <p:spPr>
          <a:xfrm>
            <a:off x="685800" y="990600"/>
            <a:ext cx="7772400" cy="1371600"/>
          </a:xfrm>
        </p:spPr>
        <p:txBody>
          <a:bodyPr/>
          <a:lstStyle>
            <a:lvl1pPr>
              <a:defRPr sz="4000"/>
            </a:lvl1pPr>
          </a:lstStyle>
          <a:p>
            <a:r>
              <a:rPr lang="en-US"/>
              <a:t>Click to edit Master title style</a:t>
            </a:r>
          </a:p>
        </p:txBody>
      </p:sp>
      <p:sp>
        <p:nvSpPr>
          <p:cNvPr id="64515" name="Rectangle 3"/>
          <p:cNvSpPr>
            <a:spLocks noGrp="1" noChangeArrowheads="1"/>
          </p:cNvSpPr>
          <p:nvPr>
            <p:ph type="subTitle" idx="1"/>
          </p:nvPr>
        </p:nvSpPr>
        <p:spPr>
          <a:xfrm>
            <a:off x="1447800" y="3429000"/>
            <a:ext cx="7010400" cy="1600200"/>
          </a:xfrm>
        </p:spPr>
        <p:txBody>
          <a:bodyPr/>
          <a:lstStyle>
            <a:lvl1pPr marL="0" indent="0">
              <a:buFont typeface="Wingdings" pitchFamily="2" charset="2"/>
              <a:buNone/>
              <a:defRPr sz="2800"/>
            </a:lvl1pPr>
          </a:lstStyle>
          <a:p>
            <a:r>
              <a:rPr lang="en-US"/>
              <a:t>Click to edit Master subtitle style</a:t>
            </a:r>
          </a:p>
        </p:txBody>
      </p:sp>
      <p:sp>
        <p:nvSpPr>
          <p:cNvPr id="5" name="Rectangle 4"/>
          <p:cNvSpPr>
            <a:spLocks noGrp="1" noChangeArrowheads="1"/>
          </p:cNvSpPr>
          <p:nvPr>
            <p:ph type="dt" sz="half" idx="10"/>
          </p:nvPr>
        </p:nvSpPr>
        <p:spPr>
          <a:xfrm>
            <a:off x="685800" y="6248400"/>
            <a:ext cx="1905000" cy="457200"/>
          </a:xfrm>
        </p:spPr>
        <p:txBody>
          <a:bodyPr/>
          <a:lstStyle>
            <a:lvl1pPr>
              <a:defRPr/>
            </a:lvl1pPr>
          </a:lstStyle>
          <a:p>
            <a:fld id="{7F9E7227-4EF5-451C-A232-86206D22A18F}" type="datetime3">
              <a:rPr lang="en-US" smtClean="0"/>
              <a:t>21 April 2026</a:t>
            </a:fld>
            <a:endParaRPr lang="en-US"/>
          </a:p>
        </p:txBody>
      </p:sp>
      <p:sp>
        <p:nvSpPr>
          <p:cNvPr id="6" name="Rectangle 5"/>
          <p:cNvSpPr>
            <a:spLocks noGrp="1" noChangeArrowheads="1"/>
          </p:cNvSpPr>
          <p:nvPr>
            <p:ph type="ftr" sz="quarter" idx="11"/>
          </p:nvPr>
        </p:nvSpPr>
        <p:spPr>
          <a:xfrm>
            <a:off x="3124200" y="6248400"/>
            <a:ext cx="2895600" cy="457200"/>
          </a:xfrm>
        </p:spPr>
        <p:txBody>
          <a:bodyPr/>
          <a:lstStyle>
            <a:lvl1pPr>
              <a:defRPr/>
            </a:lvl1pPr>
          </a:lstStyle>
          <a:p>
            <a:r>
              <a:rPr lang="en-US"/>
              <a:t>BMSCE</a:t>
            </a:r>
          </a:p>
        </p:txBody>
      </p:sp>
      <p:sp>
        <p:nvSpPr>
          <p:cNvPr id="7" name="Rectangle 6"/>
          <p:cNvSpPr>
            <a:spLocks noGrp="1" noChangeArrowheads="1"/>
          </p:cNvSpPr>
          <p:nvPr>
            <p:ph type="sldNum" sz="quarter" idx="12"/>
          </p:nvPr>
        </p:nvSpPr>
        <p:spPr>
          <a:xfrm>
            <a:off x="6553200" y="6248400"/>
            <a:ext cx="1905000" cy="457200"/>
          </a:xfrm>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30596419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fld id="{59A993AC-6FC6-4FD7-BA84-6FD82A41DCAC}" type="datetime3">
              <a:rPr lang="en-US" smtClean="0"/>
              <a:t>21 April 2026</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42510617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p:cNvSpPr>
            <a:spLocks noGrp="1" noChangeArrowheads="1"/>
          </p:cNvSpPr>
          <p:nvPr>
            <p:ph type="dt" sz="half" idx="10"/>
          </p:nvPr>
        </p:nvSpPr>
        <p:spPr>
          <a:ln/>
        </p:spPr>
        <p:txBody>
          <a:bodyPr/>
          <a:lstStyle>
            <a:lvl1pPr>
              <a:defRPr/>
            </a:lvl1pPr>
          </a:lstStyle>
          <a:p>
            <a:fld id="{E7B74757-691D-4E03-A573-7F55D9D60DC5}" type="datetime3">
              <a:rPr lang="en-US" smtClean="0"/>
              <a:t>21 April 2026</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8363593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667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34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p:cNvSpPr>
            <a:spLocks noGrp="1" noChangeArrowheads="1"/>
          </p:cNvSpPr>
          <p:nvPr>
            <p:ph type="dt" sz="half" idx="10"/>
          </p:nvPr>
        </p:nvSpPr>
        <p:spPr>
          <a:ln/>
        </p:spPr>
        <p:txBody>
          <a:bodyPr/>
          <a:lstStyle>
            <a:lvl1pPr>
              <a:defRPr/>
            </a:lvl1pPr>
          </a:lstStyle>
          <a:p>
            <a:fld id="{6D1CFAE8-E69C-4F51-B898-36B1B0D59E1C}" type="datetime3">
              <a:rPr lang="en-US" smtClean="0"/>
              <a:t>21 April 2026</a:t>
            </a:fld>
            <a:endParaRPr lang="en-US"/>
          </a:p>
        </p:txBody>
      </p:sp>
      <p:sp>
        <p:nvSpPr>
          <p:cNvPr id="6" name="Rectangle 7"/>
          <p:cNvSpPr>
            <a:spLocks noGrp="1" noChangeArrowheads="1"/>
          </p:cNvSpPr>
          <p:nvPr>
            <p:ph type="ftr" sz="quarter" idx="11"/>
          </p:nvPr>
        </p:nvSpPr>
        <p:spPr>
          <a:ln/>
        </p:spPr>
        <p:txBody>
          <a:bodyPr/>
          <a:lstStyle>
            <a:lvl1pPr>
              <a:defRPr/>
            </a:lvl1pPr>
          </a:lstStyle>
          <a:p>
            <a:r>
              <a:rPr lang="en-US"/>
              <a:t>BMSCE</a:t>
            </a:r>
          </a:p>
        </p:txBody>
      </p:sp>
      <p:sp>
        <p:nvSpPr>
          <p:cNvPr id="7"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844748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a:spLocks noGrp="1" noChangeArrowheads="1"/>
          </p:cNvSpPr>
          <p:nvPr>
            <p:ph type="dt" sz="half" idx="10"/>
          </p:nvPr>
        </p:nvSpPr>
        <p:spPr>
          <a:ln/>
        </p:spPr>
        <p:txBody>
          <a:bodyPr/>
          <a:lstStyle>
            <a:lvl1pPr>
              <a:defRPr/>
            </a:lvl1pPr>
          </a:lstStyle>
          <a:p>
            <a:fld id="{4C1B199F-D0C4-468A-B11A-3EADFB53AB3F}" type="datetime3">
              <a:rPr lang="en-US" smtClean="0"/>
              <a:t>21 April 2026</a:t>
            </a:fld>
            <a:endParaRPr lang="en-US"/>
          </a:p>
        </p:txBody>
      </p:sp>
      <p:sp>
        <p:nvSpPr>
          <p:cNvPr id="8" name="Rectangle 7"/>
          <p:cNvSpPr>
            <a:spLocks noGrp="1" noChangeArrowheads="1"/>
          </p:cNvSpPr>
          <p:nvPr>
            <p:ph type="ftr" sz="quarter" idx="11"/>
          </p:nvPr>
        </p:nvSpPr>
        <p:spPr>
          <a:ln/>
        </p:spPr>
        <p:txBody>
          <a:bodyPr/>
          <a:lstStyle>
            <a:lvl1pPr>
              <a:defRPr/>
            </a:lvl1pPr>
          </a:lstStyle>
          <a:p>
            <a:r>
              <a:rPr lang="en-US"/>
              <a:t>BMSCE</a:t>
            </a:r>
          </a:p>
        </p:txBody>
      </p:sp>
      <p:sp>
        <p:nvSpPr>
          <p:cNvPr id="9"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15429643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p:cNvSpPr>
            <a:spLocks noGrp="1" noChangeArrowheads="1"/>
          </p:cNvSpPr>
          <p:nvPr>
            <p:ph type="dt" sz="half" idx="10"/>
          </p:nvPr>
        </p:nvSpPr>
        <p:spPr>
          <a:ln/>
        </p:spPr>
        <p:txBody>
          <a:bodyPr/>
          <a:lstStyle>
            <a:lvl1pPr>
              <a:defRPr/>
            </a:lvl1pPr>
          </a:lstStyle>
          <a:p>
            <a:fld id="{98EE3DD2-5D53-4CE2-AB41-29797E3AA645}" type="datetime3">
              <a:rPr lang="en-US" smtClean="0"/>
              <a:t>21 April 2026</a:t>
            </a:fld>
            <a:endParaRPr lang="en-US"/>
          </a:p>
        </p:txBody>
      </p:sp>
      <p:sp>
        <p:nvSpPr>
          <p:cNvPr id="4" name="Rectangle 7"/>
          <p:cNvSpPr>
            <a:spLocks noGrp="1" noChangeArrowheads="1"/>
          </p:cNvSpPr>
          <p:nvPr>
            <p:ph type="ftr" sz="quarter" idx="11"/>
          </p:nvPr>
        </p:nvSpPr>
        <p:spPr>
          <a:ln/>
        </p:spPr>
        <p:txBody>
          <a:bodyPr/>
          <a:lstStyle>
            <a:lvl1pPr>
              <a:defRPr/>
            </a:lvl1pPr>
          </a:lstStyle>
          <a:p>
            <a:r>
              <a:rPr lang="en-US"/>
              <a:t>BMSCE</a:t>
            </a:r>
          </a:p>
        </p:txBody>
      </p:sp>
      <p:sp>
        <p:nvSpPr>
          <p:cNvPr id="5"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3678284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a:ln/>
        </p:spPr>
        <p:txBody>
          <a:bodyPr/>
          <a:lstStyle>
            <a:lvl1pPr>
              <a:defRPr/>
            </a:lvl1pPr>
          </a:lstStyle>
          <a:p>
            <a:fld id="{0B3A05EC-1D74-404D-A31E-6A823AFF8E24}" type="datetime3">
              <a:rPr lang="en-US" smtClean="0"/>
              <a:t>21 April 2026</a:t>
            </a:fld>
            <a:endParaRPr lang="en-US"/>
          </a:p>
        </p:txBody>
      </p:sp>
      <p:sp>
        <p:nvSpPr>
          <p:cNvPr id="3" name="Rectangle 7"/>
          <p:cNvSpPr>
            <a:spLocks noGrp="1" noChangeArrowheads="1"/>
          </p:cNvSpPr>
          <p:nvPr>
            <p:ph type="ftr" sz="quarter" idx="11"/>
          </p:nvPr>
        </p:nvSpPr>
        <p:spPr>
          <a:ln/>
        </p:spPr>
        <p:txBody>
          <a:bodyPr/>
          <a:lstStyle>
            <a:lvl1pPr>
              <a:defRPr/>
            </a:lvl1pPr>
          </a:lstStyle>
          <a:p>
            <a:r>
              <a:rPr lang="en-US"/>
              <a:t>BMSCE</a:t>
            </a:r>
          </a:p>
        </p:txBody>
      </p:sp>
      <p:sp>
        <p:nvSpPr>
          <p:cNvPr id="4"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15821903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a:ln/>
        </p:spPr>
        <p:txBody>
          <a:bodyPr/>
          <a:lstStyle>
            <a:lvl1pPr>
              <a:defRPr/>
            </a:lvl1pPr>
          </a:lstStyle>
          <a:p>
            <a:fld id="{7B8568E2-F9B0-4DD6-9253-964BE11A6D1D}" type="datetime3">
              <a:rPr lang="en-US" smtClean="0"/>
              <a:t>21 April 2026</a:t>
            </a:fld>
            <a:endParaRPr lang="en-US"/>
          </a:p>
        </p:txBody>
      </p:sp>
      <p:sp>
        <p:nvSpPr>
          <p:cNvPr id="6" name="Rectangle 7"/>
          <p:cNvSpPr>
            <a:spLocks noGrp="1" noChangeArrowheads="1"/>
          </p:cNvSpPr>
          <p:nvPr>
            <p:ph type="ftr" sz="quarter" idx="11"/>
          </p:nvPr>
        </p:nvSpPr>
        <p:spPr>
          <a:ln/>
        </p:spPr>
        <p:txBody>
          <a:bodyPr/>
          <a:lstStyle>
            <a:lvl1pPr>
              <a:defRPr/>
            </a:lvl1pPr>
          </a:lstStyle>
          <a:p>
            <a:r>
              <a:rPr lang="en-US"/>
              <a:t>BMSCE</a:t>
            </a:r>
          </a:p>
        </p:txBody>
      </p:sp>
      <p:sp>
        <p:nvSpPr>
          <p:cNvPr id="7"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17312179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a:ln/>
        </p:spPr>
        <p:txBody>
          <a:bodyPr/>
          <a:lstStyle>
            <a:lvl1pPr>
              <a:defRPr/>
            </a:lvl1pPr>
          </a:lstStyle>
          <a:p>
            <a:fld id="{A312C06F-78D8-4190-8B4A-17ADC13EFA76}" type="datetime3">
              <a:rPr lang="en-US" smtClean="0"/>
              <a:t>21 April 2026</a:t>
            </a:fld>
            <a:endParaRPr lang="en-US"/>
          </a:p>
        </p:txBody>
      </p:sp>
      <p:sp>
        <p:nvSpPr>
          <p:cNvPr id="6" name="Rectangle 7"/>
          <p:cNvSpPr>
            <a:spLocks noGrp="1" noChangeArrowheads="1"/>
          </p:cNvSpPr>
          <p:nvPr>
            <p:ph type="ftr" sz="quarter" idx="11"/>
          </p:nvPr>
        </p:nvSpPr>
        <p:spPr>
          <a:ln/>
        </p:spPr>
        <p:txBody>
          <a:bodyPr/>
          <a:lstStyle>
            <a:lvl1pPr>
              <a:defRPr/>
            </a:lvl1pPr>
          </a:lstStyle>
          <a:p>
            <a:r>
              <a:rPr lang="en-US"/>
              <a:t>BMSCE</a:t>
            </a:r>
          </a:p>
        </p:txBody>
      </p:sp>
      <p:sp>
        <p:nvSpPr>
          <p:cNvPr id="7"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42927760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fld id="{48BC5FFA-C89B-4DED-BEE5-1EFF9E360FC7}" type="datetime3">
              <a:rPr lang="en-US" smtClean="0"/>
              <a:t>21 April 2026</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4387683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73838" y="304800"/>
            <a:ext cx="2001837" cy="5715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66738" y="304800"/>
            <a:ext cx="5854700" cy="5715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fld id="{50FAB4A2-3D6F-44AA-88C6-B60601086562}" type="datetime3">
              <a:rPr lang="en-US" smtClean="0"/>
              <a:t>21 April 2026</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39198193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6"/>
          <p:cNvSpPr>
            <a:spLocks noGrp="1" noChangeArrowheads="1"/>
          </p:cNvSpPr>
          <p:nvPr>
            <p:ph type="dt" sz="half" idx="10"/>
          </p:nvPr>
        </p:nvSpPr>
        <p:spPr>
          <a:ln/>
        </p:spPr>
        <p:txBody>
          <a:bodyPr/>
          <a:lstStyle>
            <a:lvl1pPr>
              <a:defRPr/>
            </a:lvl1pPr>
          </a:lstStyle>
          <a:p>
            <a:fld id="{4539A928-6E45-4FF9-9FFF-A56D24942AE2}" type="datetime3">
              <a:rPr lang="en-US" smtClean="0"/>
              <a:t>21 April 2026</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9662969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tHorz">
          <a:fgClr>
            <a:schemeClr val="bg2"/>
          </a:fgClr>
          <a:bgClr>
            <a:schemeClr val="bg1"/>
          </a:bgClr>
        </a:patt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574675" y="152400"/>
            <a:ext cx="8001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566738" y="1219200"/>
            <a:ext cx="80010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AutoShape 4"/>
          <p:cNvSpPr>
            <a:spLocks noChangeArrowheads="1"/>
          </p:cNvSpPr>
          <p:nvPr/>
        </p:nvSpPr>
        <p:spPr bwMode="auto">
          <a:xfrm>
            <a:off x="590550" y="990600"/>
            <a:ext cx="7958138" cy="109538"/>
          </a:xfrm>
          <a:custGeom>
            <a:avLst/>
            <a:gdLst>
              <a:gd name="T0" fmla="*/ 0 w 1000"/>
              <a:gd name="T1" fmla="*/ 0 h 1000"/>
              <a:gd name="T2" fmla="*/ 2147483647 w 1000"/>
              <a:gd name="T3" fmla="*/ 0 h 1000"/>
              <a:gd name="T4" fmla="*/ 2147483647 w 1000"/>
              <a:gd name="T5" fmla="*/ 2147483647 h 1000"/>
              <a:gd name="T6" fmla="*/ 0 w 1000"/>
              <a:gd name="T7" fmla="*/ 2147483647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US"/>
          </a:p>
        </p:txBody>
      </p:sp>
      <p:sp>
        <p:nvSpPr>
          <p:cNvPr id="1029" name="Line 5"/>
          <p:cNvSpPr>
            <a:spLocks noChangeShapeType="1"/>
          </p:cNvSpPr>
          <p:nvPr/>
        </p:nvSpPr>
        <p:spPr bwMode="auto">
          <a:xfrm flipV="1">
            <a:off x="609600" y="6353175"/>
            <a:ext cx="7924800" cy="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494" name="Rectangle 6"/>
          <p:cNvSpPr>
            <a:spLocks noGrp="1" noChangeArrowheads="1"/>
          </p:cNvSpPr>
          <p:nvPr>
            <p:ph type="dt" sz="half" idx="2"/>
          </p:nvPr>
        </p:nvSpPr>
        <p:spPr bwMode="auto">
          <a:xfrm>
            <a:off x="609600" y="6402388"/>
            <a:ext cx="1981200" cy="3190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b="0">
                <a:solidFill>
                  <a:srgbClr val="003366"/>
                </a:solidFill>
                <a:latin typeface="Arial" charset="0"/>
              </a:defRPr>
            </a:lvl1pPr>
          </a:lstStyle>
          <a:p>
            <a:fld id="{F8BABC88-18B9-4A4A-A062-184D643105BE}" type="datetime3">
              <a:rPr lang="en-US" smtClean="0"/>
              <a:t>21 April 2026</a:t>
            </a:fld>
            <a:endParaRPr lang="en-US"/>
          </a:p>
        </p:txBody>
      </p:sp>
      <p:sp>
        <p:nvSpPr>
          <p:cNvPr id="63495" name="Rectangle 7"/>
          <p:cNvSpPr>
            <a:spLocks noGrp="1" noChangeArrowheads="1"/>
          </p:cNvSpPr>
          <p:nvPr>
            <p:ph type="ftr" sz="quarter" idx="3"/>
          </p:nvPr>
        </p:nvSpPr>
        <p:spPr bwMode="auto">
          <a:xfrm>
            <a:off x="3124200" y="6400800"/>
            <a:ext cx="2895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200" b="0">
                <a:latin typeface="Arial" charset="0"/>
              </a:defRPr>
            </a:lvl1pPr>
          </a:lstStyle>
          <a:p>
            <a:r>
              <a:rPr lang="en-US"/>
              <a:t>BMSCE</a:t>
            </a:r>
          </a:p>
        </p:txBody>
      </p:sp>
      <p:sp>
        <p:nvSpPr>
          <p:cNvPr id="63496" name="Rectangle 8"/>
          <p:cNvSpPr>
            <a:spLocks noGrp="1" noChangeArrowheads="1"/>
          </p:cNvSpPr>
          <p:nvPr>
            <p:ph type="sldNum" sz="quarter" idx="4"/>
          </p:nvPr>
        </p:nvSpPr>
        <p:spPr bwMode="auto">
          <a:xfrm>
            <a:off x="6553200" y="6400800"/>
            <a:ext cx="19812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b="0">
                <a:solidFill>
                  <a:srgbClr val="003366"/>
                </a:solidFill>
                <a:latin typeface="Arial" charset="0"/>
              </a:defRPr>
            </a:lvl1pPr>
          </a:lstStyle>
          <a:p>
            <a:fld id="{BB2CE0DE-867F-455F-B20B-96D381B4AB7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p:txStyles>
    <p:titleStyle>
      <a:lvl1pPr algn="l" rtl="0" eaLnBrk="1" fontAlgn="base" hangingPunct="1">
        <a:spcBef>
          <a:spcPct val="0"/>
        </a:spcBef>
        <a:spcAft>
          <a:spcPct val="0"/>
        </a:spcAft>
        <a:defRPr sz="3200">
          <a:solidFill>
            <a:srgbClr val="003366"/>
          </a:solidFill>
          <a:latin typeface="+mj-lt"/>
          <a:ea typeface="+mj-ea"/>
          <a:cs typeface="+mj-cs"/>
        </a:defRPr>
      </a:lvl1pPr>
      <a:lvl2pPr algn="l" rtl="0" eaLnBrk="1" fontAlgn="base" hangingPunct="1">
        <a:spcBef>
          <a:spcPct val="0"/>
        </a:spcBef>
        <a:spcAft>
          <a:spcPct val="0"/>
        </a:spcAft>
        <a:defRPr sz="3200">
          <a:solidFill>
            <a:srgbClr val="003366"/>
          </a:solidFill>
          <a:latin typeface="Verdana" pitchFamily="34" charset="0"/>
        </a:defRPr>
      </a:lvl2pPr>
      <a:lvl3pPr algn="l" rtl="0" eaLnBrk="1" fontAlgn="base" hangingPunct="1">
        <a:spcBef>
          <a:spcPct val="0"/>
        </a:spcBef>
        <a:spcAft>
          <a:spcPct val="0"/>
        </a:spcAft>
        <a:defRPr sz="3200">
          <a:solidFill>
            <a:srgbClr val="003366"/>
          </a:solidFill>
          <a:latin typeface="Verdana" pitchFamily="34" charset="0"/>
        </a:defRPr>
      </a:lvl3pPr>
      <a:lvl4pPr algn="l" rtl="0" eaLnBrk="1" fontAlgn="base" hangingPunct="1">
        <a:spcBef>
          <a:spcPct val="0"/>
        </a:spcBef>
        <a:spcAft>
          <a:spcPct val="0"/>
        </a:spcAft>
        <a:defRPr sz="3200">
          <a:solidFill>
            <a:srgbClr val="003366"/>
          </a:solidFill>
          <a:latin typeface="Verdana" pitchFamily="34" charset="0"/>
        </a:defRPr>
      </a:lvl4pPr>
      <a:lvl5pPr algn="l" rtl="0" eaLnBrk="1" fontAlgn="base" hangingPunct="1">
        <a:spcBef>
          <a:spcPct val="0"/>
        </a:spcBef>
        <a:spcAft>
          <a:spcPct val="0"/>
        </a:spcAft>
        <a:defRPr sz="3200">
          <a:solidFill>
            <a:srgbClr val="003366"/>
          </a:solidFill>
          <a:latin typeface="Verdana" pitchFamily="34" charset="0"/>
        </a:defRPr>
      </a:lvl5pPr>
      <a:lvl6pPr marL="457200" algn="l" rtl="0" eaLnBrk="1" fontAlgn="base" hangingPunct="1">
        <a:spcBef>
          <a:spcPct val="0"/>
        </a:spcBef>
        <a:spcAft>
          <a:spcPct val="0"/>
        </a:spcAft>
        <a:defRPr sz="3800">
          <a:solidFill>
            <a:schemeClr val="tx2"/>
          </a:solidFill>
          <a:latin typeface="Verdana" pitchFamily="34" charset="0"/>
        </a:defRPr>
      </a:lvl6pPr>
      <a:lvl7pPr marL="914400" algn="l" rtl="0" eaLnBrk="1" fontAlgn="base" hangingPunct="1">
        <a:spcBef>
          <a:spcPct val="0"/>
        </a:spcBef>
        <a:spcAft>
          <a:spcPct val="0"/>
        </a:spcAft>
        <a:defRPr sz="3800">
          <a:solidFill>
            <a:schemeClr val="tx2"/>
          </a:solidFill>
          <a:latin typeface="Verdana" pitchFamily="34" charset="0"/>
        </a:defRPr>
      </a:lvl7pPr>
      <a:lvl8pPr marL="1371600" algn="l" rtl="0" eaLnBrk="1" fontAlgn="base" hangingPunct="1">
        <a:spcBef>
          <a:spcPct val="0"/>
        </a:spcBef>
        <a:spcAft>
          <a:spcPct val="0"/>
        </a:spcAft>
        <a:defRPr sz="3800">
          <a:solidFill>
            <a:schemeClr val="tx2"/>
          </a:solidFill>
          <a:latin typeface="Verdana" pitchFamily="34" charset="0"/>
        </a:defRPr>
      </a:lvl8pPr>
      <a:lvl9pPr marL="1828800" algn="l" rtl="0" eaLnBrk="1" fontAlgn="base" hangingPunct="1">
        <a:spcBef>
          <a:spcPct val="0"/>
        </a:spcBef>
        <a:spcAft>
          <a:spcPct val="0"/>
        </a:spcAft>
        <a:defRPr sz="3800">
          <a:solidFill>
            <a:schemeClr val="tx2"/>
          </a:solidFill>
          <a:latin typeface="Verdana" pitchFamily="34" charset="0"/>
        </a:defRPr>
      </a:lvl9pPr>
    </p:titleStyle>
    <p:bodyStyle>
      <a:lvl1pPr marL="469900" indent="-469900" algn="l" rtl="0" eaLnBrk="1" fontAlgn="base" hangingPunct="1">
        <a:spcBef>
          <a:spcPct val="20000"/>
        </a:spcBef>
        <a:spcAft>
          <a:spcPct val="0"/>
        </a:spcAft>
        <a:buClr>
          <a:schemeClr val="accent2"/>
        </a:buClr>
        <a:buFont typeface="Wingdings" pitchFamily="2" charset="2"/>
        <a:buChar char="o"/>
        <a:defRPr sz="3000">
          <a:solidFill>
            <a:srgbClr val="003366"/>
          </a:solidFill>
          <a:latin typeface="+mn-lt"/>
          <a:ea typeface="+mn-ea"/>
          <a:cs typeface="+mn-cs"/>
        </a:defRPr>
      </a:lvl1pPr>
      <a:lvl2pPr marL="908050" indent="-436563" algn="l" rtl="0" eaLnBrk="1" fontAlgn="base" hangingPunct="1">
        <a:spcBef>
          <a:spcPct val="20000"/>
        </a:spcBef>
        <a:spcAft>
          <a:spcPct val="0"/>
        </a:spcAft>
        <a:buClr>
          <a:schemeClr val="accent2"/>
        </a:buClr>
        <a:buFont typeface="Wingdings" pitchFamily="2" charset="2"/>
        <a:buChar char="n"/>
        <a:defRPr sz="2600">
          <a:solidFill>
            <a:srgbClr val="003366"/>
          </a:solidFill>
          <a:latin typeface="+mn-lt"/>
        </a:defRPr>
      </a:lvl2pPr>
      <a:lvl3pPr marL="1304925" indent="-395288" algn="l" rtl="0" eaLnBrk="1" fontAlgn="base" hangingPunct="1">
        <a:spcBef>
          <a:spcPct val="20000"/>
        </a:spcBef>
        <a:spcAft>
          <a:spcPct val="0"/>
        </a:spcAft>
        <a:buClr>
          <a:schemeClr val="accent2"/>
        </a:buClr>
        <a:buFont typeface="Wingdings" pitchFamily="2" charset="2"/>
        <a:buChar char="o"/>
        <a:defRPr sz="2300">
          <a:solidFill>
            <a:srgbClr val="003366"/>
          </a:solidFill>
          <a:latin typeface="+mn-lt"/>
        </a:defRPr>
      </a:lvl3pPr>
      <a:lvl4pPr marL="1693863" indent="-387350" algn="l" rtl="0" eaLnBrk="1" fontAlgn="base" hangingPunct="1">
        <a:spcBef>
          <a:spcPct val="20000"/>
        </a:spcBef>
        <a:spcAft>
          <a:spcPct val="0"/>
        </a:spcAft>
        <a:buClr>
          <a:schemeClr val="accent2"/>
        </a:buClr>
        <a:buFont typeface="Wingdings" pitchFamily="2" charset="2"/>
        <a:buChar char="n"/>
        <a:defRPr sz="2000">
          <a:solidFill>
            <a:srgbClr val="003366"/>
          </a:solidFill>
          <a:latin typeface="+mn-lt"/>
        </a:defRPr>
      </a:lvl4pPr>
      <a:lvl5pPr marL="2093913" indent="-398463" algn="l" rtl="0" eaLnBrk="1" fontAlgn="base" hangingPunct="1">
        <a:spcBef>
          <a:spcPct val="25000"/>
        </a:spcBef>
        <a:spcAft>
          <a:spcPct val="0"/>
        </a:spcAft>
        <a:buClr>
          <a:schemeClr val="accent2"/>
        </a:buClr>
        <a:buFont typeface="Wingdings" pitchFamily="2" charset="2"/>
        <a:buChar char="§"/>
        <a:defRPr sz="2000">
          <a:solidFill>
            <a:srgbClr val="003366"/>
          </a:solidFill>
          <a:latin typeface="+mn-lt"/>
        </a:defRPr>
      </a:lvl5pPr>
      <a:lvl6pPr marL="25511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6pPr>
      <a:lvl7pPr marL="30083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7pPr>
      <a:lvl8pPr marL="34655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8pPr>
      <a:lvl9pPr marL="39227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setosa.io/ev/image-kernels/"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2.png"/><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69.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82.jpe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3.png"/><Relationship Id="rId1" Type="http://schemas.openxmlformats.org/officeDocument/2006/relationships/slideLayout" Target="../slideLayouts/slideLayout2.xml"/><Relationship Id="rId4" Type="http://schemas.openxmlformats.org/officeDocument/2006/relationships/image" Target="../media/image99.png"/></Relationships>
</file>

<file path=ppt/slides/_rels/slide141.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3200" dirty="0"/>
              <a:t>Deep Learning and Generative AI</a:t>
            </a:r>
            <a:br>
              <a:rPr lang="en-US" sz="3200" dirty="0"/>
            </a:br>
            <a:r>
              <a:rPr lang="en-US" sz="3200" dirty="0"/>
              <a:t>MSCS202</a:t>
            </a:r>
          </a:p>
        </p:txBody>
      </p:sp>
      <p:sp>
        <p:nvSpPr>
          <p:cNvPr id="3" name="Subtitle 2"/>
          <p:cNvSpPr>
            <a:spLocks noGrp="1"/>
          </p:cNvSpPr>
          <p:nvPr>
            <p:ph type="subTitle" idx="1"/>
          </p:nvPr>
        </p:nvSpPr>
        <p:spPr/>
        <p:txBody>
          <a:bodyPr/>
          <a:lstStyle/>
          <a:p>
            <a:r>
              <a:rPr lang="en-US" u="sng" dirty="0"/>
              <a:t>Course Instructor </a:t>
            </a:r>
          </a:p>
          <a:p>
            <a:r>
              <a:rPr lang="en-US" dirty="0"/>
              <a:t>	Dr. </a:t>
            </a:r>
            <a:r>
              <a:rPr lang="en-US" dirty="0" err="1"/>
              <a:t>Umadevi</a:t>
            </a:r>
            <a:r>
              <a:rPr lang="en-US" dirty="0"/>
              <a:t> V</a:t>
            </a:r>
          </a:p>
          <a:p>
            <a:r>
              <a:rPr lang="en-US" dirty="0"/>
              <a:t>	Department of CSE, BMSCE</a:t>
            </a:r>
          </a:p>
        </p:txBody>
      </p:sp>
      <p:sp>
        <p:nvSpPr>
          <p:cNvPr id="4" name="Date Placeholder 3"/>
          <p:cNvSpPr>
            <a:spLocks noGrp="1"/>
          </p:cNvSpPr>
          <p:nvPr>
            <p:ph type="dt" sz="half" idx="10"/>
          </p:nvPr>
        </p:nvSpPr>
        <p:spPr/>
        <p:txBody>
          <a:bodyPr/>
          <a:lstStyle/>
          <a:p>
            <a:fld id="{190A4EF2-FE72-4450-9781-7BCA6ECEFCBD}" type="datetime3">
              <a:rPr lang="en-US" smtClean="0"/>
              <a:t>21 April 2026</a:t>
            </a:fld>
            <a:endParaRPr lang="en-US"/>
          </a:p>
        </p:txBody>
      </p:sp>
      <p:sp>
        <p:nvSpPr>
          <p:cNvPr id="5" name="Footer Placeholder 4"/>
          <p:cNvSpPr>
            <a:spLocks noGrp="1"/>
          </p:cNvSpPr>
          <p:nvPr>
            <p:ph type="ftr" sz="quarter" idx="11"/>
          </p:nvPr>
        </p:nvSpPr>
        <p:spPr/>
        <p:txBody>
          <a:bodyPr/>
          <a:lstStyle/>
          <a:p>
            <a:r>
              <a:rPr lang="en-US"/>
              <a:t>BMSCE</a:t>
            </a:r>
          </a:p>
        </p:txBody>
      </p:sp>
      <p:sp>
        <p:nvSpPr>
          <p:cNvPr id="6" name="Slide Number Placeholder 5"/>
          <p:cNvSpPr>
            <a:spLocks noGrp="1"/>
          </p:cNvSpPr>
          <p:nvPr>
            <p:ph type="sldNum" sz="quarter" idx="12"/>
          </p:nvPr>
        </p:nvSpPr>
        <p:spPr/>
        <p:txBody>
          <a:bodyPr/>
          <a:lstStyle/>
          <a:p>
            <a:fld id="{BB2CE0DE-867F-455F-B20B-96D381B4AB71}" type="slidenum">
              <a:rPr lang="en-US" smtClean="0"/>
              <a:t>1</a:t>
            </a:fld>
            <a:endParaRPr lang="en-US"/>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20000" y="4953000"/>
            <a:ext cx="1219200" cy="1199671"/>
          </a:xfrm>
          <a:prstGeom prst="rect">
            <a:avLst/>
          </a:prstGeom>
        </p:spPr>
      </p:pic>
    </p:spTree>
    <p:extLst>
      <p:ext uri="{BB962C8B-B14F-4D97-AF65-F5344CB8AC3E}">
        <p14:creationId xmlns:p14="http://schemas.microsoft.com/office/powerpoint/2010/main" val="23609639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C5839-E91C-4CD0-9D33-F154BB2F70D9}"/>
              </a:ext>
            </a:extLst>
          </p:cNvPr>
          <p:cNvSpPr>
            <a:spLocks noGrp="1"/>
          </p:cNvSpPr>
          <p:nvPr>
            <p:ph type="title"/>
          </p:nvPr>
        </p:nvSpPr>
        <p:spPr/>
        <p:txBody>
          <a:bodyPr/>
          <a:lstStyle/>
          <a:p>
            <a:r>
              <a:rPr lang="en-US" dirty="0"/>
              <a:t>Disclaimer</a:t>
            </a:r>
            <a:endParaRPr lang="en-IN" dirty="0"/>
          </a:p>
        </p:txBody>
      </p:sp>
      <p:sp>
        <p:nvSpPr>
          <p:cNvPr id="3" name="Content Placeholder 2">
            <a:extLst>
              <a:ext uri="{FF2B5EF4-FFF2-40B4-BE49-F238E27FC236}">
                <a16:creationId xmlns:a16="http://schemas.microsoft.com/office/drawing/2014/main" id="{74B0D93B-6908-4D45-BB08-6A097F39843C}"/>
              </a:ext>
            </a:extLst>
          </p:cNvPr>
          <p:cNvSpPr>
            <a:spLocks noGrp="1"/>
          </p:cNvSpPr>
          <p:nvPr>
            <p:ph idx="1"/>
          </p:nvPr>
        </p:nvSpPr>
        <p:spPr/>
        <p:txBody>
          <a:bodyPr/>
          <a:lstStyle/>
          <a:p>
            <a:pPr marL="0" indent="0" algn="just">
              <a:buNone/>
            </a:pPr>
            <a:r>
              <a:rPr lang="en-US" sz="2400" dirty="0"/>
              <a:t>Contents given in PPT are brief and for reference only. Should refer to text book/relevant materials for detailed description.</a:t>
            </a:r>
            <a:endParaRPr lang="en-IN" sz="2400" dirty="0"/>
          </a:p>
          <a:p>
            <a:pPr marL="0" indent="0" algn="just">
              <a:buNone/>
            </a:pPr>
            <a:endParaRPr lang="en-IN" sz="2400" dirty="0"/>
          </a:p>
        </p:txBody>
      </p:sp>
      <p:sp>
        <p:nvSpPr>
          <p:cNvPr id="4" name="Date Placeholder 3">
            <a:extLst>
              <a:ext uri="{FF2B5EF4-FFF2-40B4-BE49-F238E27FC236}">
                <a16:creationId xmlns:a16="http://schemas.microsoft.com/office/drawing/2014/main" id="{F861F50B-F69B-462E-B377-DBD852CFC0B0}"/>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707598C6-FFD0-4E7B-9134-7B476885892A}"/>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13C6967E-1F7A-4528-B234-7DD2DE603F83}"/>
              </a:ext>
            </a:extLst>
          </p:cNvPr>
          <p:cNvSpPr>
            <a:spLocks noGrp="1"/>
          </p:cNvSpPr>
          <p:nvPr>
            <p:ph type="sldNum" sz="quarter" idx="12"/>
          </p:nvPr>
        </p:nvSpPr>
        <p:spPr/>
        <p:txBody>
          <a:bodyPr/>
          <a:lstStyle/>
          <a:p>
            <a:fld id="{BB2CE0DE-867F-455F-B20B-96D381B4AB71}" type="slidenum">
              <a:rPr lang="en-US" smtClean="0"/>
              <a:t>2</a:t>
            </a:fld>
            <a:endParaRPr lang="en-US"/>
          </a:p>
        </p:txBody>
      </p:sp>
    </p:spTree>
    <p:extLst>
      <p:ext uri="{BB962C8B-B14F-4D97-AF65-F5344CB8AC3E}">
        <p14:creationId xmlns:p14="http://schemas.microsoft.com/office/powerpoint/2010/main" val="26848426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ctrTitle"/>
          </p:nvPr>
        </p:nvSpPr>
        <p:spPr/>
        <p:txBody>
          <a:bodyPr/>
          <a:lstStyle/>
          <a:p>
            <a:pPr eaLnBrk="1" hangingPunct="1"/>
            <a:r>
              <a:rPr lang="en-US" altLang="en-US" sz="2800" dirty="0"/>
              <a:t>Unit-2</a:t>
            </a:r>
          </a:p>
        </p:txBody>
      </p:sp>
      <p:sp>
        <p:nvSpPr>
          <p:cNvPr id="9219" name="Rectangle 3"/>
          <p:cNvSpPr>
            <a:spLocks noGrp="1" noChangeArrowheads="1"/>
          </p:cNvSpPr>
          <p:nvPr>
            <p:ph type="subTitle" idx="1"/>
          </p:nvPr>
        </p:nvSpPr>
        <p:spPr>
          <a:xfrm>
            <a:off x="914400" y="3200400"/>
            <a:ext cx="7010400" cy="1600200"/>
          </a:xfrm>
        </p:spPr>
        <p:txBody>
          <a:bodyPr/>
          <a:lstStyle/>
          <a:p>
            <a:pPr marL="0" indent="0" algn="just">
              <a:buNone/>
            </a:pPr>
            <a:r>
              <a:rPr lang="en-IN" sz="1600" dirty="0"/>
              <a:t>Unit-2: Convolutional Neural Networks: Introduction, Filters and Feature Maps, Max Pooling, Popular CNN Architectures: LeNet, </a:t>
            </a:r>
            <a:r>
              <a:rPr lang="en-IN" sz="1600" dirty="0" err="1"/>
              <a:t>AlexNet</a:t>
            </a:r>
            <a:r>
              <a:rPr lang="en-IN" sz="1600" dirty="0"/>
              <a:t>, VGG, </a:t>
            </a:r>
            <a:r>
              <a:rPr lang="en-IN" sz="1600" dirty="0" err="1"/>
              <a:t>ResNet</a:t>
            </a:r>
            <a:r>
              <a:rPr lang="en-IN" sz="1600" dirty="0"/>
              <a:t>, Accelerating Training with Batch Normalization, Group Normalization for Memory Constrained Learning Tasks, Residual Learning and Skip Connections for very Deep Networks, Transfer Learning, CNN Applications </a:t>
            </a:r>
            <a:endParaRPr lang="en-US" sz="2400" b="0" i="0" dirty="0">
              <a:solidFill>
                <a:srgbClr val="262626"/>
              </a:solidFill>
              <a:effectLst/>
              <a:latin typeface="Inter"/>
            </a:endParaRPr>
          </a:p>
        </p:txBody>
      </p:sp>
      <p:sp>
        <p:nvSpPr>
          <p:cNvPr id="2" name="Date Placeholder 1"/>
          <p:cNvSpPr>
            <a:spLocks noGrp="1"/>
          </p:cNvSpPr>
          <p:nvPr>
            <p:ph type="dt" sz="half" idx="10"/>
          </p:nvPr>
        </p:nvSpPr>
        <p:spPr/>
        <p:txBody>
          <a:bodyPr/>
          <a:lstStyle/>
          <a:p>
            <a:fld id="{A42F8E2F-2832-47F3-83A1-0ED57946C6CF}" type="datetime3">
              <a:rPr lang="en-US" smtClean="0"/>
              <a:t>21 April 2026</a:t>
            </a:fld>
            <a:endParaRPr lang="en-US"/>
          </a:p>
        </p:txBody>
      </p:sp>
      <p:sp>
        <p:nvSpPr>
          <p:cNvPr id="3" name="Slide Number Placeholder 2"/>
          <p:cNvSpPr>
            <a:spLocks noGrp="1"/>
          </p:cNvSpPr>
          <p:nvPr>
            <p:ph type="sldNum" sz="quarter" idx="12"/>
          </p:nvPr>
        </p:nvSpPr>
        <p:spPr/>
        <p:txBody>
          <a:bodyPr/>
          <a:lstStyle/>
          <a:p>
            <a:fld id="{5DCC653A-8BE1-4A16-A754-27859D86C4A9}" type="slidenum">
              <a:rPr lang="en-US" smtClean="0"/>
              <a:t>3</a:t>
            </a:fld>
            <a:endParaRPr lang="en-US"/>
          </a:p>
        </p:txBody>
      </p:sp>
      <p:sp>
        <p:nvSpPr>
          <p:cNvPr id="4" name="Footer Placeholder 3"/>
          <p:cNvSpPr>
            <a:spLocks noGrp="1"/>
          </p:cNvSpPr>
          <p:nvPr>
            <p:ph type="ftr" sz="quarter" idx="11"/>
          </p:nvPr>
        </p:nvSpPr>
        <p:spPr/>
        <p:txBody>
          <a:bodyPr/>
          <a:lstStyle/>
          <a:p>
            <a:r>
              <a:rPr lang="en-US"/>
              <a:t>BMSCE</a:t>
            </a:r>
          </a:p>
        </p:txBody>
      </p:sp>
    </p:spTree>
    <p:extLst>
      <p:ext uri="{BB962C8B-B14F-4D97-AF65-F5344CB8AC3E}">
        <p14:creationId xmlns:p14="http://schemas.microsoft.com/office/powerpoint/2010/main" val="545870355"/>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69445-EA79-4988-BF24-3EDE94E5F3BD}"/>
              </a:ext>
            </a:extLst>
          </p:cNvPr>
          <p:cNvSpPr>
            <a:spLocks noGrp="1"/>
          </p:cNvSpPr>
          <p:nvPr>
            <p:ph type="title"/>
          </p:nvPr>
        </p:nvSpPr>
        <p:spPr/>
        <p:txBody>
          <a:bodyPr/>
          <a:lstStyle/>
          <a:p>
            <a:r>
              <a:rPr lang="en-US" sz="2800" dirty="0"/>
              <a:t>Convolutional Neural Networks (CNNs)</a:t>
            </a:r>
            <a:endParaRPr lang="en-IN" sz="2800" dirty="0"/>
          </a:p>
        </p:txBody>
      </p:sp>
      <p:sp>
        <p:nvSpPr>
          <p:cNvPr id="3" name="Content Placeholder 2">
            <a:extLst>
              <a:ext uri="{FF2B5EF4-FFF2-40B4-BE49-F238E27FC236}">
                <a16:creationId xmlns:a16="http://schemas.microsoft.com/office/drawing/2014/main" id="{367B5F4B-CD4F-42F7-9A78-33830106F654}"/>
              </a:ext>
            </a:extLst>
          </p:cNvPr>
          <p:cNvSpPr>
            <a:spLocks noGrp="1"/>
          </p:cNvSpPr>
          <p:nvPr>
            <p:ph idx="1"/>
          </p:nvPr>
        </p:nvSpPr>
        <p:spPr/>
        <p:txBody>
          <a:bodyPr/>
          <a:lstStyle/>
          <a:p>
            <a:pPr algn="just"/>
            <a:r>
              <a:rPr lang="en-US" sz="1350" dirty="0"/>
              <a:t>Convolutional networks, also known as convolutional neural networks or CNNs, are a specialized kind of neural network for processing data that has a known, grid-like topology. </a:t>
            </a:r>
          </a:p>
          <a:p>
            <a:pPr algn="just"/>
            <a:r>
              <a:rPr lang="en-US" sz="1350" dirty="0"/>
              <a:t>Examples include time-series data, which can be thought of as a 1D grid taking samples at regular time intervals, and image data, which can be thought of as a 2D grid of pixels. </a:t>
            </a:r>
          </a:p>
          <a:p>
            <a:pPr algn="just"/>
            <a:r>
              <a:rPr lang="en-US" sz="1350" dirty="0"/>
              <a:t>The name “convolutional neural network” indicates that the network employs a mathematical operation called </a:t>
            </a:r>
            <a:r>
              <a:rPr lang="en-US" sz="1350" dirty="0">
                <a:solidFill>
                  <a:srgbClr val="0000FF"/>
                </a:solidFill>
              </a:rPr>
              <a:t>convolution</a:t>
            </a:r>
            <a:r>
              <a:rPr lang="en-US" sz="1350" dirty="0"/>
              <a:t>. Convolution is a specialized kind of linear operation. </a:t>
            </a:r>
          </a:p>
          <a:p>
            <a:pPr algn="just"/>
            <a:r>
              <a:rPr lang="en-US" sz="1350" dirty="0"/>
              <a:t>Convolutional networks are simply neural networks that use convolution in place of general matrix multiplication in at least one of their layers. </a:t>
            </a:r>
            <a:endParaRPr lang="en-IN" sz="1350" dirty="0"/>
          </a:p>
        </p:txBody>
      </p:sp>
      <p:sp>
        <p:nvSpPr>
          <p:cNvPr id="4" name="Slide Number Placeholder 3">
            <a:extLst>
              <a:ext uri="{FF2B5EF4-FFF2-40B4-BE49-F238E27FC236}">
                <a16:creationId xmlns:a16="http://schemas.microsoft.com/office/drawing/2014/main" id="{251B91D0-A39B-4263-8783-073F37513778}"/>
              </a:ext>
            </a:extLst>
          </p:cNvPr>
          <p:cNvSpPr>
            <a:spLocks noGrp="1"/>
          </p:cNvSpPr>
          <p:nvPr>
            <p:ph type="sldNum" sz="quarter" idx="12"/>
          </p:nvPr>
        </p:nvSpPr>
        <p:spPr/>
        <p:txBody>
          <a:bodyPr/>
          <a:lstStyle/>
          <a:p>
            <a:fld id="{BB2CE0DE-867F-455F-B20B-96D381B4AB71}" type="slidenum">
              <a:rPr lang="en-US" smtClean="0"/>
              <a:t>4</a:t>
            </a:fld>
            <a:endParaRPr lang="en-US"/>
          </a:p>
        </p:txBody>
      </p:sp>
    </p:spTree>
    <p:extLst>
      <p:ext uri="{BB962C8B-B14F-4D97-AF65-F5344CB8AC3E}">
        <p14:creationId xmlns:p14="http://schemas.microsoft.com/office/powerpoint/2010/main" val="31768507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E1A92-BB07-4517-BE22-A7D215780645}"/>
              </a:ext>
            </a:extLst>
          </p:cNvPr>
          <p:cNvSpPr>
            <a:spLocks noGrp="1"/>
          </p:cNvSpPr>
          <p:nvPr>
            <p:ph type="title"/>
          </p:nvPr>
        </p:nvSpPr>
        <p:spPr/>
        <p:txBody>
          <a:bodyPr/>
          <a:lstStyle/>
          <a:p>
            <a:r>
              <a:rPr lang="en-US" dirty="0"/>
              <a:t>Applications of CNNs</a:t>
            </a:r>
            <a:endParaRPr lang="en-IN" dirty="0"/>
          </a:p>
        </p:txBody>
      </p:sp>
      <p:sp>
        <p:nvSpPr>
          <p:cNvPr id="3" name="Content Placeholder 2">
            <a:extLst>
              <a:ext uri="{FF2B5EF4-FFF2-40B4-BE49-F238E27FC236}">
                <a16:creationId xmlns:a16="http://schemas.microsoft.com/office/drawing/2014/main" id="{A059A579-A044-4EEF-9945-0A2E3555260C}"/>
              </a:ext>
            </a:extLst>
          </p:cNvPr>
          <p:cNvSpPr>
            <a:spLocks noGrp="1"/>
          </p:cNvSpPr>
          <p:nvPr>
            <p:ph idx="1"/>
          </p:nvPr>
        </p:nvSpPr>
        <p:spPr/>
        <p:txBody>
          <a:bodyPr/>
          <a:lstStyle/>
          <a:p>
            <a:pPr algn="just" fontAlgn="base">
              <a:buFont typeface="Arial" panose="020B0604020202020204" pitchFamily="34" charset="0"/>
              <a:buChar char="•"/>
            </a:pPr>
            <a:r>
              <a:rPr lang="en-US" sz="1500" b="1" dirty="0">
                <a:solidFill>
                  <a:srgbClr val="273239"/>
                </a:solidFill>
                <a:latin typeface="Nunito" pitchFamily="2" charset="0"/>
              </a:rPr>
              <a:t>Image classification:</a:t>
            </a:r>
            <a:r>
              <a:rPr lang="en-US" sz="1500" dirty="0">
                <a:solidFill>
                  <a:srgbClr val="273239"/>
                </a:solidFill>
                <a:latin typeface="Nunito" pitchFamily="2" charset="0"/>
              </a:rPr>
              <a:t> CNNs are the state-of-the-art models for image classification. They can be used to classify images into different categories such as cats and dogs.</a:t>
            </a:r>
          </a:p>
          <a:p>
            <a:pPr algn="just" fontAlgn="base">
              <a:buFont typeface="Arial" panose="020B0604020202020204" pitchFamily="34" charset="0"/>
              <a:buChar char="•"/>
            </a:pPr>
            <a:r>
              <a:rPr lang="en-US" sz="1500" b="1" dirty="0">
                <a:solidFill>
                  <a:srgbClr val="273239"/>
                </a:solidFill>
                <a:latin typeface="Nunito" pitchFamily="2" charset="0"/>
              </a:rPr>
              <a:t>Object detection:</a:t>
            </a:r>
            <a:r>
              <a:rPr lang="en-US" sz="1500" dirty="0">
                <a:solidFill>
                  <a:srgbClr val="273239"/>
                </a:solidFill>
                <a:latin typeface="Nunito" pitchFamily="2" charset="0"/>
              </a:rPr>
              <a:t> It can be used to detect objects in images such as people, cars and buildings. They can also be used to localize objects in images which means that they can identify the location of an object in an image.</a:t>
            </a:r>
          </a:p>
          <a:p>
            <a:pPr algn="just" fontAlgn="base">
              <a:buFont typeface="Arial" panose="020B0604020202020204" pitchFamily="34" charset="0"/>
              <a:buChar char="•"/>
            </a:pPr>
            <a:r>
              <a:rPr lang="en-US" sz="1500" b="1" dirty="0">
                <a:solidFill>
                  <a:srgbClr val="273239"/>
                </a:solidFill>
                <a:latin typeface="Nunito" pitchFamily="2" charset="0"/>
              </a:rPr>
              <a:t>Image segmentation:</a:t>
            </a:r>
            <a:r>
              <a:rPr lang="en-US" sz="1500" dirty="0">
                <a:solidFill>
                  <a:srgbClr val="273239"/>
                </a:solidFill>
                <a:latin typeface="Nunito" pitchFamily="2" charset="0"/>
              </a:rPr>
              <a:t> It can be used to segment images which means that they can identify and label different objects in an image. This is useful for applications such as medical imaging and robotics.</a:t>
            </a:r>
          </a:p>
          <a:p>
            <a:pPr algn="just" fontAlgn="base">
              <a:buFont typeface="Arial" panose="020B0604020202020204" pitchFamily="34" charset="0"/>
              <a:buChar char="•"/>
            </a:pPr>
            <a:r>
              <a:rPr lang="en-US" sz="1500" b="1" dirty="0">
                <a:solidFill>
                  <a:srgbClr val="273239"/>
                </a:solidFill>
                <a:latin typeface="Nunito" pitchFamily="2" charset="0"/>
              </a:rPr>
              <a:t>Video analysis:</a:t>
            </a:r>
            <a:r>
              <a:rPr lang="en-US" sz="1500" dirty="0">
                <a:solidFill>
                  <a:srgbClr val="273239"/>
                </a:solidFill>
                <a:latin typeface="Nunito" pitchFamily="2" charset="0"/>
              </a:rPr>
              <a:t> It can be used to analyze videos such as tracking objects in a video or detecting events in a video. This is useful for applications such as video surveillance and traffic monitoring.</a:t>
            </a:r>
          </a:p>
          <a:p>
            <a:pPr algn="just"/>
            <a:endParaRPr lang="en-IN" sz="1500" dirty="0"/>
          </a:p>
          <a:p>
            <a:pPr algn="just"/>
            <a:endParaRPr lang="en-IN" sz="1500" dirty="0"/>
          </a:p>
        </p:txBody>
      </p:sp>
      <p:sp>
        <p:nvSpPr>
          <p:cNvPr id="4" name="Slide Number Placeholder 3">
            <a:extLst>
              <a:ext uri="{FF2B5EF4-FFF2-40B4-BE49-F238E27FC236}">
                <a16:creationId xmlns:a16="http://schemas.microsoft.com/office/drawing/2014/main" id="{59FBB1F7-86FC-433F-A5AA-6C1C9E8C9C37}"/>
              </a:ext>
            </a:extLst>
          </p:cNvPr>
          <p:cNvSpPr>
            <a:spLocks noGrp="1"/>
          </p:cNvSpPr>
          <p:nvPr>
            <p:ph type="sldNum" sz="quarter" idx="12"/>
          </p:nvPr>
        </p:nvSpPr>
        <p:spPr/>
        <p:txBody>
          <a:bodyPr/>
          <a:lstStyle/>
          <a:p>
            <a:fld id="{BB2CE0DE-867F-455F-B20B-96D381B4AB71}" type="slidenum">
              <a:rPr lang="en-US" smtClean="0"/>
              <a:t>5</a:t>
            </a:fld>
            <a:endParaRPr lang="en-US"/>
          </a:p>
        </p:txBody>
      </p:sp>
      <p:sp>
        <p:nvSpPr>
          <p:cNvPr id="5" name="TextBox 4">
            <a:extLst>
              <a:ext uri="{FF2B5EF4-FFF2-40B4-BE49-F238E27FC236}">
                <a16:creationId xmlns:a16="http://schemas.microsoft.com/office/drawing/2014/main" id="{A08D3BA0-F793-4309-BA63-D5810A4D1A89}"/>
              </a:ext>
            </a:extLst>
          </p:cNvPr>
          <p:cNvSpPr txBox="1"/>
          <p:nvPr/>
        </p:nvSpPr>
        <p:spPr>
          <a:xfrm>
            <a:off x="563377" y="5611703"/>
            <a:ext cx="4960012" cy="196208"/>
          </a:xfrm>
          <a:prstGeom prst="rect">
            <a:avLst/>
          </a:prstGeom>
          <a:noFill/>
        </p:spPr>
        <p:txBody>
          <a:bodyPr wrap="none" rtlCol="0">
            <a:spAutoFit/>
          </a:bodyPr>
          <a:lstStyle/>
          <a:p>
            <a:r>
              <a:rPr lang="en-US" sz="675" dirty="0"/>
              <a:t>Ref. : https://www.geeksforgeeks.org/deep-learning/convolutional-neural-network-cnn-in-machine-learning/</a:t>
            </a:r>
            <a:endParaRPr lang="en-IN" sz="675" dirty="0"/>
          </a:p>
        </p:txBody>
      </p:sp>
    </p:spTree>
    <p:extLst>
      <p:ext uri="{BB962C8B-B14F-4D97-AF65-F5344CB8AC3E}">
        <p14:creationId xmlns:p14="http://schemas.microsoft.com/office/powerpoint/2010/main" val="20661267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51071-CE6F-4846-9A95-D948812A1D0E}"/>
              </a:ext>
            </a:extLst>
          </p:cNvPr>
          <p:cNvSpPr>
            <a:spLocks noGrp="1"/>
          </p:cNvSpPr>
          <p:nvPr>
            <p:ph type="title"/>
          </p:nvPr>
        </p:nvSpPr>
        <p:spPr/>
        <p:txBody>
          <a:bodyPr/>
          <a:lstStyle/>
          <a:p>
            <a:r>
              <a:rPr lang="en-US" dirty="0"/>
              <a:t>CNNs: Why they are needed ?</a:t>
            </a:r>
            <a:endParaRPr lang="en-IN" dirty="0"/>
          </a:p>
        </p:txBody>
      </p:sp>
      <p:sp>
        <p:nvSpPr>
          <p:cNvPr id="3" name="Content Placeholder 2">
            <a:extLst>
              <a:ext uri="{FF2B5EF4-FFF2-40B4-BE49-F238E27FC236}">
                <a16:creationId xmlns:a16="http://schemas.microsoft.com/office/drawing/2014/main" id="{B781A851-9C4A-4C88-87E0-1EFC79E71123}"/>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F3CF0609-5292-46AD-BFBE-7C62629EA211}"/>
              </a:ext>
            </a:extLst>
          </p:cNvPr>
          <p:cNvSpPr>
            <a:spLocks noGrp="1"/>
          </p:cNvSpPr>
          <p:nvPr>
            <p:ph type="sldNum" sz="quarter" idx="12"/>
          </p:nvPr>
        </p:nvSpPr>
        <p:spPr/>
        <p:txBody>
          <a:bodyPr/>
          <a:lstStyle/>
          <a:p>
            <a:fld id="{BB2CE0DE-867F-455F-B20B-96D381B4AB71}" type="slidenum">
              <a:rPr lang="en-US" smtClean="0"/>
              <a:t>6</a:t>
            </a:fld>
            <a:endParaRPr lang="en-US"/>
          </a:p>
        </p:txBody>
      </p:sp>
    </p:spTree>
    <p:extLst>
      <p:ext uri="{BB962C8B-B14F-4D97-AF65-F5344CB8AC3E}">
        <p14:creationId xmlns:p14="http://schemas.microsoft.com/office/powerpoint/2010/main" val="38397590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10CB6-1CEC-4496-9F41-398A883F31D5}"/>
              </a:ext>
            </a:extLst>
          </p:cNvPr>
          <p:cNvSpPr>
            <a:spLocks noGrp="1"/>
          </p:cNvSpPr>
          <p:nvPr>
            <p:ph type="title"/>
          </p:nvPr>
        </p:nvSpPr>
        <p:spPr/>
        <p:txBody>
          <a:bodyPr/>
          <a:lstStyle/>
          <a:p>
            <a:r>
              <a:rPr lang="en-US" dirty="0"/>
              <a:t>Advantage of Image data</a:t>
            </a:r>
            <a:endParaRPr lang="en-IN" dirty="0"/>
          </a:p>
        </p:txBody>
      </p:sp>
      <p:sp>
        <p:nvSpPr>
          <p:cNvPr id="3" name="Content Placeholder 2">
            <a:extLst>
              <a:ext uri="{FF2B5EF4-FFF2-40B4-BE49-F238E27FC236}">
                <a16:creationId xmlns:a16="http://schemas.microsoft.com/office/drawing/2014/main" id="{9EB6440A-DC3B-46AB-BCED-7C536169F757}"/>
              </a:ext>
            </a:extLst>
          </p:cNvPr>
          <p:cNvSpPr>
            <a:spLocks noGrp="1"/>
          </p:cNvSpPr>
          <p:nvPr>
            <p:ph idx="1"/>
          </p:nvPr>
        </p:nvSpPr>
        <p:spPr/>
        <p:txBody>
          <a:bodyPr/>
          <a:lstStyle/>
          <a:p>
            <a:pPr algn="just"/>
            <a:r>
              <a:rPr lang="en-US" sz="1500" dirty="0">
                <a:latin typeface="Times New Roman" panose="02020603050405020304" pitchFamily="18" charset="0"/>
                <a:cs typeface="Times New Roman" panose="02020603050405020304" pitchFamily="18" charset="0"/>
              </a:rPr>
              <a:t>Spatial Locality: Spatial locality is a fundamental advantage of image data, referring to the principle that pixels physically close to each other in an image are highly likely to be related or similar in value. Example: Pixels of cat are next to each other</a:t>
            </a:r>
          </a:p>
          <a:p>
            <a:pPr algn="just"/>
            <a:r>
              <a:rPr lang="en-US" sz="1500" dirty="0">
                <a:latin typeface="Times New Roman" panose="02020603050405020304" pitchFamily="18" charset="0"/>
                <a:cs typeface="Times New Roman" panose="02020603050405020304" pitchFamily="18" charset="0"/>
              </a:rPr>
              <a:t>Translation Invariance: Translation Invariance means that if an object occurs in any image it will be detected irrespective of its position. Example: Cat is cat , where ever it is.</a:t>
            </a:r>
            <a:endParaRPr lang="en-IN" sz="15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24DA07F-1123-49F1-981C-6956CC92C0E1}"/>
              </a:ext>
            </a:extLst>
          </p:cNvPr>
          <p:cNvSpPr>
            <a:spLocks noGrp="1"/>
          </p:cNvSpPr>
          <p:nvPr>
            <p:ph type="sldNum" sz="quarter" idx="12"/>
          </p:nvPr>
        </p:nvSpPr>
        <p:spPr/>
        <p:txBody>
          <a:bodyPr/>
          <a:lstStyle/>
          <a:p>
            <a:fld id="{BB2CE0DE-867F-455F-B20B-96D381B4AB71}" type="slidenum">
              <a:rPr lang="en-US" smtClean="0"/>
              <a:t>7</a:t>
            </a:fld>
            <a:endParaRPr lang="en-US"/>
          </a:p>
        </p:txBody>
      </p:sp>
      <p:pic>
        <p:nvPicPr>
          <p:cNvPr id="5" name="Picture 4">
            <a:extLst>
              <a:ext uri="{FF2B5EF4-FFF2-40B4-BE49-F238E27FC236}">
                <a16:creationId xmlns:a16="http://schemas.microsoft.com/office/drawing/2014/main" id="{4A8ECFB8-6991-4F98-BAD5-AF4E0F959897}"/>
              </a:ext>
            </a:extLst>
          </p:cNvPr>
          <p:cNvPicPr>
            <a:picLocks noChangeAspect="1"/>
          </p:cNvPicPr>
          <p:nvPr/>
        </p:nvPicPr>
        <p:blipFill>
          <a:blip r:embed="rId3"/>
          <a:stretch>
            <a:fillRect/>
          </a:stretch>
        </p:blipFill>
        <p:spPr>
          <a:xfrm>
            <a:off x="2171700" y="2667000"/>
            <a:ext cx="3937320" cy="2647950"/>
          </a:xfrm>
          <a:prstGeom prst="rect">
            <a:avLst/>
          </a:prstGeom>
        </p:spPr>
      </p:pic>
      <p:sp>
        <p:nvSpPr>
          <p:cNvPr id="6" name="TextBox 5">
            <a:extLst>
              <a:ext uri="{FF2B5EF4-FFF2-40B4-BE49-F238E27FC236}">
                <a16:creationId xmlns:a16="http://schemas.microsoft.com/office/drawing/2014/main" id="{3944216B-9B96-4075-8F99-D20DA4642A1E}"/>
              </a:ext>
            </a:extLst>
          </p:cNvPr>
          <p:cNvSpPr txBox="1"/>
          <p:nvPr/>
        </p:nvSpPr>
        <p:spPr>
          <a:xfrm>
            <a:off x="566738" y="5644404"/>
            <a:ext cx="6519734" cy="196208"/>
          </a:xfrm>
          <a:prstGeom prst="rect">
            <a:avLst/>
          </a:prstGeom>
          <a:noFill/>
        </p:spPr>
        <p:txBody>
          <a:bodyPr wrap="none" rtlCol="0">
            <a:spAutoFit/>
          </a:bodyPr>
          <a:lstStyle/>
          <a:p>
            <a:r>
              <a:rPr lang="en-US" sz="675" dirty="0"/>
              <a:t>Ref: https://aiplanet.com/learn/getting-started-with-deep-learning/convolutional-neural-networks/267/cnn-transfer-learning-data-augmentation</a:t>
            </a:r>
            <a:endParaRPr lang="en-IN" sz="675" dirty="0"/>
          </a:p>
        </p:txBody>
      </p:sp>
    </p:spTree>
    <p:extLst>
      <p:ext uri="{BB962C8B-B14F-4D97-AF65-F5344CB8AC3E}">
        <p14:creationId xmlns:p14="http://schemas.microsoft.com/office/powerpoint/2010/main" val="7475153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EA4A6-D668-4531-B0CD-825DA194B7FC}"/>
              </a:ext>
            </a:extLst>
          </p:cNvPr>
          <p:cNvSpPr>
            <a:spLocks noGrp="1"/>
          </p:cNvSpPr>
          <p:nvPr>
            <p:ph type="title"/>
          </p:nvPr>
        </p:nvSpPr>
        <p:spPr/>
        <p:txBody>
          <a:bodyPr/>
          <a:lstStyle/>
          <a:p>
            <a:r>
              <a:rPr lang="en-US" dirty="0"/>
              <a:t>CNNs: Why they are needed ?</a:t>
            </a:r>
            <a:endParaRPr lang="en-IN" dirty="0"/>
          </a:p>
        </p:txBody>
      </p:sp>
      <p:sp>
        <p:nvSpPr>
          <p:cNvPr id="3" name="Content Placeholder 2">
            <a:extLst>
              <a:ext uri="{FF2B5EF4-FFF2-40B4-BE49-F238E27FC236}">
                <a16:creationId xmlns:a16="http://schemas.microsoft.com/office/drawing/2014/main" id="{4947B814-6E76-4156-B161-50A2883993F7}"/>
              </a:ext>
            </a:extLst>
          </p:cNvPr>
          <p:cNvSpPr>
            <a:spLocks noGrp="1"/>
          </p:cNvSpPr>
          <p:nvPr>
            <p:ph idx="1"/>
          </p:nvPr>
        </p:nvSpPr>
        <p:spPr/>
        <p:txBody>
          <a:bodyPr/>
          <a:lstStyle/>
          <a:p>
            <a:pPr marL="0" indent="0">
              <a:buNone/>
            </a:pPr>
            <a:r>
              <a:rPr lang="en-IN" sz="1200" dirty="0"/>
              <a:t>Disadvantages of Multi Layer Perceptron (MLP) or Artificial Neural Network (ANN)</a:t>
            </a:r>
          </a:p>
          <a:p>
            <a:pPr algn="l">
              <a:buFont typeface="Arial" panose="020B0604020202020204" pitchFamily="34" charset="0"/>
              <a:buChar char="•"/>
            </a:pPr>
            <a:r>
              <a:rPr lang="en-US" sz="1200" dirty="0">
                <a:solidFill>
                  <a:srgbClr val="3B454E"/>
                </a:solidFill>
                <a:latin typeface="Inter"/>
              </a:rPr>
              <a:t>Need to connect neurons in the hidden layer to ALL the neurons in the input layer</a:t>
            </a:r>
          </a:p>
          <a:p>
            <a:pPr algn="l">
              <a:buFont typeface="Arial" panose="020B0604020202020204" pitchFamily="34" charset="0"/>
              <a:buChar char="•"/>
            </a:pPr>
            <a:r>
              <a:rPr lang="en-US" sz="1200" dirty="0">
                <a:solidFill>
                  <a:srgbClr val="3B454E"/>
                </a:solidFill>
                <a:latin typeface="Inter"/>
              </a:rPr>
              <a:t>No spatial information: Since we reshape the image from 2D to 1D, it doesn't understand the spatial structure of the image, i.e., it is not spatially invariant. For example, if a picture of a cat appears in the top left of the image in one picture and the bottom right of another picture, the MLP will try to correct itself and assume that a cat will always appear in this section of the image.</a:t>
            </a:r>
          </a:p>
          <a:p>
            <a:pPr algn="l">
              <a:buFont typeface="Arial" panose="020B0604020202020204" pitchFamily="34" charset="0"/>
              <a:buChar char="•"/>
            </a:pPr>
            <a:endParaRPr lang="en-US" sz="900" dirty="0">
              <a:solidFill>
                <a:srgbClr val="3B454E"/>
              </a:solidFill>
              <a:latin typeface="Inter"/>
            </a:endParaRPr>
          </a:p>
          <a:p>
            <a:pPr algn="l">
              <a:buFont typeface="Arial" panose="020B0604020202020204" pitchFamily="34" charset="0"/>
              <a:buChar char="•"/>
            </a:pPr>
            <a:endParaRPr lang="en-US" sz="900" dirty="0">
              <a:solidFill>
                <a:srgbClr val="3B454E"/>
              </a:solidFill>
              <a:latin typeface="Inter"/>
            </a:endParaRPr>
          </a:p>
          <a:p>
            <a:pPr algn="l">
              <a:buFont typeface="Arial" panose="020B0604020202020204" pitchFamily="34" charset="0"/>
              <a:buChar char="•"/>
            </a:pPr>
            <a:endParaRPr lang="en-US" sz="900" dirty="0">
              <a:solidFill>
                <a:srgbClr val="3B454E"/>
              </a:solidFill>
              <a:latin typeface="Inter"/>
            </a:endParaRPr>
          </a:p>
          <a:p>
            <a:pPr algn="l">
              <a:buFont typeface="Arial" panose="020B0604020202020204" pitchFamily="34" charset="0"/>
              <a:buChar char="•"/>
            </a:pPr>
            <a:endParaRPr lang="en-US" sz="900" dirty="0">
              <a:solidFill>
                <a:srgbClr val="3B454E"/>
              </a:solidFill>
              <a:latin typeface="Inter"/>
            </a:endParaRPr>
          </a:p>
          <a:p>
            <a:pPr algn="l">
              <a:buFont typeface="Arial" panose="020B0604020202020204" pitchFamily="34" charset="0"/>
              <a:buChar char="•"/>
            </a:pPr>
            <a:endParaRPr lang="en-US" sz="900" dirty="0">
              <a:solidFill>
                <a:srgbClr val="3B454E"/>
              </a:solidFill>
              <a:latin typeface="Inter"/>
            </a:endParaRPr>
          </a:p>
          <a:p>
            <a:pPr algn="l">
              <a:buFont typeface="Arial" panose="020B0604020202020204" pitchFamily="34" charset="0"/>
              <a:buChar char="•"/>
            </a:pPr>
            <a:endParaRPr lang="en-US" sz="900" dirty="0">
              <a:solidFill>
                <a:srgbClr val="3B454E"/>
              </a:solidFill>
              <a:latin typeface="Inter"/>
            </a:endParaRPr>
          </a:p>
          <a:p>
            <a:pPr algn="l">
              <a:buFont typeface="Arial" panose="020B0604020202020204" pitchFamily="34" charset="0"/>
              <a:buChar char="•"/>
            </a:pPr>
            <a:endParaRPr lang="en-US" sz="900" dirty="0">
              <a:solidFill>
                <a:srgbClr val="3B454E"/>
              </a:solidFill>
              <a:latin typeface="Inter"/>
            </a:endParaRPr>
          </a:p>
          <a:p>
            <a:pPr algn="l">
              <a:buFont typeface="Arial" panose="020B0604020202020204" pitchFamily="34" charset="0"/>
              <a:buChar char="•"/>
            </a:pPr>
            <a:endParaRPr lang="en-US" sz="900" dirty="0">
              <a:solidFill>
                <a:srgbClr val="3B454E"/>
              </a:solidFill>
              <a:latin typeface="Inter"/>
            </a:endParaRPr>
          </a:p>
          <a:p>
            <a:pPr algn="l">
              <a:buFont typeface="Arial" panose="020B0604020202020204" pitchFamily="34" charset="0"/>
              <a:buChar char="•"/>
            </a:pPr>
            <a:endParaRPr lang="en-US" sz="900" dirty="0">
              <a:solidFill>
                <a:srgbClr val="3B454E"/>
              </a:solidFill>
              <a:latin typeface="Inter"/>
            </a:endParaRPr>
          </a:p>
          <a:p>
            <a:pPr algn="l">
              <a:buFont typeface="Arial" panose="020B0604020202020204" pitchFamily="34" charset="0"/>
              <a:buChar char="•"/>
            </a:pPr>
            <a:endParaRPr lang="en-US" sz="900" dirty="0">
              <a:solidFill>
                <a:srgbClr val="3B454E"/>
              </a:solidFill>
              <a:latin typeface="Inter"/>
            </a:endParaRPr>
          </a:p>
          <a:p>
            <a:pPr algn="l">
              <a:buFont typeface="Arial" panose="020B0604020202020204" pitchFamily="34" charset="0"/>
              <a:buChar char="•"/>
            </a:pPr>
            <a:endParaRPr lang="en-US" sz="900" dirty="0">
              <a:solidFill>
                <a:srgbClr val="3B454E"/>
              </a:solidFill>
              <a:latin typeface="Inter"/>
            </a:endParaRPr>
          </a:p>
          <a:p>
            <a:pPr algn="l">
              <a:buFont typeface="Arial" panose="020B0604020202020204" pitchFamily="34" charset="0"/>
              <a:buChar char="•"/>
            </a:pPr>
            <a:endParaRPr lang="en-US" sz="900" dirty="0">
              <a:solidFill>
                <a:srgbClr val="3B454E"/>
              </a:solidFill>
              <a:latin typeface="Inter"/>
            </a:endParaRPr>
          </a:p>
          <a:p>
            <a:pPr>
              <a:buFont typeface="Arial" panose="020B0604020202020204" pitchFamily="34" charset="0"/>
              <a:buChar char="•"/>
            </a:pPr>
            <a:endParaRPr lang="en-US" sz="1200" dirty="0">
              <a:solidFill>
                <a:srgbClr val="3B454E"/>
              </a:solidFill>
              <a:latin typeface="Inter"/>
            </a:endParaRPr>
          </a:p>
          <a:p>
            <a:pPr>
              <a:buFont typeface="Arial" panose="020B0604020202020204" pitchFamily="34" charset="0"/>
              <a:buChar char="•"/>
            </a:pPr>
            <a:r>
              <a:rPr lang="en-US" sz="1400" dirty="0">
                <a:solidFill>
                  <a:srgbClr val="3B454E"/>
                </a:solidFill>
                <a:latin typeface="Inter"/>
              </a:rPr>
              <a:t>And many, many parameters to be handled. MLPs use one perceptron for each input (e.g. pixel in an image, multiplied by 3 in RGB case). The amount of weights rapidly becomes unmanageable for large images. For a 224 x 224 pixel image with three color channels, there are around 150,000 weights that must be trained!</a:t>
            </a:r>
          </a:p>
          <a:p>
            <a:pPr algn="l">
              <a:buFont typeface="Arial" panose="020B0604020202020204" pitchFamily="34" charset="0"/>
              <a:buChar char="•"/>
            </a:pPr>
            <a:endParaRPr lang="en-US" sz="900" dirty="0">
              <a:solidFill>
                <a:srgbClr val="3B454E"/>
              </a:solidFill>
              <a:latin typeface="Inter"/>
            </a:endParaRPr>
          </a:p>
          <a:p>
            <a:pPr marL="0" indent="0">
              <a:buNone/>
            </a:pPr>
            <a:endParaRPr lang="en-IN" sz="1500" dirty="0"/>
          </a:p>
        </p:txBody>
      </p:sp>
      <p:sp>
        <p:nvSpPr>
          <p:cNvPr id="4" name="Slide Number Placeholder 3">
            <a:extLst>
              <a:ext uri="{FF2B5EF4-FFF2-40B4-BE49-F238E27FC236}">
                <a16:creationId xmlns:a16="http://schemas.microsoft.com/office/drawing/2014/main" id="{C5605F2F-A1F2-4CAF-A4A1-5A5F6485864D}"/>
              </a:ext>
            </a:extLst>
          </p:cNvPr>
          <p:cNvSpPr>
            <a:spLocks noGrp="1"/>
          </p:cNvSpPr>
          <p:nvPr>
            <p:ph type="sldNum" sz="quarter" idx="12"/>
          </p:nvPr>
        </p:nvSpPr>
        <p:spPr/>
        <p:txBody>
          <a:bodyPr/>
          <a:lstStyle/>
          <a:p>
            <a:fld id="{BB2CE0DE-867F-455F-B20B-96D381B4AB71}" type="slidenum">
              <a:rPr lang="en-US" smtClean="0"/>
              <a:t>8</a:t>
            </a:fld>
            <a:endParaRPr lang="en-US"/>
          </a:p>
        </p:txBody>
      </p:sp>
      <p:pic>
        <p:nvPicPr>
          <p:cNvPr id="5" name="Picture 4">
            <a:extLst>
              <a:ext uri="{FF2B5EF4-FFF2-40B4-BE49-F238E27FC236}">
                <a16:creationId xmlns:a16="http://schemas.microsoft.com/office/drawing/2014/main" id="{7C0770D9-D906-46F3-B953-39B4DFFEF982}"/>
              </a:ext>
            </a:extLst>
          </p:cNvPr>
          <p:cNvPicPr>
            <a:picLocks noChangeAspect="1"/>
          </p:cNvPicPr>
          <p:nvPr/>
        </p:nvPicPr>
        <p:blipFill>
          <a:blip r:embed="rId2"/>
          <a:stretch>
            <a:fillRect/>
          </a:stretch>
        </p:blipFill>
        <p:spPr>
          <a:xfrm>
            <a:off x="914400" y="2544550"/>
            <a:ext cx="6172072" cy="1973269"/>
          </a:xfrm>
          <a:prstGeom prst="rect">
            <a:avLst/>
          </a:prstGeom>
        </p:spPr>
      </p:pic>
      <p:sp>
        <p:nvSpPr>
          <p:cNvPr id="6" name="TextBox 5">
            <a:extLst>
              <a:ext uri="{FF2B5EF4-FFF2-40B4-BE49-F238E27FC236}">
                <a16:creationId xmlns:a16="http://schemas.microsoft.com/office/drawing/2014/main" id="{C6C9224D-6558-470A-8964-4A1EECB95650}"/>
              </a:ext>
            </a:extLst>
          </p:cNvPr>
          <p:cNvSpPr txBox="1"/>
          <p:nvPr/>
        </p:nvSpPr>
        <p:spPr>
          <a:xfrm>
            <a:off x="566738" y="5644404"/>
            <a:ext cx="6519734" cy="196208"/>
          </a:xfrm>
          <a:prstGeom prst="rect">
            <a:avLst/>
          </a:prstGeom>
          <a:noFill/>
        </p:spPr>
        <p:txBody>
          <a:bodyPr wrap="none" rtlCol="0">
            <a:spAutoFit/>
          </a:bodyPr>
          <a:lstStyle/>
          <a:p>
            <a:r>
              <a:rPr lang="en-US" sz="675" dirty="0"/>
              <a:t>Ref: https://aiplanet.com/learn/getting-started-with-deep-learning/convolutional-neural-networks/267/cnn-transfer-learning-data-augmentation</a:t>
            </a:r>
            <a:endParaRPr lang="en-IN" sz="675" dirty="0"/>
          </a:p>
        </p:txBody>
      </p:sp>
    </p:spTree>
    <p:extLst>
      <p:ext uri="{BB962C8B-B14F-4D97-AF65-F5344CB8AC3E}">
        <p14:creationId xmlns:p14="http://schemas.microsoft.com/office/powerpoint/2010/main" val="18793779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2F451-EE76-4BAA-97C5-F6C34AD5E2B0}"/>
              </a:ext>
            </a:extLst>
          </p:cNvPr>
          <p:cNvSpPr>
            <a:spLocks noGrp="1"/>
          </p:cNvSpPr>
          <p:nvPr>
            <p:ph type="title"/>
          </p:nvPr>
        </p:nvSpPr>
        <p:spPr/>
        <p:txBody>
          <a:bodyPr/>
          <a:lstStyle/>
          <a:p>
            <a:r>
              <a:rPr lang="en-US" dirty="0"/>
              <a:t>CNNs: Why they are needed ?</a:t>
            </a:r>
            <a:endParaRPr lang="en-IN" dirty="0"/>
          </a:p>
        </p:txBody>
      </p:sp>
      <p:sp>
        <p:nvSpPr>
          <p:cNvPr id="3" name="Content Placeholder 2">
            <a:extLst>
              <a:ext uri="{FF2B5EF4-FFF2-40B4-BE49-F238E27FC236}">
                <a16:creationId xmlns:a16="http://schemas.microsoft.com/office/drawing/2014/main" id="{5F7C27F6-2E8D-4F8D-9006-B1406C1E6E74}"/>
              </a:ext>
            </a:extLst>
          </p:cNvPr>
          <p:cNvSpPr>
            <a:spLocks noGrp="1"/>
          </p:cNvSpPr>
          <p:nvPr>
            <p:ph idx="1"/>
          </p:nvPr>
        </p:nvSpPr>
        <p:spPr/>
        <p:txBody>
          <a:bodyPr/>
          <a:lstStyle/>
          <a:p>
            <a:pPr marL="0" indent="0">
              <a:buNone/>
            </a:pPr>
            <a:r>
              <a:rPr lang="en-US" sz="1500" dirty="0">
                <a:solidFill>
                  <a:srgbClr val="0000FF"/>
                </a:solidFill>
              </a:rPr>
              <a:t>Spatial Locality</a:t>
            </a:r>
            <a:r>
              <a:rPr lang="en-US" sz="1500" dirty="0"/>
              <a:t>: CNNs leverage spatial structure by using </a:t>
            </a:r>
            <a:r>
              <a:rPr lang="en-US" sz="1500" dirty="0">
                <a:solidFill>
                  <a:srgbClr val="C00000"/>
                </a:solidFill>
              </a:rPr>
              <a:t>convolutions</a:t>
            </a:r>
            <a:r>
              <a:rPr lang="en-US" sz="1500" dirty="0"/>
              <a:t>. Convolution operations captures edges, textures and shapes.</a:t>
            </a:r>
          </a:p>
          <a:p>
            <a:pPr marL="0" indent="0">
              <a:buNone/>
            </a:pPr>
            <a:endParaRPr lang="en-US" sz="1500" dirty="0"/>
          </a:p>
          <a:p>
            <a:pPr marL="0" indent="0">
              <a:buNone/>
            </a:pPr>
            <a:r>
              <a:rPr lang="en-IN" sz="1500" dirty="0">
                <a:hlinkClick r:id="rId2"/>
              </a:rPr>
              <a:t>https://setosa.io/ev/image-kernels/</a:t>
            </a:r>
            <a:endParaRPr lang="en-US" sz="1500" dirty="0"/>
          </a:p>
          <a:p>
            <a:pPr marL="0" indent="0">
              <a:buNone/>
            </a:pPr>
            <a:endParaRPr lang="en-US" sz="1500" dirty="0"/>
          </a:p>
          <a:p>
            <a:pPr marL="0" indent="0">
              <a:buNone/>
            </a:pPr>
            <a:endParaRPr lang="en-US" sz="1500" dirty="0"/>
          </a:p>
          <a:p>
            <a:pPr marL="0" indent="0">
              <a:buNone/>
            </a:pPr>
            <a:r>
              <a:rPr lang="en-US" sz="1500" dirty="0">
                <a:solidFill>
                  <a:srgbClr val="0000FF"/>
                </a:solidFill>
              </a:rPr>
              <a:t>Translation Invariance</a:t>
            </a:r>
            <a:r>
              <a:rPr lang="en-US" sz="1500" dirty="0"/>
              <a:t>: CNNs use </a:t>
            </a:r>
            <a:r>
              <a:rPr lang="en-US" sz="1500" dirty="0">
                <a:solidFill>
                  <a:srgbClr val="C00000"/>
                </a:solidFill>
              </a:rPr>
              <a:t>pooling layers </a:t>
            </a:r>
            <a:r>
              <a:rPr lang="en-US" sz="1500" dirty="0"/>
              <a:t>and shared weights. Robust to image translation.</a:t>
            </a:r>
            <a:endParaRPr lang="en-IN" sz="1500" dirty="0"/>
          </a:p>
        </p:txBody>
      </p:sp>
      <p:sp>
        <p:nvSpPr>
          <p:cNvPr id="4" name="Slide Number Placeholder 3">
            <a:extLst>
              <a:ext uri="{FF2B5EF4-FFF2-40B4-BE49-F238E27FC236}">
                <a16:creationId xmlns:a16="http://schemas.microsoft.com/office/drawing/2014/main" id="{E76418C2-58D2-455F-8973-328A1763909A}"/>
              </a:ext>
            </a:extLst>
          </p:cNvPr>
          <p:cNvSpPr>
            <a:spLocks noGrp="1"/>
          </p:cNvSpPr>
          <p:nvPr>
            <p:ph type="sldNum" sz="quarter" idx="12"/>
          </p:nvPr>
        </p:nvSpPr>
        <p:spPr/>
        <p:txBody>
          <a:bodyPr/>
          <a:lstStyle/>
          <a:p>
            <a:fld id="{BB2CE0DE-867F-455F-B20B-96D381B4AB71}" type="slidenum">
              <a:rPr lang="en-US" smtClean="0"/>
              <a:t>9</a:t>
            </a:fld>
            <a:endParaRPr lang="en-US"/>
          </a:p>
        </p:txBody>
      </p:sp>
    </p:spTree>
    <p:extLst>
      <p:ext uri="{BB962C8B-B14F-4D97-AF65-F5344CB8AC3E}">
        <p14:creationId xmlns:p14="http://schemas.microsoft.com/office/powerpoint/2010/main" val="35884006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7EEDF-FBBD-4F2A-AD5B-7C5EC1715E37}"/>
              </a:ext>
            </a:extLst>
          </p:cNvPr>
          <p:cNvSpPr>
            <a:spLocks noGrp="1"/>
          </p:cNvSpPr>
          <p:nvPr>
            <p:ph type="title"/>
          </p:nvPr>
        </p:nvSpPr>
        <p:spPr/>
        <p:txBody>
          <a:bodyPr/>
          <a:lstStyle/>
          <a:p>
            <a:r>
              <a:rPr lang="en-IN" dirty="0"/>
              <a:t>What is Convolution?</a:t>
            </a:r>
          </a:p>
        </p:txBody>
      </p:sp>
      <p:sp>
        <p:nvSpPr>
          <p:cNvPr id="3" name="Content Placeholder 2">
            <a:extLst>
              <a:ext uri="{FF2B5EF4-FFF2-40B4-BE49-F238E27FC236}">
                <a16:creationId xmlns:a16="http://schemas.microsoft.com/office/drawing/2014/main" id="{833246EB-4774-4EA3-AC59-8B13407503A2}"/>
              </a:ext>
            </a:extLst>
          </p:cNvPr>
          <p:cNvSpPr>
            <a:spLocks noGrp="1"/>
          </p:cNvSpPr>
          <p:nvPr>
            <p:ph idx="1"/>
          </p:nvPr>
        </p:nvSpPr>
        <p:spPr/>
        <p:txBody>
          <a:bodyPr/>
          <a:lstStyle/>
          <a:p>
            <a:pPr marL="0" indent="0" algn="just">
              <a:buNone/>
            </a:pPr>
            <a:r>
              <a:rPr lang="en-US" sz="1800" dirty="0"/>
              <a:t>Image processing utilizes convolution, a mathematical operation where a matrix (or kernel or filter) traverses the image and performs a dot product with the overlapping region. A convolution operation involves the following steps:</a:t>
            </a:r>
          </a:p>
          <a:p>
            <a:pPr marL="0" indent="0" algn="just">
              <a:buNone/>
            </a:pPr>
            <a:r>
              <a:rPr lang="en-US" sz="1800" dirty="0"/>
              <a:t>Define a small matrix (filter or kernel).</a:t>
            </a:r>
          </a:p>
          <a:p>
            <a:pPr marL="328613" lvl="1" indent="0" algn="just">
              <a:buNone/>
            </a:pPr>
            <a:r>
              <a:rPr lang="en-US" sz="1800" dirty="0"/>
              <a:t>This kernel moves across the input image.</a:t>
            </a:r>
          </a:p>
          <a:p>
            <a:pPr marL="328613" lvl="1" indent="0" algn="just">
              <a:buNone/>
            </a:pPr>
            <a:r>
              <a:rPr lang="en-US" sz="1800" dirty="0"/>
              <a:t>At each location, the convolution operation computes the dot product of the kernel and the portion of the image it overlaps.</a:t>
            </a:r>
          </a:p>
          <a:p>
            <a:pPr marL="328613" lvl="1" indent="0" algn="just">
              <a:buNone/>
            </a:pPr>
            <a:r>
              <a:rPr lang="en-US" sz="1800" dirty="0"/>
              <a:t>The result of each dot product forms a new matrix that represents transformed features of the original image.</a:t>
            </a:r>
          </a:p>
          <a:p>
            <a:pPr marL="0" indent="0" algn="just">
              <a:buNone/>
            </a:pPr>
            <a:r>
              <a:rPr lang="en-US" sz="1800" dirty="0"/>
              <a:t>The primary goal of using convolution in image processing is to extract important features from the image and discard the rest. This results in a condensed representation of an image.</a:t>
            </a:r>
          </a:p>
          <a:p>
            <a:pPr marL="0" indent="0">
              <a:buNone/>
            </a:pPr>
            <a:endParaRPr lang="en-US" sz="1350" dirty="0"/>
          </a:p>
          <a:p>
            <a:pPr marL="0" indent="0">
              <a:buNone/>
            </a:pPr>
            <a:endParaRPr lang="en-IN" sz="1350" dirty="0"/>
          </a:p>
        </p:txBody>
      </p:sp>
      <p:sp>
        <p:nvSpPr>
          <p:cNvPr id="4" name="Slide Number Placeholder 3">
            <a:extLst>
              <a:ext uri="{FF2B5EF4-FFF2-40B4-BE49-F238E27FC236}">
                <a16:creationId xmlns:a16="http://schemas.microsoft.com/office/drawing/2014/main" id="{6CE77E1E-5873-455C-86A0-B3ADCA8FC032}"/>
              </a:ext>
            </a:extLst>
          </p:cNvPr>
          <p:cNvSpPr>
            <a:spLocks noGrp="1"/>
          </p:cNvSpPr>
          <p:nvPr>
            <p:ph type="sldNum" sz="quarter" idx="12"/>
          </p:nvPr>
        </p:nvSpPr>
        <p:spPr/>
        <p:txBody>
          <a:bodyPr/>
          <a:lstStyle/>
          <a:p>
            <a:fld id="{BB2CE0DE-867F-455F-B20B-96D381B4AB71}" type="slidenum">
              <a:rPr lang="en-US" smtClean="0"/>
              <a:t>10</a:t>
            </a:fld>
            <a:endParaRPr lang="en-US"/>
          </a:p>
        </p:txBody>
      </p:sp>
    </p:spTree>
    <p:extLst>
      <p:ext uri="{BB962C8B-B14F-4D97-AF65-F5344CB8AC3E}">
        <p14:creationId xmlns:p14="http://schemas.microsoft.com/office/powerpoint/2010/main" val="2592929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8CB44-FBA6-4B85-A726-87FA62E0A98C}"/>
              </a:ext>
            </a:extLst>
          </p:cNvPr>
          <p:cNvSpPr>
            <a:spLocks noGrp="1"/>
          </p:cNvSpPr>
          <p:nvPr>
            <p:ph type="title"/>
          </p:nvPr>
        </p:nvSpPr>
        <p:spPr/>
        <p:txBody>
          <a:bodyPr/>
          <a:lstStyle/>
          <a:p>
            <a:r>
              <a:rPr lang="en-IN" dirty="0"/>
              <a:t>Convolution Operation</a:t>
            </a:r>
          </a:p>
        </p:txBody>
      </p:sp>
      <p:sp>
        <p:nvSpPr>
          <p:cNvPr id="3" name="Content Placeholder 2">
            <a:extLst>
              <a:ext uri="{FF2B5EF4-FFF2-40B4-BE49-F238E27FC236}">
                <a16:creationId xmlns:a16="http://schemas.microsoft.com/office/drawing/2014/main" id="{900D51FF-8425-4FAD-B283-11122AAB170D}"/>
              </a:ext>
            </a:extLst>
          </p:cNvPr>
          <p:cNvSpPr>
            <a:spLocks noGrp="1"/>
          </p:cNvSpPr>
          <p:nvPr>
            <p:ph idx="1"/>
          </p:nvPr>
        </p:nvSpPr>
        <p:spPr/>
        <p:txBody>
          <a:bodyPr/>
          <a:lstStyle/>
          <a:p>
            <a:pPr marL="0" indent="0">
              <a:buNone/>
            </a:pPr>
            <a:r>
              <a:rPr lang="en-US" sz="1050" dirty="0">
                <a:solidFill>
                  <a:srgbClr val="444444"/>
                </a:solidFill>
                <a:latin typeface="Roboto" panose="02000000000000000000" pitchFamily="2" charset="0"/>
              </a:rPr>
              <a:t>To apply the convolution:</a:t>
            </a:r>
          </a:p>
          <a:p>
            <a:pPr algn="l">
              <a:buFont typeface="Arial" panose="020B0604020202020204" pitchFamily="34" charset="0"/>
              <a:buChar char="•"/>
            </a:pPr>
            <a:r>
              <a:rPr lang="en-US" sz="1100" b="1" dirty="0">
                <a:solidFill>
                  <a:srgbClr val="444444"/>
                </a:solidFill>
                <a:latin typeface="Roboto" panose="02000000000000000000" pitchFamily="2" charset="0"/>
              </a:rPr>
              <a:t>Overlay the Kernel on the Image:</a:t>
            </a:r>
            <a:r>
              <a:rPr lang="en-US" sz="1100" dirty="0">
                <a:solidFill>
                  <a:srgbClr val="444444"/>
                </a:solidFill>
                <a:latin typeface="Roboto" panose="02000000000000000000" pitchFamily="2" charset="0"/>
              </a:rPr>
              <a:t> Start from the top-left corner of the image and place the kernel so that its center aligns with the current image pixel.</a:t>
            </a:r>
          </a:p>
          <a:p>
            <a:pPr algn="l">
              <a:buFont typeface="Arial" panose="020B0604020202020204" pitchFamily="34" charset="0"/>
              <a:buChar char="•"/>
            </a:pPr>
            <a:r>
              <a:rPr lang="en-US" sz="1100" b="1" dirty="0">
                <a:solidFill>
                  <a:srgbClr val="444444"/>
                </a:solidFill>
                <a:latin typeface="Roboto" panose="02000000000000000000" pitchFamily="2" charset="0"/>
              </a:rPr>
              <a:t>Element-wise Multiplication:</a:t>
            </a:r>
            <a:r>
              <a:rPr lang="en-US" sz="1100" dirty="0">
                <a:solidFill>
                  <a:srgbClr val="444444"/>
                </a:solidFill>
                <a:latin typeface="Roboto" panose="02000000000000000000" pitchFamily="2" charset="0"/>
              </a:rPr>
              <a:t> Multiply each element of the kernel with the corresponding element of the image it covers.</a:t>
            </a:r>
          </a:p>
          <a:p>
            <a:pPr algn="l">
              <a:buFont typeface="Arial" panose="020B0604020202020204" pitchFamily="34" charset="0"/>
              <a:buChar char="•"/>
            </a:pPr>
            <a:r>
              <a:rPr lang="en-US" sz="1100" b="1" dirty="0">
                <a:solidFill>
                  <a:srgbClr val="444444"/>
                </a:solidFill>
                <a:latin typeface="Roboto" panose="02000000000000000000" pitchFamily="2" charset="0"/>
              </a:rPr>
              <a:t>Summation: </a:t>
            </a:r>
            <a:r>
              <a:rPr lang="en-US" sz="1100" dirty="0">
                <a:solidFill>
                  <a:srgbClr val="444444"/>
                </a:solidFill>
                <a:latin typeface="Roboto" panose="02000000000000000000" pitchFamily="2" charset="0"/>
              </a:rPr>
              <a:t>Sum up all the products obtained from the element-wise multiplication. This sum forms a single pixel in the output feature map.</a:t>
            </a:r>
          </a:p>
          <a:p>
            <a:pPr algn="l">
              <a:buFont typeface="Arial" panose="020B0604020202020204" pitchFamily="34" charset="0"/>
              <a:buChar char="•"/>
            </a:pPr>
            <a:r>
              <a:rPr lang="en-US" sz="1100" b="1" dirty="0">
                <a:solidFill>
                  <a:srgbClr val="444444"/>
                </a:solidFill>
                <a:latin typeface="Roboto" panose="02000000000000000000" pitchFamily="2" charset="0"/>
              </a:rPr>
              <a:t>Continue the Process:</a:t>
            </a:r>
            <a:r>
              <a:rPr lang="en-US" sz="1100" dirty="0">
                <a:solidFill>
                  <a:srgbClr val="444444"/>
                </a:solidFill>
                <a:latin typeface="Roboto" panose="02000000000000000000" pitchFamily="2" charset="0"/>
              </a:rPr>
              <a:t> Slide the kernel over to the next pixel and repeat the process across the entire image.</a:t>
            </a:r>
          </a:p>
          <a:p>
            <a:pPr marL="0" indent="0">
              <a:buNone/>
            </a:pPr>
            <a:endParaRPr lang="en-IN" sz="1050" dirty="0"/>
          </a:p>
        </p:txBody>
      </p:sp>
      <p:sp>
        <p:nvSpPr>
          <p:cNvPr id="4" name="Slide Number Placeholder 3">
            <a:extLst>
              <a:ext uri="{FF2B5EF4-FFF2-40B4-BE49-F238E27FC236}">
                <a16:creationId xmlns:a16="http://schemas.microsoft.com/office/drawing/2014/main" id="{848FD43F-FB6B-4B33-B912-F7DDDB621D77}"/>
              </a:ext>
            </a:extLst>
          </p:cNvPr>
          <p:cNvSpPr>
            <a:spLocks noGrp="1"/>
          </p:cNvSpPr>
          <p:nvPr>
            <p:ph type="sldNum" sz="quarter" idx="12"/>
          </p:nvPr>
        </p:nvSpPr>
        <p:spPr/>
        <p:txBody>
          <a:bodyPr/>
          <a:lstStyle/>
          <a:p>
            <a:fld id="{BB2CE0DE-867F-455F-B20B-96D381B4AB71}" type="slidenum">
              <a:rPr lang="en-US" smtClean="0"/>
              <a:t>11</a:t>
            </a:fld>
            <a:endParaRPr lang="en-US"/>
          </a:p>
        </p:txBody>
      </p:sp>
      <p:pic>
        <p:nvPicPr>
          <p:cNvPr id="5" name="Picture 4">
            <a:extLst>
              <a:ext uri="{FF2B5EF4-FFF2-40B4-BE49-F238E27FC236}">
                <a16:creationId xmlns:a16="http://schemas.microsoft.com/office/drawing/2014/main" id="{3B0CAACC-8813-4C9B-959C-B7A3294B2C3A}"/>
              </a:ext>
            </a:extLst>
          </p:cNvPr>
          <p:cNvPicPr>
            <a:picLocks noChangeAspect="1"/>
          </p:cNvPicPr>
          <p:nvPr/>
        </p:nvPicPr>
        <p:blipFill>
          <a:blip r:embed="rId2"/>
          <a:stretch>
            <a:fillRect/>
          </a:stretch>
        </p:blipFill>
        <p:spPr>
          <a:xfrm>
            <a:off x="694737" y="2932584"/>
            <a:ext cx="5250981" cy="2876551"/>
          </a:xfrm>
          <a:prstGeom prst="rect">
            <a:avLst/>
          </a:prstGeom>
        </p:spPr>
      </p:pic>
      <p:sp>
        <p:nvSpPr>
          <p:cNvPr id="6" name="TextBox 5">
            <a:extLst>
              <a:ext uri="{FF2B5EF4-FFF2-40B4-BE49-F238E27FC236}">
                <a16:creationId xmlns:a16="http://schemas.microsoft.com/office/drawing/2014/main" id="{98D1F9C3-A9EF-41AA-85A6-7FC184696BE9}"/>
              </a:ext>
            </a:extLst>
          </p:cNvPr>
          <p:cNvSpPr txBox="1"/>
          <p:nvPr/>
        </p:nvSpPr>
        <p:spPr>
          <a:xfrm>
            <a:off x="559506" y="5970002"/>
            <a:ext cx="2771913" cy="196208"/>
          </a:xfrm>
          <a:prstGeom prst="rect">
            <a:avLst/>
          </a:prstGeom>
          <a:noFill/>
        </p:spPr>
        <p:txBody>
          <a:bodyPr wrap="none" rtlCol="0">
            <a:spAutoFit/>
          </a:bodyPr>
          <a:lstStyle/>
          <a:p>
            <a:r>
              <a:rPr lang="en-US" sz="675" dirty="0"/>
              <a:t>Ref.: https://viso.ai/deep-learning/convolution-operations/</a:t>
            </a:r>
            <a:endParaRPr lang="en-IN" sz="675" dirty="0"/>
          </a:p>
        </p:txBody>
      </p:sp>
      <p:sp>
        <p:nvSpPr>
          <p:cNvPr id="7" name="TextBox 6">
            <a:extLst>
              <a:ext uri="{FF2B5EF4-FFF2-40B4-BE49-F238E27FC236}">
                <a16:creationId xmlns:a16="http://schemas.microsoft.com/office/drawing/2014/main" id="{15B32A09-5E42-4AF7-82A9-01FF6AAEE8E2}"/>
              </a:ext>
            </a:extLst>
          </p:cNvPr>
          <p:cNvSpPr txBox="1"/>
          <p:nvPr/>
        </p:nvSpPr>
        <p:spPr>
          <a:xfrm>
            <a:off x="2286000" y="4000500"/>
            <a:ext cx="249107" cy="300082"/>
          </a:xfrm>
          <a:prstGeom prst="rect">
            <a:avLst/>
          </a:prstGeom>
          <a:noFill/>
        </p:spPr>
        <p:txBody>
          <a:bodyPr wrap="square" rtlCol="0">
            <a:spAutoFit/>
          </a:bodyPr>
          <a:lstStyle/>
          <a:p>
            <a:r>
              <a:rPr lang="en-US" sz="1350" b="1" dirty="0">
                <a:solidFill>
                  <a:srgbClr val="00B050"/>
                </a:solidFill>
              </a:rPr>
              <a:t>*</a:t>
            </a:r>
            <a:endParaRPr lang="en-IN" sz="1350" b="1" dirty="0">
              <a:solidFill>
                <a:srgbClr val="00B050"/>
              </a:solidFill>
            </a:endParaRPr>
          </a:p>
        </p:txBody>
      </p:sp>
      <p:cxnSp>
        <p:nvCxnSpPr>
          <p:cNvPr id="9" name="Straight Arrow Connector 8">
            <a:extLst>
              <a:ext uri="{FF2B5EF4-FFF2-40B4-BE49-F238E27FC236}">
                <a16:creationId xmlns:a16="http://schemas.microsoft.com/office/drawing/2014/main" id="{DD0EC3DD-95DA-424D-888D-20E85F026E60}"/>
              </a:ext>
            </a:extLst>
          </p:cNvPr>
          <p:cNvCxnSpPr>
            <a:stCxn id="7" idx="0"/>
          </p:cNvCxnSpPr>
          <p:nvPr/>
        </p:nvCxnSpPr>
        <p:spPr bwMode="auto">
          <a:xfrm flipH="1" flipV="1">
            <a:off x="2400301" y="3314700"/>
            <a:ext cx="10253" cy="6858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0" name="TextBox 9">
            <a:extLst>
              <a:ext uri="{FF2B5EF4-FFF2-40B4-BE49-F238E27FC236}">
                <a16:creationId xmlns:a16="http://schemas.microsoft.com/office/drawing/2014/main" id="{9799053E-351F-444B-A238-93BA8CC3AE9B}"/>
              </a:ext>
            </a:extLst>
          </p:cNvPr>
          <p:cNvSpPr txBox="1"/>
          <p:nvPr/>
        </p:nvSpPr>
        <p:spPr>
          <a:xfrm>
            <a:off x="1945463" y="3084984"/>
            <a:ext cx="986167" cy="253916"/>
          </a:xfrm>
          <a:prstGeom prst="rect">
            <a:avLst/>
          </a:prstGeom>
          <a:noFill/>
        </p:spPr>
        <p:txBody>
          <a:bodyPr wrap="none" rtlCol="0">
            <a:spAutoFit/>
          </a:bodyPr>
          <a:lstStyle/>
          <a:p>
            <a:r>
              <a:rPr lang="en-US" sz="1050" dirty="0">
                <a:solidFill>
                  <a:srgbClr val="00B050"/>
                </a:solidFill>
              </a:rPr>
              <a:t>Convolution</a:t>
            </a:r>
            <a:endParaRPr lang="en-IN" sz="1050" dirty="0">
              <a:solidFill>
                <a:srgbClr val="00B050"/>
              </a:solidFill>
            </a:endParaRPr>
          </a:p>
        </p:txBody>
      </p:sp>
      <p:sp>
        <p:nvSpPr>
          <p:cNvPr id="11" name="TextBox 10">
            <a:extLst>
              <a:ext uri="{FF2B5EF4-FFF2-40B4-BE49-F238E27FC236}">
                <a16:creationId xmlns:a16="http://schemas.microsoft.com/office/drawing/2014/main" id="{90FEE151-2A12-4CE8-8BF0-1F1DD606EBFC}"/>
              </a:ext>
            </a:extLst>
          </p:cNvPr>
          <p:cNvSpPr txBox="1"/>
          <p:nvPr/>
        </p:nvSpPr>
        <p:spPr>
          <a:xfrm>
            <a:off x="3071121" y="4138999"/>
            <a:ext cx="249107" cy="300082"/>
          </a:xfrm>
          <a:prstGeom prst="rect">
            <a:avLst/>
          </a:prstGeom>
          <a:noFill/>
        </p:spPr>
        <p:txBody>
          <a:bodyPr wrap="square" rtlCol="0">
            <a:spAutoFit/>
          </a:bodyPr>
          <a:lstStyle/>
          <a:p>
            <a:r>
              <a:rPr lang="en-US" sz="1350" b="1" dirty="0">
                <a:solidFill>
                  <a:srgbClr val="9900FF"/>
                </a:solidFill>
              </a:rPr>
              <a:t>=</a:t>
            </a:r>
            <a:endParaRPr lang="en-IN" sz="1350" b="1" dirty="0">
              <a:solidFill>
                <a:srgbClr val="9900FF"/>
              </a:solidFill>
            </a:endParaRPr>
          </a:p>
        </p:txBody>
      </p:sp>
    </p:spTree>
    <p:extLst>
      <p:ext uri="{BB962C8B-B14F-4D97-AF65-F5344CB8AC3E}">
        <p14:creationId xmlns:p14="http://schemas.microsoft.com/office/powerpoint/2010/main" val="11092292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EF4C8-B734-4D6F-97F0-05E1A25965ED}"/>
              </a:ext>
            </a:extLst>
          </p:cNvPr>
          <p:cNvSpPr>
            <a:spLocks noGrp="1"/>
          </p:cNvSpPr>
          <p:nvPr>
            <p:ph type="title"/>
          </p:nvPr>
        </p:nvSpPr>
        <p:spPr/>
        <p:txBody>
          <a:bodyPr/>
          <a:lstStyle/>
          <a:p>
            <a:r>
              <a:rPr lang="en-US" dirty="0"/>
              <a:t>Example of Convolution Operation</a:t>
            </a:r>
            <a:endParaRPr lang="en-IN" dirty="0"/>
          </a:p>
        </p:txBody>
      </p:sp>
      <p:sp>
        <p:nvSpPr>
          <p:cNvPr id="4" name="Slide Number Placeholder 3">
            <a:extLst>
              <a:ext uri="{FF2B5EF4-FFF2-40B4-BE49-F238E27FC236}">
                <a16:creationId xmlns:a16="http://schemas.microsoft.com/office/drawing/2014/main" id="{6C43285A-1616-4A90-9AA3-6CD06C18F7DE}"/>
              </a:ext>
            </a:extLst>
          </p:cNvPr>
          <p:cNvSpPr>
            <a:spLocks noGrp="1"/>
          </p:cNvSpPr>
          <p:nvPr>
            <p:ph type="sldNum" sz="quarter" idx="12"/>
          </p:nvPr>
        </p:nvSpPr>
        <p:spPr/>
        <p:txBody>
          <a:bodyPr/>
          <a:lstStyle/>
          <a:p>
            <a:fld id="{BB2CE0DE-867F-455F-B20B-96D381B4AB71}" type="slidenum">
              <a:rPr lang="en-US" smtClean="0"/>
              <a:t>12</a:t>
            </a:fld>
            <a:endParaRPr lang="en-US"/>
          </a:p>
        </p:txBody>
      </p:sp>
      <p:pic>
        <p:nvPicPr>
          <p:cNvPr id="5" name="Picture 4">
            <a:extLst>
              <a:ext uri="{FF2B5EF4-FFF2-40B4-BE49-F238E27FC236}">
                <a16:creationId xmlns:a16="http://schemas.microsoft.com/office/drawing/2014/main" id="{96EACFD1-D842-4397-B582-85AC48D34073}"/>
              </a:ext>
            </a:extLst>
          </p:cNvPr>
          <p:cNvPicPr>
            <a:picLocks noChangeAspect="1"/>
          </p:cNvPicPr>
          <p:nvPr/>
        </p:nvPicPr>
        <p:blipFill>
          <a:blip r:embed="rId2"/>
          <a:stretch>
            <a:fillRect/>
          </a:stretch>
        </p:blipFill>
        <p:spPr>
          <a:xfrm>
            <a:off x="574675" y="1143000"/>
            <a:ext cx="3997325" cy="5257658"/>
          </a:xfrm>
          <a:prstGeom prst="rect">
            <a:avLst/>
          </a:prstGeom>
        </p:spPr>
      </p:pic>
    </p:spTree>
    <p:extLst>
      <p:ext uri="{BB962C8B-B14F-4D97-AF65-F5344CB8AC3E}">
        <p14:creationId xmlns:p14="http://schemas.microsoft.com/office/powerpoint/2010/main" val="40907291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E7166-70B8-46D8-9945-868CA7E17E7B}"/>
              </a:ext>
            </a:extLst>
          </p:cNvPr>
          <p:cNvSpPr>
            <a:spLocks noGrp="1"/>
          </p:cNvSpPr>
          <p:nvPr>
            <p:ph type="title"/>
          </p:nvPr>
        </p:nvSpPr>
        <p:spPr/>
        <p:txBody>
          <a:bodyPr/>
          <a:lstStyle/>
          <a:p>
            <a:r>
              <a:rPr lang="en-US" dirty="0"/>
              <a:t>Key Terms in Convolution Operation</a:t>
            </a:r>
            <a:endParaRPr lang="en-IN" dirty="0"/>
          </a:p>
        </p:txBody>
      </p:sp>
      <p:sp>
        <p:nvSpPr>
          <p:cNvPr id="3" name="Content Placeholder 2">
            <a:extLst>
              <a:ext uri="{FF2B5EF4-FFF2-40B4-BE49-F238E27FC236}">
                <a16:creationId xmlns:a16="http://schemas.microsoft.com/office/drawing/2014/main" id="{1CBF5202-C802-4269-9870-69379289D34B}"/>
              </a:ext>
            </a:extLst>
          </p:cNvPr>
          <p:cNvSpPr>
            <a:spLocks noGrp="1"/>
          </p:cNvSpPr>
          <p:nvPr>
            <p:ph idx="1"/>
          </p:nvPr>
        </p:nvSpPr>
        <p:spPr/>
        <p:txBody>
          <a:bodyPr/>
          <a:lstStyle/>
          <a:p>
            <a:pPr algn="just">
              <a:buFont typeface="Arial" panose="020B0604020202020204" pitchFamily="34" charset="0"/>
              <a:buChar char="•"/>
            </a:pPr>
            <a:r>
              <a:rPr lang="en-US" sz="1600" b="1" dirty="0">
                <a:solidFill>
                  <a:srgbClr val="444444"/>
                </a:solidFill>
                <a:latin typeface="Roboto" panose="02000000000000000000" pitchFamily="2" charset="0"/>
              </a:rPr>
              <a:t>Kernel Size:</a:t>
            </a:r>
            <a:r>
              <a:rPr lang="en-US" sz="1600" dirty="0">
                <a:solidFill>
                  <a:srgbClr val="444444"/>
                </a:solidFill>
                <a:latin typeface="Roboto" panose="02000000000000000000" pitchFamily="2" charset="0"/>
              </a:rPr>
              <a:t>  The convolution operation uses a filter, also known as a kernel, which is typically a square matrix. Common kernel sizes are 3×3, 5×5, or even larger. Larger kernels analyze more context within an image but come at the cost of reduced spatial resolution and increased computational demands.</a:t>
            </a:r>
          </a:p>
          <a:p>
            <a:pPr algn="just">
              <a:buFont typeface="Arial" panose="020B0604020202020204" pitchFamily="34" charset="0"/>
              <a:buChar char="•"/>
            </a:pPr>
            <a:r>
              <a:rPr lang="en-US" sz="1600" b="1" dirty="0">
                <a:solidFill>
                  <a:srgbClr val="444444"/>
                </a:solidFill>
                <a:latin typeface="Roboto" panose="02000000000000000000" pitchFamily="2" charset="0"/>
              </a:rPr>
              <a:t>Stride:</a:t>
            </a:r>
            <a:r>
              <a:rPr lang="en-US" sz="1600" dirty="0">
                <a:solidFill>
                  <a:srgbClr val="444444"/>
                </a:solidFill>
                <a:latin typeface="Roboto" panose="02000000000000000000" pitchFamily="2" charset="0"/>
              </a:rPr>
              <a:t> Stride is the number of pixels by which the kernel moves as it slides over the image. A stride of 1 means the kernel moves one pixel at a time, leading to a high-resolution output of the convolution. Increasing the stride reduces the output dimensions, which can help decrease computational cost and control overfitting but at the loss of some image detail.</a:t>
            </a:r>
          </a:p>
          <a:p>
            <a:pPr algn="just">
              <a:buFont typeface="Arial" panose="020B0604020202020204" pitchFamily="34" charset="0"/>
              <a:buChar char="•"/>
            </a:pPr>
            <a:r>
              <a:rPr lang="en-US" sz="1600" b="1" dirty="0">
                <a:solidFill>
                  <a:srgbClr val="444444"/>
                </a:solidFill>
                <a:latin typeface="Roboto" panose="02000000000000000000" pitchFamily="2" charset="0"/>
              </a:rPr>
              <a:t>Padding:</a:t>
            </a:r>
            <a:r>
              <a:rPr lang="en-US" sz="1600" dirty="0">
                <a:solidFill>
                  <a:srgbClr val="444444"/>
                </a:solidFill>
                <a:latin typeface="Roboto" panose="02000000000000000000" pitchFamily="2" charset="0"/>
              </a:rPr>
              <a:t> Padding involves adding an appropriate number of rows and columns (typically of zeros) to the input image borders. This ensures that the convolution kernel fits perfectly at the borders, allowing the output image to retain the same size as the input image.</a:t>
            </a:r>
          </a:p>
          <a:p>
            <a:pPr algn="just"/>
            <a:endParaRPr lang="en-IN" sz="1350" dirty="0"/>
          </a:p>
        </p:txBody>
      </p:sp>
      <p:sp>
        <p:nvSpPr>
          <p:cNvPr id="4" name="Slide Number Placeholder 3">
            <a:extLst>
              <a:ext uri="{FF2B5EF4-FFF2-40B4-BE49-F238E27FC236}">
                <a16:creationId xmlns:a16="http://schemas.microsoft.com/office/drawing/2014/main" id="{3D6CAF6E-4AB2-4614-8EBF-B463D665E845}"/>
              </a:ext>
            </a:extLst>
          </p:cNvPr>
          <p:cNvSpPr>
            <a:spLocks noGrp="1"/>
          </p:cNvSpPr>
          <p:nvPr>
            <p:ph type="sldNum" sz="quarter" idx="12"/>
          </p:nvPr>
        </p:nvSpPr>
        <p:spPr/>
        <p:txBody>
          <a:bodyPr/>
          <a:lstStyle/>
          <a:p>
            <a:fld id="{BB2CE0DE-867F-455F-B20B-96D381B4AB71}" type="slidenum">
              <a:rPr lang="en-US" smtClean="0"/>
              <a:t>13</a:t>
            </a:fld>
            <a:endParaRPr lang="en-US"/>
          </a:p>
        </p:txBody>
      </p:sp>
    </p:spTree>
    <p:extLst>
      <p:ext uri="{BB962C8B-B14F-4D97-AF65-F5344CB8AC3E}">
        <p14:creationId xmlns:p14="http://schemas.microsoft.com/office/powerpoint/2010/main" val="5990827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89564-DEF8-4D5D-9B59-07A285EFBEE4}"/>
              </a:ext>
            </a:extLst>
          </p:cNvPr>
          <p:cNvSpPr>
            <a:spLocks noGrp="1"/>
          </p:cNvSpPr>
          <p:nvPr>
            <p:ph type="title"/>
          </p:nvPr>
        </p:nvSpPr>
        <p:spPr/>
        <p:txBody>
          <a:bodyPr/>
          <a:lstStyle/>
          <a:p>
            <a:r>
              <a:rPr lang="en-US" sz="2400" dirty="0"/>
              <a:t>Filters or Kernels: Why do we care about them?</a:t>
            </a:r>
            <a:endParaRPr lang="en-IN" sz="2400" dirty="0"/>
          </a:p>
        </p:txBody>
      </p:sp>
      <p:sp>
        <p:nvSpPr>
          <p:cNvPr id="3" name="Content Placeholder 2">
            <a:extLst>
              <a:ext uri="{FF2B5EF4-FFF2-40B4-BE49-F238E27FC236}">
                <a16:creationId xmlns:a16="http://schemas.microsoft.com/office/drawing/2014/main" id="{F744D3B2-C70F-4982-B3AF-F315BF377A56}"/>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23CCAD21-D13B-4A39-86F3-49F27504A219}"/>
              </a:ext>
            </a:extLst>
          </p:cNvPr>
          <p:cNvSpPr>
            <a:spLocks noGrp="1"/>
          </p:cNvSpPr>
          <p:nvPr>
            <p:ph type="sldNum" sz="quarter" idx="12"/>
          </p:nvPr>
        </p:nvSpPr>
        <p:spPr/>
        <p:txBody>
          <a:bodyPr/>
          <a:lstStyle/>
          <a:p>
            <a:fld id="{BB2CE0DE-867F-455F-B20B-96D381B4AB71}" type="slidenum">
              <a:rPr lang="en-US" smtClean="0"/>
              <a:t>14</a:t>
            </a:fld>
            <a:endParaRPr lang="en-US"/>
          </a:p>
        </p:txBody>
      </p:sp>
      <p:pic>
        <p:nvPicPr>
          <p:cNvPr id="6" name="Picture 5">
            <a:extLst>
              <a:ext uri="{FF2B5EF4-FFF2-40B4-BE49-F238E27FC236}">
                <a16:creationId xmlns:a16="http://schemas.microsoft.com/office/drawing/2014/main" id="{1AD4A067-650E-4CB9-A524-C861F05E9DA3}"/>
              </a:ext>
            </a:extLst>
          </p:cNvPr>
          <p:cNvPicPr>
            <a:picLocks noChangeAspect="1"/>
          </p:cNvPicPr>
          <p:nvPr/>
        </p:nvPicPr>
        <p:blipFill>
          <a:blip r:embed="rId2"/>
          <a:stretch>
            <a:fillRect/>
          </a:stretch>
        </p:blipFill>
        <p:spPr>
          <a:xfrm>
            <a:off x="114300" y="1643986"/>
            <a:ext cx="3993914" cy="2622122"/>
          </a:xfrm>
          <a:prstGeom prst="rect">
            <a:avLst/>
          </a:prstGeom>
        </p:spPr>
      </p:pic>
      <p:sp>
        <p:nvSpPr>
          <p:cNvPr id="7" name="TextBox 6">
            <a:extLst>
              <a:ext uri="{FF2B5EF4-FFF2-40B4-BE49-F238E27FC236}">
                <a16:creationId xmlns:a16="http://schemas.microsoft.com/office/drawing/2014/main" id="{22345AB5-4ECF-4759-8500-53E0BED7F30D}"/>
              </a:ext>
            </a:extLst>
          </p:cNvPr>
          <p:cNvSpPr txBox="1"/>
          <p:nvPr/>
        </p:nvSpPr>
        <p:spPr>
          <a:xfrm>
            <a:off x="543206" y="5685588"/>
            <a:ext cx="3449983" cy="230832"/>
          </a:xfrm>
          <a:prstGeom prst="rect">
            <a:avLst/>
          </a:prstGeom>
          <a:noFill/>
        </p:spPr>
        <p:txBody>
          <a:bodyPr wrap="none" rtlCol="0">
            <a:spAutoFit/>
          </a:bodyPr>
          <a:lstStyle/>
          <a:p>
            <a:r>
              <a:rPr lang="en-US" sz="900" dirty="0"/>
              <a:t>Ref.: https://www.youtube.com/watch?v=P6d8NbTlEpU</a:t>
            </a:r>
            <a:endParaRPr lang="en-IN" sz="900" dirty="0"/>
          </a:p>
        </p:txBody>
      </p:sp>
      <p:pic>
        <p:nvPicPr>
          <p:cNvPr id="9" name="Picture 8">
            <a:extLst>
              <a:ext uri="{FF2B5EF4-FFF2-40B4-BE49-F238E27FC236}">
                <a16:creationId xmlns:a16="http://schemas.microsoft.com/office/drawing/2014/main" id="{9B945B9C-99FE-4984-8702-CBB61662768D}"/>
              </a:ext>
            </a:extLst>
          </p:cNvPr>
          <p:cNvPicPr>
            <a:picLocks noChangeAspect="1"/>
          </p:cNvPicPr>
          <p:nvPr/>
        </p:nvPicPr>
        <p:blipFill>
          <a:blip r:embed="rId3"/>
          <a:stretch>
            <a:fillRect/>
          </a:stretch>
        </p:blipFill>
        <p:spPr>
          <a:xfrm>
            <a:off x="4336951" y="3514347"/>
            <a:ext cx="5029200" cy="2171241"/>
          </a:xfrm>
          <a:prstGeom prst="rect">
            <a:avLst/>
          </a:prstGeom>
        </p:spPr>
      </p:pic>
      <p:pic>
        <p:nvPicPr>
          <p:cNvPr id="12" name="Picture 11">
            <a:extLst>
              <a:ext uri="{FF2B5EF4-FFF2-40B4-BE49-F238E27FC236}">
                <a16:creationId xmlns:a16="http://schemas.microsoft.com/office/drawing/2014/main" id="{622B369B-F1F8-47EF-90D2-F3B83B976FB2}"/>
              </a:ext>
            </a:extLst>
          </p:cNvPr>
          <p:cNvPicPr>
            <a:picLocks noChangeAspect="1"/>
          </p:cNvPicPr>
          <p:nvPr/>
        </p:nvPicPr>
        <p:blipFill>
          <a:blip r:embed="rId4"/>
          <a:stretch>
            <a:fillRect/>
          </a:stretch>
        </p:blipFill>
        <p:spPr>
          <a:xfrm>
            <a:off x="5314950" y="2673498"/>
            <a:ext cx="2872188" cy="435830"/>
          </a:xfrm>
          <a:prstGeom prst="rect">
            <a:avLst/>
          </a:prstGeom>
        </p:spPr>
      </p:pic>
      <p:sp>
        <p:nvSpPr>
          <p:cNvPr id="13" name="TextBox 12">
            <a:extLst>
              <a:ext uri="{FF2B5EF4-FFF2-40B4-BE49-F238E27FC236}">
                <a16:creationId xmlns:a16="http://schemas.microsoft.com/office/drawing/2014/main" id="{027C1415-2FA5-4311-B1B1-CAD0BC49445D}"/>
              </a:ext>
            </a:extLst>
          </p:cNvPr>
          <p:cNvSpPr txBox="1"/>
          <p:nvPr/>
        </p:nvSpPr>
        <p:spPr>
          <a:xfrm>
            <a:off x="5463616" y="3152001"/>
            <a:ext cx="1802738" cy="300082"/>
          </a:xfrm>
          <a:prstGeom prst="rect">
            <a:avLst/>
          </a:prstGeom>
          <a:noFill/>
        </p:spPr>
        <p:txBody>
          <a:bodyPr wrap="none" rtlCol="0">
            <a:spAutoFit/>
          </a:bodyPr>
          <a:lstStyle/>
          <a:p>
            <a:r>
              <a:rPr lang="en-US" sz="1350" dirty="0"/>
              <a:t>To detect left edge</a:t>
            </a:r>
            <a:endParaRPr lang="en-IN" sz="1350" dirty="0"/>
          </a:p>
        </p:txBody>
      </p:sp>
    </p:spTree>
    <p:extLst>
      <p:ext uri="{BB962C8B-B14F-4D97-AF65-F5344CB8AC3E}">
        <p14:creationId xmlns:p14="http://schemas.microsoft.com/office/powerpoint/2010/main" val="17694814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7AE9D-B2BD-47CB-AE0D-0E37D42A3CF5}"/>
              </a:ext>
            </a:extLst>
          </p:cNvPr>
          <p:cNvSpPr>
            <a:spLocks noGrp="1"/>
          </p:cNvSpPr>
          <p:nvPr>
            <p:ph type="title"/>
          </p:nvPr>
        </p:nvSpPr>
        <p:spPr/>
        <p:txBody>
          <a:bodyPr/>
          <a:lstStyle/>
          <a:p>
            <a:r>
              <a:rPr lang="en-US" sz="2400" dirty="0"/>
              <a:t>Filters or Kernels: Why do we care about them?</a:t>
            </a:r>
            <a:endParaRPr lang="en-IN" sz="2400" dirty="0"/>
          </a:p>
        </p:txBody>
      </p:sp>
      <p:graphicFrame>
        <p:nvGraphicFramePr>
          <p:cNvPr id="5" name="Table 5">
            <a:extLst>
              <a:ext uri="{FF2B5EF4-FFF2-40B4-BE49-F238E27FC236}">
                <a16:creationId xmlns:a16="http://schemas.microsoft.com/office/drawing/2014/main" id="{773C5B38-3945-4965-8B87-AD585A7A5E46}"/>
              </a:ext>
            </a:extLst>
          </p:cNvPr>
          <p:cNvGraphicFramePr>
            <a:graphicFrameLocks noGrp="1"/>
          </p:cNvGraphicFramePr>
          <p:nvPr>
            <p:ph idx="1"/>
          </p:nvPr>
        </p:nvGraphicFramePr>
        <p:xfrm>
          <a:off x="342900" y="2748970"/>
          <a:ext cx="3314707" cy="308720"/>
        </p:xfrm>
        <a:graphic>
          <a:graphicData uri="http://schemas.openxmlformats.org/drawingml/2006/table">
            <a:tbl>
              <a:tblPr firstRow="1" bandRow="1">
                <a:tableStyleId>{5C22544A-7EE6-4342-B048-85BDC9FD1C3A}</a:tableStyleId>
              </a:tblPr>
              <a:tblGrid>
                <a:gridCol w="301337">
                  <a:extLst>
                    <a:ext uri="{9D8B030D-6E8A-4147-A177-3AD203B41FA5}">
                      <a16:colId xmlns:a16="http://schemas.microsoft.com/office/drawing/2014/main" val="833901339"/>
                    </a:ext>
                  </a:extLst>
                </a:gridCol>
                <a:gridCol w="301337">
                  <a:extLst>
                    <a:ext uri="{9D8B030D-6E8A-4147-A177-3AD203B41FA5}">
                      <a16:colId xmlns:a16="http://schemas.microsoft.com/office/drawing/2014/main" val="3544212426"/>
                    </a:ext>
                  </a:extLst>
                </a:gridCol>
                <a:gridCol w="301337">
                  <a:extLst>
                    <a:ext uri="{9D8B030D-6E8A-4147-A177-3AD203B41FA5}">
                      <a16:colId xmlns:a16="http://schemas.microsoft.com/office/drawing/2014/main" val="996820814"/>
                    </a:ext>
                  </a:extLst>
                </a:gridCol>
                <a:gridCol w="301337">
                  <a:extLst>
                    <a:ext uri="{9D8B030D-6E8A-4147-A177-3AD203B41FA5}">
                      <a16:colId xmlns:a16="http://schemas.microsoft.com/office/drawing/2014/main" val="908204355"/>
                    </a:ext>
                  </a:extLst>
                </a:gridCol>
                <a:gridCol w="301337">
                  <a:extLst>
                    <a:ext uri="{9D8B030D-6E8A-4147-A177-3AD203B41FA5}">
                      <a16:colId xmlns:a16="http://schemas.microsoft.com/office/drawing/2014/main" val="2027995487"/>
                    </a:ext>
                  </a:extLst>
                </a:gridCol>
                <a:gridCol w="301337">
                  <a:extLst>
                    <a:ext uri="{9D8B030D-6E8A-4147-A177-3AD203B41FA5}">
                      <a16:colId xmlns:a16="http://schemas.microsoft.com/office/drawing/2014/main" val="15542502"/>
                    </a:ext>
                  </a:extLst>
                </a:gridCol>
                <a:gridCol w="301337">
                  <a:extLst>
                    <a:ext uri="{9D8B030D-6E8A-4147-A177-3AD203B41FA5}">
                      <a16:colId xmlns:a16="http://schemas.microsoft.com/office/drawing/2014/main" val="1609716022"/>
                    </a:ext>
                  </a:extLst>
                </a:gridCol>
                <a:gridCol w="301337">
                  <a:extLst>
                    <a:ext uri="{9D8B030D-6E8A-4147-A177-3AD203B41FA5}">
                      <a16:colId xmlns:a16="http://schemas.microsoft.com/office/drawing/2014/main" val="2471040793"/>
                    </a:ext>
                  </a:extLst>
                </a:gridCol>
                <a:gridCol w="301337">
                  <a:extLst>
                    <a:ext uri="{9D8B030D-6E8A-4147-A177-3AD203B41FA5}">
                      <a16:colId xmlns:a16="http://schemas.microsoft.com/office/drawing/2014/main" val="2403608804"/>
                    </a:ext>
                  </a:extLst>
                </a:gridCol>
                <a:gridCol w="301337">
                  <a:extLst>
                    <a:ext uri="{9D8B030D-6E8A-4147-A177-3AD203B41FA5}">
                      <a16:colId xmlns:a16="http://schemas.microsoft.com/office/drawing/2014/main" val="1336524913"/>
                    </a:ext>
                  </a:extLst>
                </a:gridCol>
                <a:gridCol w="301337">
                  <a:extLst>
                    <a:ext uri="{9D8B030D-6E8A-4147-A177-3AD203B41FA5}">
                      <a16:colId xmlns:a16="http://schemas.microsoft.com/office/drawing/2014/main" val="76049941"/>
                    </a:ext>
                  </a:extLst>
                </a:gridCol>
              </a:tblGrid>
              <a:tr h="308720">
                <a:tc>
                  <a:txBody>
                    <a:bodyPr/>
                    <a:lstStyle/>
                    <a:p>
                      <a:r>
                        <a:rPr lang="en-US" sz="1400" b="0" dirty="0">
                          <a:solidFill>
                            <a:srgbClr val="003366"/>
                          </a:solidFill>
                        </a:rPr>
                        <a:t>0</a:t>
                      </a:r>
                      <a:endParaRPr lang="en-IN" sz="1400" b="0" dirty="0">
                        <a:solidFill>
                          <a:srgbClr val="003366"/>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dirty="0">
                          <a:solidFill>
                            <a:srgbClr val="003366"/>
                          </a:solidFill>
                        </a:rPr>
                        <a:t>0</a:t>
                      </a:r>
                      <a:endParaRPr lang="en-IN" sz="1400" b="0" dirty="0">
                        <a:solidFill>
                          <a:srgbClr val="003366"/>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dirty="0">
                          <a:solidFill>
                            <a:srgbClr val="003366"/>
                          </a:solidFill>
                        </a:rPr>
                        <a:t>1</a:t>
                      </a:r>
                      <a:endParaRPr lang="en-IN" sz="1400" b="0" dirty="0">
                        <a:solidFill>
                          <a:srgbClr val="003366"/>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dirty="0">
                          <a:solidFill>
                            <a:srgbClr val="003366"/>
                          </a:solidFill>
                        </a:rPr>
                        <a:t>1</a:t>
                      </a:r>
                      <a:endParaRPr lang="en-IN" sz="1400" b="0" dirty="0">
                        <a:solidFill>
                          <a:srgbClr val="003366"/>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dirty="0">
                          <a:solidFill>
                            <a:srgbClr val="003366"/>
                          </a:solidFill>
                        </a:rPr>
                        <a:t>1</a:t>
                      </a:r>
                      <a:endParaRPr lang="en-IN" sz="1400" b="0" dirty="0">
                        <a:solidFill>
                          <a:srgbClr val="003366"/>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dirty="0">
                          <a:solidFill>
                            <a:srgbClr val="003366"/>
                          </a:solidFill>
                        </a:rPr>
                        <a:t>0</a:t>
                      </a:r>
                      <a:endParaRPr lang="en-IN" sz="1400" b="0" dirty="0">
                        <a:solidFill>
                          <a:srgbClr val="003366"/>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dirty="0">
                          <a:solidFill>
                            <a:srgbClr val="003366"/>
                          </a:solidFill>
                        </a:rPr>
                        <a:t>1</a:t>
                      </a:r>
                      <a:endParaRPr lang="en-IN" sz="1400" b="0" dirty="0">
                        <a:solidFill>
                          <a:srgbClr val="003366"/>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dirty="0">
                          <a:solidFill>
                            <a:srgbClr val="003366"/>
                          </a:solidFill>
                        </a:rPr>
                        <a:t>0</a:t>
                      </a:r>
                      <a:endParaRPr lang="en-IN" sz="1400" b="0" dirty="0">
                        <a:solidFill>
                          <a:srgbClr val="003366"/>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dirty="0">
                          <a:solidFill>
                            <a:srgbClr val="003366"/>
                          </a:solidFill>
                        </a:rPr>
                        <a:t>0</a:t>
                      </a:r>
                      <a:endParaRPr lang="en-IN" sz="1400" b="0" dirty="0">
                        <a:solidFill>
                          <a:srgbClr val="003366"/>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dirty="0">
                          <a:solidFill>
                            <a:srgbClr val="003366"/>
                          </a:solidFill>
                        </a:rPr>
                        <a:t>0</a:t>
                      </a:r>
                      <a:endParaRPr lang="en-IN" sz="1400" b="0" dirty="0">
                        <a:solidFill>
                          <a:srgbClr val="003366"/>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dirty="0">
                          <a:solidFill>
                            <a:srgbClr val="003366"/>
                          </a:solidFill>
                        </a:rPr>
                        <a:t>0</a:t>
                      </a:r>
                      <a:endParaRPr lang="en-IN" sz="1400" b="0" dirty="0">
                        <a:solidFill>
                          <a:srgbClr val="003366"/>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FF"/>
                    </a:solidFill>
                  </a:tcPr>
                </a:tc>
                <a:extLst>
                  <a:ext uri="{0D108BD9-81ED-4DB2-BD59-A6C34878D82A}">
                    <a16:rowId xmlns:a16="http://schemas.microsoft.com/office/drawing/2014/main" val="2796157839"/>
                  </a:ext>
                </a:extLst>
              </a:tr>
            </a:tbl>
          </a:graphicData>
        </a:graphic>
      </p:graphicFrame>
      <p:sp>
        <p:nvSpPr>
          <p:cNvPr id="4" name="Slide Number Placeholder 3">
            <a:extLst>
              <a:ext uri="{FF2B5EF4-FFF2-40B4-BE49-F238E27FC236}">
                <a16:creationId xmlns:a16="http://schemas.microsoft.com/office/drawing/2014/main" id="{A15A3FC5-32DF-47B7-A12E-2DD839E7721D}"/>
              </a:ext>
            </a:extLst>
          </p:cNvPr>
          <p:cNvSpPr>
            <a:spLocks noGrp="1"/>
          </p:cNvSpPr>
          <p:nvPr>
            <p:ph type="sldNum" sz="quarter" idx="12"/>
          </p:nvPr>
        </p:nvSpPr>
        <p:spPr/>
        <p:txBody>
          <a:bodyPr/>
          <a:lstStyle/>
          <a:p>
            <a:fld id="{BB2CE0DE-867F-455F-B20B-96D381B4AB71}" type="slidenum">
              <a:rPr lang="en-US" smtClean="0"/>
              <a:t>15</a:t>
            </a:fld>
            <a:endParaRPr lang="en-US"/>
          </a:p>
        </p:txBody>
      </p:sp>
      <p:pic>
        <p:nvPicPr>
          <p:cNvPr id="6" name="Picture 5">
            <a:extLst>
              <a:ext uri="{FF2B5EF4-FFF2-40B4-BE49-F238E27FC236}">
                <a16:creationId xmlns:a16="http://schemas.microsoft.com/office/drawing/2014/main" id="{59835606-C522-43CF-8AF6-623CD076E90C}"/>
              </a:ext>
            </a:extLst>
          </p:cNvPr>
          <p:cNvPicPr>
            <a:picLocks noChangeAspect="1"/>
          </p:cNvPicPr>
          <p:nvPr/>
        </p:nvPicPr>
        <p:blipFill>
          <a:blip r:embed="rId2"/>
          <a:stretch>
            <a:fillRect/>
          </a:stretch>
        </p:blipFill>
        <p:spPr>
          <a:xfrm>
            <a:off x="285751" y="2210234"/>
            <a:ext cx="3133499" cy="475481"/>
          </a:xfrm>
          <a:prstGeom prst="rect">
            <a:avLst/>
          </a:prstGeom>
        </p:spPr>
      </p:pic>
      <p:sp>
        <p:nvSpPr>
          <p:cNvPr id="7" name="TextBox 6">
            <a:extLst>
              <a:ext uri="{FF2B5EF4-FFF2-40B4-BE49-F238E27FC236}">
                <a16:creationId xmlns:a16="http://schemas.microsoft.com/office/drawing/2014/main" id="{7C393F2F-FC84-45D1-B96F-A691EE262B82}"/>
              </a:ext>
            </a:extLst>
          </p:cNvPr>
          <p:cNvSpPr txBox="1"/>
          <p:nvPr/>
        </p:nvSpPr>
        <p:spPr>
          <a:xfrm>
            <a:off x="171450" y="1781180"/>
            <a:ext cx="865943" cy="261610"/>
          </a:xfrm>
          <a:prstGeom prst="rect">
            <a:avLst/>
          </a:prstGeom>
          <a:noFill/>
        </p:spPr>
        <p:txBody>
          <a:bodyPr wrap="none" rtlCol="0">
            <a:spAutoFit/>
          </a:bodyPr>
          <a:lstStyle/>
          <a:p>
            <a:r>
              <a:rPr lang="en-US" sz="1100" dirty="0"/>
              <a:t>1D image</a:t>
            </a:r>
            <a:endParaRPr lang="en-IN" sz="1100" dirty="0"/>
          </a:p>
        </p:txBody>
      </p:sp>
      <p:cxnSp>
        <p:nvCxnSpPr>
          <p:cNvPr id="9" name="Straight Arrow Connector 8">
            <a:extLst>
              <a:ext uri="{FF2B5EF4-FFF2-40B4-BE49-F238E27FC236}">
                <a16:creationId xmlns:a16="http://schemas.microsoft.com/office/drawing/2014/main" id="{9546CCFB-4EC2-4603-9C06-B08BD5CC257D}"/>
              </a:ext>
            </a:extLst>
          </p:cNvPr>
          <p:cNvCxnSpPr/>
          <p:nvPr/>
        </p:nvCxnSpPr>
        <p:spPr bwMode="auto">
          <a:xfrm flipV="1">
            <a:off x="3462625" y="2498419"/>
            <a:ext cx="285750" cy="2286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0" name="TextBox 9">
            <a:extLst>
              <a:ext uri="{FF2B5EF4-FFF2-40B4-BE49-F238E27FC236}">
                <a16:creationId xmlns:a16="http://schemas.microsoft.com/office/drawing/2014/main" id="{C9D960CC-1617-48A4-A624-60F174608E2B}"/>
              </a:ext>
            </a:extLst>
          </p:cNvPr>
          <p:cNvSpPr txBox="1"/>
          <p:nvPr/>
        </p:nvSpPr>
        <p:spPr>
          <a:xfrm>
            <a:off x="3657602" y="2353482"/>
            <a:ext cx="868123" cy="300082"/>
          </a:xfrm>
          <a:prstGeom prst="rect">
            <a:avLst/>
          </a:prstGeom>
          <a:noFill/>
        </p:spPr>
        <p:txBody>
          <a:bodyPr wrap="none" rtlCol="0">
            <a:spAutoFit/>
          </a:bodyPr>
          <a:lstStyle/>
          <a:p>
            <a:r>
              <a:rPr lang="en-US" sz="1350" dirty="0"/>
              <a:t>Padding</a:t>
            </a:r>
            <a:endParaRPr lang="en-IN" sz="1350" dirty="0"/>
          </a:p>
        </p:txBody>
      </p:sp>
      <p:graphicFrame>
        <p:nvGraphicFramePr>
          <p:cNvPr id="11" name="Table 5">
            <a:extLst>
              <a:ext uri="{FF2B5EF4-FFF2-40B4-BE49-F238E27FC236}">
                <a16:creationId xmlns:a16="http://schemas.microsoft.com/office/drawing/2014/main" id="{CC890C64-8C69-424D-B375-4196F5854373}"/>
              </a:ext>
            </a:extLst>
          </p:cNvPr>
          <p:cNvGraphicFramePr>
            <a:graphicFrameLocks/>
          </p:cNvGraphicFramePr>
          <p:nvPr/>
        </p:nvGraphicFramePr>
        <p:xfrm>
          <a:off x="285750" y="3754475"/>
          <a:ext cx="3193680" cy="251460"/>
        </p:xfrm>
        <a:graphic>
          <a:graphicData uri="http://schemas.openxmlformats.org/drawingml/2006/table">
            <a:tbl>
              <a:tblPr firstRow="1" bandRow="1">
                <a:tableStyleId>{5C22544A-7EE6-4342-B048-85BDC9FD1C3A}</a:tableStyleId>
              </a:tblPr>
              <a:tblGrid>
                <a:gridCol w="319368">
                  <a:extLst>
                    <a:ext uri="{9D8B030D-6E8A-4147-A177-3AD203B41FA5}">
                      <a16:colId xmlns:a16="http://schemas.microsoft.com/office/drawing/2014/main" val="833901339"/>
                    </a:ext>
                  </a:extLst>
                </a:gridCol>
                <a:gridCol w="319368">
                  <a:extLst>
                    <a:ext uri="{9D8B030D-6E8A-4147-A177-3AD203B41FA5}">
                      <a16:colId xmlns:a16="http://schemas.microsoft.com/office/drawing/2014/main" val="3544212426"/>
                    </a:ext>
                  </a:extLst>
                </a:gridCol>
                <a:gridCol w="319368">
                  <a:extLst>
                    <a:ext uri="{9D8B030D-6E8A-4147-A177-3AD203B41FA5}">
                      <a16:colId xmlns:a16="http://schemas.microsoft.com/office/drawing/2014/main" val="996820814"/>
                    </a:ext>
                  </a:extLst>
                </a:gridCol>
                <a:gridCol w="319368">
                  <a:extLst>
                    <a:ext uri="{9D8B030D-6E8A-4147-A177-3AD203B41FA5}">
                      <a16:colId xmlns:a16="http://schemas.microsoft.com/office/drawing/2014/main" val="908204355"/>
                    </a:ext>
                  </a:extLst>
                </a:gridCol>
                <a:gridCol w="319368">
                  <a:extLst>
                    <a:ext uri="{9D8B030D-6E8A-4147-A177-3AD203B41FA5}">
                      <a16:colId xmlns:a16="http://schemas.microsoft.com/office/drawing/2014/main" val="2027995487"/>
                    </a:ext>
                  </a:extLst>
                </a:gridCol>
                <a:gridCol w="319368">
                  <a:extLst>
                    <a:ext uri="{9D8B030D-6E8A-4147-A177-3AD203B41FA5}">
                      <a16:colId xmlns:a16="http://schemas.microsoft.com/office/drawing/2014/main" val="15542502"/>
                    </a:ext>
                  </a:extLst>
                </a:gridCol>
                <a:gridCol w="319368">
                  <a:extLst>
                    <a:ext uri="{9D8B030D-6E8A-4147-A177-3AD203B41FA5}">
                      <a16:colId xmlns:a16="http://schemas.microsoft.com/office/drawing/2014/main" val="1609716022"/>
                    </a:ext>
                  </a:extLst>
                </a:gridCol>
                <a:gridCol w="319368">
                  <a:extLst>
                    <a:ext uri="{9D8B030D-6E8A-4147-A177-3AD203B41FA5}">
                      <a16:colId xmlns:a16="http://schemas.microsoft.com/office/drawing/2014/main" val="2471040793"/>
                    </a:ext>
                  </a:extLst>
                </a:gridCol>
                <a:gridCol w="319368">
                  <a:extLst>
                    <a:ext uri="{9D8B030D-6E8A-4147-A177-3AD203B41FA5}">
                      <a16:colId xmlns:a16="http://schemas.microsoft.com/office/drawing/2014/main" val="2403608804"/>
                    </a:ext>
                  </a:extLst>
                </a:gridCol>
                <a:gridCol w="319368">
                  <a:extLst>
                    <a:ext uri="{9D8B030D-6E8A-4147-A177-3AD203B41FA5}">
                      <a16:colId xmlns:a16="http://schemas.microsoft.com/office/drawing/2014/main" val="1336524913"/>
                    </a:ext>
                  </a:extLst>
                </a:gridCol>
              </a:tblGrid>
              <a:tr h="251460">
                <a:tc>
                  <a:txBody>
                    <a:bodyPr/>
                    <a:lstStyle/>
                    <a:p>
                      <a:r>
                        <a:rPr lang="en-US" sz="1200" b="0" dirty="0">
                          <a:solidFill>
                            <a:srgbClr val="003366"/>
                          </a:solidFill>
                        </a:rPr>
                        <a:t>0</a:t>
                      </a:r>
                      <a:endParaRPr lang="en-IN" sz="1200" b="0" dirty="0">
                        <a:solidFill>
                          <a:srgbClr val="003366"/>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b="0" dirty="0">
                          <a:solidFill>
                            <a:srgbClr val="003366"/>
                          </a:solidFill>
                        </a:rPr>
                        <a:t>1</a:t>
                      </a:r>
                      <a:endParaRPr lang="en-IN" sz="1200" b="0" dirty="0">
                        <a:solidFill>
                          <a:srgbClr val="003366"/>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b="0" dirty="0">
                          <a:solidFill>
                            <a:srgbClr val="003366"/>
                          </a:solidFill>
                        </a:rPr>
                        <a:t>0</a:t>
                      </a:r>
                      <a:endParaRPr lang="en-IN" sz="1200" b="0" dirty="0">
                        <a:solidFill>
                          <a:srgbClr val="003366"/>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b="0" dirty="0">
                          <a:solidFill>
                            <a:srgbClr val="003366"/>
                          </a:solidFill>
                        </a:rPr>
                        <a:t>0</a:t>
                      </a:r>
                      <a:endParaRPr lang="en-IN" sz="1200" b="0" dirty="0">
                        <a:solidFill>
                          <a:srgbClr val="003366"/>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b="0" dirty="0">
                          <a:solidFill>
                            <a:srgbClr val="003366"/>
                          </a:solidFill>
                        </a:rPr>
                        <a:t>-1</a:t>
                      </a:r>
                      <a:endParaRPr lang="en-IN" sz="1200" b="0" dirty="0">
                        <a:solidFill>
                          <a:srgbClr val="003366"/>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b="0" dirty="0">
                          <a:solidFill>
                            <a:srgbClr val="003366"/>
                          </a:solidFill>
                        </a:rPr>
                        <a:t>1</a:t>
                      </a:r>
                      <a:endParaRPr lang="en-IN" sz="1200" b="0" dirty="0">
                        <a:solidFill>
                          <a:srgbClr val="003366"/>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b="0" dirty="0">
                          <a:solidFill>
                            <a:srgbClr val="003366"/>
                          </a:solidFill>
                        </a:rPr>
                        <a:t>-1</a:t>
                      </a:r>
                      <a:endParaRPr lang="en-IN" sz="1200" b="0" dirty="0">
                        <a:solidFill>
                          <a:srgbClr val="003366"/>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b="0" dirty="0">
                          <a:solidFill>
                            <a:srgbClr val="003366"/>
                          </a:solidFill>
                        </a:rPr>
                        <a:t>0</a:t>
                      </a:r>
                      <a:endParaRPr lang="en-IN" sz="1200" b="0" dirty="0">
                        <a:solidFill>
                          <a:srgbClr val="003366"/>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b="0" dirty="0">
                          <a:solidFill>
                            <a:srgbClr val="003366"/>
                          </a:solidFill>
                        </a:rPr>
                        <a:t>0</a:t>
                      </a:r>
                      <a:endParaRPr lang="en-IN" sz="1200" b="0" dirty="0">
                        <a:solidFill>
                          <a:srgbClr val="003366"/>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b="0" dirty="0">
                          <a:solidFill>
                            <a:srgbClr val="003366"/>
                          </a:solidFill>
                        </a:rPr>
                        <a:t>0</a:t>
                      </a:r>
                      <a:endParaRPr lang="en-IN" sz="1200" b="0" dirty="0">
                        <a:solidFill>
                          <a:srgbClr val="003366"/>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96157839"/>
                  </a:ext>
                </a:extLst>
              </a:tr>
            </a:tbl>
          </a:graphicData>
        </a:graphic>
      </p:graphicFrame>
      <p:graphicFrame>
        <p:nvGraphicFramePr>
          <p:cNvPr id="12" name="Table 12">
            <a:extLst>
              <a:ext uri="{FF2B5EF4-FFF2-40B4-BE49-F238E27FC236}">
                <a16:creationId xmlns:a16="http://schemas.microsoft.com/office/drawing/2014/main" id="{410C989B-1D41-473C-A5AE-02594EDC9410}"/>
              </a:ext>
            </a:extLst>
          </p:cNvPr>
          <p:cNvGraphicFramePr>
            <a:graphicFrameLocks noGrp="1"/>
          </p:cNvGraphicFramePr>
          <p:nvPr>
            <p:extLst>
              <p:ext uri="{D42A27DB-BD31-4B8C-83A1-F6EECF244321}">
                <p14:modId xmlns:p14="http://schemas.microsoft.com/office/powerpoint/2010/main" val="3417504961"/>
              </p:ext>
            </p:extLst>
          </p:nvPr>
        </p:nvGraphicFramePr>
        <p:xfrm>
          <a:off x="325348" y="3268200"/>
          <a:ext cx="817652" cy="236220"/>
        </p:xfrm>
        <a:graphic>
          <a:graphicData uri="http://schemas.openxmlformats.org/drawingml/2006/table">
            <a:tbl>
              <a:tblPr firstRow="1" bandRow="1">
                <a:tableStyleId>{5C22544A-7EE6-4342-B048-85BDC9FD1C3A}</a:tableStyleId>
              </a:tblPr>
              <a:tblGrid>
                <a:gridCol w="408826">
                  <a:extLst>
                    <a:ext uri="{9D8B030D-6E8A-4147-A177-3AD203B41FA5}">
                      <a16:colId xmlns:a16="http://schemas.microsoft.com/office/drawing/2014/main" val="706826312"/>
                    </a:ext>
                  </a:extLst>
                </a:gridCol>
                <a:gridCol w="408826">
                  <a:extLst>
                    <a:ext uri="{9D8B030D-6E8A-4147-A177-3AD203B41FA5}">
                      <a16:colId xmlns:a16="http://schemas.microsoft.com/office/drawing/2014/main" val="1365943266"/>
                    </a:ext>
                  </a:extLst>
                </a:gridCol>
              </a:tblGrid>
              <a:tr h="228600">
                <a:tc>
                  <a:txBody>
                    <a:bodyPr/>
                    <a:lstStyle/>
                    <a:p>
                      <a:r>
                        <a:rPr lang="en-US" sz="1100" b="0" dirty="0">
                          <a:solidFill>
                            <a:srgbClr val="003366"/>
                          </a:solidFill>
                        </a:rPr>
                        <a:t>-1</a:t>
                      </a:r>
                      <a:endParaRPr lang="en-IN" sz="1100" b="0" dirty="0">
                        <a:solidFill>
                          <a:srgbClr val="003366"/>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100" b="0" dirty="0">
                          <a:solidFill>
                            <a:srgbClr val="003366"/>
                          </a:solidFill>
                        </a:rPr>
                        <a:t>+1</a:t>
                      </a:r>
                      <a:endParaRPr lang="en-IN" sz="1100" b="0" dirty="0">
                        <a:solidFill>
                          <a:srgbClr val="003366"/>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589259"/>
                  </a:ext>
                </a:extLst>
              </a:tr>
            </a:tbl>
          </a:graphicData>
        </a:graphic>
      </p:graphicFrame>
      <p:sp>
        <p:nvSpPr>
          <p:cNvPr id="13" name="TextBox 12">
            <a:extLst>
              <a:ext uri="{FF2B5EF4-FFF2-40B4-BE49-F238E27FC236}">
                <a16:creationId xmlns:a16="http://schemas.microsoft.com/office/drawing/2014/main" id="{FB29830D-370A-4263-8EBE-2F1E65E2D326}"/>
              </a:ext>
            </a:extLst>
          </p:cNvPr>
          <p:cNvSpPr txBox="1"/>
          <p:nvPr/>
        </p:nvSpPr>
        <p:spPr>
          <a:xfrm>
            <a:off x="1430463" y="3256041"/>
            <a:ext cx="625492" cy="300082"/>
          </a:xfrm>
          <a:prstGeom prst="rect">
            <a:avLst/>
          </a:prstGeom>
          <a:noFill/>
        </p:spPr>
        <p:txBody>
          <a:bodyPr wrap="none" rtlCol="0">
            <a:spAutoFit/>
          </a:bodyPr>
          <a:lstStyle/>
          <a:p>
            <a:r>
              <a:rPr lang="en-US" sz="1350" dirty="0"/>
              <a:t>Filter</a:t>
            </a:r>
            <a:endParaRPr lang="en-IN" sz="1350" dirty="0"/>
          </a:p>
        </p:txBody>
      </p:sp>
      <p:sp>
        <p:nvSpPr>
          <p:cNvPr id="14" name="Right Brace 13">
            <a:extLst>
              <a:ext uri="{FF2B5EF4-FFF2-40B4-BE49-F238E27FC236}">
                <a16:creationId xmlns:a16="http://schemas.microsoft.com/office/drawing/2014/main" id="{E561B7CB-65EB-47E2-AE93-C37ED53A587F}"/>
              </a:ext>
            </a:extLst>
          </p:cNvPr>
          <p:cNvSpPr/>
          <p:nvPr/>
        </p:nvSpPr>
        <p:spPr bwMode="auto">
          <a:xfrm>
            <a:off x="3708037" y="2903329"/>
            <a:ext cx="80675" cy="468521"/>
          </a:xfrm>
          <a:prstGeom prst="rightBrace">
            <a:avLst/>
          </a:prstGeom>
          <a:no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endParaRPr lang="en-IN" sz="1350">
              <a:latin typeface="Verdana" pitchFamily="34" charset="0"/>
            </a:endParaRPr>
          </a:p>
        </p:txBody>
      </p:sp>
      <p:sp>
        <p:nvSpPr>
          <p:cNvPr id="15" name="TextBox 14">
            <a:extLst>
              <a:ext uri="{FF2B5EF4-FFF2-40B4-BE49-F238E27FC236}">
                <a16:creationId xmlns:a16="http://schemas.microsoft.com/office/drawing/2014/main" id="{76C2A6B7-0C00-4A2E-ADC0-385A9B036F2E}"/>
              </a:ext>
            </a:extLst>
          </p:cNvPr>
          <p:cNvSpPr txBox="1"/>
          <p:nvPr/>
        </p:nvSpPr>
        <p:spPr>
          <a:xfrm>
            <a:off x="3768541" y="3036251"/>
            <a:ext cx="1672253" cy="261610"/>
          </a:xfrm>
          <a:prstGeom prst="rect">
            <a:avLst/>
          </a:prstGeom>
          <a:noFill/>
        </p:spPr>
        <p:txBody>
          <a:bodyPr wrap="none" rtlCol="0">
            <a:spAutoFit/>
          </a:bodyPr>
          <a:lstStyle/>
          <a:p>
            <a:r>
              <a:rPr lang="en-US" sz="1100" dirty="0"/>
              <a:t>Take the dot product</a:t>
            </a:r>
            <a:endParaRPr lang="en-IN" sz="1100" dirty="0"/>
          </a:p>
        </p:txBody>
      </p:sp>
    </p:spTree>
    <p:extLst>
      <p:ext uri="{BB962C8B-B14F-4D97-AF65-F5344CB8AC3E}">
        <p14:creationId xmlns:p14="http://schemas.microsoft.com/office/powerpoint/2010/main" val="2288408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7AE9D-B2BD-47CB-AE0D-0E37D42A3CF5}"/>
              </a:ext>
            </a:extLst>
          </p:cNvPr>
          <p:cNvSpPr>
            <a:spLocks noGrp="1"/>
          </p:cNvSpPr>
          <p:nvPr>
            <p:ph type="title"/>
          </p:nvPr>
        </p:nvSpPr>
        <p:spPr/>
        <p:txBody>
          <a:bodyPr/>
          <a:lstStyle/>
          <a:p>
            <a:r>
              <a:rPr lang="en-US" sz="2400" dirty="0"/>
              <a:t>Filters or Kernels: Why do we care about them?</a:t>
            </a:r>
            <a:endParaRPr lang="en-IN" sz="2400" dirty="0"/>
          </a:p>
        </p:txBody>
      </p:sp>
      <p:graphicFrame>
        <p:nvGraphicFramePr>
          <p:cNvPr id="5" name="Table 5">
            <a:extLst>
              <a:ext uri="{FF2B5EF4-FFF2-40B4-BE49-F238E27FC236}">
                <a16:creationId xmlns:a16="http://schemas.microsoft.com/office/drawing/2014/main" id="{773C5B38-3945-4965-8B87-AD585A7A5E46}"/>
              </a:ext>
            </a:extLst>
          </p:cNvPr>
          <p:cNvGraphicFramePr>
            <a:graphicFrameLocks noGrp="1"/>
          </p:cNvGraphicFramePr>
          <p:nvPr>
            <p:ph idx="1"/>
          </p:nvPr>
        </p:nvGraphicFramePr>
        <p:xfrm>
          <a:off x="342900" y="2748970"/>
          <a:ext cx="3314707" cy="308720"/>
        </p:xfrm>
        <a:graphic>
          <a:graphicData uri="http://schemas.openxmlformats.org/drawingml/2006/table">
            <a:tbl>
              <a:tblPr firstRow="1" bandRow="1">
                <a:tableStyleId>{5C22544A-7EE6-4342-B048-85BDC9FD1C3A}</a:tableStyleId>
              </a:tblPr>
              <a:tblGrid>
                <a:gridCol w="301337">
                  <a:extLst>
                    <a:ext uri="{9D8B030D-6E8A-4147-A177-3AD203B41FA5}">
                      <a16:colId xmlns:a16="http://schemas.microsoft.com/office/drawing/2014/main" val="833901339"/>
                    </a:ext>
                  </a:extLst>
                </a:gridCol>
                <a:gridCol w="301337">
                  <a:extLst>
                    <a:ext uri="{9D8B030D-6E8A-4147-A177-3AD203B41FA5}">
                      <a16:colId xmlns:a16="http://schemas.microsoft.com/office/drawing/2014/main" val="3544212426"/>
                    </a:ext>
                  </a:extLst>
                </a:gridCol>
                <a:gridCol w="301337">
                  <a:extLst>
                    <a:ext uri="{9D8B030D-6E8A-4147-A177-3AD203B41FA5}">
                      <a16:colId xmlns:a16="http://schemas.microsoft.com/office/drawing/2014/main" val="996820814"/>
                    </a:ext>
                  </a:extLst>
                </a:gridCol>
                <a:gridCol w="301337">
                  <a:extLst>
                    <a:ext uri="{9D8B030D-6E8A-4147-A177-3AD203B41FA5}">
                      <a16:colId xmlns:a16="http://schemas.microsoft.com/office/drawing/2014/main" val="908204355"/>
                    </a:ext>
                  </a:extLst>
                </a:gridCol>
                <a:gridCol w="301337">
                  <a:extLst>
                    <a:ext uri="{9D8B030D-6E8A-4147-A177-3AD203B41FA5}">
                      <a16:colId xmlns:a16="http://schemas.microsoft.com/office/drawing/2014/main" val="2027995487"/>
                    </a:ext>
                  </a:extLst>
                </a:gridCol>
                <a:gridCol w="301337">
                  <a:extLst>
                    <a:ext uri="{9D8B030D-6E8A-4147-A177-3AD203B41FA5}">
                      <a16:colId xmlns:a16="http://schemas.microsoft.com/office/drawing/2014/main" val="15542502"/>
                    </a:ext>
                  </a:extLst>
                </a:gridCol>
                <a:gridCol w="301337">
                  <a:extLst>
                    <a:ext uri="{9D8B030D-6E8A-4147-A177-3AD203B41FA5}">
                      <a16:colId xmlns:a16="http://schemas.microsoft.com/office/drawing/2014/main" val="1609716022"/>
                    </a:ext>
                  </a:extLst>
                </a:gridCol>
                <a:gridCol w="301337">
                  <a:extLst>
                    <a:ext uri="{9D8B030D-6E8A-4147-A177-3AD203B41FA5}">
                      <a16:colId xmlns:a16="http://schemas.microsoft.com/office/drawing/2014/main" val="2471040793"/>
                    </a:ext>
                  </a:extLst>
                </a:gridCol>
                <a:gridCol w="301337">
                  <a:extLst>
                    <a:ext uri="{9D8B030D-6E8A-4147-A177-3AD203B41FA5}">
                      <a16:colId xmlns:a16="http://schemas.microsoft.com/office/drawing/2014/main" val="2403608804"/>
                    </a:ext>
                  </a:extLst>
                </a:gridCol>
                <a:gridCol w="301337">
                  <a:extLst>
                    <a:ext uri="{9D8B030D-6E8A-4147-A177-3AD203B41FA5}">
                      <a16:colId xmlns:a16="http://schemas.microsoft.com/office/drawing/2014/main" val="1336524913"/>
                    </a:ext>
                  </a:extLst>
                </a:gridCol>
                <a:gridCol w="301337">
                  <a:extLst>
                    <a:ext uri="{9D8B030D-6E8A-4147-A177-3AD203B41FA5}">
                      <a16:colId xmlns:a16="http://schemas.microsoft.com/office/drawing/2014/main" val="76049941"/>
                    </a:ext>
                  </a:extLst>
                </a:gridCol>
              </a:tblGrid>
              <a:tr h="308720">
                <a:tc>
                  <a:txBody>
                    <a:bodyPr/>
                    <a:lstStyle/>
                    <a:p>
                      <a:r>
                        <a:rPr lang="en-US" sz="1400" b="0" dirty="0">
                          <a:solidFill>
                            <a:srgbClr val="003366"/>
                          </a:solidFill>
                        </a:rPr>
                        <a:t>0</a:t>
                      </a:r>
                      <a:endParaRPr lang="en-IN" sz="1400" b="0" dirty="0">
                        <a:solidFill>
                          <a:srgbClr val="003366"/>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dirty="0">
                          <a:solidFill>
                            <a:srgbClr val="003366"/>
                          </a:solidFill>
                        </a:rPr>
                        <a:t>0</a:t>
                      </a:r>
                      <a:endParaRPr lang="en-IN" sz="1400" b="0" dirty="0">
                        <a:solidFill>
                          <a:srgbClr val="003366"/>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dirty="0">
                          <a:solidFill>
                            <a:srgbClr val="003366"/>
                          </a:solidFill>
                        </a:rPr>
                        <a:t>1</a:t>
                      </a:r>
                      <a:endParaRPr lang="en-IN" sz="1400" b="0" dirty="0">
                        <a:solidFill>
                          <a:srgbClr val="003366"/>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dirty="0">
                          <a:solidFill>
                            <a:srgbClr val="003366"/>
                          </a:solidFill>
                        </a:rPr>
                        <a:t>1</a:t>
                      </a:r>
                      <a:endParaRPr lang="en-IN" sz="1400" b="0" dirty="0">
                        <a:solidFill>
                          <a:srgbClr val="003366"/>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dirty="0">
                          <a:solidFill>
                            <a:srgbClr val="003366"/>
                          </a:solidFill>
                        </a:rPr>
                        <a:t>1</a:t>
                      </a:r>
                      <a:endParaRPr lang="en-IN" sz="1400" b="0" dirty="0">
                        <a:solidFill>
                          <a:srgbClr val="003366"/>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dirty="0">
                          <a:solidFill>
                            <a:srgbClr val="003366"/>
                          </a:solidFill>
                        </a:rPr>
                        <a:t>0</a:t>
                      </a:r>
                      <a:endParaRPr lang="en-IN" sz="1400" b="0" dirty="0">
                        <a:solidFill>
                          <a:srgbClr val="003366"/>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dirty="0">
                          <a:solidFill>
                            <a:srgbClr val="003366"/>
                          </a:solidFill>
                        </a:rPr>
                        <a:t>1</a:t>
                      </a:r>
                      <a:endParaRPr lang="en-IN" sz="1400" b="0" dirty="0">
                        <a:solidFill>
                          <a:srgbClr val="003366"/>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dirty="0">
                          <a:solidFill>
                            <a:srgbClr val="003366"/>
                          </a:solidFill>
                        </a:rPr>
                        <a:t>0</a:t>
                      </a:r>
                      <a:endParaRPr lang="en-IN" sz="1400" b="0" dirty="0">
                        <a:solidFill>
                          <a:srgbClr val="003366"/>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dirty="0">
                          <a:solidFill>
                            <a:srgbClr val="003366"/>
                          </a:solidFill>
                        </a:rPr>
                        <a:t>0</a:t>
                      </a:r>
                      <a:endParaRPr lang="en-IN" sz="1400" b="0" dirty="0">
                        <a:solidFill>
                          <a:srgbClr val="003366"/>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dirty="0">
                          <a:solidFill>
                            <a:srgbClr val="003366"/>
                          </a:solidFill>
                        </a:rPr>
                        <a:t>0</a:t>
                      </a:r>
                      <a:endParaRPr lang="en-IN" sz="1400" b="0" dirty="0">
                        <a:solidFill>
                          <a:srgbClr val="003366"/>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dirty="0">
                          <a:solidFill>
                            <a:srgbClr val="003366"/>
                          </a:solidFill>
                        </a:rPr>
                        <a:t>0</a:t>
                      </a:r>
                      <a:endParaRPr lang="en-IN" sz="1400" b="0" dirty="0">
                        <a:solidFill>
                          <a:srgbClr val="003366"/>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FF"/>
                    </a:solidFill>
                  </a:tcPr>
                </a:tc>
                <a:extLst>
                  <a:ext uri="{0D108BD9-81ED-4DB2-BD59-A6C34878D82A}">
                    <a16:rowId xmlns:a16="http://schemas.microsoft.com/office/drawing/2014/main" val="2796157839"/>
                  </a:ext>
                </a:extLst>
              </a:tr>
            </a:tbl>
          </a:graphicData>
        </a:graphic>
      </p:graphicFrame>
      <p:sp>
        <p:nvSpPr>
          <p:cNvPr id="4" name="Slide Number Placeholder 3">
            <a:extLst>
              <a:ext uri="{FF2B5EF4-FFF2-40B4-BE49-F238E27FC236}">
                <a16:creationId xmlns:a16="http://schemas.microsoft.com/office/drawing/2014/main" id="{A15A3FC5-32DF-47B7-A12E-2DD839E7721D}"/>
              </a:ext>
            </a:extLst>
          </p:cNvPr>
          <p:cNvSpPr>
            <a:spLocks noGrp="1"/>
          </p:cNvSpPr>
          <p:nvPr>
            <p:ph type="sldNum" sz="quarter" idx="12"/>
          </p:nvPr>
        </p:nvSpPr>
        <p:spPr/>
        <p:txBody>
          <a:bodyPr/>
          <a:lstStyle/>
          <a:p>
            <a:fld id="{BB2CE0DE-867F-455F-B20B-96D381B4AB71}" type="slidenum">
              <a:rPr lang="en-US" smtClean="0"/>
              <a:t>16</a:t>
            </a:fld>
            <a:endParaRPr lang="en-US"/>
          </a:p>
        </p:txBody>
      </p:sp>
      <p:pic>
        <p:nvPicPr>
          <p:cNvPr id="6" name="Picture 5">
            <a:extLst>
              <a:ext uri="{FF2B5EF4-FFF2-40B4-BE49-F238E27FC236}">
                <a16:creationId xmlns:a16="http://schemas.microsoft.com/office/drawing/2014/main" id="{59835606-C522-43CF-8AF6-623CD076E90C}"/>
              </a:ext>
            </a:extLst>
          </p:cNvPr>
          <p:cNvPicPr>
            <a:picLocks noChangeAspect="1"/>
          </p:cNvPicPr>
          <p:nvPr/>
        </p:nvPicPr>
        <p:blipFill>
          <a:blip r:embed="rId2"/>
          <a:stretch>
            <a:fillRect/>
          </a:stretch>
        </p:blipFill>
        <p:spPr>
          <a:xfrm>
            <a:off x="285751" y="2210234"/>
            <a:ext cx="3133499" cy="475481"/>
          </a:xfrm>
          <a:prstGeom prst="rect">
            <a:avLst/>
          </a:prstGeom>
        </p:spPr>
      </p:pic>
      <p:sp>
        <p:nvSpPr>
          <p:cNvPr id="7" name="TextBox 6">
            <a:extLst>
              <a:ext uri="{FF2B5EF4-FFF2-40B4-BE49-F238E27FC236}">
                <a16:creationId xmlns:a16="http://schemas.microsoft.com/office/drawing/2014/main" id="{7C393F2F-FC84-45D1-B96F-A691EE262B82}"/>
              </a:ext>
            </a:extLst>
          </p:cNvPr>
          <p:cNvSpPr txBox="1"/>
          <p:nvPr/>
        </p:nvSpPr>
        <p:spPr>
          <a:xfrm>
            <a:off x="171450" y="1781180"/>
            <a:ext cx="740908" cy="230832"/>
          </a:xfrm>
          <a:prstGeom prst="rect">
            <a:avLst/>
          </a:prstGeom>
          <a:noFill/>
        </p:spPr>
        <p:txBody>
          <a:bodyPr wrap="none" rtlCol="0">
            <a:spAutoFit/>
          </a:bodyPr>
          <a:lstStyle/>
          <a:p>
            <a:r>
              <a:rPr lang="en-US" sz="900" dirty="0"/>
              <a:t>1D image</a:t>
            </a:r>
            <a:endParaRPr lang="en-IN" sz="900" dirty="0"/>
          </a:p>
        </p:txBody>
      </p:sp>
      <p:cxnSp>
        <p:nvCxnSpPr>
          <p:cNvPr id="9" name="Straight Arrow Connector 8">
            <a:extLst>
              <a:ext uri="{FF2B5EF4-FFF2-40B4-BE49-F238E27FC236}">
                <a16:creationId xmlns:a16="http://schemas.microsoft.com/office/drawing/2014/main" id="{9546CCFB-4EC2-4603-9C06-B08BD5CC257D}"/>
              </a:ext>
            </a:extLst>
          </p:cNvPr>
          <p:cNvCxnSpPr/>
          <p:nvPr/>
        </p:nvCxnSpPr>
        <p:spPr bwMode="auto">
          <a:xfrm flipV="1">
            <a:off x="3462625" y="2498419"/>
            <a:ext cx="285750" cy="2286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0" name="TextBox 9">
            <a:extLst>
              <a:ext uri="{FF2B5EF4-FFF2-40B4-BE49-F238E27FC236}">
                <a16:creationId xmlns:a16="http://schemas.microsoft.com/office/drawing/2014/main" id="{C9D960CC-1617-48A4-A624-60F174608E2B}"/>
              </a:ext>
            </a:extLst>
          </p:cNvPr>
          <p:cNvSpPr txBox="1"/>
          <p:nvPr/>
        </p:nvSpPr>
        <p:spPr>
          <a:xfrm>
            <a:off x="3657602" y="2353482"/>
            <a:ext cx="868123" cy="300082"/>
          </a:xfrm>
          <a:prstGeom prst="rect">
            <a:avLst/>
          </a:prstGeom>
          <a:noFill/>
        </p:spPr>
        <p:txBody>
          <a:bodyPr wrap="none" rtlCol="0">
            <a:spAutoFit/>
          </a:bodyPr>
          <a:lstStyle/>
          <a:p>
            <a:r>
              <a:rPr lang="en-US" sz="1350" dirty="0"/>
              <a:t>Padding</a:t>
            </a:r>
            <a:endParaRPr lang="en-IN" sz="1350" dirty="0"/>
          </a:p>
        </p:txBody>
      </p:sp>
      <p:graphicFrame>
        <p:nvGraphicFramePr>
          <p:cNvPr id="11" name="Table 5">
            <a:extLst>
              <a:ext uri="{FF2B5EF4-FFF2-40B4-BE49-F238E27FC236}">
                <a16:creationId xmlns:a16="http://schemas.microsoft.com/office/drawing/2014/main" id="{CC890C64-8C69-424D-B375-4196F5854373}"/>
              </a:ext>
            </a:extLst>
          </p:cNvPr>
          <p:cNvGraphicFramePr>
            <a:graphicFrameLocks/>
          </p:cNvGraphicFramePr>
          <p:nvPr/>
        </p:nvGraphicFramePr>
        <p:xfrm>
          <a:off x="285750" y="3754475"/>
          <a:ext cx="3193680" cy="251460"/>
        </p:xfrm>
        <a:graphic>
          <a:graphicData uri="http://schemas.openxmlformats.org/drawingml/2006/table">
            <a:tbl>
              <a:tblPr firstRow="1" bandRow="1">
                <a:tableStyleId>{5C22544A-7EE6-4342-B048-85BDC9FD1C3A}</a:tableStyleId>
              </a:tblPr>
              <a:tblGrid>
                <a:gridCol w="319368">
                  <a:extLst>
                    <a:ext uri="{9D8B030D-6E8A-4147-A177-3AD203B41FA5}">
                      <a16:colId xmlns:a16="http://schemas.microsoft.com/office/drawing/2014/main" val="833901339"/>
                    </a:ext>
                  </a:extLst>
                </a:gridCol>
                <a:gridCol w="319368">
                  <a:extLst>
                    <a:ext uri="{9D8B030D-6E8A-4147-A177-3AD203B41FA5}">
                      <a16:colId xmlns:a16="http://schemas.microsoft.com/office/drawing/2014/main" val="3544212426"/>
                    </a:ext>
                  </a:extLst>
                </a:gridCol>
                <a:gridCol w="319368">
                  <a:extLst>
                    <a:ext uri="{9D8B030D-6E8A-4147-A177-3AD203B41FA5}">
                      <a16:colId xmlns:a16="http://schemas.microsoft.com/office/drawing/2014/main" val="996820814"/>
                    </a:ext>
                  </a:extLst>
                </a:gridCol>
                <a:gridCol w="319368">
                  <a:extLst>
                    <a:ext uri="{9D8B030D-6E8A-4147-A177-3AD203B41FA5}">
                      <a16:colId xmlns:a16="http://schemas.microsoft.com/office/drawing/2014/main" val="908204355"/>
                    </a:ext>
                  </a:extLst>
                </a:gridCol>
                <a:gridCol w="319368">
                  <a:extLst>
                    <a:ext uri="{9D8B030D-6E8A-4147-A177-3AD203B41FA5}">
                      <a16:colId xmlns:a16="http://schemas.microsoft.com/office/drawing/2014/main" val="2027995487"/>
                    </a:ext>
                  </a:extLst>
                </a:gridCol>
                <a:gridCol w="319368">
                  <a:extLst>
                    <a:ext uri="{9D8B030D-6E8A-4147-A177-3AD203B41FA5}">
                      <a16:colId xmlns:a16="http://schemas.microsoft.com/office/drawing/2014/main" val="15542502"/>
                    </a:ext>
                  </a:extLst>
                </a:gridCol>
                <a:gridCol w="319368">
                  <a:extLst>
                    <a:ext uri="{9D8B030D-6E8A-4147-A177-3AD203B41FA5}">
                      <a16:colId xmlns:a16="http://schemas.microsoft.com/office/drawing/2014/main" val="1609716022"/>
                    </a:ext>
                  </a:extLst>
                </a:gridCol>
                <a:gridCol w="319368">
                  <a:extLst>
                    <a:ext uri="{9D8B030D-6E8A-4147-A177-3AD203B41FA5}">
                      <a16:colId xmlns:a16="http://schemas.microsoft.com/office/drawing/2014/main" val="2471040793"/>
                    </a:ext>
                  </a:extLst>
                </a:gridCol>
                <a:gridCol w="319368">
                  <a:extLst>
                    <a:ext uri="{9D8B030D-6E8A-4147-A177-3AD203B41FA5}">
                      <a16:colId xmlns:a16="http://schemas.microsoft.com/office/drawing/2014/main" val="2403608804"/>
                    </a:ext>
                  </a:extLst>
                </a:gridCol>
                <a:gridCol w="319368">
                  <a:extLst>
                    <a:ext uri="{9D8B030D-6E8A-4147-A177-3AD203B41FA5}">
                      <a16:colId xmlns:a16="http://schemas.microsoft.com/office/drawing/2014/main" val="1336524913"/>
                    </a:ext>
                  </a:extLst>
                </a:gridCol>
              </a:tblGrid>
              <a:tr h="251460">
                <a:tc>
                  <a:txBody>
                    <a:bodyPr/>
                    <a:lstStyle/>
                    <a:p>
                      <a:r>
                        <a:rPr lang="en-US" sz="1200" b="0" dirty="0">
                          <a:solidFill>
                            <a:srgbClr val="003366"/>
                          </a:solidFill>
                        </a:rPr>
                        <a:t>0</a:t>
                      </a:r>
                      <a:endParaRPr lang="en-IN" sz="1200" b="0" dirty="0">
                        <a:solidFill>
                          <a:srgbClr val="003366"/>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b="0" dirty="0">
                          <a:solidFill>
                            <a:srgbClr val="003366"/>
                          </a:solidFill>
                        </a:rPr>
                        <a:t>1</a:t>
                      </a:r>
                      <a:endParaRPr lang="en-IN" sz="1200" b="0" dirty="0">
                        <a:solidFill>
                          <a:srgbClr val="003366"/>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b="0" dirty="0">
                          <a:solidFill>
                            <a:srgbClr val="003366"/>
                          </a:solidFill>
                        </a:rPr>
                        <a:t>0</a:t>
                      </a:r>
                      <a:endParaRPr lang="en-IN" sz="1200" b="0" dirty="0">
                        <a:solidFill>
                          <a:srgbClr val="003366"/>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b="0" dirty="0">
                          <a:solidFill>
                            <a:srgbClr val="003366"/>
                          </a:solidFill>
                        </a:rPr>
                        <a:t>0</a:t>
                      </a:r>
                      <a:endParaRPr lang="en-IN" sz="1200" b="0" dirty="0">
                        <a:solidFill>
                          <a:srgbClr val="003366"/>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b="0" dirty="0">
                          <a:solidFill>
                            <a:srgbClr val="003366"/>
                          </a:solidFill>
                        </a:rPr>
                        <a:t>-1</a:t>
                      </a:r>
                      <a:endParaRPr lang="en-IN" sz="1200" b="0" dirty="0">
                        <a:solidFill>
                          <a:srgbClr val="003366"/>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b="0" dirty="0">
                          <a:solidFill>
                            <a:srgbClr val="003366"/>
                          </a:solidFill>
                        </a:rPr>
                        <a:t>1</a:t>
                      </a:r>
                      <a:endParaRPr lang="en-IN" sz="1200" b="0" dirty="0">
                        <a:solidFill>
                          <a:srgbClr val="003366"/>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b="0" dirty="0">
                          <a:solidFill>
                            <a:srgbClr val="003366"/>
                          </a:solidFill>
                        </a:rPr>
                        <a:t>-1</a:t>
                      </a:r>
                      <a:endParaRPr lang="en-IN" sz="1200" b="0" dirty="0">
                        <a:solidFill>
                          <a:srgbClr val="003366"/>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b="0" dirty="0">
                          <a:solidFill>
                            <a:srgbClr val="003366"/>
                          </a:solidFill>
                        </a:rPr>
                        <a:t>0</a:t>
                      </a:r>
                      <a:endParaRPr lang="en-IN" sz="1200" b="0" dirty="0">
                        <a:solidFill>
                          <a:srgbClr val="003366"/>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b="0" dirty="0">
                          <a:solidFill>
                            <a:srgbClr val="003366"/>
                          </a:solidFill>
                        </a:rPr>
                        <a:t>0</a:t>
                      </a:r>
                      <a:endParaRPr lang="en-IN" sz="1200" b="0" dirty="0">
                        <a:solidFill>
                          <a:srgbClr val="003366"/>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b="0" dirty="0">
                          <a:solidFill>
                            <a:srgbClr val="003366"/>
                          </a:solidFill>
                        </a:rPr>
                        <a:t>0</a:t>
                      </a:r>
                      <a:endParaRPr lang="en-IN" sz="1200" b="0" dirty="0">
                        <a:solidFill>
                          <a:srgbClr val="003366"/>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96157839"/>
                  </a:ext>
                </a:extLst>
              </a:tr>
            </a:tbl>
          </a:graphicData>
        </a:graphic>
      </p:graphicFrame>
      <p:graphicFrame>
        <p:nvGraphicFramePr>
          <p:cNvPr id="12" name="Table 12">
            <a:extLst>
              <a:ext uri="{FF2B5EF4-FFF2-40B4-BE49-F238E27FC236}">
                <a16:creationId xmlns:a16="http://schemas.microsoft.com/office/drawing/2014/main" id="{410C989B-1D41-473C-A5AE-02594EDC9410}"/>
              </a:ext>
            </a:extLst>
          </p:cNvPr>
          <p:cNvGraphicFramePr>
            <a:graphicFrameLocks noGrp="1"/>
          </p:cNvGraphicFramePr>
          <p:nvPr/>
        </p:nvGraphicFramePr>
        <p:xfrm>
          <a:off x="325348" y="3268200"/>
          <a:ext cx="679820" cy="403860"/>
        </p:xfrm>
        <a:graphic>
          <a:graphicData uri="http://schemas.openxmlformats.org/drawingml/2006/table">
            <a:tbl>
              <a:tblPr firstRow="1" bandRow="1">
                <a:tableStyleId>{5C22544A-7EE6-4342-B048-85BDC9FD1C3A}</a:tableStyleId>
              </a:tblPr>
              <a:tblGrid>
                <a:gridCol w="339910">
                  <a:extLst>
                    <a:ext uri="{9D8B030D-6E8A-4147-A177-3AD203B41FA5}">
                      <a16:colId xmlns:a16="http://schemas.microsoft.com/office/drawing/2014/main" val="706826312"/>
                    </a:ext>
                  </a:extLst>
                </a:gridCol>
                <a:gridCol w="339910">
                  <a:extLst>
                    <a:ext uri="{9D8B030D-6E8A-4147-A177-3AD203B41FA5}">
                      <a16:colId xmlns:a16="http://schemas.microsoft.com/office/drawing/2014/main" val="1365943266"/>
                    </a:ext>
                  </a:extLst>
                </a:gridCol>
              </a:tblGrid>
              <a:tr h="228600">
                <a:tc>
                  <a:txBody>
                    <a:bodyPr/>
                    <a:lstStyle/>
                    <a:p>
                      <a:r>
                        <a:rPr lang="en-US" sz="1100" b="0" dirty="0">
                          <a:solidFill>
                            <a:srgbClr val="003366"/>
                          </a:solidFill>
                        </a:rPr>
                        <a:t>-1</a:t>
                      </a:r>
                      <a:endParaRPr lang="en-IN" sz="1100" b="0" dirty="0">
                        <a:solidFill>
                          <a:srgbClr val="003366"/>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100" b="0" dirty="0">
                          <a:solidFill>
                            <a:srgbClr val="003366"/>
                          </a:solidFill>
                        </a:rPr>
                        <a:t>+1</a:t>
                      </a:r>
                      <a:endParaRPr lang="en-IN" sz="1100" b="0" dirty="0">
                        <a:solidFill>
                          <a:srgbClr val="003366"/>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589259"/>
                  </a:ext>
                </a:extLst>
              </a:tr>
            </a:tbl>
          </a:graphicData>
        </a:graphic>
      </p:graphicFrame>
      <p:sp>
        <p:nvSpPr>
          <p:cNvPr id="13" name="TextBox 12">
            <a:extLst>
              <a:ext uri="{FF2B5EF4-FFF2-40B4-BE49-F238E27FC236}">
                <a16:creationId xmlns:a16="http://schemas.microsoft.com/office/drawing/2014/main" id="{FB29830D-370A-4263-8EBE-2F1E65E2D326}"/>
              </a:ext>
            </a:extLst>
          </p:cNvPr>
          <p:cNvSpPr txBox="1"/>
          <p:nvPr/>
        </p:nvSpPr>
        <p:spPr>
          <a:xfrm>
            <a:off x="1005168" y="3244000"/>
            <a:ext cx="625492" cy="300082"/>
          </a:xfrm>
          <a:prstGeom prst="rect">
            <a:avLst/>
          </a:prstGeom>
          <a:noFill/>
        </p:spPr>
        <p:txBody>
          <a:bodyPr wrap="none" rtlCol="0">
            <a:spAutoFit/>
          </a:bodyPr>
          <a:lstStyle/>
          <a:p>
            <a:r>
              <a:rPr lang="en-US" sz="1350" dirty="0"/>
              <a:t>Filter</a:t>
            </a:r>
            <a:endParaRPr lang="en-IN" sz="1350" dirty="0"/>
          </a:p>
        </p:txBody>
      </p:sp>
      <p:sp>
        <p:nvSpPr>
          <p:cNvPr id="14" name="Right Brace 13">
            <a:extLst>
              <a:ext uri="{FF2B5EF4-FFF2-40B4-BE49-F238E27FC236}">
                <a16:creationId xmlns:a16="http://schemas.microsoft.com/office/drawing/2014/main" id="{E561B7CB-65EB-47E2-AE93-C37ED53A587F}"/>
              </a:ext>
            </a:extLst>
          </p:cNvPr>
          <p:cNvSpPr/>
          <p:nvPr/>
        </p:nvSpPr>
        <p:spPr bwMode="auto">
          <a:xfrm>
            <a:off x="3708037" y="2903329"/>
            <a:ext cx="80675" cy="468521"/>
          </a:xfrm>
          <a:prstGeom prst="rightBrace">
            <a:avLst/>
          </a:prstGeom>
          <a:no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endParaRPr lang="en-IN" sz="1350">
              <a:latin typeface="Verdana" pitchFamily="34" charset="0"/>
            </a:endParaRPr>
          </a:p>
        </p:txBody>
      </p:sp>
      <p:sp>
        <p:nvSpPr>
          <p:cNvPr id="15" name="TextBox 14">
            <a:extLst>
              <a:ext uri="{FF2B5EF4-FFF2-40B4-BE49-F238E27FC236}">
                <a16:creationId xmlns:a16="http://schemas.microsoft.com/office/drawing/2014/main" id="{76C2A6B7-0C00-4A2E-ADC0-385A9B036F2E}"/>
              </a:ext>
            </a:extLst>
          </p:cNvPr>
          <p:cNvSpPr txBox="1"/>
          <p:nvPr/>
        </p:nvSpPr>
        <p:spPr>
          <a:xfrm>
            <a:off x="3768541" y="3036251"/>
            <a:ext cx="1603324" cy="253916"/>
          </a:xfrm>
          <a:prstGeom prst="rect">
            <a:avLst/>
          </a:prstGeom>
          <a:noFill/>
        </p:spPr>
        <p:txBody>
          <a:bodyPr wrap="none" rtlCol="0">
            <a:spAutoFit/>
          </a:bodyPr>
          <a:lstStyle/>
          <a:p>
            <a:r>
              <a:rPr lang="en-US" sz="1050" dirty="0"/>
              <a:t>Take the dot product</a:t>
            </a:r>
            <a:endParaRPr lang="en-IN" sz="1050" dirty="0"/>
          </a:p>
        </p:txBody>
      </p:sp>
      <p:sp>
        <p:nvSpPr>
          <p:cNvPr id="16" name="TextBox 15">
            <a:extLst>
              <a:ext uri="{FF2B5EF4-FFF2-40B4-BE49-F238E27FC236}">
                <a16:creationId xmlns:a16="http://schemas.microsoft.com/office/drawing/2014/main" id="{D12E2FCD-275D-4BFA-A37B-02033AD562DA}"/>
              </a:ext>
            </a:extLst>
          </p:cNvPr>
          <p:cNvSpPr txBox="1"/>
          <p:nvPr/>
        </p:nvSpPr>
        <p:spPr>
          <a:xfrm>
            <a:off x="3479430" y="3754475"/>
            <a:ext cx="2523448" cy="646331"/>
          </a:xfrm>
          <a:prstGeom prst="rect">
            <a:avLst/>
          </a:prstGeom>
          <a:noFill/>
        </p:spPr>
        <p:txBody>
          <a:bodyPr wrap="none" rtlCol="0">
            <a:spAutoFit/>
          </a:bodyPr>
          <a:lstStyle/>
          <a:p>
            <a:r>
              <a:rPr lang="en-US" sz="1200" dirty="0"/>
              <a:t>Output: Ten data points</a:t>
            </a:r>
          </a:p>
          <a:p>
            <a:r>
              <a:rPr lang="en-US" sz="1200" dirty="0"/>
              <a:t>+1 is exactly at two locations </a:t>
            </a:r>
          </a:p>
          <a:p>
            <a:r>
              <a:rPr lang="en-US" sz="1200" dirty="0"/>
              <a:t>Pixel transitions from 0 to 1</a:t>
            </a:r>
            <a:endParaRPr lang="en-IN" sz="1200" dirty="0"/>
          </a:p>
        </p:txBody>
      </p:sp>
    </p:spTree>
    <p:extLst>
      <p:ext uri="{BB962C8B-B14F-4D97-AF65-F5344CB8AC3E}">
        <p14:creationId xmlns:p14="http://schemas.microsoft.com/office/powerpoint/2010/main" val="16287155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B048C-A5F3-45EE-AEF0-B436F472C32F}"/>
              </a:ext>
            </a:extLst>
          </p:cNvPr>
          <p:cNvSpPr>
            <a:spLocks noGrp="1"/>
          </p:cNvSpPr>
          <p:nvPr>
            <p:ph type="title"/>
          </p:nvPr>
        </p:nvSpPr>
        <p:spPr/>
        <p:txBody>
          <a:bodyPr/>
          <a:lstStyle/>
          <a:p>
            <a:r>
              <a:rPr lang="en-US" sz="2400" dirty="0"/>
              <a:t>Filters or Kernels: Why do we care about them?</a:t>
            </a:r>
            <a:endParaRPr lang="en-IN" sz="2400" dirty="0"/>
          </a:p>
        </p:txBody>
      </p:sp>
      <p:sp>
        <p:nvSpPr>
          <p:cNvPr id="3" name="Content Placeholder 2">
            <a:extLst>
              <a:ext uri="{FF2B5EF4-FFF2-40B4-BE49-F238E27FC236}">
                <a16:creationId xmlns:a16="http://schemas.microsoft.com/office/drawing/2014/main" id="{F3CD9711-E938-4069-A6E7-43C5F5F6AC15}"/>
              </a:ext>
            </a:extLst>
          </p:cNvPr>
          <p:cNvSpPr>
            <a:spLocks noGrp="1"/>
          </p:cNvSpPr>
          <p:nvPr>
            <p:ph idx="1"/>
          </p:nvPr>
        </p:nvSpPr>
        <p:spPr/>
        <p:txBody>
          <a:bodyPr/>
          <a:lstStyle/>
          <a:p>
            <a:pPr marL="0" indent="0">
              <a:buNone/>
            </a:pPr>
            <a:r>
              <a:rPr lang="en-US" dirty="0"/>
              <a:t>Filters help us to detect features in images </a:t>
            </a:r>
            <a:endParaRPr lang="en-IN" dirty="0"/>
          </a:p>
        </p:txBody>
      </p:sp>
      <p:sp>
        <p:nvSpPr>
          <p:cNvPr id="4" name="Slide Number Placeholder 3">
            <a:extLst>
              <a:ext uri="{FF2B5EF4-FFF2-40B4-BE49-F238E27FC236}">
                <a16:creationId xmlns:a16="http://schemas.microsoft.com/office/drawing/2014/main" id="{A107C870-753C-45BD-8FC8-32ABABDA2BDD}"/>
              </a:ext>
            </a:extLst>
          </p:cNvPr>
          <p:cNvSpPr>
            <a:spLocks noGrp="1"/>
          </p:cNvSpPr>
          <p:nvPr>
            <p:ph type="sldNum" sz="quarter" idx="12"/>
          </p:nvPr>
        </p:nvSpPr>
        <p:spPr/>
        <p:txBody>
          <a:bodyPr/>
          <a:lstStyle/>
          <a:p>
            <a:fld id="{BB2CE0DE-867F-455F-B20B-96D381B4AB71}" type="slidenum">
              <a:rPr lang="en-US" smtClean="0"/>
              <a:t>17</a:t>
            </a:fld>
            <a:endParaRPr lang="en-US"/>
          </a:p>
        </p:txBody>
      </p:sp>
      <p:graphicFrame>
        <p:nvGraphicFramePr>
          <p:cNvPr id="5" name="Table 12">
            <a:extLst>
              <a:ext uri="{FF2B5EF4-FFF2-40B4-BE49-F238E27FC236}">
                <a16:creationId xmlns:a16="http://schemas.microsoft.com/office/drawing/2014/main" id="{9452E4FC-D784-4215-8E76-F9288F82B47B}"/>
              </a:ext>
            </a:extLst>
          </p:cNvPr>
          <p:cNvGraphicFramePr>
            <a:graphicFrameLocks noGrp="1"/>
          </p:cNvGraphicFramePr>
          <p:nvPr>
            <p:extLst>
              <p:ext uri="{D42A27DB-BD31-4B8C-83A1-F6EECF244321}">
                <p14:modId xmlns:p14="http://schemas.microsoft.com/office/powerpoint/2010/main" val="2021926277"/>
              </p:ext>
            </p:extLst>
          </p:nvPr>
        </p:nvGraphicFramePr>
        <p:xfrm>
          <a:off x="622864" y="2382029"/>
          <a:ext cx="851270" cy="380713"/>
        </p:xfrm>
        <a:graphic>
          <a:graphicData uri="http://schemas.openxmlformats.org/drawingml/2006/table">
            <a:tbl>
              <a:tblPr firstRow="1" bandRow="1">
                <a:tableStyleId>{5C22544A-7EE6-4342-B048-85BDC9FD1C3A}</a:tableStyleId>
              </a:tblPr>
              <a:tblGrid>
                <a:gridCol w="425635">
                  <a:extLst>
                    <a:ext uri="{9D8B030D-6E8A-4147-A177-3AD203B41FA5}">
                      <a16:colId xmlns:a16="http://schemas.microsoft.com/office/drawing/2014/main" val="706826312"/>
                    </a:ext>
                  </a:extLst>
                </a:gridCol>
                <a:gridCol w="425635">
                  <a:extLst>
                    <a:ext uri="{9D8B030D-6E8A-4147-A177-3AD203B41FA5}">
                      <a16:colId xmlns:a16="http://schemas.microsoft.com/office/drawing/2014/main" val="1365943266"/>
                    </a:ext>
                  </a:extLst>
                </a:gridCol>
              </a:tblGrid>
              <a:tr h="380713">
                <a:tc>
                  <a:txBody>
                    <a:bodyPr/>
                    <a:lstStyle/>
                    <a:p>
                      <a:r>
                        <a:rPr lang="en-US" sz="1100" b="0" dirty="0">
                          <a:solidFill>
                            <a:srgbClr val="003366"/>
                          </a:solidFill>
                        </a:rPr>
                        <a:t>-1</a:t>
                      </a:r>
                      <a:endParaRPr lang="en-IN" sz="1100" b="0" dirty="0">
                        <a:solidFill>
                          <a:srgbClr val="003366"/>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100" b="0" dirty="0">
                          <a:solidFill>
                            <a:srgbClr val="003366"/>
                          </a:solidFill>
                        </a:rPr>
                        <a:t>+1</a:t>
                      </a:r>
                      <a:endParaRPr lang="en-IN" sz="1100" b="0" dirty="0">
                        <a:solidFill>
                          <a:srgbClr val="003366"/>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589259"/>
                  </a:ext>
                </a:extLst>
              </a:tr>
            </a:tbl>
          </a:graphicData>
        </a:graphic>
      </p:graphicFrame>
      <p:sp>
        <p:nvSpPr>
          <p:cNvPr id="6" name="TextBox 5">
            <a:extLst>
              <a:ext uri="{FF2B5EF4-FFF2-40B4-BE49-F238E27FC236}">
                <a16:creationId xmlns:a16="http://schemas.microsoft.com/office/drawing/2014/main" id="{13ED29E4-6E68-4783-8DD9-0D8A385B7795}"/>
              </a:ext>
            </a:extLst>
          </p:cNvPr>
          <p:cNvSpPr txBox="1"/>
          <p:nvPr/>
        </p:nvSpPr>
        <p:spPr>
          <a:xfrm>
            <a:off x="1490117" y="2388819"/>
            <a:ext cx="2238113" cy="300082"/>
          </a:xfrm>
          <a:prstGeom prst="rect">
            <a:avLst/>
          </a:prstGeom>
          <a:noFill/>
        </p:spPr>
        <p:txBody>
          <a:bodyPr wrap="none" rtlCol="0">
            <a:spAutoFit/>
          </a:bodyPr>
          <a:lstStyle/>
          <a:p>
            <a:r>
              <a:rPr lang="en-US" sz="1350" dirty="0"/>
              <a:t>Left edge detector filter</a:t>
            </a:r>
            <a:endParaRPr lang="en-IN" sz="1350" dirty="0"/>
          </a:p>
        </p:txBody>
      </p:sp>
      <p:graphicFrame>
        <p:nvGraphicFramePr>
          <p:cNvPr id="7" name="Table 12">
            <a:extLst>
              <a:ext uri="{FF2B5EF4-FFF2-40B4-BE49-F238E27FC236}">
                <a16:creationId xmlns:a16="http://schemas.microsoft.com/office/drawing/2014/main" id="{5E04E58D-4D28-4382-B853-F6B6BE70385A}"/>
              </a:ext>
            </a:extLst>
          </p:cNvPr>
          <p:cNvGraphicFramePr>
            <a:graphicFrameLocks noGrp="1"/>
          </p:cNvGraphicFramePr>
          <p:nvPr>
            <p:extLst>
              <p:ext uri="{D42A27DB-BD31-4B8C-83A1-F6EECF244321}">
                <p14:modId xmlns:p14="http://schemas.microsoft.com/office/powerpoint/2010/main" val="2360493481"/>
              </p:ext>
            </p:extLst>
          </p:nvPr>
        </p:nvGraphicFramePr>
        <p:xfrm>
          <a:off x="589012" y="2859051"/>
          <a:ext cx="851270" cy="281940"/>
        </p:xfrm>
        <a:graphic>
          <a:graphicData uri="http://schemas.openxmlformats.org/drawingml/2006/table">
            <a:tbl>
              <a:tblPr firstRow="1" bandRow="1">
                <a:tableStyleId>{5C22544A-7EE6-4342-B048-85BDC9FD1C3A}</a:tableStyleId>
              </a:tblPr>
              <a:tblGrid>
                <a:gridCol w="425635">
                  <a:extLst>
                    <a:ext uri="{9D8B030D-6E8A-4147-A177-3AD203B41FA5}">
                      <a16:colId xmlns:a16="http://schemas.microsoft.com/office/drawing/2014/main" val="706826312"/>
                    </a:ext>
                  </a:extLst>
                </a:gridCol>
                <a:gridCol w="425635">
                  <a:extLst>
                    <a:ext uri="{9D8B030D-6E8A-4147-A177-3AD203B41FA5}">
                      <a16:colId xmlns:a16="http://schemas.microsoft.com/office/drawing/2014/main" val="1365943266"/>
                    </a:ext>
                  </a:extLst>
                </a:gridCol>
              </a:tblGrid>
              <a:tr h="228600">
                <a:tc>
                  <a:txBody>
                    <a:bodyPr/>
                    <a:lstStyle/>
                    <a:p>
                      <a:r>
                        <a:rPr lang="en-US" sz="1400" b="0" dirty="0">
                          <a:solidFill>
                            <a:srgbClr val="003366"/>
                          </a:solidFill>
                        </a:rPr>
                        <a:t>+1</a:t>
                      </a:r>
                      <a:endParaRPr lang="en-IN" sz="1400" b="0" dirty="0">
                        <a:solidFill>
                          <a:srgbClr val="003366"/>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dirty="0">
                          <a:solidFill>
                            <a:srgbClr val="003366"/>
                          </a:solidFill>
                        </a:rPr>
                        <a:t>-1</a:t>
                      </a:r>
                      <a:endParaRPr lang="en-IN" sz="1400" b="0" dirty="0">
                        <a:solidFill>
                          <a:srgbClr val="003366"/>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589259"/>
                  </a:ext>
                </a:extLst>
              </a:tr>
            </a:tbl>
          </a:graphicData>
        </a:graphic>
      </p:graphicFrame>
      <p:sp>
        <p:nvSpPr>
          <p:cNvPr id="8" name="TextBox 7">
            <a:extLst>
              <a:ext uri="{FF2B5EF4-FFF2-40B4-BE49-F238E27FC236}">
                <a16:creationId xmlns:a16="http://schemas.microsoft.com/office/drawing/2014/main" id="{3B0CD469-18A6-44EA-91BB-42C30052C48C}"/>
              </a:ext>
            </a:extLst>
          </p:cNvPr>
          <p:cNvSpPr txBox="1"/>
          <p:nvPr/>
        </p:nvSpPr>
        <p:spPr>
          <a:xfrm>
            <a:off x="1440282" y="2849980"/>
            <a:ext cx="2363147" cy="300082"/>
          </a:xfrm>
          <a:prstGeom prst="rect">
            <a:avLst/>
          </a:prstGeom>
          <a:noFill/>
        </p:spPr>
        <p:txBody>
          <a:bodyPr wrap="none" rtlCol="0">
            <a:spAutoFit/>
          </a:bodyPr>
          <a:lstStyle/>
          <a:p>
            <a:r>
              <a:rPr lang="en-US" sz="1350" dirty="0"/>
              <a:t>Right edge detector filter</a:t>
            </a:r>
            <a:endParaRPr lang="en-IN" sz="1350" dirty="0"/>
          </a:p>
        </p:txBody>
      </p:sp>
      <p:graphicFrame>
        <p:nvGraphicFramePr>
          <p:cNvPr id="9" name="Table 12">
            <a:extLst>
              <a:ext uri="{FF2B5EF4-FFF2-40B4-BE49-F238E27FC236}">
                <a16:creationId xmlns:a16="http://schemas.microsoft.com/office/drawing/2014/main" id="{707BC35C-B4AA-4C97-BDAD-1F9544363F9E}"/>
              </a:ext>
            </a:extLst>
          </p:cNvPr>
          <p:cNvGraphicFramePr>
            <a:graphicFrameLocks noGrp="1"/>
          </p:cNvGraphicFramePr>
          <p:nvPr/>
        </p:nvGraphicFramePr>
        <p:xfrm>
          <a:off x="722036" y="3443121"/>
          <a:ext cx="1049613" cy="236220"/>
        </p:xfrm>
        <a:graphic>
          <a:graphicData uri="http://schemas.openxmlformats.org/drawingml/2006/table">
            <a:tbl>
              <a:tblPr firstRow="1" bandRow="1">
                <a:tableStyleId>{5C22544A-7EE6-4342-B048-85BDC9FD1C3A}</a:tableStyleId>
              </a:tblPr>
              <a:tblGrid>
                <a:gridCol w="349871">
                  <a:extLst>
                    <a:ext uri="{9D8B030D-6E8A-4147-A177-3AD203B41FA5}">
                      <a16:colId xmlns:a16="http://schemas.microsoft.com/office/drawing/2014/main" val="706826312"/>
                    </a:ext>
                  </a:extLst>
                </a:gridCol>
                <a:gridCol w="349871">
                  <a:extLst>
                    <a:ext uri="{9D8B030D-6E8A-4147-A177-3AD203B41FA5}">
                      <a16:colId xmlns:a16="http://schemas.microsoft.com/office/drawing/2014/main" val="1365943266"/>
                    </a:ext>
                  </a:extLst>
                </a:gridCol>
                <a:gridCol w="349871">
                  <a:extLst>
                    <a:ext uri="{9D8B030D-6E8A-4147-A177-3AD203B41FA5}">
                      <a16:colId xmlns:a16="http://schemas.microsoft.com/office/drawing/2014/main" val="1232307014"/>
                    </a:ext>
                  </a:extLst>
                </a:gridCol>
              </a:tblGrid>
              <a:tr h="228600">
                <a:tc>
                  <a:txBody>
                    <a:bodyPr/>
                    <a:lstStyle/>
                    <a:p>
                      <a:r>
                        <a:rPr lang="en-US" sz="1100" b="0" dirty="0">
                          <a:solidFill>
                            <a:srgbClr val="003366"/>
                          </a:solidFill>
                        </a:rPr>
                        <a:t>-1</a:t>
                      </a:r>
                      <a:endParaRPr lang="en-IN" sz="1100" b="0" dirty="0">
                        <a:solidFill>
                          <a:srgbClr val="003366"/>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100" b="0" dirty="0">
                          <a:solidFill>
                            <a:srgbClr val="003366"/>
                          </a:solidFill>
                        </a:rPr>
                        <a:t>+1</a:t>
                      </a:r>
                      <a:endParaRPr lang="en-IN" sz="1100" b="0" dirty="0">
                        <a:solidFill>
                          <a:srgbClr val="003366"/>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100" b="0" dirty="0">
                          <a:solidFill>
                            <a:srgbClr val="003366"/>
                          </a:solidFill>
                        </a:rPr>
                        <a:t>-1</a:t>
                      </a:r>
                      <a:endParaRPr lang="en-IN" sz="1100" b="0" dirty="0">
                        <a:solidFill>
                          <a:srgbClr val="003366"/>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589259"/>
                  </a:ext>
                </a:extLst>
              </a:tr>
            </a:tbl>
          </a:graphicData>
        </a:graphic>
      </p:graphicFrame>
      <p:sp>
        <p:nvSpPr>
          <p:cNvPr id="10" name="TextBox 9">
            <a:extLst>
              <a:ext uri="{FF2B5EF4-FFF2-40B4-BE49-F238E27FC236}">
                <a16:creationId xmlns:a16="http://schemas.microsoft.com/office/drawing/2014/main" id="{06057601-19F7-440A-96FB-49B573569ADB}"/>
              </a:ext>
            </a:extLst>
          </p:cNvPr>
          <p:cNvSpPr txBox="1"/>
          <p:nvPr/>
        </p:nvSpPr>
        <p:spPr>
          <a:xfrm>
            <a:off x="1828800" y="3398758"/>
            <a:ext cx="2595134" cy="300082"/>
          </a:xfrm>
          <a:prstGeom prst="rect">
            <a:avLst/>
          </a:prstGeom>
          <a:noFill/>
        </p:spPr>
        <p:txBody>
          <a:bodyPr wrap="none" rtlCol="0">
            <a:spAutoFit/>
          </a:bodyPr>
          <a:lstStyle/>
          <a:p>
            <a:r>
              <a:rPr lang="en-US" sz="1350" dirty="0"/>
              <a:t>Isolated pixel detector filter</a:t>
            </a:r>
            <a:endParaRPr lang="en-IN" sz="1350" dirty="0"/>
          </a:p>
        </p:txBody>
      </p:sp>
      <p:pic>
        <p:nvPicPr>
          <p:cNvPr id="12" name="Picture 11">
            <a:extLst>
              <a:ext uri="{FF2B5EF4-FFF2-40B4-BE49-F238E27FC236}">
                <a16:creationId xmlns:a16="http://schemas.microsoft.com/office/drawing/2014/main" id="{5A4E171C-BA63-42DF-A712-D8D7FD5AE92B}"/>
              </a:ext>
            </a:extLst>
          </p:cNvPr>
          <p:cNvPicPr>
            <a:picLocks noChangeAspect="1"/>
          </p:cNvPicPr>
          <p:nvPr/>
        </p:nvPicPr>
        <p:blipFill>
          <a:blip r:embed="rId2"/>
          <a:stretch>
            <a:fillRect/>
          </a:stretch>
        </p:blipFill>
        <p:spPr>
          <a:xfrm>
            <a:off x="914400" y="3759972"/>
            <a:ext cx="628650" cy="247650"/>
          </a:xfrm>
          <a:prstGeom prst="rect">
            <a:avLst/>
          </a:prstGeom>
        </p:spPr>
      </p:pic>
    </p:spTree>
    <p:extLst>
      <p:ext uri="{BB962C8B-B14F-4D97-AF65-F5344CB8AC3E}">
        <p14:creationId xmlns:p14="http://schemas.microsoft.com/office/powerpoint/2010/main" val="34388133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2C940D-0A84-4532-9987-58DEA7637EDF}"/>
              </a:ext>
            </a:extLst>
          </p:cNvPr>
          <p:cNvSpPr>
            <a:spLocks noGrp="1"/>
          </p:cNvSpPr>
          <p:nvPr>
            <p:ph type="title"/>
          </p:nvPr>
        </p:nvSpPr>
        <p:spPr/>
        <p:txBody>
          <a:bodyPr/>
          <a:lstStyle/>
          <a:p>
            <a:r>
              <a:rPr lang="en-US" sz="2400" dirty="0"/>
              <a:t>Image data: Example of Vertical Edge detection</a:t>
            </a:r>
            <a:endParaRPr lang="en-IN" sz="2400" dirty="0"/>
          </a:p>
        </p:txBody>
      </p:sp>
      <p:sp>
        <p:nvSpPr>
          <p:cNvPr id="4" name="Slide Number Placeholder 3">
            <a:extLst>
              <a:ext uri="{FF2B5EF4-FFF2-40B4-BE49-F238E27FC236}">
                <a16:creationId xmlns:a16="http://schemas.microsoft.com/office/drawing/2014/main" id="{DBE84067-6A82-4D93-BFD1-E255716A08A2}"/>
              </a:ext>
            </a:extLst>
          </p:cNvPr>
          <p:cNvSpPr>
            <a:spLocks noGrp="1"/>
          </p:cNvSpPr>
          <p:nvPr>
            <p:ph type="sldNum" sz="quarter" idx="12"/>
          </p:nvPr>
        </p:nvSpPr>
        <p:spPr/>
        <p:txBody>
          <a:bodyPr/>
          <a:lstStyle/>
          <a:p>
            <a:fld id="{BB2CE0DE-867F-455F-B20B-96D381B4AB71}" type="slidenum">
              <a:rPr lang="en-US" smtClean="0"/>
              <a:t>18</a:t>
            </a:fld>
            <a:endParaRPr lang="en-US"/>
          </a:p>
        </p:txBody>
      </p:sp>
      <p:pic>
        <p:nvPicPr>
          <p:cNvPr id="5" name="Picture 4">
            <a:extLst>
              <a:ext uri="{FF2B5EF4-FFF2-40B4-BE49-F238E27FC236}">
                <a16:creationId xmlns:a16="http://schemas.microsoft.com/office/drawing/2014/main" id="{72C50427-76A6-43B7-932D-85781C7CFDD2}"/>
              </a:ext>
            </a:extLst>
          </p:cNvPr>
          <p:cNvPicPr>
            <a:picLocks noChangeAspect="1"/>
          </p:cNvPicPr>
          <p:nvPr/>
        </p:nvPicPr>
        <p:blipFill>
          <a:blip r:embed="rId2"/>
          <a:stretch>
            <a:fillRect/>
          </a:stretch>
        </p:blipFill>
        <p:spPr>
          <a:xfrm>
            <a:off x="640696" y="1771650"/>
            <a:ext cx="5922590" cy="3314700"/>
          </a:xfrm>
          <a:prstGeom prst="rect">
            <a:avLst/>
          </a:prstGeom>
        </p:spPr>
      </p:pic>
      <p:sp>
        <p:nvSpPr>
          <p:cNvPr id="6" name="TextBox 5">
            <a:extLst>
              <a:ext uri="{FF2B5EF4-FFF2-40B4-BE49-F238E27FC236}">
                <a16:creationId xmlns:a16="http://schemas.microsoft.com/office/drawing/2014/main" id="{33822846-5B9D-43CB-ADE4-E5E743DCAB8B}"/>
              </a:ext>
            </a:extLst>
          </p:cNvPr>
          <p:cNvSpPr txBox="1"/>
          <p:nvPr/>
        </p:nvSpPr>
        <p:spPr>
          <a:xfrm>
            <a:off x="457200" y="5659538"/>
            <a:ext cx="4586512" cy="215444"/>
          </a:xfrm>
          <a:prstGeom prst="rect">
            <a:avLst/>
          </a:prstGeom>
          <a:noFill/>
        </p:spPr>
        <p:txBody>
          <a:bodyPr wrap="none" rtlCol="0">
            <a:spAutoFit/>
          </a:bodyPr>
          <a:lstStyle/>
          <a:p>
            <a:r>
              <a:rPr lang="en-US" sz="800" dirty="0"/>
              <a:t>Ref.: https://www.linkedin.com/pulse/deep-learning-cnn-edge-detection-chen-yang/</a:t>
            </a:r>
            <a:endParaRPr lang="en-IN" sz="800" dirty="0"/>
          </a:p>
        </p:txBody>
      </p:sp>
    </p:spTree>
    <p:extLst>
      <p:ext uri="{BB962C8B-B14F-4D97-AF65-F5344CB8AC3E}">
        <p14:creationId xmlns:p14="http://schemas.microsoft.com/office/powerpoint/2010/main" val="26036365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C4906-A6D8-27C7-9D14-FEE5C3B93EA6}"/>
              </a:ext>
            </a:extLst>
          </p:cNvPr>
          <p:cNvSpPr>
            <a:spLocks noGrp="1"/>
          </p:cNvSpPr>
          <p:nvPr>
            <p:ph type="title"/>
          </p:nvPr>
        </p:nvSpPr>
        <p:spPr/>
        <p:txBody>
          <a:bodyPr/>
          <a:lstStyle/>
          <a:p>
            <a:r>
              <a:rPr lang="en-US" sz="1800" i="1" dirty="0">
                <a:solidFill>
                  <a:srgbClr val="808080"/>
                </a:solidFill>
                <a:latin typeface="Open Sans" panose="020B0606030504020204" pitchFamily="34" charset="0"/>
              </a:rPr>
              <a:t>An example of vertical edge detection of dark to light transition</a:t>
            </a:r>
            <a:endParaRPr lang="en-IN" sz="1800" dirty="0"/>
          </a:p>
        </p:txBody>
      </p:sp>
      <p:sp>
        <p:nvSpPr>
          <p:cNvPr id="4" name="Date Placeholder 3">
            <a:extLst>
              <a:ext uri="{FF2B5EF4-FFF2-40B4-BE49-F238E27FC236}">
                <a16:creationId xmlns:a16="http://schemas.microsoft.com/office/drawing/2014/main" id="{AFA477E7-3DDB-2583-C6BF-F129AE11086B}"/>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44063BC7-B1DF-653F-A9CC-581AA1D3548F}"/>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136D38BC-8102-A039-94CB-0A8D13C3CA79}"/>
              </a:ext>
            </a:extLst>
          </p:cNvPr>
          <p:cNvSpPr>
            <a:spLocks noGrp="1"/>
          </p:cNvSpPr>
          <p:nvPr>
            <p:ph type="sldNum" sz="quarter" idx="12"/>
          </p:nvPr>
        </p:nvSpPr>
        <p:spPr/>
        <p:txBody>
          <a:bodyPr/>
          <a:lstStyle/>
          <a:p>
            <a:fld id="{BB2CE0DE-867F-455F-B20B-96D381B4AB71}" type="slidenum">
              <a:rPr lang="en-US" smtClean="0"/>
              <a:t>19</a:t>
            </a:fld>
            <a:endParaRPr lang="en-US"/>
          </a:p>
        </p:txBody>
      </p:sp>
      <p:pic>
        <p:nvPicPr>
          <p:cNvPr id="7" name="Picture 6">
            <a:extLst>
              <a:ext uri="{FF2B5EF4-FFF2-40B4-BE49-F238E27FC236}">
                <a16:creationId xmlns:a16="http://schemas.microsoft.com/office/drawing/2014/main" id="{EE74151E-273C-1498-4DA6-623B486B5F38}"/>
              </a:ext>
            </a:extLst>
          </p:cNvPr>
          <p:cNvPicPr>
            <a:picLocks noChangeAspect="1"/>
          </p:cNvPicPr>
          <p:nvPr/>
        </p:nvPicPr>
        <p:blipFill>
          <a:blip r:embed="rId2"/>
          <a:stretch>
            <a:fillRect/>
          </a:stretch>
        </p:blipFill>
        <p:spPr>
          <a:xfrm>
            <a:off x="1485900" y="1771650"/>
            <a:ext cx="5857875" cy="2428875"/>
          </a:xfrm>
          <a:prstGeom prst="rect">
            <a:avLst/>
          </a:prstGeom>
        </p:spPr>
      </p:pic>
    </p:spTree>
    <p:extLst>
      <p:ext uri="{BB962C8B-B14F-4D97-AF65-F5344CB8AC3E}">
        <p14:creationId xmlns:p14="http://schemas.microsoft.com/office/powerpoint/2010/main" val="20203403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B717A-45F6-A86A-1441-72269EC62D0B}"/>
              </a:ext>
            </a:extLst>
          </p:cNvPr>
          <p:cNvSpPr>
            <a:spLocks noGrp="1"/>
          </p:cNvSpPr>
          <p:nvPr>
            <p:ph type="title"/>
          </p:nvPr>
        </p:nvSpPr>
        <p:spPr/>
        <p:txBody>
          <a:bodyPr/>
          <a:lstStyle/>
          <a:p>
            <a:r>
              <a:rPr lang="en-IN" dirty="0"/>
              <a:t>CNN: Vertical Edge Detection</a:t>
            </a:r>
          </a:p>
        </p:txBody>
      </p:sp>
      <p:sp>
        <p:nvSpPr>
          <p:cNvPr id="3" name="Content Placeholder 2">
            <a:extLst>
              <a:ext uri="{FF2B5EF4-FFF2-40B4-BE49-F238E27FC236}">
                <a16:creationId xmlns:a16="http://schemas.microsoft.com/office/drawing/2014/main" id="{94D0B541-61C4-F107-7092-FD8DD57C3395}"/>
              </a:ext>
            </a:extLst>
          </p:cNvPr>
          <p:cNvSpPr>
            <a:spLocks noGrp="1"/>
          </p:cNvSpPr>
          <p:nvPr>
            <p:ph idx="1"/>
          </p:nvPr>
        </p:nvSpPr>
        <p:spPr/>
        <p:txBody>
          <a:bodyPr/>
          <a:lstStyle/>
          <a:p>
            <a:pPr>
              <a:buNone/>
            </a:pPr>
            <a:r>
              <a:rPr lang="en-US" sz="1400" b="1" dirty="0"/>
              <a:t>Why This Filter Detects Vertical Edges:</a:t>
            </a:r>
          </a:p>
          <a:p>
            <a:pPr>
              <a:buFont typeface="+mj-lt"/>
              <a:buAutoNum type="romanUcPeriod"/>
            </a:pPr>
            <a:r>
              <a:rPr lang="en-US" sz="1400" b="1" dirty="0"/>
              <a:t>Directional Sensitivity:</a:t>
            </a:r>
            <a:endParaRPr lang="en-US" sz="1400" dirty="0"/>
          </a:p>
          <a:p>
            <a:pPr marL="642938" lvl="1" indent="-300038">
              <a:buFont typeface="+mj-lt"/>
              <a:buAutoNum type="romanLcPeriod"/>
            </a:pPr>
            <a:r>
              <a:rPr lang="en-US" sz="1400" dirty="0"/>
              <a:t>The kernel compares </a:t>
            </a:r>
            <a:r>
              <a:rPr lang="en-US" sz="1400" b="1" dirty="0"/>
              <a:t>left-side pixels (1s)</a:t>
            </a:r>
            <a:r>
              <a:rPr lang="en-US" sz="1400" dirty="0"/>
              <a:t> with </a:t>
            </a:r>
            <a:r>
              <a:rPr lang="en-US" sz="1400" b="1" dirty="0"/>
              <a:t>right-side pixels (-1s)</a:t>
            </a:r>
            <a:r>
              <a:rPr lang="en-US" sz="1400" dirty="0"/>
              <a:t>.</a:t>
            </a:r>
          </a:p>
          <a:p>
            <a:pPr marL="642938" lvl="1" indent="-300038">
              <a:buFont typeface="+mj-lt"/>
              <a:buAutoNum type="romanLcPeriod"/>
            </a:pPr>
            <a:r>
              <a:rPr lang="en-US" sz="1400" dirty="0"/>
              <a:t>The </a:t>
            </a:r>
            <a:r>
              <a:rPr lang="en-US" sz="1400" b="1" dirty="0"/>
              <a:t>middle column (0s)</a:t>
            </a:r>
            <a:r>
              <a:rPr lang="en-US" sz="1400" dirty="0"/>
              <a:t> ensures that center pixel values are ignored (don't bias the output).</a:t>
            </a:r>
          </a:p>
          <a:p>
            <a:pPr marL="642938" lvl="1" indent="-300038">
              <a:buFont typeface="+mj-lt"/>
              <a:buAutoNum type="romanLcPeriod"/>
            </a:pPr>
            <a:r>
              <a:rPr lang="en-US" sz="1400" dirty="0"/>
              <a:t>When this kernel slides over the image, it gives </a:t>
            </a:r>
            <a:r>
              <a:rPr lang="en-US" sz="1400" b="1" dirty="0"/>
              <a:t>high output values</a:t>
            </a:r>
            <a:r>
              <a:rPr lang="en-US" sz="1400" dirty="0"/>
              <a:t> where there is a </a:t>
            </a:r>
            <a:r>
              <a:rPr lang="en-US" sz="1400" b="1" dirty="0"/>
              <a:t>significant change from left to right </a:t>
            </a:r>
            <a:r>
              <a:rPr lang="en-US" sz="1400" dirty="0"/>
              <a:t>i.e., vertical edges.</a:t>
            </a:r>
          </a:p>
          <a:p>
            <a:pPr>
              <a:buFont typeface="+mj-lt"/>
              <a:buAutoNum type="romanUcPeriod"/>
            </a:pPr>
            <a:r>
              <a:rPr lang="en-US" sz="1400" b="1" dirty="0"/>
              <a:t>Mathematical Operation:</a:t>
            </a:r>
            <a:endParaRPr lang="en-US" sz="1400" dirty="0"/>
          </a:p>
          <a:p>
            <a:pPr marL="642938" lvl="1" indent="-300038">
              <a:buFont typeface="+mj-lt"/>
              <a:buAutoNum type="romanLcPeriod"/>
            </a:pPr>
            <a:r>
              <a:rPr lang="en-US" sz="1400" dirty="0"/>
              <a:t>At each location, the filter performs an </a:t>
            </a:r>
            <a:r>
              <a:rPr lang="en-US" sz="1400" b="1" dirty="0"/>
              <a:t>element-wise multiplication</a:t>
            </a:r>
            <a:r>
              <a:rPr lang="en-US" sz="1400" dirty="0"/>
              <a:t> (dot product) and </a:t>
            </a:r>
            <a:r>
              <a:rPr lang="en-US" sz="1400" b="1" dirty="0"/>
              <a:t>sums the result</a:t>
            </a:r>
            <a:r>
              <a:rPr lang="en-US" sz="1400" dirty="0"/>
              <a:t>.</a:t>
            </a:r>
          </a:p>
          <a:p>
            <a:pPr marL="642938" lvl="1" indent="-300038">
              <a:buFont typeface="+mj-lt"/>
              <a:buAutoNum type="romanLcPeriod"/>
            </a:pPr>
            <a:r>
              <a:rPr lang="en-US" sz="1400" dirty="0"/>
              <a:t>If the left and right side of a region differ significantly (e.g., from dark to light), the result will be large → indicating a </a:t>
            </a:r>
            <a:r>
              <a:rPr lang="en-US" sz="1400" b="1" dirty="0"/>
              <a:t>vertical edge</a:t>
            </a:r>
            <a:r>
              <a:rPr lang="en-US" sz="1400" dirty="0"/>
              <a:t>.</a:t>
            </a:r>
          </a:p>
          <a:p>
            <a:pPr marL="0" indent="0">
              <a:buNone/>
            </a:pPr>
            <a:endParaRPr lang="en-IN" sz="1200" dirty="0"/>
          </a:p>
        </p:txBody>
      </p:sp>
      <p:sp>
        <p:nvSpPr>
          <p:cNvPr id="4" name="Date Placeholder 3">
            <a:extLst>
              <a:ext uri="{FF2B5EF4-FFF2-40B4-BE49-F238E27FC236}">
                <a16:creationId xmlns:a16="http://schemas.microsoft.com/office/drawing/2014/main" id="{8332BC3F-7AC9-D11E-795D-ED330B17804A}"/>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4D731EE8-4D09-8F25-81BC-515FFB6003FA}"/>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0ED3193-7B0A-BA4B-0D1B-16C17A03D3DF}"/>
              </a:ext>
            </a:extLst>
          </p:cNvPr>
          <p:cNvSpPr>
            <a:spLocks noGrp="1"/>
          </p:cNvSpPr>
          <p:nvPr>
            <p:ph type="sldNum" sz="quarter" idx="12"/>
          </p:nvPr>
        </p:nvSpPr>
        <p:spPr/>
        <p:txBody>
          <a:bodyPr/>
          <a:lstStyle/>
          <a:p>
            <a:fld id="{BB2CE0DE-867F-455F-B20B-96D381B4AB71}" type="slidenum">
              <a:rPr lang="en-US" smtClean="0"/>
              <a:t>20</a:t>
            </a:fld>
            <a:endParaRPr lang="en-US"/>
          </a:p>
        </p:txBody>
      </p:sp>
      <p:pic>
        <p:nvPicPr>
          <p:cNvPr id="8" name="Picture 7">
            <a:extLst>
              <a:ext uri="{FF2B5EF4-FFF2-40B4-BE49-F238E27FC236}">
                <a16:creationId xmlns:a16="http://schemas.microsoft.com/office/drawing/2014/main" id="{BD567BD4-C1D7-69D6-2683-EC739A837162}"/>
              </a:ext>
            </a:extLst>
          </p:cNvPr>
          <p:cNvPicPr>
            <a:picLocks noChangeAspect="1"/>
          </p:cNvPicPr>
          <p:nvPr/>
        </p:nvPicPr>
        <p:blipFill>
          <a:blip r:embed="rId2"/>
          <a:stretch>
            <a:fillRect/>
          </a:stretch>
        </p:blipFill>
        <p:spPr>
          <a:xfrm>
            <a:off x="3505200" y="4341882"/>
            <a:ext cx="1771650" cy="1873861"/>
          </a:xfrm>
          <a:prstGeom prst="rect">
            <a:avLst/>
          </a:prstGeom>
        </p:spPr>
      </p:pic>
    </p:spTree>
    <p:extLst>
      <p:ext uri="{BB962C8B-B14F-4D97-AF65-F5344CB8AC3E}">
        <p14:creationId xmlns:p14="http://schemas.microsoft.com/office/powerpoint/2010/main" val="18713233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174CB-1924-CAFA-6C33-DD3B7458FADB}"/>
              </a:ext>
            </a:extLst>
          </p:cNvPr>
          <p:cNvSpPr>
            <a:spLocks noGrp="1"/>
          </p:cNvSpPr>
          <p:nvPr>
            <p:ph type="title"/>
          </p:nvPr>
        </p:nvSpPr>
        <p:spPr/>
        <p:txBody>
          <a:bodyPr/>
          <a:lstStyle/>
          <a:p>
            <a:r>
              <a:rPr lang="en-IN" dirty="0"/>
              <a:t>What About Horizontal Edges ?</a:t>
            </a:r>
          </a:p>
        </p:txBody>
      </p:sp>
      <p:sp>
        <p:nvSpPr>
          <p:cNvPr id="4" name="Date Placeholder 3">
            <a:extLst>
              <a:ext uri="{FF2B5EF4-FFF2-40B4-BE49-F238E27FC236}">
                <a16:creationId xmlns:a16="http://schemas.microsoft.com/office/drawing/2014/main" id="{8194D6F7-7764-B1AC-F05A-DF07E43F2067}"/>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58ACF7B7-AA21-94C8-9D74-9C7BCACD9F64}"/>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AF94A528-BF0C-1560-2119-4B69A658FA41}"/>
              </a:ext>
            </a:extLst>
          </p:cNvPr>
          <p:cNvSpPr>
            <a:spLocks noGrp="1"/>
          </p:cNvSpPr>
          <p:nvPr>
            <p:ph type="sldNum" sz="quarter" idx="12"/>
          </p:nvPr>
        </p:nvSpPr>
        <p:spPr/>
        <p:txBody>
          <a:bodyPr/>
          <a:lstStyle/>
          <a:p>
            <a:fld id="{BB2CE0DE-867F-455F-B20B-96D381B4AB71}" type="slidenum">
              <a:rPr lang="en-US" smtClean="0"/>
              <a:t>21</a:t>
            </a:fld>
            <a:endParaRPr lang="en-US"/>
          </a:p>
        </p:txBody>
      </p:sp>
      <p:pic>
        <p:nvPicPr>
          <p:cNvPr id="10" name="Picture 9">
            <a:extLst>
              <a:ext uri="{FF2B5EF4-FFF2-40B4-BE49-F238E27FC236}">
                <a16:creationId xmlns:a16="http://schemas.microsoft.com/office/drawing/2014/main" id="{911AF8BD-511B-7600-3FA9-3E3ACE64B272}"/>
              </a:ext>
            </a:extLst>
          </p:cNvPr>
          <p:cNvPicPr>
            <a:picLocks noChangeAspect="1"/>
          </p:cNvPicPr>
          <p:nvPr/>
        </p:nvPicPr>
        <p:blipFill>
          <a:blip r:embed="rId2"/>
          <a:stretch>
            <a:fillRect/>
          </a:stretch>
        </p:blipFill>
        <p:spPr>
          <a:xfrm>
            <a:off x="1219200" y="1219200"/>
            <a:ext cx="7389844" cy="2514600"/>
          </a:xfrm>
          <a:prstGeom prst="rect">
            <a:avLst/>
          </a:prstGeom>
        </p:spPr>
      </p:pic>
    </p:spTree>
    <p:extLst>
      <p:ext uri="{BB962C8B-B14F-4D97-AF65-F5344CB8AC3E}">
        <p14:creationId xmlns:p14="http://schemas.microsoft.com/office/powerpoint/2010/main" val="40063458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32D8B-56ED-29A2-EA4E-F0BB9A4DE6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166D06-2C68-F9D5-6957-1C56FBFCBBF4}"/>
              </a:ext>
            </a:extLst>
          </p:cNvPr>
          <p:cNvSpPr>
            <a:spLocks noGrp="1"/>
          </p:cNvSpPr>
          <p:nvPr>
            <p:ph type="title"/>
          </p:nvPr>
        </p:nvSpPr>
        <p:spPr/>
        <p:txBody>
          <a:bodyPr/>
          <a:lstStyle/>
          <a:p>
            <a:r>
              <a:rPr lang="en-IN" dirty="0"/>
              <a:t>What About Horizontal Edges ?</a:t>
            </a:r>
          </a:p>
        </p:txBody>
      </p:sp>
      <p:sp>
        <p:nvSpPr>
          <p:cNvPr id="4" name="Date Placeholder 3">
            <a:extLst>
              <a:ext uri="{FF2B5EF4-FFF2-40B4-BE49-F238E27FC236}">
                <a16:creationId xmlns:a16="http://schemas.microsoft.com/office/drawing/2014/main" id="{58635F6E-9051-CA34-CFFF-3A9972B85D10}"/>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C6A1353D-534A-F8BE-9AB2-E2017B0354F6}"/>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45EF065F-E0BE-6C31-1A82-63050D221A78}"/>
              </a:ext>
            </a:extLst>
          </p:cNvPr>
          <p:cNvSpPr>
            <a:spLocks noGrp="1"/>
          </p:cNvSpPr>
          <p:nvPr>
            <p:ph type="sldNum" sz="quarter" idx="12"/>
          </p:nvPr>
        </p:nvSpPr>
        <p:spPr/>
        <p:txBody>
          <a:bodyPr/>
          <a:lstStyle/>
          <a:p>
            <a:fld id="{BB2CE0DE-867F-455F-B20B-96D381B4AB71}" type="slidenum">
              <a:rPr lang="en-US" smtClean="0"/>
              <a:t>22</a:t>
            </a:fld>
            <a:endParaRPr lang="en-US"/>
          </a:p>
        </p:txBody>
      </p:sp>
      <p:pic>
        <p:nvPicPr>
          <p:cNvPr id="8" name="Picture 7">
            <a:extLst>
              <a:ext uri="{FF2B5EF4-FFF2-40B4-BE49-F238E27FC236}">
                <a16:creationId xmlns:a16="http://schemas.microsoft.com/office/drawing/2014/main" id="{DD373B11-4EF9-C7E1-B5D4-62760AA88F8D}"/>
              </a:ext>
            </a:extLst>
          </p:cNvPr>
          <p:cNvPicPr>
            <a:picLocks noChangeAspect="1"/>
          </p:cNvPicPr>
          <p:nvPr/>
        </p:nvPicPr>
        <p:blipFill>
          <a:blip r:embed="rId2"/>
          <a:stretch>
            <a:fillRect/>
          </a:stretch>
        </p:blipFill>
        <p:spPr>
          <a:xfrm>
            <a:off x="1295400" y="1371600"/>
            <a:ext cx="7114190" cy="4343400"/>
          </a:xfrm>
          <a:prstGeom prst="rect">
            <a:avLst/>
          </a:prstGeom>
        </p:spPr>
      </p:pic>
    </p:spTree>
    <p:extLst>
      <p:ext uri="{BB962C8B-B14F-4D97-AF65-F5344CB8AC3E}">
        <p14:creationId xmlns:p14="http://schemas.microsoft.com/office/powerpoint/2010/main" val="32447189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222F1-589F-85EF-E493-17599021152A}"/>
              </a:ext>
            </a:extLst>
          </p:cNvPr>
          <p:cNvSpPr>
            <a:spLocks noGrp="1"/>
          </p:cNvSpPr>
          <p:nvPr>
            <p:ph type="title"/>
          </p:nvPr>
        </p:nvSpPr>
        <p:spPr/>
        <p:txBody>
          <a:bodyPr/>
          <a:lstStyle/>
          <a:p>
            <a:endParaRPr lang="en-IN"/>
          </a:p>
        </p:txBody>
      </p:sp>
      <p:sp>
        <p:nvSpPr>
          <p:cNvPr id="4" name="Date Placeholder 3">
            <a:extLst>
              <a:ext uri="{FF2B5EF4-FFF2-40B4-BE49-F238E27FC236}">
                <a16:creationId xmlns:a16="http://schemas.microsoft.com/office/drawing/2014/main" id="{5A1D1DC1-57A0-2BD3-99C1-F710C245D7B5}"/>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DDC46BD0-1C9C-0CF3-3677-FAACB04A03FD}"/>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F055748B-9CC3-21E5-5975-F2F9CB5D9782}"/>
              </a:ext>
            </a:extLst>
          </p:cNvPr>
          <p:cNvSpPr>
            <a:spLocks noGrp="1"/>
          </p:cNvSpPr>
          <p:nvPr>
            <p:ph type="sldNum" sz="quarter" idx="12"/>
          </p:nvPr>
        </p:nvSpPr>
        <p:spPr/>
        <p:txBody>
          <a:bodyPr/>
          <a:lstStyle/>
          <a:p>
            <a:fld id="{BB2CE0DE-867F-455F-B20B-96D381B4AB71}" type="slidenum">
              <a:rPr lang="en-US" smtClean="0"/>
              <a:t>23</a:t>
            </a:fld>
            <a:endParaRPr lang="en-US"/>
          </a:p>
        </p:txBody>
      </p:sp>
      <p:pic>
        <p:nvPicPr>
          <p:cNvPr id="8" name="Picture 7">
            <a:extLst>
              <a:ext uri="{FF2B5EF4-FFF2-40B4-BE49-F238E27FC236}">
                <a16:creationId xmlns:a16="http://schemas.microsoft.com/office/drawing/2014/main" id="{E3B06C3D-559A-F8DE-A2A3-430CDDCB32FE}"/>
              </a:ext>
            </a:extLst>
          </p:cNvPr>
          <p:cNvPicPr>
            <a:picLocks noChangeAspect="1"/>
          </p:cNvPicPr>
          <p:nvPr/>
        </p:nvPicPr>
        <p:blipFill>
          <a:blip r:embed="rId2"/>
          <a:stretch>
            <a:fillRect/>
          </a:stretch>
        </p:blipFill>
        <p:spPr>
          <a:xfrm>
            <a:off x="1066800" y="3658795"/>
            <a:ext cx="7382037" cy="2137995"/>
          </a:xfrm>
          <a:prstGeom prst="rect">
            <a:avLst/>
          </a:prstGeom>
        </p:spPr>
      </p:pic>
      <p:pic>
        <p:nvPicPr>
          <p:cNvPr id="9" name="Picture 8">
            <a:extLst>
              <a:ext uri="{FF2B5EF4-FFF2-40B4-BE49-F238E27FC236}">
                <a16:creationId xmlns:a16="http://schemas.microsoft.com/office/drawing/2014/main" id="{7634446A-76B4-3CFF-CB13-363B659AD725}"/>
              </a:ext>
            </a:extLst>
          </p:cNvPr>
          <p:cNvPicPr>
            <a:picLocks noChangeAspect="1"/>
          </p:cNvPicPr>
          <p:nvPr/>
        </p:nvPicPr>
        <p:blipFill>
          <a:blip r:embed="rId3"/>
          <a:stretch>
            <a:fillRect/>
          </a:stretch>
        </p:blipFill>
        <p:spPr>
          <a:xfrm>
            <a:off x="1858293" y="1350217"/>
            <a:ext cx="5433764" cy="1848989"/>
          </a:xfrm>
          <a:prstGeom prst="rect">
            <a:avLst/>
          </a:prstGeom>
        </p:spPr>
      </p:pic>
    </p:spTree>
    <p:extLst>
      <p:ext uri="{BB962C8B-B14F-4D97-AF65-F5344CB8AC3E}">
        <p14:creationId xmlns:p14="http://schemas.microsoft.com/office/powerpoint/2010/main" val="39134446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75D66-BA46-115C-E777-22609AF79AB8}"/>
              </a:ext>
            </a:extLst>
          </p:cNvPr>
          <p:cNvSpPr>
            <a:spLocks noGrp="1"/>
          </p:cNvSpPr>
          <p:nvPr>
            <p:ph type="title"/>
          </p:nvPr>
        </p:nvSpPr>
        <p:spPr/>
        <p:txBody>
          <a:bodyPr/>
          <a:lstStyle/>
          <a:p>
            <a:r>
              <a:rPr lang="en-IN" dirty="0"/>
              <a:t>Learning to Detect Edges</a:t>
            </a:r>
          </a:p>
        </p:txBody>
      </p:sp>
      <p:pic>
        <p:nvPicPr>
          <p:cNvPr id="8" name="Content Placeholder 7">
            <a:extLst>
              <a:ext uri="{FF2B5EF4-FFF2-40B4-BE49-F238E27FC236}">
                <a16:creationId xmlns:a16="http://schemas.microsoft.com/office/drawing/2014/main" id="{B8BA2374-18D5-DE44-2C47-7EB9937C4564}"/>
              </a:ext>
            </a:extLst>
          </p:cNvPr>
          <p:cNvPicPr>
            <a:picLocks noGrp="1" noChangeAspect="1"/>
          </p:cNvPicPr>
          <p:nvPr>
            <p:ph idx="1"/>
          </p:nvPr>
        </p:nvPicPr>
        <p:blipFill>
          <a:blip r:embed="rId3"/>
          <a:stretch>
            <a:fillRect/>
          </a:stretch>
        </p:blipFill>
        <p:spPr>
          <a:xfrm>
            <a:off x="2007243" y="1943100"/>
            <a:ext cx="1078857" cy="1035989"/>
          </a:xfrm>
        </p:spPr>
      </p:pic>
      <p:sp>
        <p:nvSpPr>
          <p:cNvPr id="4" name="Date Placeholder 3">
            <a:extLst>
              <a:ext uri="{FF2B5EF4-FFF2-40B4-BE49-F238E27FC236}">
                <a16:creationId xmlns:a16="http://schemas.microsoft.com/office/drawing/2014/main" id="{87ED9CF5-59D9-06C7-E59A-8219EF063E7F}"/>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4CC4C7E0-9BA2-D634-2FAC-F13E3F49EDF4}"/>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704A13BE-FE66-2022-A9FA-56CD41645252}"/>
              </a:ext>
            </a:extLst>
          </p:cNvPr>
          <p:cNvSpPr>
            <a:spLocks noGrp="1"/>
          </p:cNvSpPr>
          <p:nvPr>
            <p:ph type="sldNum" sz="quarter" idx="12"/>
          </p:nvPr>
        </p:nvSpPr>
        <p:spPr/>
        <p:txBody>
          <a:bodyPr/>
          <a:lstStyle/>
          <a:p>
            <a:fld id="{BB2CE0DE-867F-455F-B20B-96D381B4AB71}" type="slidenum">
              <a:rPr lang="en-US" smtClean="0"/>
              <a:t>24</a:t>
            </a:fld>
            <a:endParaRPr lang="en-US"/>
          </a:p>
        </p:txBody>
      </p:sp>
      <p:pic>
        <p:nvPicPr>
          <p:cNvPr id="9" name="Picture 8">
            <a:extLst>
              <a:ext uri="{FF2B5EF4-FFF2-40B4-BE49-F238E27FC236}">
                <a16:creationId xmlns:a16="http://schemas.microsoft.com/office/drawing/2014/main" id="{1D06680D-2D2C-C219-D469-8295F3268795}"/>
              </a:ext>
            </a:extLst>
          </p:cNvPr>
          <p:cNvPicPr>
            <a:picLocks noChangeAspect="1"/>
          </p:cNvPicPr>
          <p:nvPr/>
        </p:nvPicPr>
        <p:blipFill>
          <a:blip r:embed="rId4"/>
          <a:stretch>
            <a:fillRect/>
          </a:stretch>
        </p:blipFill>
        <p:spPr>
          <a:xfrm>
            <a:off x="3714751" y="1816920"/>
            <a:ext cx="3579019" cy="1478756"/>
          </a:xfrm>
          <a:prstGeom prst="rect">
            <a:avLst/>
          </a:prstGeom>
        </p:spPr>
      </p:pic>
      <p:sp>
        <p:nvSpPr>
          <p:cNvPr id="12" name="TextBox 11">
            <a:extLst>
              <a:ext uri="{FF2B5EF4-FFF2-40B4-BE49-F238E27FC236}">
                <a16:creationId xmlns:a16="http://schemas.microsoft.com/office/drawing/2014/main" id="{A33543BC-2620-4679-FFDE-37983069D152}"/>
              </a:ext>
            </a:extLst>
          </p:cNvPr>
          <p:cNvSpPr txBox="1"/>
          <p:nvPr/>
        </p:nvSpPr>
        <p:spPr>
          <a:xfrm>
            <a:off x="76200" y="3700419"/>
            <a:ext cx="9258175" cy="1977464"/>
          </a:xfrm>
          <a:prstGeom prst="rect">
            <a:avLst/>
          </a:prstGeom>
          <a:noFill/>
        </p:spPr>
        <p:txBody>
          <a:bodyPr wrap="none" rtlCol="0">
            <a:spAutoFit/>
          </a:bodyPr>
          <a:lstStyle/>
          <a:p>
            <a:r>
              <a:rPr lang="en-US" sz="1400" dirty="0">
                <a:solidFill>
                  <a:srgbClr val="000000"/>
                </a:solidFill>
                <a:latin typeface="Open Sans" panose="020B0606030504020204" pitchFamily="34" charset="0"/>
              </a:rPr>
              <a:t>It turns out that the </a:t>
            </a:r>
            <a:r>
              <a:rPr lang="en-US" sz="1400" dirty="0">
                <a:solidFill>
                  <a:srgbClr val="000000"/>
                </a:solidFill>
                <a:latin typeface="MathJax_Main"/>
              </a:rPr>
              <a:t>3×3</a:t>
            </a:r>
            <a:r>
              <a:rPr lang="en-US" sz="1400" dirty="0">
                <a:solidFill>
                  <a:srgbClr val="000000"/>
                </a:solidFill>
                <a:latin typeface="Open Sans" panose="020B0606030504020204" pitchFamily="34" charset="0"/>
              </a:rPr>
              <a:t> vertical edge detection filter we’ve used, is just one possible choice and </a:t>
            </a:r>
          </a:p>
          <a:p>
            <a:r>
              <a:rPr lang="en-US" sz="1400" dirty="0">
                <a:solidFill>
                  <a:srgbClr val="000000"/>
                </a:solidFill>
                <a:latin typeface="Open Sans" panose="020B0606030504020204" pitchFamily="34" charset="0"/>
              </a:rPr>
              <a:t>historically in the computer vision literature, there was a fair amount of debate about what is the best set </a:t>
            </a:r>
          </a:p>
          <a:p>
            <a:r>
              <a:rPr lang="en-US" sz="1400" dirty="0">
                <a:solidFill>
                  <a:srgbClr val="000000"/>
                </a:solidFill>
                <a:latin typeface="Open Sans" panose="020B0606030504020204" pitchFamily="34" charset="0"/>
              </a:rPr>
              <a:t>of numbers (coefficients) to use. So, here’s something else we could use which is called a Sobel filter. </a:t>
            </a:r>
          </a:p>
          <a:p>
            <a:r>
              <a:rPr lang="en-US" sz="1400" dirty="0">
                <a:solidFill>
                  <a:srgbClr val="000000"/>
                </a:solidFill>
                <a:latin typeface="Open Sans" panose="020B0606030504020204" pitchFamily="34" charset="0"/>
              </a:rPr>
              <a:t>The advantage of this is that it allows you to put a little bit more weight to the central row of the central pixel,</a:t>
            </a:r>
          </a:p>
          <a:p>
            <a:r>
              <a:rPr lang="en-US" sz="1400" dirty="0">
                <a:solidFill>
                  <a:srgbClr val="000000"/>
                </a:solidFill>
                <a:latin typeface="Open Sans" panose="020B0606030504020204" pitchFamily="34" charset="0"/>
              </a:rPr>
              <a:t> and this makes it maybe a little bit more robust, but computer vision researchers will use other excessive </a:t>
            </a:r>
          </a:p>
          <a:p>
            <a:r>
              <a:rPr lang="en-US" sz="1400" dirty="0">
                <a:solidFill>
                  <a:srgbClr val="000000"/>
                </a:solidFill>
                <a:latin typeface="Open Sans" panose="020B0606030504020204" pitchFamily="34" charset="0"/>
              </a:rPr>
              <a:t>numbers for instance, instead of a </a:t>
            </a:r>
            <a:r>
              <a:rPr lang="en-US" sz="1400" dirty="0">
                <a:solidFill>
                  <a:srgbClr val="000000"/>
                </a:solidFill>
                <a:latin typeface="MathJax_Main"/>
              </a:rPr>
              <a:t>1,2,1</a:t>
            </a:r>
            <a:r>
              <a:rPr lang="en-US" sz="1400" dirty="0">
                <a:solidFill>
                  <a:srgbClr val="000000"/>
                </a:solidFill>
                <a:latin typeface="Open Sans" panose="020B0606030504020204" pitchFamily="34" charset="0"/>
              </a:rPr>
              <a:t> it should be a </a:t>
            </a:r>
            <a:r>
              <a:rPr lang="en-US" sz="1400" dirty="0">
                <a:solidFill>
                  <a:srgbClr val="000000"/>
                </a:solidFill>
                <a:latin typeface="MathJax_Main"/>
              </a:rPr>
              <a:t>3,10,3</a:t>
            </a:r>
            <a:r>
              <a:rPr lang="en-US" sz="1400" dirty="0">
                <a:solidFill>
                  <a:srgbClr val="000000"/>
                </a:solidFill>
                <a:latin typeface="Open Sans" panose="020B0606030504020204" pitchFamily="34" charset="0"/>
              </a:rPr>
              <a:t> and also then </a:t>
            </a:r>
            <a:r>
              <a:rPr lang="en-US" sz="1400" dirty="0">
                <a:solidFill>
                  <a:srgbClr val="000000"/>
                </a:solidFill>
                <a:latin typeface="MathJax_Main"/>
              </a:rPr>
              <a:t>−3,−10,−3</a:t>
            </a:r>
            <a:r>
              <a:rPr lang="en-US" sz="1400" dirty="0">
                <a:solidFill>
                  <a:srgbClr val="000000"/>
                </a:solidFill>
                <a:latin typeface="Open Sans" panose="020B0606030504020204" pitchFamily="34" charset="0"/>
              </a:rPr>
              <a:t>. This is called a </a:t>
            </a:r>
          </a:p>
          <a:p>
            <a:r>
              <a:rPr lang="en-US" sz="1400" dirty="0">
                <a:solidFill>
                  <a:srgbClr val="000000"/>
                </a:solidFill>
                <a:latin typeface="Open Sans" panose="020B0606030504020204" pitchFamily="34" charset="0"/>
              </a:rPr>
              <a:t>Scharr filter and it has slightly different properties. This is just for vertical edge detection and </a:t>
            </a:r>
          </a:p>
          <a:p>
            <a:r>
              <a:rPr lang="en-US" sz="1400" dirty="0">
                <a:solidFill>
                  <a:srgbClr val="000000"/>
                </a:solidFill>
                <a:latin typeface="Open Sans" panose="020B0606030504020204" pitchFamily="34" charset="0"/>
              </a:rPr>
              <a:t>if we rotate it </a:t>
            </a:r>
            <a:r>
              <a:rPr lang="en-US" sz="1400" dirty="0">
                <a:solidFill>
                  <a:srgbClr val="000000"/>
                </a:solidFill>
                <a:latin typeface="MathJax_Main"/>
              </a:rPr>
              <a:t>90°</a:t>
            </a:r>
            <a:r>
              <a:rPr lang="en-US" sz="1400" dirty="0">
                <a:solidFill>
                  <a:srgbClr val="000000"/>
                </a:solidFill>
                <a:latin typeface="Open Sans" panose="020B0606030504020204" pitchFamily="34" charset="0"/>
              </a:rPr>
              <a:t>, we get a horizontal edge detector.</a:t>
            </a:r>
            <a:endParaRPr lang="en-IN" sz="1400" dirty="0"/>
          </a:p>
          <a:p>
            <a:endParaRPr lang="en-IN" sz="1100" dirty="0"/>
          </a:p>
        </p:txBody>
      </p:sp>
    </p:spTree>
    <p:extLst>
      <p:ext uri="{BB962C8B-B14F-4D97-AF65-F5344CB8AC3E}">
        <p14:creationId xmlns:p14="http://schemas.microsoft.com/office/powerpoint/2010/main" val="38463419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8CC6C-542E-024E-82BB-665FF563AFB5}"/>
              </a:ext>
            </a:extLst>
          </p:cNvPr>
          <p:cNvSpPr>
            <a:spLocks noGrp="1"/>
          </p:cNvSpPr>
          <p:nvPr>
            <p:ph type="title"/>
          </p:nvPr>
        </p:nvSpPr>
        <p:spPr/>
        <p:txBody>
          <a:bodyPr/>
          <a:lstStyle/>
          <a:p>
            <a:r>
              <a:rPr lang="en-US" dirty="0"/>
              <a:t>How to choose weights in the filter?</a:t>
            </a:r>
            <a:endParaRPr lang="en-IN" dirty="0"/>
          </a:p>
        </p:txBody>
      </p:sp>
      <p:sp>
        <p:nvSpPr>
          <p:cNvPr id="4" name="Date Placeholder 3">
            <a:extLst>
              <a:ext uri="{FF2B5EF4-FFF2-40B4-BE49-F238E27FC236}">
                <a16:creationId xmlns:a16="http://schemas.microsoft.com/office/drawing/2014/main" id="{2ED30466-D613-0325-BAA3-E347C366CB48}"/>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992D6283-B048-4ADB-0829-3CB61C268EC4}"/>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8219EFC-39CE-043F-6AC3-5B54DD0DB468}"/>
              </a:ext>
            </a:extLst>
          </p:cNvPr>
          <p:cNvSpPr>
            <a:spLocks noGrp="1"/>
          </p:cNvSpPr>
          <p:nvPr>
            <p:ph type="sldNum" sz="quarter" idx="12"/>
          </p:nvPr>
        </p:nvSpPr>
        <p:spPr/>
        <p:txBody>
          <a:bodyPr/>
          <a:lstStyle/>
          <a:p>
            <a:fld id="{BB2CE0DE-867F-455F-B20B-96D381B4AB71}" type="slidenum">
              <a:rPr lang="en-US" smtClean="0"/>
              <a:t>25</a:t>
            </a:fld>
            <a:endParaRPr lang="en-US"/>
          </a:p>
        </p:txBody>
      </p:sp>
      <p:grpSp>
        <p:nvGrpSpPr>
          <p:cNvPr id="18" name="Group 17">
            <a:extLst>
              <a:ext uri="{FF2B5EF4-FFF2-40B4-BE49-F238E27FC236}">
                <a16:creationId xmlns:a16="http://schemas.microsoft.com/office/drawing/2014/main" id="{81A75F71-9D22-3257-5A7A-D6F49F9D4203}"/>
              </a:ext>
            </a:extLst>
          </p:cNvPr>
          <p:cNvGrpSpPr/>
          <p:nvPr/>
        </p:nvGrpSpPr>
        <p:grpSpPr>
          <a:xfrm>
            <a:off x="1371601" y="1657350"/>
            <a:ext cx="6573167" cy="2184647"/>
            <a:chOff x="368891" y="1535668"/>
            <a:chExt cx="8764223" cy="2912862"/>
          </a:xfrm>
        </p:grpSpPr>
        <p:pic>
          <p:nvPicPr>
            <p:cNvPr id="10" name="Picture 9">
              <a:extLst>
                <a:ext uri="{FF2B5EF4-FFF2-40B4-BE49-F238E27FC236}">
                  <a16:creationId xmlns:a16="http://schemas.microsoft.com/office/drawing/2014/main" id="{45E1BA30-DF96-08EC-8F97-9531107BF72A}"/>
                </a:ext>
              </a:extLst>
            </p:cNvPr>
            <p:cNvPicPr>
              <a:picLocks noChangeAspect="1"/>
            </p:cNvPicPr>
            <p:nvPr/>
          </p:nvPicPr>
          <p:blipFill>
            <a:blip r:embed="rId3"/>
            <a:stretch>
              <a:fillRect/>
            </a:stretch>
          </p:blipFill>
          <p:spPr>
            <a:xfrm>
              <a:off x="368891" y="1905000"/>
              <a:ext cx="8764223" cy="2543530"/>
            </a:xfrm>
            <a:prstGeom prst="rect">
              <a:avLst/>
            </a:prstGeom>
          </p:spPr>
        </p:pic>
        <p:sp>
          <p:nvSpPr>
            <p:cNvPr id="11" name="TextBox 10">
              <a:extLst>
                <a:ext uri="{FF2B5EF4-FFF2-40B4-BE49-F238E27FC236}">
                  <a16:creationId xmlns:a16="http://schemas.microsoft.com/office/drawing/2014/main" id="{C4B98F01-B49B-49DC-17C5-ED73D1062B40}"/>
                </a:ext>
              </a:extLst>
            </p:cNvPr>
            <p:cNvSpPr txBox="1"/>
            <p:nvPr/>
          </p:nvSpPr>
          <p:spPr>
            <a:xfrm>
              <a:off x="3276600" y="2844225"/>
              <a:ext cx="506976" cy="615553"/>
            </a:xfrm>
            <a:prstGeom prst="rect">
              <a:avLst/>
            </a:prstGeom>
            <a:noFill/>
          </p:spPr>
          <p:txBody>
            <a:bodyPr wrap="none" rtlCol="0">
              <a:spAutoFit/>
            </a:bodyPr>
            <a:lstStyle/>
            <a:p>
              <a:r>
                <a:rPr lang="en-IN" sz="2400" dirty="0"/>
                <a:t>*</a:t>
              </a:r>
            </a:p>
          </p:txBody>
        </p:sp>
        <p:cxnSp>
          <p:nvCxnSpPr>
            <p:cNvPr id="13" name="Straight Arrow Connector 12">
              <a:extLst>
                <a:ext uri="{FF2B5EF4-FFF2-40B4-BE49-F238E27FC236}">
                  <a16:creationId xmlns:a16="http://schemas.microsoft.com/office/drawing/2014/main" id="{6DD44479-C598-93C0-F1BE-DF169C9F4453}"/>
                </a:ext>
              </a:extLst>
            </p:cNvPr>
            <p:cNvCxnSpPr/>
            <p:nvPr/>
          </p:nvCxnSpPr>
          <p:spPr bwMode="auto">
            <a:xfrm>
              <a:off x="3505200" y="2133600"/>
              <a:ext cx="0" cy="685800"/>
            </a:xfrm>
            <a:prstGeom prst="straightConnector1">
              <a:avLst/>
            </a:prstGeom>
            <a:solidFill>
              <a:schemeClr val="accent1"/>
            </a:solidFill>
            <a:ln w="38100" cap="flat" cmpd="sng" algn="ctr">
              <a:solidFill>
                <a:schemeClr val="tx1"/>
              </a:solidFill>
              <a:prstDash val="solid"/>
              <a:round/>
              <a:headEnd type="none" w="med" len="med"/>
              <a:tailEnd type="triangle"/>
            </a:ln>
            <a:effectLst/>
          </p:spPr>
        </p:cxnSp>
        <p:sp>
          <p:nvSpPr>
            <p:cNvPr id="14" name="TextBox 13">
              <a:extLst>
                <a:ext uri="{FF2B5EF4-FFF2-40B4-BE49-F238E27FC236}">
                  <a16:creationId xmlns:a16="http://schemas.microsoft.com/office/drawing/2014/main" id="{E5979CBF-2156-0DD6-9B7A-F33FE5A7FADE}"/>
                </a:ext>
              </a:extLst>
            </p:cNvPr>
            <p:cNvSpPr txBox="1"/>
            <p:nvPr/>
          </p:nvSpPr>
          <p:spPr>
            <a:xfrm>
              <a:off x="2667000" y="1535668"/>
              <a:ext cx="2836931" cy="400109"/>
            </a:xfrm>
            <a:prstGeom prst="rect">
              <a:avLst/>
            </a:prstGeom>
            <a:noFill/>
          </p:spPr>
          <p:txBody>
            <a:bodyPr wrap="none" rtlCol="0">
              <a:spAutoFit/>
            </a:bodyPr>
            <a:lstStyle/>
            <a:p>
              <a:r>
                <a:rPr lang="en-IN" sz="1350" dirty="0"/>
                <a:t>Convolution Operation</a:t>
              </a:r>
            </a:p>
          </p:txBody>
        </p:sp>
        <p:sp>
          <p:nvSpPr>
            <p:cNvPr id="15" name="TextBox 14">
              <a:extLst>
                <a:ext uri="{FF2B5EF4-FFF2-40B4-BE49-F238E27FC236}">
                  <a16:creationId xmlns:a16="http://schemas.microsoft.com/office/drawing/2014/main" id="{E4117FF9-7CA5-2444-0343-0A9237ABB4DB}"/>
                </a:ext>
              </a:extLst>
            </p:cNvPr>
            <p:cNvSpPr txBox="1"/>
            <p:nvPr/>
          </p:nvSpPr>
          <p:spPr>
            <a:xfrm>
              <a:off x="5874581" y="2895600"/>
              <a:ext cx="434307" cy="400109"/>
            </a:xfrm>
            <a:prstGeom prst="rect">
              <a:avLst/>
            </a:prstGeom>
            <a:noFill/>
          </p:spPr>
          <p:txBody>
            <a:bodyPr wrap="none" rtlCol="0">
              <a:spAutoFit/>
            </a:bodyPr>
            <a:lstStyle/>
            <a:p>
              <a:r>
                <a:rPr lang="en-IN" sz="1350" dirty="0"/>
                <a:t>=</a:t>
              </a:r>
            </a:p>
          </p:txBody>
        </p:sp>
        <p:sp>
          <p:nvSpPr>
            <p:cNvPr id="16" name="TextBox 15">
              <a:extLst>
                <a:ext uri="{FF2B5EF4-FFF2-40B4-BE49-F238E27FC236}">
                  <a16:creationId xmlns:a16="http://schemas.microsoft.com/office/drawing/2014/main" id="{3D787ADB-B18C-873E-A4C9-B33457DA68F9}"/>
                </a:ext>
              </a:extLst>
            </p:cNvPr>
            <p:cNvSpPr txBox="1"/>
            <p:nvPr/>
          </p:nvSpPr>
          <p:spPr>
            <a:xfrm>
              <a:off x="4240018" y="3733799"/>
              <a:ext cx="722848" cy="430887"/>
            </a:xfrm>
            <a:prstGeom prst="rect">
              <a:avLst/>
            </a:prstGeom>
            <a:noFill/>
          </p:spPr>
          <p:txBody>
            <a:bodyPr wrap="none" rtlCol="0">
              <a:spAutoFit/>
            </a:bodyPr>
            <a:lstStyle/>
            <a:p>
              <a:r>
                <a:rPr lang="en-IN" sz="1500" dirty="0"/>
                <a:t>3x3</a:t>
              </a:r>
            </a:p>
          </p:txBody>
        </p:sp>
        <p:sp>
          <p:nvSpPr>
            <p:cNvPr id="17" name="TextBox 16">
              <a:extLst>
                <a:ext uri="{FF2B5EF4-FFF2-40B4-BE49-F238E27FC236}">
                  <a16:creationId xmlns:a16="http://schemas.microsoft.com/office/drawing/2014/main" id="{4F87E44F-1F39-7D5F-31AA-2B65A21F2A24}"/>
                </a:ext>
              </a:extLst>
            </p:cNvPr>
            <p:cNvSpPr txBox="1"/>
            <p:nvPr/>
          </p:nvSpPr>
          <p:spPr>
            <a:xfrm>
              <a:off x="7467601" y="3926695"/>
              <a:ext cx="722848" cy="430887"/>
            </a:xfrm>
            <a:prstGeom prst="rect">
              <a:avLst/>
            </a:prstGeom>
            <a:noFill/>
          </p:spPr>
          <p:txBody>
            <a:bodyPr wrap="none" rtlCol="0">
              <a:spAutoFit/>
            </a:bodyPr>
            <a:lstStyle/>
            <a:p>
              <a:r>
                <a:rPr lang="en-IN" sz="1500" dirty="0"/>
                <a:t>4x4</a:t>
              </a:r>
            </a:p>
          </p:txBody>
        </p:sp>
      </p:grpSp>
      <p:sp>
        <p:nvSpPr>
          <p:cNvPr id="21" name="TextBox 20">
            <a:extLst>
              <a:ext uri="{FF2B5EF4-FFF2-40B4-BE49-F238E27FC236}">
                <a16:creationId xmlns:a16="http://schemas.microsoft.com/office/drawing/2014/main" id="{10AE3089-0BD6-5D12-CFE4-A637621DB0E8}"/>
              </a:ext>
            </a:extLst>
          </p:cNvPr>
          <p:cNvSpPr txBox="1"/>
          <p:nvPr/>
        </p:nvSpPr>
        <p:spPr>
          <a:xfrm>
            <a:off x="218291" y="4328102"/>
            <a:ext cx="9197582" cy="1331134"/>
          </a:xfrm>
          <a:prstGeom prst="rect">
            <a:avLst/>
          </a:prstGeom>
          <a:noFill/>
        </p:spPr>
        <p:txBody>
          <a:bodyPr wrap="none" rtlCol="0">
            <a:spAutoFit/>
          </a:bodyPr>
          <a:lstStyle/>
          <a:p>
            <a:r>
              <a:rPr lang="en-US" sz="1400" dirty="0">
                <a:solidFill>
                  <a:srgbClr val="000000"/>
                </a:solidFill>
                <a:latin typeface="Open Sans" panose="020B0606030504020204" pitchFamily="34" charset="0"/>
              </a:rPr>
              <a:t>With the rise of deep learning one of the things we learned is that when we want to detect edges in some </a:t>
            </a:r>
          </a:p>
          <a:p>
            <a:r>
              <a:rPr lang="en-US" sz="1400" dirty="0">
                <a:solidFill>
                  <a:srgbClr val="000000"/>
                </a:solidFill>
                <a:latin typeface="Open Sans" panose="020B0606030504020204" pitchFamily="34" charset="0"/>
              </a:rPr>
              <a:t>complicated image, maybe we don’t need to have computer vision researchers handpick these </a:t>
            </a:r>
            <a:r>
              <a:rPr lang="en-US" sz="1400" dirty="0">
                <a:solidFill>
                  <a:srgbClr val="000000"/>
                </a:solidFill>
                <a:latin typeface="MathJax_Main"/>
              </a:rPr>
              <a:t>9</a:t>
            </a:r>
            <a:r>
              <a:rPr lang="en-US" sz="1400" dirty="0">
                <a:solidFill>
                  <a:srgbClr val="000000"/>
                </a:solidFill>
                <a:latin typeface="Open Sans" panose="020B0606030504020204" pitchFamily="34" charset="0"/>
              </a:rPr>
              <a:t> numbers. </a:t>
            </a:r>
          </a:p>
          <a:p>
            <a:r>
              <a:rPr lang="en-US" sz="1400" dirty="0">
                <a:solidFill>
                  <a:srgbClr val="000000"/>
                </a:solidFill>
                <a:latin typeface="Open Sans" panose="020B0606030504020204" pitchFamily="34" charset="0"/>
              </a:rPr>
              <a:t>It turns out that we can just learn them and treat the 9 numbers of this matrix as parameters, which we can </a:t>
            </a:r>
          </a:p>
          <a:p>
            <a:r>
              <a:rPr lang="en-US" sz="1400" dirty="0">
                <a:solidFill>
                  <a:srgbClr val="000000"/>
                </a:solidFill>
                <a:latin typeface="Open Sans" panose="020B0606030504020204" pitchFamily="34" charset="0"/>
              </a:rPr>
              <a:t>learn using backpropagation. The goal is to learn </a:t>
            </a:r>
            <a:r>
              <a:rPr lang="en-US" sz="1400" dirty="0">
                <a:solidFill>
                  <a:srgbClr val="000000"/>
                </a:solidFill>
                <a:latin typeface="MathJax_Main"/>
              </a:rPr>
              <a:t>9</a:t>
            </a:r>
            <a:r>
              <a:rPr lang="en-US" sz="1400" dirty="0">
                <a:solidFill>
                  <a:srgbClr val="000000"/>
                </a:solidFill>
                <a:latin typeface="Open Sans" panose="020B0606030504020204" pitchFamily="34" charset="0"/>
              </a:rPr>
              <a:t> parameters so that when we take the </a:t>
            </a:r>
            <a:r>
              <a:rPr lang="en-US" sz="1400" dirty="0">
                <a:solidFill>
                  <a:srgbClr val="000000"/>
                </a:solidFill>
                <a:latin typeface="MathJax_Main"/>
              </a:rPr>
              <a:t>6×6</a:t>
            </a:r>
            <a:r>
              <a:rPr lang="en-US" sz="1400" dirty="0">
                <a:solidFill>
                  <a:srgbClr val="000000"/>
                </a:solidFill>
                <a:latin typeface="Open Sans" panose="020B0606030504020204" pitchFamily="34" charset="0"/>
              </a:rPr>
              <a:t> image and </a:t>
            </a:r>
          </a:p>
          <a:p>
            <a:r>
              <a:rPr lang="en-US" sz="1400" dirty="0">
                <a:solidFill>
                  <a:srgbClr val="000000"/>
                </a:solidFill>
                <a:latin typeface="Open Sans" panose="020B0606030504020204" pitchFamily="34" charset="0"/>
              </a:rPr>
              <a:t>convolve it with our </a:t>
            </a:r>
            <a:r>
              <a:rPr lang="en-US" sz="1400" dirty="0">
                <a:solidFill>
                  <a:srgbClr val="000000"/>
                </a:solidFill>
                <a:latin typeface="MathJax_Main"/>
              </a:rPr>
              <a:t>3×3</a:t>
            </a:r>
            <a:r>
              <a:rPr lang="en-US" sz="1400" dirty="0">
                <a:solidFill>
                  <a:srgbClr val="000000"/>
                </a:solidFill>
                <a:latin typeface="Open Sans" panose="020B0606030504020204" pitchFamily="34" charset="0"/>
              </a:rPr>
              <a:t> filter, it should construct a good edge detector. </a:t>
            </a:r>
            <a:endParaRPr lang="en-IN" sz="1400" dirty="0"/>
          </a:p>
          <a:p>
            <a:endParaRPr lang="en-IN" sz="1050" dirty="0"/>
          </a:p>
        </p:txBody>
      </p:sp>
    </p:spTree>
    <p:extLst>
      <p:ext uri="{BB962C8B-B14F-4D97-AF65-F5344CB8AC3E}">
        <p14:creationId xmlns:p14="http://schemas.microsoft.com/office/powerpoint/2010/main" val="31050678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795F6-964D-3AD1-B29E-CF3867BB6355}"/>
              </a:ext>
            </a:extLst>
          </p:cNvPr>
          <p:cNvSpPr>
            <a:spLocks noGrp="1"/>
          </p:cNvSpPr>
          <p:nvPr>
            <p:ph type="title"/>
          </p:nvPr>
        </p:nvSpPr>
        <p:spPr/>
        <p:txBody>
          <a:bodyPr/>
          <a:lstStyle/>
          <a:p>
            <a:r>
              <a:rPr lang="en-IN" dirty="0"/>
              <a:t>Question</a:t>
            </a:r>
          </a:p>
        </p:txBody>
      </p:sp>
      <p:sp>
        <p:nvSpPr>
          <p:cNvPr id="3" name="Content Placeholder 2">
            <a:extLst>
              <a:ext uri="{FF2B5EF4-FFF2-40B4-BE49-F238E27FC236}">
                <a16:creationId xmlns:a16="http://schemas.microsoft.com/office/drawing/2014/main" id="{B13F2E6E-47D8-1934-860B-B5766035E0B8}"/>
              </a:ext>
            </a:extLst>
          </p:cNvPr>
          <p:cNvSpPr>
            <a:spLocks noGrp="1"/>
          </p:cNvSpPr>
          <p:nvPr>
            <p:ph idx="1"/>
          </p:nvPr>
        </p:nvSpPr>
        <p:spPr/>
        <p:txBody>
          <a:bodyPr/>
          <a:lstStyle/>
          <a:p>
            <a:pPr marL="0" indent="0">
              <a:buNone/>
            </a:pPr>
            <a:r>
              <a:rPr lang="en-US" sz="1500" b="1" dirty="0">
                <a:solidFill>
                  <a:srgbClr val="302C41"/>
                </a:solidFill>
                <a:latin typeface="Aspira Webfont"/>
              </a:rPr>
              <a:t>Q1 - Consider the following gray scale image, we need to find the vertical and horizontal edges as following. </a:t>
            </a:r>
            <a:r>
              <a:rPr lang="en-US" sz="1500" dirty="0">
                <a:solidFill>
                  <a:srgbClr val="302C41"/>
                </a:solidFill>
                <a:latin typeface="Aspira Webfont"/>
              </a:rPr>
              <a:t>Convolve the following 6x6 image (1 channel) with a vertical and horizontal filter and a stride of 1 to produce two 4X4 images that detect the edges</a:t>
            </a:r>
            <a:endParaRPr lang="en-IN" sz="1500" dirty="0"/>
          </a:p>
        </p:txBody>
      </p:sp>
      <p:sp>
        <p:nvSpPr>
          <p:cNvPr id="4" name="Date Placeholder 3">
            <a:extLst>
              <a:ext uri="{FF2B5EF4-FFF2-40B4-BE49-F238E27FC236}">
                <a16:creationId xmlns:a16="http://schemas.microsoft.com/office/drawing/2014/main" id="{24921336-2AA6-159D-5E12-248FFCD187A5}"/>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30E51D92-5E82-28AC-8F24-03375A9E9B3E}"/>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0E24624C-5128-254B-667C-18EA3A280CBD}"/>
              </a:ext>
            </a:extLst>
          </p:cNvPr>
          <p:cNvSpPr>
            <a:spLocks noGrp="1"/>
          </p:cNvSpPr>
          <p:nvPr>
            <p:ph type="sldNum" sz="quarter" idx="12"/>
          </p:nvPr>
        </p:nvSpPr>
        <p:spPr/>
        <p:txBody>
          <a:bodyPr/>
          <a:lstStyle/>
          <a:p>
            <a:fld id="{BB2CE0DE-867F-455F-B20B-96D381B4AB71}" type="slidenum">
              <a:rPr lang="en-US" smtClean="0"/>
              <a:t>26</a:t>
            </a:fld>
            <a:endParaRPr lang="en-US"/>
          </a:p>
        </p:txBody>
      </p:sp>
      <p:grpSp>
        <p:nvGrpSpPr>
          <p:cNvPr id="22" name="Group 21">
            <a:extLst>
              <a:ext uri="{FF2B5EF4-FFF2-40B4-BE49-F238E27FC236}">
                <a16:creationId xmlns:a16="http://schemas.microsoft.com/office/drawing/2014/main" id="{8B7A5B72-5F61-9F25-B131-72201393596C}"/>
              </a:ext>
            </a:extLst>
          </p:cNvPr>
          <p:cNvGrpSpPr/>
          <p:nvPr/>
        </p:nvGrpSpPr>
        <p:grpSpPr>
          <a:xfrm>
            <a:off x="636037" y="2357304"/>
            <a:ext cx="4055526" cy="2824296"/>
            <a:chOff x="671170" y="2635108"/>
            <a:chExt cx="4906060" cy="2857856"/>
          </a:xfrm>
        </p:grpSpPr>
        <p:pic>
          <p:nvPicPr>
            <p:cNvPr id="10" name="Picture 9">
              <a:extLst>
                <a:ext uri="{FF2B5EF4-FFF2-40B4-BE49-F238E27FC236}">
                  <a16:creationId xmlns:a16="http://schemas.microsoft.com/office/drawing/2014/main" id="{106A8802-53ED-BCA2-E793-DE7FA4CD5CFF}"/>
                </a:ext>
              </a:extLst>
            </p:cNvPr>
            <p:cNvPicPr>
              <a:picLocks noChangeAspect="1"/>
            </p:cNvPicPr>
            <p:nvPr/>
          </p:nvPicPr>
          <p:blipFill>
            <a:blip r:embed="rId3"/>
            <a:stretch>
              <a:fillRect/>
            </a:stretch>
          </p:blipFill>
          <p:spPr>
            <a:xfrm>
              <a:off x="671170" y="2635108"/>
              <a:ext cx="4906060" cy="1886213"/>
            </a:xfrm>
            <a:prstGeom prst="rect">
              <a:avLst/>
            </a:prstGeom>
          </p:spPr>
        </p:pic>
        <p:pic>
          <p:nvPicPr>
            <p:cNvPr id="12" name="Picture 11">
              <a:extLst>
                <a:ext uri="{FF2B5EF4-FFF2-40B4-BE49-F238E27FC236}">
                  <a16:creationId xmlns:a16="http://schemas.microsoft.com/office/drawing/2014/main" id="{A121CC0C-580B-5746-C50A-B5810C032E5C}"/>
                </a:ext>
              </a:extLst>
            </p:cNvPr>
            <p:cNvPicPr>
              <a:picLocks noChangeAspect="1"/>
            </p:cNvPicPr>
            <p:nvPr/>
          </p:nvPicPr>
          <p:blipFill>
            <a:blip r:embed="rId4"/>
            <a:stretch>
              <a:fillRect/>
            </a:stretch>
          </p:blipFill>
          <p:spPr>
            <a:xfrm>
              <a:off x="3684463" y="4159278"/>
              <a:ext cx="1781424" cy="1333686"/>
            </a:xfrm>
            <a:prstGeom prst="rect">
              <a:avLst/>
            </a:prstGeom>
          </p:spPr>
        </p:pic>
        <p:cxnSp>
          <p:nvCxnSpPr>
            <p:cNvPr id="14" name="Straight Arrow Connector 13">
              <a:extLst>
                <a:ext uri="{FF2B5EF4-FFF2-40B4-BE49-F238E27FC236}">
                  <a16:creationId xmlns:a16="http://schemas.microsoft.com/office/drawing/2014/main" id="{C0F2E992-D7D4-B3A8-60B1-10BA981CAF3B}"/>
                </a:ext>
              </a:extLst>
            </p:cNvPr>
            <p:cNvCxnSpPr/>
            <p:nvPr/>
          </p:nvCxnSpPr>
          <p:spPr bwMode="auto">
            <a:xfrm>
              <a:off x="2286000" y="3930678"/>
              <a:ext cx="1295400" cy="946122"/>
            </a:xfrm>
            <a:prstGeom prst="straightConnector1">
              <a:avLst/>
            </a:prstGeom>
            <a:solidFill>
              <a:schemeClr val="accent1"/>
            </a:solidFill>
            <a:ln w="28575" cap="flat" cmpd="sng" algn="ctr">
              <a:solidFill>
                <a:schemeClr val="tx1"/>
              </a:solidFill>
              <a:prstDash val="solid"/>
              <a:round/>
              <a:headEnd type="none" w="med" len="med"/>
              <a:tailEnd type="triangle"/>
            </a:ln>
            <a:effectLst/>
          </p:spPr>
        </p:cxnSp>
      </p:grpSp>
      <p:pic>
        <p:nvPicPr>
          <p:cNvPr id="16" name="Picture 15">
            <a:extLst>
              <a:ext uri="{FF2B5EF4-FFF2-40B4-BE49-F238E27FC236}">
                <a16:creationId xmlns:a16="http://schemas.microsoft.com/office/drawing/2014/main" id="{3CEA79B1-63A4-95D7-5B25-3D1594AFEC59}"/>
              </a:ext>
            </a:extLst>
          </p:cNvPr>
          <p:cNvPicPr>
            <a:picLocks noChangeAspect="1"/>
          </p:cNvPicPr>
          <p:nvPr/>
        </p:nvPicPr>
        <p:blipFill>
          <a:blip r:embed="rId5"/>
          <a:stretch>
            <a:fillRect/>
          </a:stretch>
        </p:blipFill>
        <p:spPr>
          <a:xfrm>
            <a:off x="5601934" y="2016190"/>
            <a:ext cx="2348375" cy="2032246"/>
          </a:xfrm>
          <a:prstGeom prst="rect">
            <a:avLst/>
          </a:prstGeom>
        </p:spPr>
      </p:pic>
      <p:pic>
        <p:nvPicPr>
          <p:cNvPr id="18" name="Picture 17">
            <a:extLst>
              <a:ext uri="{FF2B5EF4-FFF2-40B4-BE49-F238E27FC236}">
                <a16:creationId xmlns:a16="http://schemas.microsoft.com/office/drawing/2014/main" id="{1830A52C-BAAD-D563-B3AE-C882720CD1E3}"/>
              </a:ext>
            </a:extLst>
          </p:cNvPr>
          <p:cNvPicPr>
            <a:picLocks noChangeAspect="1"/>
          </p:cNvPicPr>
          <p:nvPr/>
        </p:nvPicPr>
        <p:blipFill>
          <a:blip r:embed="rId6"/>
          <a:stretch>
            <a:fillRect/>
          </a:stretch>
        </p:blipFill>
        <p:spPr>
          <a:xfrm>
            <a:off x="5351227" y="4353236"/>
            <a:ext cx="2849788" cy="1625354"/>
          </a:xfrm>
          <a:prstGeom prst="rect">
            <a:avLst/>
          </a:prstGeom>
        </p:spPr>
      </p:pic>
    </p:spTree>
    <p:extLst>
      <p:ext uri="{BB962C8B-B14F-4D97-AF65-F5344CB8AC3E}">
        <p14:creationId xmlns:p14="http://schemas.microsoft.com/office/powerpoint/2010/main" val="23775571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9516B-E145-7A88-D0EB-176CED9D0C51}"/>
              </a:ext>
            </a:extLst>
          </p:cNvPr>
          <p:cNvSpPr>
            <a:spLocks noGrp="1"/>
          </p:cNvSpPr>
          <p:nvPr>
            <p:ph type="title"/>
          </p:nvPr>
        </p:nvSpPr>
        <p:spPr/>
        <p:txBody>
          <a:bodyPr/>
          <a:lstStyle/>
          <a:p>
            <a:r>
              <a:rPr lang="en-IN" dirty="0"/>
              <a:t>CNN: Padding</a:t>
            </a:r>
          </a:p>
        </p:txBody>
      </p:sp>
      <p:sp>
        <p:nvSpPr>
          <p:cNvPr id="4" name="Date Placeholder 3">
            <a:extLst>
              <a:ext uri="{FF2B5EF4-FFF2-40B4-BE49-F238E27FC236}">
                <a16:creationId xmlns:a16="http://schemas.microsoft.com/office/drawing/2014/main" id="{EB03374F-C2E2-AF47-4955-8FAEDA95AA4E}"/>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EF2B45C8-E118-A61B-7146-3B601311028E}"/>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B4A1B599-7ED5-7322-D9DE-B9F06A907B2A}"/>
              </a:ext>
            </a:extLst>
          </p:cNvPr>
          <p:cNvSpPr>
            <a:spLocks noGrp="1"/>
          </p:cNvSpPr>
          <p:nvPr>
            <p:ph type="sldNum" sz="quarter" idx="12"/>
          </p:nvPr>
        </p:nvSpPr>
        <p:spPr/>
        <p:txBody>
          <a:bodyPr/>
          <a:lstStyle/>
          <a:p>
            <a:fld id="{BB2CE0DE-867F-455F-B20B-96D381B4AB71}" type="slidenum">
              <a:rPr lang="en-US" smtClean="0"/>
              <a:t>27</a:t>
            </a:fld>
            <a:endParaRPr lang="en-US"/>
          </a:p>
        </p:txBody>
      </p:sp>
      <p:pic>
        <p:nvPicPr>
          <p:cNvPr id="8" name="Picture 7">
            <a:extLst>
              <a:ext uri="{FF2B5EF4-FFF2-40B4-BE49-F238E27FC236}">
                <a16:creationId xmlns:a16="http://schemas.microsoft.com/office/drawing/2014/main" id="{7B56229F-D5EA-B86A-ED3A-593631B0A0C5}"/>
              </a:ext>
            </a:extLst>
          </p:cNvPr>
          <p:cNvPicPr>
            <a:picLocks noChangeAspect="1"/>
          </p:cNvPicPr>
          <p:nvPr/>
        </p:nvPicPr>
        <p:blipFill>
          <a:blip r:embed="rId2"/>
          <a:stretch>
            <a:fillRect/>
          </a:stretch>
        </p:blipFill>
        <p:spPr>
          <a:xfrm>
            <a:off x="457200" y="1219200"/>
            <a:ext cx="7267609" cy="3548903"/>
          </a:xfrm>
          <a:prstGeom prst="rect">
            <a:avLst/>
          </a:prstGeom>
        </p:spPr>
      </p:pic>
    </p:spTree>
    <p:extLst>
      <p:ext uri="{BB962C8B-B14F-4D97-AF65-F5344CB8AC3E}">
        <p14:creationId xmlns:p14="http://schemas.microsoft.com/office/powerpoint/2010/main" val="14464690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110C90-85CD-3C43-9B0E-B6E8C4B439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673573-3509-6FD1-F3A8-15434583BE87}"/>
              </a:ext>
            </a:extLst>
          </p:cNvPr>
          <p:cNvSpPr>
            <a:spLocks noGrp="1"/>
          </p:cNvSpPr>
          <p:nvPr>
            <p:ph type="title"/>
          </p:nvPr>
        </p:nvSpPr>
        <p:spPr/>
        <p:txBody>
          <a:bodyPr/>
          <a:lstStyle/>
          <a:p>
            <a:r>
              <a:rPr lang="en-IN" dirty="0"/>
              <a:t>CNN: Padding</a:t>
            </a:r>
          </a:p>
        </p:txBody>
      </p:sp>
      <p:sp>
        <p:nvSpPr>
          <p:cNvPr id="3" name="Content Placeholder 2">
            <a:extLst>
              <a:ext uri="{FF2B5EF4-FFF2-40B4-BE49-F238E27FC236}">
                <a16:creationId xmlns:a16="http://schemas.microsoft.com/office/drawing/2014/main" id="{4798E009-972F-8CFE-E32B-735E038617B8}"/>
              </a:ext>
            </a:extLst>
          </p:cNvPr>
          <p:cNvSpPr>
            <a:spLocks noGrp="1"/>
          </p:cNvSpPr>
          <p:nvPr>
            <p:ph idx="1"/>
          </p:nvPr>
        </p:nvSpPr>
        <p:spPr/>
        <p:txBody>
          <a:bodyPr/>
          <a:lstStyle/>
          <a:p>
            <a:pPr marL="0" indent="0">
              <a:buNone/>
            </a:pPr>
            <a:r>
              <a:rPr lang="en-IN" dirty="0"/>
              <a:t>Why Padding is required ?</a:t>
            </a:r>
          </a:p>
          <a:p>
            <a:pPr marL="0" indent="0" algn="just">
              <a:buNone/>
            </a:pPr>
            <a:r>
              <a:rPr lang="en-US" sz="1600" dirty="0"/>
              <a:t>During convolution, the size of the output feature map is determined by the size of the input feature map, the size of the kernel, and the stride. If we simply apply the kernel on the input feature map, then the output feature map will be smaller than the input. This can result in the loss of information at the borders of the input feature map. In order to preserve the border information we use padding.</a:t>
            </a:r>
            <a:endParaRPr lang="en-IN" sz="1600" dirty="0"/>
          </a:p>
        </p:txBody>
      </p:sp>
      <p:sp>
        <p:nvSpPr>
          <p:cNvPr id="4" name="Date Placeholder 3">
            <a:extLst>
              <a:ext uri="{FF2B5EF4-FFF2-40B4-BE49-F238E27FC236}">
                <a16:creationId xmlns:a16="http://schemas.microsoft.com/office/drawing/2014/main" id="{0D1DF2CB-0A8B-A4DD-0B9B-B965CAE218A4}"/>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0A8EA69E-8D42-7235-092D-264ED7388B42}"/>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B95826FE-91EA-8377-94E4-9BB276F2BDB9}"/>
              </a:ext>
            </a:extLst>
          </p:cNvPr>
          <p:cNvSpPr>
            <a:spLocks noGrp="1"/>
          </p:cNvSpPr>
          <p:nvPr>
            <p:ph type="sldNum" sz="quarter" idx="12"/>
          </p:nvPr>
        </p:nvSpPr>
        <p:spPr/>
        <p:txBody>
          <a:bodyPr/>
          <a:lstStyle/>
          <a:p>
            <a:fld id="{BB2CE0DE-867F-455F-B20B-96D381B4AB71}" type="slidenum">
              <a:rPr lang="en-US" smtClean="0"/>
              <a:t>28</a:t>
            </a:fld>
            <a:endParaRPr lang="en-US"/>
          </a:p>
        </p:txBody>
      </p:sp>
    </p:spTree>
    <p:extLst>
      <p:ext uri="{BB962C8B-B14F-4D97-AF65-F5344CB8AC3E}">
        <p14:creationId xmlns:p14="http://schemas.microsoft.com/office/powerpoint/2010/main" val="22442841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42147-6B82-1330-4F9B-322131338A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E04C2D-F0B9-9C93-A502-B18215423637}"/>
              </a:ext>
            </a:extLst>
          </p:cNvPr>
          <p:cNvSpPr>
            <a:spLocks noGrp="1"/>
          </p:cNvSpPr>
          <p:nvPr>
            <p:ph type="title"/>
          </p:nvPr>
        </p:nvSpPr>
        <p:spPr/>
        <p:txBody>
          <a:bodyPr/>
          <a:lstStyle/>
          <a:p>
            <a:r>
              <a:rPr lang="en-IN" dirty="0"/>
              <a:t>CNN: Padding</a:t>
            </a:r>
          </a:p>
        </p:txBody>
      </p:sp>
      <p:sp>
        <p:nvSpPr>
          <p:cNvPr id="3" name="Content Placeholder 2">
            <a:extLst>
              <a:ext uri="{FF2B5EF4-FFF2-40B4-BE49-F238E27FC236}">
                <a16:creationId xmlns:a16="http://schemas.microsoft.com/office/drawing/2014/main" id="{EA874568-19B7-7421-8F82-6A1C150E9131}"/>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A4DB7802-3230-B001-4C42-FE8CEB9817DB}"/>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74CD625F-4092-421D-5D8F-E27492736B09}"/>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79760101-9BCE-C238-C826-FBE322F7879F}"/>
              </a:ext>
            </a:extLst>
          </p:cNvPr>
          <p:cNvSpPr>
            <a:spLocks noGrp="1"/>
          </p:cNvSpPr>
          <p:nvPr>
            <p:ph type="sldNum" sz="quarter" idx="12"/>
          </p:nvPr>
        </p:nvSpPr>
        <p:spPr/>
        <p:txBody>
          <a:bodyPr/>
          <a:lstStyle/>
          <a:p>
            <a:fld id="{BB2CE0DE-867F-455F-B20B-96D381B4AB71}" type="slidenum">
              <a:rPr lang="en-US" smtClean="0"/>
              <a:t>29</a:t>
            </a:fld>
            <a:endParaRPr lang="en-US"/>
          </a:p>
        </p:txBody>
      </p:sp>
      <p:pic>
        <p:nvPicPr>
          <p:cNvPr id="8" name="Picture 7">
            <a:extLst>
              <a:ext uri="{FF2B5EF4-FFF2-40B4-BE49-F238E27FC236}">
                <a16:creationId xmlns:a16="http://schemas.microsoft.com/office/drawing/2014/main" id="{39E74FA9-13A9-8439-FB76-3E53AFCCBBB2}"/>
              </a:ext>
            </a:extLst>
          </p:cNvPr>
          <p:cNvPicPr>
            <a:picLocks noChangeAspect="1"/>
          </p:cNvPicPr>
          <p:nvPr/>
        </p:nvPicPr>
        <p:blipFill>
          <a:blip r:embed="rId2"/>
          <a:stretch>
            <a:fillRect/>
          </a:stretch>
        </p:blipFill>
        <p:spPr>
          <a:xfrm>
            <a:off x="609600" y="1295400"/>
            <a:ext cx="6115904" cy="2986505"/>
          </a:xfrm>
          <a:prstGeom prst="rect">
            <a:avLst/>
          </a:prstGeom>
        </p:spPr>
      </p:pic>
    </p:spTree>
    <p:extLst>
      <p:ext uri="{BB962C8B-B14F-4D97-AF65-F5344CB8AC3E}">
        <p14:creationId xmlns:p14="http://schemas.microsoft.com/office/powerpoint/2010/main" val="16922678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6D1D8-226D-1B9F-9E34-1A93AE7AE03D}"/>
              </a:ext>
            </a:extLst>
          </p:cNvPr>
          <p:cNvSpPr>
            <a:spLocks noGrp="1"/>
          </p:cNvSpPr>
          <p:nvPr>
            <p:ph type="title"/>
          </p:nvPr>
        </p:nvSpPr>
        <p:spPr/>
        <p:txBody>
          <a:bodyPr/>
          <a:lstStyle/>
          <a:p>
            <a:r>
              <a:rPr lang="en-IN" dirty="0"/>
              <a:t>CNN: Padding</a:t>
            </a:r>
          </a:p>
        </p:txBody>
      </p:sp>
      <p:sp>
        <p:nvSpPr>
          <p:cNvPr id="3" name="Content Placeholder 2">
            <a:extLst>
              <a:ext uri="{FF2B5EF4-FFF2-40B4-BE49-F238E27FC236}">
                <a16:creationId xmlns:a16="http://schemas.microsoft.com/office/drawing/2014/main" id="{28DD2814-071A-01F1-1310-ECBCA01E1ED5}"/>
              </a:ext>
            </a:extLst>
          </p:cNvPr>
          <p:cNvSpPr>
            <a:spLocks noGrp="1"/>
          </p:cNvSpPr>
          <p:nvPr>
            <p:ph idx="1"/>
          </p:nvPr>
        </p:nvSpPr>
        <p:spPr/>
        <p:txBody>
          <a:bodyPr/>
          <a:lstStyle/>
          <a:p>
            <a:pPr marL="0" indent="0" algn="just">
              <a:buNone/>
            </a:pPr>
            <a:r>
              <a:rPr lang="en-US" sz="1800" dirty="0">
                <a:solidFill>
                  <a:srgbClr val="6B6B6B"/>
                </a:solidFill>
                <a:latin typeface="sohne"/>
              </a:rPr>
              <a:t>How information is lost on the edges. Note that the red-shaded center pixel overlaps with many (red) filters while the green-shaded pixel can only overlaps with just one (green) filter.</a:t>
            </a:r>
            <a:endParaRPr lang="en-IN" sz="1800" dirty="0"/>
          </a:p>
        </p:txBody>
      </p:sp>
      <p:sp>
        <p:nvSpPr>
          <p:cNvPr id="4" name="Date Placeholder 3">
            <a:extLst>
              <a:ext uri="{FF2B5EF4-FFF2-40B4-BE49-F238E27FC236}">
                <a16:creationId xmlns:a16="http://schemas.microsoft.com/office/drawing/2014/main" id="{3BD5551A-5989-EE05-1ED0-A9923C380C97}"/>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570F1816-082E-E2B0-29D3-1C9D077C7887}"/>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7CF4096E-4C1D-93DA-A402-BD8CD393C5C4}"/>
              </a:ext>
            </a:extLst>
          </p:cNvPr>
          <p:cNvSpPr>
            <a:spLocks noGrp="1"/>
          </p:cNvSpPr>
          <p:nvPr>
            <p:ph type="sldNum" sz="quarter" idx="12"/>
          </p:nvPr>
        </p:nvSpPr>
        <p:spPr/>
        <p:txBody>
          <a:bodyPr/>
          <a:lstStyle/>
          <a:p>
            <a:fld id="{BB2CE0DE-867F-455F-B20B-96D381B4AB71}" type="slidenum">
              <a:rPr lang="en-US" smtClean="0"/>
              <a:t>30</a:t>
            </a:fld>
            <a:endParaRPr lang="en-US"/>
          </a:p>
        </p:txBody>
      </p:sp>
      <p:pic>
        <p:nvPicPr>
          <p:cNvPr id="7" name="Picture 6">
            <a:extLst>
              <a:ext uri="{FF2B5EF4-FFF2-40B4-BE49-F238E27FC236}">
                <a16:creationId xmlns:a16="http://schemas.microsoft.com/office/drawing/2014/main" id="{673DF5CC-A8D0-E958-822B-F3736CCDB5FA}"/>
              </a:ext>
            </a:extLst>
          </p:cNvPr>
          <p:cNvPicPr>
            <a:picLocks noChangeAspect="1"/>
          </p:cNvPicPr>
          <p:nvPr/>
        </p:nvPicPr>
        <p:blipFill>
          <a:blip r:embed="rId2"/>
          <a:stretch>
            <a:fillRect/>
          </a:stretch>
        </p:blipFill>
        <p:spPr>
          <a:xfrm>
            <a:off x="1714500" y="2400301"/>
            <a:ext cx="5372100" cy="3023027"/>
          </a:xfrm>
          <a:prstGeom prst="rect">
            <a:avLst/>
          </a:prstGeom>
        </p:spPr>
      </p:pic>
    </p:spTree>
    <p:extLst>
      <p:ext uri="{BB962C8B-B14F-4D97-AF65-F5344CB8AC3E}">
        <p14:creationId xmlns:p14="http://schemas.microsoft.com/office/powerpoint/2010/main" val="26314669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490E6-EBEE-D4FB-4AB1-D075E917C73B}"/>
              </a:ext>
            </a:extLst>
          </p:cNvPr>
          <p:cNvSpPr>
            <a:spLocks noGrp="1"/>
          </p:cNvSpPr>
          <p:nvPr>
            <p:ph type="title"/>
          </p:nvPr>
        </p:nvSpPr>
        <p:spPr/>
        <p:txBody>
          <a:bodyPr/>
          <a:lstStyle/>
          <a:p>
            <a:r>
              <a:rPr lang="en-IN" dirty="0"/>
              <a:t>CNN: Padding</a:t>
            </a:r>
          </a:p>
        </p:txBody>
      </p:sp>
      <p:sp>
        <p:nvSpPr>
          <p:cNvPr id="3" name="Content Placeholder 2">
            <a:extLst>
              <a:ext uri="{FF2B5EF4-FFF2-40B4-BE49-F238E27FC236}">
                <a16:creationId xmlns:a16="http://schemas.microsoft.com/office/drawing/2014/main" id="{2FDCE396-AA2F-9EC8-ECE9-79010CF844F4}"/>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27445DFA-1287-D019-ECBD-63D1100BEBFA}"/>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063F61FA-7A0A-2A64-A3E1-B0BC5605279F}"/>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E41A2A6-6B2C-8FA8-5C92-15AD6E9BE976}"/>
              </a:ext>
            </a:extLst>
          </p:cNvPr>
          <p:cNvSpPr>
            <a:spLocks noGrp="1"/>
          </p:cNvSpPr>
          <p:nvPr>
            <p:ph type="sldNum" sz="quarter" idx="12"/>
          </p:nvPr>
        </p:nvSpPr>
        <p:spPr/>
        <p:txBody>
          <a:bodyPr/>
          <a:lstStyle/>
          <a:p>
            <a:fld id="{BB2CE0DE-867F-455F-B20B-96D381B4AB71}" type="slidenum">
              <a:rPr lang="en-US" smtClean="0"/>
              <a:t>31</a:t>
            </a:fld>
            <a:endParaRPr lang="en-US"/>
          </a:p>
        </p:txBody>
      </p:sp>
      <p:pic>
        <p:nvPicPr>
          <p:cNvPr id="8" name="Picture 7">
            <a:extLst>
              <a:ext uri="{FF2B5EF4-FFF2-40B4-BE49-F238E27FC236}">
                <a16:creationId xmlns:a16="http://schemas.microsoft.com/office/drawing/2014/main" id="{EF2F0CBD-78CB-D2CF-78AF-481754F7EDF4}"/>
              </a:ext>
            </a:extLst>
          </p:cNvPr>
          <p:cNvPicPr>
            <a:picLocks noChangeAspect="1"/>
          </p:cNvPicPr>
          <p:nvPr/>
        </p:nvPicPr>
        <p:blipFill>
          <a:blip r:embed="rId2"/>
          <a:stretch>
            <a:fillRect/>
          </a:stretch>
        </p:blipFill>
        <p:spPr>
          <a:xfrm>
            <a:off x="666750" y="1295400"/>
            <a:ext cx="8199570" cy="4572000"/>
          </a:xfrm>
          <a:prstGeom prst="rect">
            <a:avLst/>
          </a:prstGeom>
        </p:spPr>
      </p:pic>
    </p:spTree>
    <p:extLst>
      <p:ext uri="{BB962C8B-B14F-4D97-AF65-F5344CB8AC3E}">
        <p14:creationId xmlns:p14="http://schemas.microsoft.com/office/powerpoint/2010/main" val="33255053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F9D361-48E5-5AE3-3654-D187D188FF09}"/>
              </a:ext>
            </a:extLst>
          </p:cNvPr>
          <p:cNvSpPr>
            <a:spLocks noGrp="1"/>
          </p:cNvSpPr>
          <p:nvPr>
            <p:ph type="title"/>
          </p:nvPr>
        </p:nvSpPr>
        <p:spPr/>
        <p:txBody>
          <a:bodyPr/>
          <a:lstStyle/>
          <a:p>
            <a:r>
              <a:rPr lang="en-IN" dirty="0"/>
              <a:t>Valid and Same Padding</a:t>
            </a:r>
          </a:p>
        </p:txBody>
      </p:sp>
      <p:pic>
        <p:nvPicPr>
          <p:cNvPr id="8" name="Content Placeholder 7">
            <a:extLst>
              <a:ext uri="{FF2B5EF4-FFF2-40B4-BE49-F238E27FC236}">
                <a16:creationId xmlns:a16="http://schemas.microsoft.com/office/drawing/2014/main" id="{763231F7-07A5-339D-5B50-D12D26CA7C1D}"/>
              </a:ext>
            </a:extLst>
          </p:cNvPr>
          <p:cNvPicPr>
            <a:picLocks noGrp="1" noChangeAspect="1"/>
          </p:cNvPicPr>
          <p:nvPr>
            <p:ph idx="1"/>
          </p:nvPr>
        </p:nvPicPr>
        <p:blipFill>
          <a:blip r:embed="rId3"/>
          <a:stretch>
            <a:fillRect/>
          </a:stretch>
        </p:blipFill>
        <p:spPr>
          <a:xfrm>
            <a:off x="552449" y="1295400"/>
            <a:ext cx="8229895" cy="3886200"/>
          </a:xfrm>
        </p:spPr>
      </p:pic>
      <p:sp>
        <p:nvSpPr>
          <p:cNvPr id="4" name="Date Placeholder 3">
            <a:extLst>
              <a:ext uri="{FF2B5EF4-FFF2-40B4-BE49-F238E27FC236}">
                <a16:creationId xmlns:a16="http://schemas.microsoft.com/office/drawing/2014/main" id="{2395D15B-B77F-3CED-2007-D7EF8F50B5C4}"/>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2B2F1082-C8E5-FA63-9FAB-9B818BEE3AC9}"/>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9E8B150D-EA93-504E-25C4-BC2E5623A6C5}"/>
              </a:ext>
            </a:extLst>
          </p:cNvPr>
          <p:cNvSpPr>
            <a:spLocks noGrp="1"/>
          </p:cNvSpPr>
          <p:nvPr>
            <p:ph type="sldNum" sz="quarter" idx="12"/>
          </p:nvPr>
        </p:nvSpPr>
        <p:spPr/>
        <p:txBody>
          <a:bodyPr/>
          <a:lstStyle/>
          <a:p>
            <a:fld id="{BB2CE0DE-867F-455F-B20B-96D381B4AB71}" type="slidenum">
              <a:rPr lang="en-US" smtClean="0"/>
              <a:t>32</a:t>
            </a:fld>
            <a:endParaRPr lang="en-US"/>
          </a:p>
        </p:txBody>
      </p:sp>
      <p:sp>
        <p:nvSpPr>
          <p:cNvPr id="3" name="TextBox 2">
            <a:extLst>
              <a:ext uri="{FF2B5EF4-FFF2-40B4-BE49-F238E27FC236}">
                <a16:creationId xmlns:a16="http://schemas.microsoft.com/office/drawing/2014/main" id="{8D4BC3C9-2451-484D-94F2-442B491F4BB6}"/>
              </a:ext>
            </a:extLst>
          </p:cNvPr>
          <p:cNvSpPr txBox="1"/>
          <p:nvPr/>
        </p:nvSpPr>
        <p:spPr>
          <a:xfrm>
            <a:off x="2800350" y="3257550"/>
            <a:ext cx="57150" cy="300082"/>
          </a:xfrm>
          <a:prstGeom prst="rect">
            <a:avLst/>
          </a:prstGeom>
          <a:noFill/>
        </p:spPr>
        <p:txBody>
          <a:bodyPr wrap="square" rtlCol="0">
            <a:spAutoFit/>
          </a:bodyPr>
          <a:lstStyle/>
          <a:p>
            <a:endParaRPr lang="en-IN" sz="1350" dirty="0"/>
          </a:p>
        </p:txBody>
      </p:sp>
    </p:spTree>
    <p:extLst>
      <p:ext uri="{BB962C8B-B14F-4D97-AF65-F5344CB8AC3E}">
        <p14:creationId xmlns:p14="http://schemas.microsoft.com/office/powerpoint/2010/main" val="17452662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4C6C2-ACB5-0268-489F-1FFAAEAB0402}"/>
              </a:ext>
            </a:extLst>
          </p:cNvPr>
          <p:cNvSpPr>
            <a:spLocks noGrp="1"/>
          </p:cNvSpPr>
          <p:nvPr>
            <p:ph type="title"/>
          </p:nvPr>
        </p:nvSpPr>
        <p:spPr/>
        <p:txBody>
          <a:bodyPr/>
          <a:lstStyle/>
          <a:p>
            <a:r>
              <a:rPr lang="en-US" dirty="0"/>
              <a:t>Striding</a:t>
            </a:r>
            <a:endParaRPr lang="en-IN" dirty="0"/>
          </a:p>
        </p:txBody>
      </p:sp>
      <p:sp>
        <p:nvSpPr>
          <p:cNvPr id="4" name="Date Placeholder 3">
            <a:extLst>
              <a:ext uri="{FF2B5EF4-FFF2-40B4-BE49-F238E27FC236}">
                <a16:creationId xmlns:a16="http://schemas.microsoft.com/office/drawing/2014/main" id="{6A8EFEBD-7A87-9DD8-E22B-9A2F0DCBDAC5}"/>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CFC9178F-D37A-9CBD-D492-0A286B7EC370}"/>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836A35DC-080D-9EB4-09C9-FCC467136AB4}"/>
              </a:ext>
            </a:extLst>
          </p:cNvPr>
          <p:cNvSpPr>
            <a:spLocks noGrp="1"/>
          </p:cNvSpPr>
          <p:nvPr>
            <p:ph type="sldNum" sz="quarter" idx="12"/>
          </p:nvPr>
        </p:nvSpPr>
        <p:spPr/>
        <p:txBody>
          <a:bodyPr/>
          <a:lstStyle/>
          <a:p>
            <a:fld id="{BB2CE0DE-867F-455F-B20B-96D381B4AB71}" type="slidenum">
              <a:rPr lang="en-US" smtClean="0"/>
              <a:t>33</a:t>
            </a:fld>
            <a:endParaRPr lang="en-US"/>
          </a:p>
        </p:txBody>
      </p:sp>
      <p:pic>
        <p:nvPicPr>
          <p:cNvPr id="7" name="Picture 6">
            <a:extLst>
              <a:ext uri="{FF2B5EF4-FFF2-40B4-BE49-F238E27FC236}">
                <a16:creationId xmlns:a16="http://schemas.microsoft.com/office/drawing/2014/main" id="{B6BDAD6F-5036-E70B-4ACF-33943D8355A9}"/>
              </a:ext>
            </a:extLst>
          </p:cNvPr>
          <p:cNvPicPr>
            <a:picLocks noChangeAspect="1"/>
          </p:cNvPicPr>
          <p:nvPr/>
        </p:nvPicPr>
        <p:blipFill>
          <a:blip r:embed="rId3"/>
          <a:stretch>
            <a:fillRect/>
          </a:stretch>
        </p:blipFill>
        <p:spPr>
          <a:xfrm>
            <a:off x="623596" y="1295400"/>
            <a:ext cx="6228950" cy="3505200"/>
          </a:xfrm>
          <a:prstGeom prst="rect">
            <a:avLst/>
          </a:prstGeom>
        </p:spPr>
      </p:pic>
    </p:spTree>
    <p:extLst>
      <p:ext uri="{BB962C8B-B14F-4D97-AF65-F5344CB8AC3E}">
        <p14:creationId xmlns:p14="http://schemas.microsoft.com/office/powerpoint/2010/main" val="39477001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85B8FC-37C3-9226-3A56-CCDF86A7342D}"/>
              </a:ext>
            </a:extLst>
          </p:cNvPr>
          <p:cNvSpPr>
            <a:spLocks noGrp="1"/>
          </p:cNvSpPr>
          <p:nvPr>
            <p:ph type="title"/>
          </p:nvPr>
        </p:nvSpPr>
        <p:spPr/>
        <p:txBody>
          <a:bodyPr/>
          <a:lstStyle/>
          <a:p>
            <a:r>
              <a:rPr lang="en-IN" dirty="0"/>
              <a:t>Striding</a:t>
            </a:r>
          </a:p>
        </p:txBody>
      </p:sp>
      <p:sp>
        <p:nvSpPr>
          <p:cNvPr id="4" name="Date Placeholder 3">
            <a:extLst>
              <a:ext uri="{FF2B5EF4-FFF2-40B4-BE49-F238E27FC236}">
                <a16:creationId xmlns:a16="http://schemas.microsoft.com/office/drawing/2014/main" id="{1F905CCF-8492-F31A-9224-266519060DC5}"/>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35F38A81-AC12-FC4A-1219-4A090A637CEC}"/>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C9A4CCC5-BECD-0417-D60C-A9A378D1A670}"/>
              </a:ext>
            </a:extLst>
          </p:cNvPr>
          <p:cNvSpPr>
            <a:spLocks noGrp="1"/>
          </p:cNvSpPr>
          <p:nvPr>
            <p:ph type="sldNum" sz="quarter" idx="12"/>
          </p:nvPr>
        </p:nvSpPr>
        <p:spPr/>
        <p:txBody>
          <a:bodyPr/>
          <a:lstStyle/>
          <a:p>
            <a:fld id="{BB2CE0DE-867F-455F-B20B-96D381B4AB71}" type="slidenum">
              <a:rPr lang="en-US" smtClean="0"/>
              <a:t>34</a:t>
            </a:fld>
            <a:endParaRPr lang="en-US"/>
          </a:p>
        </p:txBody>
      </p:sp>
      <p:pic>
        <p:nvPicPr>
          <p:cNvPr id="8" name="Picture 7">
            <a:extLst>
              <a:ext uri="{FF2B5EF4-FFF2-40B4-BE49-F238E27FC236}">
                <a16:creationId xmlns:a16="http://schemas.microsoft.com/office/drawing/2014/main" id="{0F67850E-C26A-D26A-63AC-178F7001F5EA}"/>
              </a:ext>
            </a:extLst>
          </p:cNvPr>
          <p:cNvPicPr>
            <a:picLocks noChangeAspect="1"/>
          </p:cNvPicPr>
          <p:nvPr/>
        </p:nvPicPr>
        <p:blipFill>
          <a:blip r:embed="rId3"/>
          <a:stretch>
            <a:fillRect/>
          </a:stretch>
        </p:blipFill>
        <p:spPr>
          <a:xfrm>
            <a:off x="457199" y="1219200"/>
            <a:ext cx="8274681" cy="3962400"/>
          </a:xfrm>
          <a:prstGeom prst="rect">
            <a:avLst/>
          </a:prstGeom>
        </p:spPr>
      </p:pic>
    </p:spTree>
    <p:extLst>
      <p:ext uri="{BB962C8B-B14F-4D97-AF65-F5344CB8AC3E}">
        <p14:creationId xmlns:p14="http://schemas.microsoft.com/office/powerpoint/2010/main" val="10386835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21078-F0FF-924A-D1D9-CCDBC76C71C0}"/>
              </a:ext>
            </a:extLst>
          </p:cNvPr>
          <p:cNvSpPr>
            <a:spLocks noGrp="1"/>
          </p:cNvSpPr>
          <p:nvPr>
            <p:ph type="title"/>
          </p:nvPr>
        </p:nvSpPr>
        <p:spPr/>
        <p:txBody>
          <a:bodyPr/>
          <a:lstStyle/>
          <a:p>
            <a:endParaRPr lang="en-IN"/>
          </a:p>
        </p:txBody>
      </p:sp>
      <p:sp>
        <p:nvSpPr>
          <p:cNvPr id="4" name="Date Placeholder 3">
            <a:extLst>
              <a:ext uri="{FF2B5EF4-FFF2-40B4-BE49-F238E27FC236}">
                <a16:creationId xmlns:a16="http://schemas.microsoft.com/office/drawing/2014/main" id="{C3BEADEA-8444-FD2F-DF0B-7D625D046B52}"/>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BE18D625-A3AD-25A0-C181-BF08940CCD3F}"/>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CCCA0927-8889-FF20-1B58-ECF5924B6B31}"/>
              </a:ext>
            </a:extLst>
          </p:cNvPr>
          <p:cNvSpPr>
            <a:spLocks noGrp="1"/>
          </p:cNvSpPr>
          <p:nvPr>
            <p:ph type="sldNum" sz="quarter" idx="12"/>
          </p:nvPr>
        </p:nvSpPr>
        <p:spPr/>
        <p:txBody>
          <a:bodyPr/>
          <a:lstStyle/>
          <a:p>
            <a:fld id="{BB2CE0DE-867F-455F-B20B-96D381B4AB71}" type="slidenum">
              <a:rPr lang="en-US" smtClean="0"/>
              <a:t>35</a:t>
            </a:fld>
            <a:endParaRPr lang="en-US"/>
          </a:p>
        </p:txBody>
      </p:sp>
      <p:pic>
        <p:nvPicPr>
          <p:cNvPr id="8" name="Picture 7">
            <a:extLst>
              <a:ext uri="{FF2B5EF4-FFF2-40B4-BE49-F238E27FC236}">
                <a16:creationId xmlns:a16="http://schemas.microsoft.com/office/drawing/2014/main" id="{FC3B7611-23FE-CE07-046D-AB574A3CAE5C}"/>
              </a:ext>
            </a:extLst>
          </p:cNvPr>
          <p:cNvPicPr>
            <a:picLocks noChangeAspect="1"/>
          </p:cNvPicPr>
          <p:nvPr/>
        </p:nvPicPr>
        <p:blipFill>
          <a:blip r:embed="rId2"/>
          <a:stretch>
            <a:fillRect/>
          </a:stretch>
        </p:blipFill>
        <p:spPr>
          <a:xfrm>
            <a:off x="565344" y="1143000"/>
            <a:ext cx="7736618" cy="4191000"/>
          </a:xfrm>
          <a:prstGeom prst="rect">
            <a:avLst/>
          </a:prstGeom>
        </p:spPr>
      </p:pic>
    </p:spTree>
    <p:extLst>
      <p:ext uri="{BB962C8B-B14F-4D97-AF65-F5344CB8AC3E}">
        <p14:creationId xmlns:p14="http://schemas.microsoft.com/office/powerpoint/2010/main" val="35730754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34FF6-B3AD-502E-13F9-131A73FBE060}"/>
              </a:ext>
            </a:extLst>
          </p:cNvPr>
          <p:cNvSpPr>
            <a:spLocks noGrp="1"/>
          </p:cNvSpPr>
          <p:nvPr>
            <p:ph type="title"/>
          </p:nvPr>
        </p:nvSpPr>
        <p:spPr/>
        <p:txBody>
          <a:bodyPr/>
          <a:lstStyle/>
          <a:p>
            <a:endParaRPr lang="en-IN"/>
          </a:p>
        </p:txBody>
      </p:sp>
      <p:sp>
        <p:nvSpPr>
          <p:cNvPr id="4" name="Date Placeholder 3">
            <a:extLst>
              <a:ext uri="{FF2B5EF4-FFF2-40B4-BE49-F238E27FC236}">
                <a16:creationId xmlns:a16="http://schemas.microsoft.com/office/drawing/2014/main" id="{D43CAED3-E739-514C-F320-3EA3D9655E5A}"/>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307B394A-BB06-F433-BB4A-991A33F8F3D8}"/>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8EADBED5-0BE7-B689-8DD7-813127715D1C}"/>
              </a:ext>
            </a:extLst>
          </p:cNvPr>
          <p:cNvSpPr>
            <a:spLocks noGrp="1"/>
          </p:cNvSpPr>
          <p:nvPr>
            <p:ph type="sldNum" sz="quarter" idx="12"/>
          </p:nvPr>
        </p:nvSpPr>
        <p:spPr/>
        <p:txBody>
          <a:bodyPr/>
          <a:lstStyle/>
          <a:p>
            <a:fld id="{BB2CE0DE-867F-455F-B20B-96D381B4AB71}" type="slidenum">
              <a:rPr lang="en-US" smtClean="0"/>
              <a:t>36</a:t>
            </a:fld>
            <a:endParaRPr lang="en-US"/>
          </a:p>
        </p:txBody>
      </p:sp>
      <p:pic>
        <p:nvPicPr>
          <p:cNvPr id="10" name="Picture 9">
            <a:extLst>
              <a:ext uri="{FF2B5EF4-FFF2-40B4-BE49-F238E27FC236}">
                <a16:creationId xmlns:a16="http://schemas.microsoft.com/office/drawing/2014/main" id="{70C50911-4D96-119F-AD25-7AF5A6CB0D3B}"/>
              </a:ext>
            </a:extLst>
          </p:cNvPr>
          <p:cNvPicPr>
            <a:picLocks noChangeAspect="1"/>
          </p:cNvPicPr>
          <p:nvPr/>
        </p:nvPicPr>
        <p:blipFill>
          <a:blip r:embed="rId2"/>
          <a:stretch>
            <a:fillRect/>
          </a:stretch>
        </p:blipFill>
        <p:spPr>
          <a:xfrm>
            <a:off x="533400" y="1143000"/>
            <a:ext cx="7964096" cy="3886200"/>
          </a:xfrm>
          <a:prstGeom prst="rect">
            <a:avLst/>
          </a:prstGeom>
        </p:spPr>
      </p:pic>
    </p:spTree>
    <p:extLst>
      <p:ext uri="{BB962C8B-B14F-4D97-AF65-F5344CB8AC3E}">
        <p14:creationId xmlns:p14="http://schemas.microsoft.com/office/powerpoint/2010/main" val="130194991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4849B-E97E-E129-5073-E9096CC4CF47}"/>
              </a:ext>
            </a:extLst>
          </p:cNvPr>
          <p:cNvSpPr>
            <a:spLocks noGrp="1"/>
          </p:cNvSpPr>
          <p:nvPr>
            <p:ph type="title"/>
          </p:nvPr>
        </p:nvSpPr>
        <p:spPr/>
        <p:txBody>
          <a:bodyPr/>
          <a:lstStyle/>
          <a:p>
            <a:endParaRPr lang="en-IN"/>
          </a:p>
        </p:txBody>
      </p:sp>
      <p:sp>
        <p:nvSpPr>
          <p:cNvPr id="4" name="Date Placeholder 3">
            <a:extLst>
              <a:ext uri="{FF2B5EF4-FFF2-40B4-BE49-F238E27FC236}">
                <a16:creationId xmlns:a16="http://schemas.microsoft.com/office/drawing/2014/main" id="{5EEF1277-EE8A-45F9-E35F-F65413D4DE65}"/>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725B9736-F717-96BB-63BD-BED52C21DA2D}"/>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92871E05-4CF8-4BB3-69D0-59A749437F9F}"/>
              </a:ext>
            </a:extLst>
          </p:cNvPr>
          <p:cNvSpPr>
            <a:spLocks noGrp="1"/>
          </p:cNvSpPr>
          <p:nvPr>
            <p:ph type="sldNum" sz="quarter" idx="12"/>
          </p:nvPr>
        </p:nvSpPr>
        <p:spPr/>
        <p:txBody>
          <a:bodyPr/>
          <a:lstStyle/>
          <a:p>
            <a:fld id="{BB2CE0DE-867F-455F-B20B-96D381B4AB71}" type="slidenum">
              <a:rPr lang="en-US" smtClean="0"/>
              <a:t>37</a:t>
            </a:fld>
            <a:endParaRPr lang="en-US"/>
          </a:p>
        </p:txBody>
      </p:sp>
      <p:pic>
        <p:nvPicPr>
          <p:cNvPr id="8" name="Picture 7">
            <a:extLst>
              <a:ext uri="{FF2B5EF4-FFF2-40B4-BE49-F238E27FC236}">
                <a16:creationId xmlns:a16="http://schemas.microsoft.com/office/drawing/2014/main" id="{FFEDB313-FB7F-CCC4-4140-5B07C5A7BB5C}"/>
              </a:ext>
            </a:extLst>
          </p:cNvPr>
          <p:cNvPicPr>
            <a:picLocks noChangeAspect="1"/>
          </p:cNvPicPr>
          <p:nvPr/>
        </p:nvPicPr>
        <p:blipFill>
          <a:blip r:embed="rId2"/>
          <a:stretch>
            <a:fillRect/>
          </a:stretch>
        </p:blipFill>
        <p:spPr>
          <a:xfrm>
            <a:off x="574675" y="1295400"/>
            <a:ext cx="8581988" cy="4648200"/>
          </a:xfrm>
          <a:prstGeom prst="rect">
            <a:avLst/>
          </a:prstGeom>
        </p:spPr>
      </p:pic>
    </p:spTree>
    <p:extLst>
      <p:ext uri="{BB962C8B-B14F-4D97-AF65-F5344CB8AC3E}">
        <p14:creationId xmlns:p14="http://schemas.microsoft.com/office/powerpoint/2010/main" val="3273824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1A2FF-B260-7610-4BEE-9B4763F7F8A2}"/>
              </a:ext>
            </a:extLst>
          </p:cNvPr>
          <p:cNvSpPr>
            <a:spLocks noGrp="1"/>
          </p:cNvSpPr>
          <p:nvPr>
            <p:ph type="title"/>
          </p:nvPr>
        </p:nvSpPr>
        <p:spPr/>
        <p:txBody>
          <a:bodyPr/>
          <a:lstStyle/>
          <a:p>
            <a:r>
              <a:rPr lang="en-US" dirty="0" err="1"/>
              <a:t>Strided</a:t>
            </a:r>
            <a:r>
              <a:rPr lang="en-US" dirty="0"/>
              <a:t> Convolution</a:t>
            </a:r>
            <a:endParaRPr lang="en-IN" dirty="0"/>
          </a:p>
        </p:txBody>
      </p:sp>
      <p:sp>
        <p:nvSpPr>
          <p:cNvPr id="3" name="Content Placeholder 2">
            <a:extLst>
              <a:ext uri="{FF2B5EF4-FFF2-40B4-BE49-F238E27FC236}">
                <a16:creationId xmlns:a16="http://schemas.microsoft.com/office/drawing/2014/main" id="{1E991BB5-B729-51B5-FE9F-D69B07B41EF2}"/>
              </a:ext>
            </a:extLst>
          </p:cNvPr>
          <p:cNvSpPr>
            <a:spLocks noGrp="1"/>
          </p:cNvSpPr>
          <p:nvPr>
            <p:ph idx="1"/>
          </p:nvPr>
        </p:nvSpPr>
        <p:spPr/>
        <p:txBody>
          <a:bodyPr/>
          <a:lstStyle/>
          <a:p>
            <a:pPr marL="0" indent="0" algn="just">
              <a:buNone/>
            </a:pPr>
            <a:r>
              <a:rPr lang="en-US" sz="1350" dirty="0">
                <a:solidFill>
                  <a:srgbClr val="242424"/>
                </a:solidFill>
                <a:latin typeface="source-serif-pro"/>
              </a:rPr>
              <a:t>And if you use padding </a:t>
            </a:r>
            <a:r>
              <a:rPr lang="en-US" sz="1350" i="1" dirty="0">
                <a:solidFill>
                  <a:srgbClr val="242424"/>
                </a:solidFill>
                <a:latin typeface="source-serif-pro"/>
              </a:rPr>
              <a:t>p</a:t>
            </a:r>
            <a:r>
              <a:rPr lang="en-US" sz="1350" dirty="0">
                <a:solidFill>
                  <a:srgbClr val="242424"/>
                </a:solidFill>
                <a:latin typeface="source-serif-pro"/>
              </a:rPr>
              <a:t> and stride </a:t>
            </a:r>
            <a:r>
              <a:rPr lang="en-US" sz="1350" i="1" dirty="0">
                <a:solidFill>
                  <a:srgbClr val="242424"/>
                </a:solidFill>
                <a:latin typeface="source-serif-pro"/>
              </a:rPr>
              <a:t>s</a:t>
            </a:r>
            <a:r>
              <a:rPr lang="en-US" sz="1350" dirty="0">
                <a:solidFill>
                  <a:srgbClr val="242424"/>
                </a:solidFill>
                <a:latin typeface="source-serif-pro"/>
              </a:rPr>
              <a:t>. In this example, </a:t>
            </a:r>
            <a:r>
              <a:rPr lang="en-US" sz="1350" i="1" dirty="0">
                <a:solidFill>
                  <a:srgbClr val="242424"/>
                </a:solidFill>
                <a:latin typeface="source-serif-pro"/>
              </a:rPr>
              <a:t>s </a:t>
            </a:r>
            <a:r>
              <a:rPr lang="en-US" sz="1350" dirty="0">
                <a:solidFill>
                  <a:srgbClr val="242424"/>
                </a:solidFill>
                <a:latin typeface="source-serif-pro"/>
              </a:rPr>
              <a:t>= 2</a:t>
            </a:r>
            <a:r>
              <a:rPr lang="en-US" sz="1350" i="1" dirty="0">
                <a:solidFill>
                  <a:srgbClr val="242424"/>
                </a:solidFill>
                <a:latin typeface="source-serif-pro"/>
              </a:rPr>
              <a:t> </a:t>
            </a:r>
            <a:r>
              <a:rPr lang="en-US" sz="1350" dirty="0">
                <a:solidFill>
                  <a:srgbClr val="242424"/>
                </a:solidFill>
                <a:latin typeface="source-serif-pro"/>
              </a:rPr>
              <a:t>then you end up with an output that is </a:t>
            </a:r>
            <a:r>
              <a:rPr lang="en-US" sz="1350" i="1" dirty="0">
                <a:solidFill>
                  <a:srgbClr val="242424"/>
                </a:solidFill>
                <a:latin typeface="source-serif-pro"/>
              </a:rPr>
              <a:t>n+ </a:t>
            </a:r>
            <a:r>
              <a:rPr lang="en-US" sz="1350" dirty="0">
                <a:solidFill>
                  <a:srgbClr val="242424"/>
                </a:solidFill>
                <a:latin typeface="source-serif-pro"/>
              </a:rPr>
              <a:t>2 </a:t>
            </a:r>
            <a:r>
              <a:rPr lang="en-US" sz="1350" i="1" dirty="0">
                <a:solidFill>
                  <a:srgbClr val="242424"/>
                </a:solidFill>
                <a:latin typeface="source-serif-pro"/>
              </a:rPr>
              <a:t>— f </a:t>
            </a:r>
            <a:r>
              <a:rPr lang="en-US" sz="1350" dirty="0">
                <a:solidFill>
                  <a:srgbClr val="242424"/>
                </a:solidFill>
                <a:latin typeface="source-serif-pro"/>
              </a:rPr>
              <a:t>, and now</a:t>
            </a:r>
            <a:r>
              <a:rPr lang="en-US" sz="1350" i="1" dirty="0">
                <a:solidFill>
                  <a:srgbClr val="242424"/>
                </a:solidFill>
                <a:latin typeface="source-serif-pro"/>
              </a:rPr>
              <a:t> because you’re stepping S steps of the time, you step just one step of the time</a:t>
            </a:r>
            <a:r>
              <a:rPr lang="en-US" sz="1350" dirty="0">
                <a:solidFill>
                  <a:srgbClr val="242424"/>
                </a:solidFill>
                <a:latin typeface="source-serif-pro"/>
              </a:rPr>
              <a:t>, </a:t>
            </a:r>
            <a:r>
              <a:rPr lang="en-US" sz="1350" i="1" dirty="0">
                <a:solidFill>
                  <a:srgbClr val="242424"/>
                </a:solidFill>
                <a:latin typeface="source-serif-pro"/>
              </a:rPr>
              <a:t>you now divide by S plus one and then can apply the same thing.</a:t>
            </a:r>
            <a:endParaRPr lang="en-IN" sz="1350" dirty="0"/>
          </a:p>
          <a:p>
            <a:pPr marL="0" indent="0" algn="just">
              <a:buNone/>
            </a:pPr>
            <a:endParaRPr lang="en-IN" sz="1350" dirty="0"/>
          </a:p>
        </p:txBody>
      </p:sp>
      <p:sp>
        <p:nvSpPr>
          <p:cNvPr id="4" name="Date Placeholder 3">
            <a:extLst>
              <a:ext uri="{FF2B5EF4-FFF2-40B4-BE49-F238E27FC236}">
                <a16:creationId xmlns:a16="http://schemas.microsoft.com/office/drawing/2014/main" id="{09A47E2D-1016-D69D-9996-669A74B8187B}"/>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EDE7E126-8379-E877-C6B0-77002256AB86}"/>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4B0E81A2-7715-B98E-D2AE-28623820B675}"/>
              </a:ext>
            </a:extLst>
          </p:cNvPr>
          <p:cNvSpPr>
            <a:spLocks noGrp="1"/>
          </p:cNvSpPr>
          <p:nvPr>
            <p:ph type="sldNum" sz="quarter" idx="12"/>
          </p:nvPr>
        </p:nvSpPr>
        <p:spPr/>
        <p:txBody>
          <a:bodyPr/>
          <a:lstStyle/>
          <a:p>
            <a:fld id="{BB2CE0DE-867F-455F-B20B-96D381B4AB71}" type="slidenum">
              <a:rPr lang="en-US" smtClean="0"/>
              <a:t>38</a:t>
            </a:fld>
            <a:endParaRPr lang="en-US"/>
          </a:p>
        </p:txBody>
      </p:sp>
      <p:pic>
        <p:nvPicPr>
          <p:cNvPr id="9" name="Picture 8">
            <a:extLst>
              <a:ext uri="{FF2B5EF4-FFF2-40B4-BE49-F238E27FC236}">
                <a16:creationId xmlns:a16="http://schemas.microsoft.com/office/drawing/2014/main" id="{5015A642-AAD5-94E4-DBF4-C47879F1482D}"/>
              </a:ext>
            </a:extLst>
          </p:cNvPr>
          <p:cNvPicPr>
            <a:picLocks noChangeAspect="1"/>
          </p:cNvPicPr>
          <p:nvPr/>
        </p:nvPicPr>
        <p:blipFill>
          <a:blip r:embed="rId3"/>
          <a:stretch>
            <a:fillRect/>
          </a:stretch>
        </p:blipFill>
        <p:spPr>
          <a:xfrm>
            <a:off x="665584" y="2286000"/>
            <a:ext cx="7842808" cy="1219200"/>
          </a:xfrm>
          <a:prstGeom prst="rect">
            <a:avLst/>
          </a:prstGeom>
        </p:spPr>
      </p:pic>
    </p:spTree>
    <p:extLst>
      <p:ext uri="{BB962C8B-B14F-4D97-AF65-F5344CB8AC3E}">
        <p14:creationId xmlns:p14="http://schemas.microsoft.com/office/powerpoint/2010/main" val="143321433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03CBC-4720-4C34-9DB3-B511C093E950}"/>
              </a:ext>
            </a:extLst>
          </p:cNvPr>
          <p:cNvSpPr>
            <a:spLocks noGrp="1"/>
          </p:cNvSpPr>
          <p:nvPr>
            <p:ph type="title"/>
          </p:nvPr>
        </p:nvSpPr>
        <p:spPr/>
        <p:txBody>
          <a:bodyPr/>
          <a:lstStyle/>
          <a:p>
            <a:r>
              <a:rPr lang="en-US" dirty="0" err="1"/>
              <a:t>Strided</a:t>
            </a:r>
            <a:r>
              <a:rPr lang="en-US" dirty="0"/>
              <a:t> Convolution</a:t>
            </a:r>
            <a:endParaRPr lang="en-IN" dirty="0"/>
          </a:p>
        </p:txBody>
      </p:sp>
      <p:sp>
        <p:nvSpPr>
          <p:cNvPr id="3" name="Content Placeholder 2">
            <a:extLst>
              <a:ext uri="{FF2B5EF4-FFF2-40B4-BE49-F238E27FC236}">
                <a16:creationId xmlns:a16="http://schemas.microsoft.com/office/drawing/2014/main" id="{3FD92A2D-701D-E4AE-A918-7B62225E560C}"/>
              </a:ext>
            </a:extLst>
          </p:cNvPr>
          <p:cNvSpPr>
            <a:spLocks noGrp="1"/>
          </p:cNvSpPr>
          <p:nvPr>
            <p:ph idx="1"/>
          </p:nvPr>
        </p:nvSpPr>
        <p:spPr/>
        <p:txBody>
          <a:bodyPr/>
          <a:lstStyle/>
          <a:p>
            <a:pPr marL="0" indent="0">
              <a:buNone/>
            </a:pPr>
            <a:r>
              <a:rPr lang="en-US" sz="2400" b="0" i="0" dirty="0">
                <a:solidFill>
                  <a:srgbClr val="242424"/>
                </a:solidFill>
                <a:effectLst/>
                <a:latin typeface="source-serif-pro"/>
              </a:rPr>
              <a:t>Now, just one last detail, what if this </a:t>
            </a:r>
          </a:p>
          <a:p>
            <a:pPr marL="0" indent="0">
              <a:buNone/>
            </a:pPr>
            <a:r>
              <a:rPr lang="en-US" sz="2400" b="0" i="0" dirty="0">
                <a:solidFill>
                  <a:srgbClr val="242424"/>
                </a:solidFill>
                <a:effectLst/>
                <a:latin typeface="source-serif-pro"/>
              </a:rPr>
              <a:t>(</a:t>
            </a:r>
            <a:r>
              <a:rPr lang="en-US" sz="2400" b="0" i="1" dirty="0">
                <a:solidFill>
                  <a:srgbClr val="242424"/>
                </a:solidFill>
                <a:effectLst/>
                <a:latin typeface="source-serif-pro"/>
              </a:rPr>
              <a:t>n+</a:t>
            </a:r>
            <a:r>
              <a:rPr lang="en-US" sz="2400" b="0" i="0" dirty="0">
                <a:solidFill>
                  <a:srgbClr val="242424"/>
                </a:solidFill>
                <a:effectLst/>
                <a:latin typeface="source-serif-pro"/>
              </a:rPr>
              <a:t>2</a:t>
            </a:r>
            <a:r>
              <a:rPr lang="en-US" sz="2400" b="0" i="1" dirty="0">
                <a:solidFill>
                  <a:srgbClr val="242424"/>
                </a:solidFill>
                <a:effectLst/>
                <a:latin typeface="source-serif-pro"/>
              </a:rPr>
              <a:t>p — f</a:t>
            </a:r>
            <a:r>
              <a:rPr lang="en-US" sz="2400" b="0" i="0" dirty="0">
                <a:solidFill>
                  <a:srgbClr val="242424"/>
                </a:solidFill>
                <a:effectLst/>
                <a:latin typeface="source-serif-pro"/>
              </a:rPr>
              <a:t>) /</a:t>
            </a:r>
            <a:r>
              <a:rPr lang="en-US" sz="2400" b="0" i="1" dirty="0">
                <a:solidFill>
                  <a:srgbClr val="242424"/>
                </a:solidFill>
                <a:effectLst/>
                <a:latin typeface="source-serif-pro"/>
              </a:rPr>
              <a:t>s</a:t>
            </a:r>
            <a:r>
              <a:rPr lang="en-US" sz="2400" b="0" i="0" dirty="0">
                <a:solidFill>
                  <a:srgbClr val="242424"/>
                </a:solidFill>
                <a:effectLst/>
                <a:latin typeface="source-serif-pro"/>
              </a:rPr>
              <a:t>  fraction is not an integer? In that case, we’re going to round the fraction down (</a:t>
            </a:r>
            <a:r>
              <a:rPr lang="en-US" sz="2400" b="0" i="0" dirty="0" err="1">
                <a:solidFill>
                  <a:srgbClr val="242424"/>
                </a:solidFill>
                <a:effectLst/>
                <a:latin typeface="source-serif-pro"/>
              </a:rPr>
              <a:t>i.e</a:t>
            </a:r>
            <a:r>
              <a:rPr lang="en-US" sz="2400" b="0" i="0" dirty="0">
                <a:solidFill>
                  <a:srgbClr val="242424"/>
                </a:solidFill>
                <a:effectLst/>
                <a:latin typeface="source-serif-pro"/>
              </a:rPr>
              <a:t> take the floor of the fraction).</a:t>
            </a:r>
            <a:endParaRPr lang="en-IN" sz="2400" dirty="0"/>
          </a:p>
        </p:txBody>
      </p:sp>
      <p:sp>
        <p:nvSpPr>
          <p:cNvPr id="4" name="Date Placeholder 3">
            <a:extLst>
              <a:ext uri="{FF2B5EF4-FFF2-40B4-BE49-F238E27FC236}">
                <a16:creationId xmlns:a16="http://schemas.microsoft.com/office/drawing/2014/main" id="{ACCCC683-C6A5-F8EF-B831-1A7B2600FF6E}"/>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426F31B0-ED07-9844-CFA3-A8F4282BB75A}"/>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78A72652-DBD2-49D4-CDE6-210E177EA338}"/>
              </a:ext>
            </a:extLst>
          </p:cNvPr>
          <p:cNvSpPr>
            <a:spLocks noGrp="1"/>
          </p:cNvSpPr>
          <p:nvPr>
            <p:ph type="sldNum" sz="quarter" idx="12"/>
          </p:nvPr>
        </p:nvSpPr>
        <p:spPr/>
        <p:txBody>
          <a:bodyPr/>
          <a:lstStyle/>
          <a:p>
            <a:fld id="{BB2CE0DE-867F-455F-B20B-96D381B4AB71}" type="slidenum">
              <a:rPr lang="en-US" smtClean="0"/>
              <a:t>39</a:t>
            </a:fld>
            <a:endParaRPr lang="en-US"/>
          </a:p>
        </p:txBody>
      </p:sp>
      <p:pic>
        <p:nvPicPr>
          <p:cNvPr id="7" name="Picture 6">
            <a:extLst>
              <a:ext uri="{FF2B5EF4-FFF2-40B4-BE49-F238E27FC236}">
                <a16:creationId xmlns:a16="http://schemas.microsoft.com/office/drawing/2014/main" id="{5084409B-B5BD-95A7-6664-400BDAA87EAB}"/>
              </a:ext>
            </a:extLst>
          </p:cNvPr>
          <p:cNvPicPr>
            <a:picLocks noChangeAspect="1"/>
          </p:cNvPicPr>
          <p:nvPr/>
        </p:nvPicPr>
        <p:blipFill>
          <a:blip r:embed="rId2"/>
          <a:stretch>
            <a:fillRect/>
          </a:stretch>
        </p:blipFill>
        <p:spPr>
          <a:xfrm>
            <a:off x="925005" y="2971800"/>
            <a:ext cx="6790245" cy="2457663"/>
          </a:xfrm>
          <a:prstGeom prst="rect">
            <a:avLst/>
          </a:prstGeom>
        </p:spPr>
      </p:pic>
    </p:spTree>
    <p:extLst>
      <p:ext uri="{BB962C8B-B14F-4D97-AF65-F5344CB8AC3E}">
        <p14:creationId xmlns:p14="http://schemas.microsoft.com/office/powerpoint/2010/main" val="9626988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092AE-FCF9-4947-A7A9-7AC753077E46}"/>
              </a:ext>
            </a:extLst>
          </p:cNvPr>
          <p:cNvSpPr>
            <a:spLocks noGrp="1"/>
          </p:cNvSpPr>
          <p:nvPr>
            <p:ph type="title"/>
          </p:nvPr>
        </p:nvSpPr>
        <p:spPr/>
        <p:txBody>
          <a:bodyPr/>
          <a:lstStyle/>
          <a:p>
            <a:r>
              <a:rPr lang="en-US" dirty="0"/>
              <a:t>Question</a:t>
            </a:r>
            <a:endParaRPr lang="en-IN" dirty="0"/>
          </a:p>
        </p:txBody>
      </p:sp>
      <p:sp>
        <p:nvSpPr>
          <p:cNvPr id="3" name="Content Placeholder 2">
            <a:extLst>
              <a:ext uri="{FF2B5EF4-FFF2-40B4-BE49-F238E27FC236}">
                <a16:creationId xmlns:a16="http://schemas.microsoft.com/office/drawing/2014/main" id="{1178625D-A5ED-4EDF-BA42-E32A39E106A6}"/>
              </a:ext>
            </a:extLst>
          </p:cNvPr>
          <p:cNvSpPr>
            <a:spLocks noGrp="1"/>
          </p:cNvSpPr>
          <p:nvPr>
            <p:ph idx="1"/>
          </p:nvPr>
        </p:nvSpPr>
        <p:spPr/>
        <p:txBody>
          <a:bodyPr/>
          <a:lstStyle/>
          <a:p>
            <a:pPr marL="0" indent="0">
              <a:buNone/>
            </a:pPr>
            <a:r>
              <a:rPr lang="en-US" sz="1600" dirty="0"/>
              <a:t>The input image has been converted into a matrix of size 12 x 12 and a kernel/filter of size 3 x 3 with a stride of 1. Determine the size of the convoluted matrix?</a:t>
            </a:r>
          </a:p>
          <a:p>
            <a:pPr marL="0" indent="0">
              <a:buNone/>
            </a:pPr>
            <a:endParaRPr lang="en-US" sz="1600" dirty="0">
              <a:solidFill>
                <a:srgbClr val="1C1C1C"/>
              </a:solidFill>
              <a:latin typeface="Lato" panose="020F0502020204030203" pitchFamily="34" charset="0"/>
            </a:endParaRPr>
          </a:p>
          <a:p>
            <a:pPr marL="0" indent="0">
              <a:buNone/>
            </a:pPr>
            <a:endParaRPr lang="en-IN" sz="1200" dirty="0"/>
          </a:p>
        </p:txBody>
      </p:sp>
      <p:sp>
        <p:nvSpPr>
          <p:cNvPr id="4" name="Slide Number Placeholder 3">
            <a:extLst>
              <a:ext uri="{FF2B5EF4-FFF2-40B4-BE49-F238E27FC236}">
                <a16:creationId xmlns:a16="http://schemas.microsoft.com/office/drawing/2014/main" id="{F1609DDD-8EDB-45F0-BD19-FC54B9B35C60}"/>
              </a:ext>
            </a:extLst>
          </p:cNvPr>
          <p:cNvSpPr>
            <a:spLocks noGrp="1"/>
          </p:cNvSpPr>
          <p:nvPr>
            <p:ph type="sldNum" sz="quarter" idx="12"/>
          </p:nvPr>
        </p:nvSpPr>
        <p:spPr/>
        <p:txBody>
          <a:bodyPr/>
          <a:lstStyle/>
          <a:p>
            <a:fld id="{BB2CE0DE-867F-455F-B20B-96D381B4AB71}" type="slidenum">
              <a:rPr lang="en-US" smtClean="0"/>
              <a:t>40</a:t>
            </a:fld>
            <a:endParaRPr lang="en-US"/>
          </a:p>
        </p:txBody>
      </p:sp>
    </p:spTree>
    <p:extLst>
      <p:ext uri="{BB962C8B-B14F-4D97-AF65-F5344CB8AC3E}">
        <p14:creationId xmlns:p14="http://schemas.microsoft.com/office/powerpoint/2010/main" val="32265355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20CE9B-1F16-B012-979B-6B6B09238C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9E0F3A-1D4A-C6D2-DCB5-FC239F1459D8}"/>
              </a:ext>
            </a:extLst>
          </p:cNvPr>
          <p:cNvSpPr>
            <a:spLocks noGrp="1"/>
          </p:cNvSpPr>
          <p:nvPr>
            <p:ph type="title"/>
          </p:nvPr>
        </p:nvSpPr>
        <p:spPr/>
        <p:txBody>
          <a:bodyPr/>
          <a:lstStyle/>
          <a:p>
            <a:r>
              <a:rPr lang="en-US" dirty="0"/>
              <a:t>Question</a:t>
            </a:r>
            <a:endParaRPr lang="en-IN" dirty="0"/>
          </a:p>
        </p:txBody>
      </p:sp>
      <p:sp>
        <p:nvSpPr>
          <p:cNvPr id="3" name="Content Placeholder 2">
            <a:extLst>
              <a:ext uri="{FF2B5EF4-FFF2-40B4-BE49-F238E27FC236}">
                <a16:creationId xmlns:a16="http://schemas.microsoft.com/office/drawing/2014/main" id="{06C35B63-8C15-9558-911A-8FCCF6335544}"/>
              </a:ext>
            </a:extLst>
          </p:cNvPr>
          <p:cNvSpPr>
            <a:spLocks noGrp="1"/>
          </p:cNvSpPr>
          <p:nvPr>
            <p:ph idx="1"/>
          </p:nvPr>
        </p:nvSpPr>
        <p:spPr/>
        <p:txBody>
          <a:bodyPr/>
          <a:lstStyle/>
          <a:p>
            <a:pPr marL="0" indent="0">
              <a:buNone/>
            </a:pPr>
            <a:r>
              <a:rPr lang="en-US" sz="1600" dirty="0"/>
              <a:t>The input image has been converted into a matrix of size 12 x 12 and a kernel/filter of size 3 x 3 with a stride of 1. Determine the size of the convoluted matrix?</a:t>
            </a:r>
          </a:p>
          <a:p>
            <a:pPr marL="0" indent="0">
              <a:buNone/>
            </a:pPr>
            <a:endParaRPr lang="en-US" sz="1600" dirty="0">
              <a:solidFill>
                <a:srgbClr val="1C1C1C"/>
              </a:solidFill>
              <a:latin typeface="Lato" panose="020F0502020204030203" pitchFamily="34" charset="0"/>
            </a:endParaRPr>
          </a:p>
          <a:p>
            <a:pPr marL="0" indent="0">
              <a:buNone/>
            </a:pPr>
            <a:r>
              <a:rPr lang="en-US" sz="1600" dirty="0">
                <a:solidFill>
                  <a:srgbClr val="1C1C1C"/>
                </a:solidFill>
                <a:latin typeface="Lato" panose="020F0502020204030203" pitchFamily="34" charset="0"/>
              </a:rPr>
              <a:t>To calculate the size of the convoluted matrix, we use the generalized equation, given by:</a:t>
            </a:r>
          </a:p>
          <a:p>
            <a:pPr marL="0" indent="0">
              <a:buNone/>
            </a:pPr>
            <a:r>
              <a:rPr lang="en-US" sz="1600" b="1" dirty="0">
                <a:solidFill>
                  <a:srgbClr val="1C1C1C"/>
                </a:solidFill>
                <a:latin typeface="Lato" panose="020F0502020204030203" pitchFamily="34" charset="0"/>
              </a:rPr>
              <a:t>C = ((n-f+2p)/s)+1</a:t>
            </a:r>
            <a:endParaRPr lang="en-US" sz="1600" dirty="0">
              <a:solidFill>
                <a:srgbClr val="1C1C1C"/>
              </a:solidFill>
              <a:latin typeface="Lato" panose="020F0502020204030203" pitchFamily="34" charset="0"/>
            </a:endParaRPr>
          </a:p>
          <a:p>
            <a:pPr marL="0" indent="0">
              <a:buNone/>
            </a:pPr>
            <a:r>
              <a:rPr lang="en-US" sz="1600" b="1" dirty="0">
                <a:solidFill>
                  <a:srgbClr val="1C1C1C"/>
                </a:solidFill>
                <a:latin typeface="Lato" panose="020F0502020204030203" pitchFamily="34" charset="0"/>
              </a:rPr>
              <a:t>where,</a:t>
            </a:r>
            <a:endParaRPr lang="en-US" sz="1600" dirty="0">
              <a:solidFill>
                <a:srgbClr val="1C1C1C"/>
              </a:solidFill>
              <a:latin typeface="Lato" panose="020F0502020204030203" pitchFamily="34" charset="0"/>
            </a:endParaRPr>
          </a:p>
          <a:p>
            <a:pPr marL="0" indent="0">
              <a:buNone/>
            </a:pPr>
            <a:r>
              <a:rPr lang="en-US" sz="1600" b="1" dirty="0">
                <a:solidFill>
                  <a:srgbClr val="1C1C1C"/>
                </a:solidFill>
                <a:latin typeface="Lato" panose="020F0502020204030203" pitchFamily="34" charset="0"/>
              </a:rPr>
              <a:t>C</a:t>
            </a:r>
            <a:r>
              <a:rPr lang="en-US" sz="1600" dirty="0">
                <a:solidFill>
                  <a:srgbClr val="1C1C1C"/>
                </a:solidFill>
                <a:latin typeface="Lato" panose="020F0502020204030203" pitchFamily="34" charset="0"/>
              </a:rPr>
              <a:t> is the size of the convoluted matrix.</a:t>
            </a:r>
          </a:p>
          <a:p>
            <a:pPr marL="0" indent="0">
              <a:buNone/>
            </a:pPr>
            <a:r>
              <a:rPr lang="en-US" sz="1600" b="1" dirty="0">
                <a:solidFill>
                  <a:srgbClr val="1C1C1C"/>
                </a:solidFill>
                <a:latin typeface="Lato" panose="020F0502020204030203" pitchFamily="34" charset="0"/>
              </a:rPr>
              <a:t>n</a:t>
            </a:r>
            <a:r>
              <a:rPr lang="en-US" sz="1600" dirty="0">
                <a:solidFill>
                  <a:srgbClr val="1C1C1C"/>
                </a:solidFill>
                <a:latin typeface="Lato" panose="020F0502020204030203" pitchFamily="34" charset="0"/>
              </a:rPr>
              <a:t> is the size of the input matrix.</a:t>
            </a:r>
          </a:p>
          <a:p>
            <a:pPr marL="0" indent="0">
              <a:buNone/>
            </a:pPr>
            <a:r>
              <a:rPr lang="en-US" sz="1600" b="1" dirty="0">
                <a:solidFill>
                  <a:srgbClr val="1C1C1C"/>
                </a:solidFill>
                <a:latin typeface="Lato" panose="020F0502020204030203" pitchFamily="34" charset="0"/>
              </a:rPr>
              <a:t>f</a:t>
            </a:r>
            <a:r>
              <a:rPr lang="en-US" sz="1600" dirty="0">
                <a:solidFill>
                  <a:srgbClr val="1C1C1C"/>
                </a:solidFill>
                <a:latin typeface="Lato" panose="020F0502020204030203" pitchFamily="34" charset="0"/>
              </a:rPr>
              <a:t> is the size of the filter matrix.</a:t>
            </a:r>
          </a:p>
          <a:p>
            <a:pPr marL="0" indent="0">
              <a:buNone/>
            </a:pPr>
            <a:r>
              <a:rPr lang="en-US" sz="1600" b="1" dirty="0">
                <a:solidFill>
                  <a:srgbClr val="1C1C1C"/>
                </a:solidFill>
                <a:latin typeface="Lato" panose="020F0502020204030203" pitchFamily="34" charset="0"/>
              </a:rPr>
              <a:t>p</a:t>
            </a:r>
            <a:r>
              <a:rPr lang="en-US" sz="1600" dirty="0">
                <a:solidFill>
                  <a:srgbClr val="1C1C1C"/>
                </a:solidFill>
                <a:latin typeface="Lato" panose="020F0502020204030203" pitchFamily="34" charset="0"/>
              </a:rPr>
              <a:t> is the Padding amount.</a:t>
            </a:r>
          </a:p>
          <a:p>
            <a:pPr marL="0" indent="0">
              <a:buNone/>
            </a:pPr>
            <a:r>
              <a:rPr lang="en-US" sz="1600" dirty="0">
                <a:solidFill>
                  <a:srgbClr val="1C1C1C"/>
                </a:solidFill>
                <a:latin typeface="Lato" panose="020F0502020204030203" pitchFamily="34" charset="0"/>
              </a:rPr>
              <a:t>s is the Stride applied.</a:t>
            </a:r>
          </a:p>
          <a:p>
            <a:pPr marL="0" indent="0">
              <a:buNone/>
            </a:pPr>
            <a:r>
              <a:rPr lang="en-US" sz="1600" dirty="0">
                <a:solidFill>
                  <a:srgbClr val="1C1C1C"/>
                </a:solidFill>
                <a:latin typeface="Lato" panose="020F0502020204030203" pitchFamily="34" charset="0"/>
              </a:rPr>
              <a:t>Here n = 12, f = 3, p = 0, s = 1</a:t>
            </a:r>
          </a:p>
          <a:p>
            <a:pPr marL="0" indent="0">
              <a:buNone/>
            </a:pPr>
            <a:r>
              <a:rPr lang="en-US" sz="1600" dirty="0">
                <a:solidFill>
                  <a:srgbClr val="1C1C1C"/>
                </a:solidFill>
                <a:latin typeface="Lato" panose="020F0502020204030203" pitchFamily="34" charset="0"/>
              </a:rPr>
              <a:t>Therefore the size of the convoluted matrix is 10 X 10.</a:t>
            </a:r>
          </a:p>
          <a:p>
            <a:pPr marL="0" indent="0">
              <a:buNone/>
            </a:pPr>
            <a:endParaRPr lang="en-IN" sz="1200" dirty="0"/>
          </a:p>
        </p:txBody>
      </p:sp>
      <p:sp>
        <p:nvSpPr>
          <p:cNvPr id="4" name="Slide Number Placeholder 3">
            <a:extLst>
              <a:ext uri="{FF2B5EF4-FFF2-40B4-BE49-F238E27FC236}">
                <a16:creationId xmlns:a16="http://schemas.microsoft.com/office/drawing/2014/main" id="{8DAB47B5-01DE-0233-B9E1-D7D4179075BB}"/>
              </a:ext>
            </a:extLst>
          </p:cNvPr>
          <p:cNvSpPr>
            <a:spLocks noGrp="1"/>
          </p:cNvSpPr>
          <p:nvPr>
            <p:ph type="sldNum" sz="quarter" idx="12"/>
          </p:nvPr>
        </p:nvSpPr>
        <p:spPr/>
        <p:txBody>
          <a:bodyPr/>
          <a:lstStyle/>
          <a:p>
            <a:fld id="{BB2CE0DE-867F-455F-B20B-96D381B4AB71}" type="slidenum">
              <a:rPr lang="en-US" smtClean="0"/>
              <a:t>41</a:t>
            </a:fld>
            <a:endParaRPr lang="en-US"/>
          </a:p>
        </p:txBody>
      </p:sp>
    </p:spTree>
    <p:extLst>
      <p:ext uri="{BB962C8B-B14F-4D97-AF65-F5344CB8AC3E}">
        <p14:creationId xmlns:p14="http://schemas.microsoft.com/office/powerpoint/2010/main" val="29091953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D0C0B-70FF-3A7F-318F-936A29574C83}"/>
              </a:ext>
            </a:extLst>
          </p:cNvPr>
          <p:cNvSpPr>
            <a:spLocks noGrp="1"/>
          </p:cNvSpPr>
          <p:nvPr>
            <p:ph type="title"/>
          </p:nvPr>
        </p:nvSpPr>
        <p:spPr/>
        <p:txBody>
          <a:bodyPr/>
          <a:lstStyle/>
          <a:p>
            <a:r>
              <a:rPr lang="en-IN" dirty="0"/>
              <a:t>Convolutions Over Volume</a:t>
            </a:r>
          </a:p>
        </p:txBody>
      </p:sp>
      <p:sp>
        <p:nvSpPr>
          <p:cNvPr id="3" name="Content Placeholder 2">
            <a:extLst>
              <a:ext uri="{FF2B5EF4-FFF2-40B4-BE49-F238E27FC236}">
                <a16:creationId xmlns:a16="http://schemas.microsoft.com/office/drawing/2014/main" id="{4DBDCBA9-912F-2439-79E3-1692937079E2}"/>
              </a:ext>
            </a:extLst>
          </p:cNvPr>
          <p:cNvSpPr>
            <a:spLocks noGrp="1"/>
          </p:cNvSpPr>
          <p:nvPr>
            <p:ph idx="1"/>
          </p:nvPr>
        </p:nvSpPr>
        <p:spPr/>
        <p:txBody>
          <a:bodyPr/>
          <a:lstStyle/>
          <a:p>
            <a:pPr>
              <a:lnSpc>
                <a:spcPts val="1350"/>
              </a:lnSpc>
              <a:buNone/>
            </a:pPr>
            <a:r>
              <a:rPr lang="en-IN" b="1" i="0" dirty="0">
                <a:solidFill>
                  <a:srgbClr val="242424"/>
                </a:solidFill>
                <a:effectLst/>
                <a:latin typeface="sohne"/>
              </a:rPr>
              <a:t>Convolutions on RGB images</a:t>
            </a:r>
          </a:p>
          <a:p>
            <a:pPr>
              <a:buNone/>
            </a:pPr>
            <a:br>
              <a:rPr lang="en-IN" dirty="0">
                <a:effectLst/>
              </a:rPr>
            </a:br>
            <a:endParaRPr lang="en-IN" dirty="0"/>
          </a:p>
        </p:txBody>
      </p:sp>
      <p:sp>
        <p:nvSpPr>
          <p:cNvPr id="4" name="Date Placeholder 3">
            <a:extLst>
              <a:ext uri="{FF2B5EF4-FFF2-40B4-BE49-F238E27FC236}">
                <a16:creationId xmlns:a16="http://schemas.microsoft.com/office/drawing/2014/main" id="{14A8B5C4-9E20-AC7B-7D7F-A355231A13D8}"/>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A7B2BA2F-A993-D799-E9A7-B977F470D579}"/>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15127A4-3B47-7B22-E98C-B8455EBE05BA}"/>
              </a:ext>
            </a:extLst>
          </p:cNvPr>
          <p:cNvSpPr>
            <a:spLocks noGrp="1"/>
          </p:cNvSpPr>
          <p:nvPr>
            <p:ph type="sldNum" sz="quarter" idx="12"/>
          </p:nvPr>
        </p:nvSpPr>
        <p:spPr/>
        <p:txBody>
          <a:bodyPr/>
          <a:lstStyle/>
          <a:p>
            <a:fld id="{BB2CE0DE-867F-455F-B20B-96D381B4AB71}" type="slidenum">
              <a:rPr lang="en-US" smtClean="0"/>
              <a:t>42</a:t>
            </a:fld>
            <a:endParaRPr lang="en-US"/>
          </a:p>
        </p:txBody>
      </p:sp>
      <p:pic>
        <p:nvPicPr>
          <p:cNvPr id="8" name="Picture 7">
            <a:extLst>
              <a:ext uri="{FF2B5EF4-FFF2-40B4-BE49-F238E27FC236}">
                <a16:creationId xmlns:a16="http://schemas.microsoft.com/office/drawing/2014/main" id="{347C9C85-ACE1-1A1E-13FC-572FD65D82B5}"/>
              </a:ext>
            </a:extLst>
          </p:cNvPr>
          <p:cNvPicPr>
            <a:picLocks noChangeAspect="1"/>
          </p:cNvPicPr>
          <p:nvPr/>
        </p:nvPicPr>
        <p:blipFill>
          <a:blip r:embed="rId2"/>
          <a:stretch>
            <a:fillRect/>
          </a:stretch>
        </p:blipFill>
        <p:spPr>
          <a:xfrm>
            <a:off x="640701" y="1676400"/>
            <a:ext cx="7480501" cy="3352800"/>
          </a:xfrm>
          <a:prstGeom prst="rect">
            <a:avLst/>
          </a:prstGeom>
        </p:spPr>
      </p:pic>
    </p:spTree>
    <p:extLst>
      <p:ext uri="{BB962C8B-B14F-4D97-AF65-F5344CB8AC3E}">
        <p14:creationId xmlns:p14="http://schemas.microsoft.com/office/powerpoint/2010/main" val="9954465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039CB-C218-97AC-9D5A-38D9BC62C7B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EF1BC91-0491-DCEE-3613-16B804964EA5}"/>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6D68E1A1-8945-3014-64B2-FC14E921887A}"/>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8E24FD55-E1D2-62E6-C8A9-9247E1BAA644}"/>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82F79DB-24CB-F23B-8A39-7FB9513677B1}"/>
              </a:ext>
            </a:extLst>
          </p:cNvPr>
          <p:cNvSpPr>
            <a:spLocks noGrp="1"/>
          </p:cNvSpPr>
          <p:nvPr>
            <p:ph type="sldNum" sz="quarter" idx="12"/>
          </p:nvPr>
        </p:nvSpPr>
        <p:spPr/>
        <p:txBody>
          <a:bodyPr/>
          <a:lstStyle/>
          <a:p>
            <a:fld id="{BB2CE0DE-867F-455F-B20B-96D381B4AB71}" type="slidenum">
              <a:rPr lang="en-US" smtClean="0"/>
              <a:t>43</a:t>
            </a:fld>
            <a:endParaRPr lang="en-US"/>
          </a:p>
        </p:txBody>
      </p:sp>
      <p:pic>
        <p:nvPicPr>
          <p:cNvPr id="8" name="Picture 7">
            <a:extLst>
              <a:ext uri="{FF2B5EF4-FFF2-40B4-BE49-F238E27FC236}">
                <a16:creationId xmlns:a16="http://schemas.microsoft.com/office/drawing/2014/main" id="{EE1407B9-BF56-8271-4DF8-58BE10C50C62}"/>
              </a:ext>
            </a:extLst>
          </p:cNvPr>
          <p:cNvPicPr>
            <a:picLocks noChangeAspect="1"/>
          </p:cNvPicPr>
          <p:nvPr/>
        </p:nvPicPr>
        <p:blipFill>
          <a:blip r:embed="rId2"/>
          <a:stretch>
            <a:fillRect/>
          </a:stretch>
        </p:blipFill>
        <p:spPr>
          <a:xfrm>
            <a:off x="552742" y="1244082"/>
            <a:ext cx="6930593" cy="3280341"/>
          </a:xfrm>
          <a:prstGeom prst="rect">
            <a:avLst/>
          </a:prstGeom>
        </p:spPr>
      </p:pic>
      <p:sp>
        <p:nvSpPr>
          <p:cNvPr id="9" name="TextBox 8">
            <a:extLst>
              <a:ext uri="{FF2B5EF4-FFF2-40B4-BE49-F238E27FC236}">
                <a16:creationId xmlns:a16="http://schemas.microsoft.com/office/drawing/2014/main" id="{4133A2EA-4A14-1073-FD7C-019DB5E5314C}"/>
              </a:ext>
            </a:extLst>
          </p:cNvPr>
          <p:cNvSpPr txBox="1"/>
          <p:nvPr/>
        </p:nvSpPr>
        <p:spPr>
          <a:xfrm>
            <a:off x="3733800" y="4641056"/>
            <a:ext cx="3495059" cy="584775"/>
          </a:xfrm>
          <a:prstGeom prst="rect">
            <a:avLst/>
          </a:prstGeom>
          <a:noFill/>
        </p:spPr>
        <p:txBody>
          <a:bodyPr wrap="none" rtlCol="0">
            <a:spAutoFit/>
          </a:bodyPr>
          <a:lstStyle/>
          <a:p>
            <a:r>
              <a:rPr lang="en-US" sz="1600" dirty="0">
                <a:solidFill>
                  <a:srgbClr val="242424"/>
                </a:solidFill>
                <a:latin typeface="source-serif-pro"/>
              </a:rPr>
              <a:t>Add up all those 27 numbers and </a:t>
            </a:r>
          </a:p>
          <a:p>
            <a:r>
              <a:rPr lang="en-US" sz="1600" dirty="0">
                <a:solidFill>
                  <a:srgbClr val="242424"/>
                </a:solidFill>
                <a:latin typeface="source-serif-pro"/>
              </a:rPr>
              <a:t>this gives the first number in the output</a:t>
            </a:r>
            <a:endParaRPr lang="en-IN" sz="1600" dirty="0"/>
          </a:p>
        </p:txBody>
      </p:sp>
    </p:spTree>
    <p:extLst>
      <p:ext uri="{BB962C8B-B14F-4D97-AF65-F5344CB8AC3E}">
        <p14:creationId xmlns:p14="http://schemas.microsoft.com/office/powerpoint/2010/main" val="137445895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8D074-8E92-0C62-082D-ABAF77E7119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C868C1B-93C2-0EAB-CF15-9399453BAFC3}"/>
              </a:ext>
            </a:extLst>
          </p:cNvPr>
          <p:cNvSpPr>
            <a:spLocks noGrp="1"/>
          </p:cNvSpPr>
          <p:nvPr>
            <p:ph idx="1"/>
          </p:nvPr>
        </p:nvSpPr>
        <p:spPr/>
        <p:txBody>
          <a:bodyPr/>
          <a:lstStyle/>
          <a:p>
            <a:endParaRPr lang="en-IN" dirty="0"/>
          </a:p>
        </p:txBody>
      </p:sp>
      <p:sp>
        <p:nvSpPr>
          <p:cNvPr id="4" name="Date Placeholder 3">
            <a:extLst>
              <a:ext uri="{FF2B5EF4-FFF2-40B4-BE49-F238E27FC236}">
                <a16:creationId xmlns:a16="http://schemas.microsoft.com/office/drawing/2014/main" id="{624FA48B-42FE-836E-7EC0-1A59EF9DB829}"/>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E5A94EB2-72F3-DAFA-AB49-9385D304E998}"/>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68F11C6-AD44-7A6E-2D9B-4EFB3940D4EB}"/>
              </a:ext>
            </a:extLst>
          </p:cNvPr>
          <p:cNvSpPr>
            <a:spLocks noGrp="1"/>
          </p:cNvSpPr>
          <p:nvPr>
            <p:ph type="sldNum" sz="quarter" idx="12"/>
          </p:nvPr>
        </p:nvSpPr>
        <p:spPr/>
        <p:txBody>
          <a:bodyPr/>
          <a:lstStyle/>
          <a:p>
            <a:fld id="{BB2CE0DE-867F-455F-B20B-96D381B4AB71}" type="slidenum">
              <a:rPr lang="en-US" smtClean="0"/>
              <a:t>44</a:t>
            </a:fld>
            <a:endParaRPr lang="en-US"/>
          </a:p>
        </p:txBody>
      </p:sp>
      <p:pic>
        <p:nvPicPr>
          <p:cNvPr id="7" name="Picture 6">
            <a:extLst>
              <a:ext uri="{FF2B5EF4-FFF2-40B4-BE49-F238E27FC236}">
                <a16:creationId xmlns:a16="http://schemas.microsoft.com/office/drawing/2014/main" id="{3DB76FE5-D9D5-E6C0-1B37-DDD97341FC6A}"/>
              </a:ext>
            </a:extLst>
          </p:cNvPr>
          <p:cNvPicPr>
            <a:picLocks noChangeAspect="1"/>
          </p:cNvPicPr>
          <p:nvPr/>
        </p:nvPicPr>
        <p:blipFill>
          <a:blip r:embed="rId2"/>
          <a:stretch>
            <a:fillRect/>
          </a:stretch>
        </p:blipFill>
        <p:spPr>
          <a:xfrm>
            <a:off x="524088" y="1065212"/>
            <a:ext cx="6372285" cy="3574273"/>
          </a:xfrm>
          <a:prstGeom prst="rect">
            <a:avLst/>
          </a:prstGeom>
        </p:spPr>
      </p:pic>
      <p:sp>
        <p:nvSpPr>
          <p:cNvPr id="8" name="TextBox 7">
            <a:extLst>
              <a:ext uri="{FF2B5EF4-FFF2-40B4-BE49-F238E27FC236}">
                <a16:creationId xmlns:a16="http://schemas.microsoft.com/office/drawing/2014/main" id="{357209EC-C2E2-B20B-D42F-002C37694AFA}"/>
              </a:ext>
            </a:extLst>
          </p:cNvPr>
          <p:cNvSpPr txBox="1"/>
          <p:nvPr/>
        </p:nvSpPr>
        <p:spPr>
          <a:xfrm>
            <a:off x="407942" y="4823906"/>
            <a:ext cx="7205755" cy="584775"/>
          </a:xfrm>
          <a:prstGeom prst="rect">
            <a:avLst/>
          </a:prstGeom>
          <a:noFill/>
        </p:spPr>
        <p:txBody>
          <a:bodyPr wrap="none" rtlCol="0">
            <a:spAutoFit/>
          </a:bodyPr>
          <a:lstStyle/>
          <a:p>
            <a:r>
              <a:rPr lang="en-US" sz="1600" dirty="0">
                <a:solidFill>
                  <a:srgbClr val="6B6B6B"/>
                </a:solidFill>
                <a:latin typeface="sohne"/>
              </a:rPr>
              <a:t>FIGURE : a representation of a 3D convolution that we have seen in the first section. </a:t>
            </a:r>
          </a:p>
          <a:p>
            <a:r>
              <a:rPr lang="en-US" sz="1600" dirty="0">
                <a:solidFill>
                  <a:srgbClr val="6B6B6B"/>
                </a:solidFill>
                <a:latin typeface="sohne"/>
              </a:rPr>
              <a:t>The yellow filter is now thought of to be a vertical edge filter.</a:t>
            </a:r>
            <a:endParaRPr lang="en-IN" sz="1600" dirty="0"/>
          </a:p>
        </p:txBody>
      </p:sp>
    </p:spTree>
    <p:extLst>
      <p:ext uri="{BB962C8B-B14F-4D97-AF65-F5344CB8AC3E}">
        <p14:creationId xmlns:p14="http://schemas.microsoft.com/office/powerpoint/2010/main" val="23626258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ABF18-DB76-FA2A-1CC0-26E9429F6CF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92FAF52-A5C5-DF19-E0AB-6CB028897655}"/>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FDFE69A7-DD15-E6A0-0C21-69381540CDDB}"/>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A0DC0ED2-425C-AEDC-4F73-A59F6BEC290A}"/>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30C4A776-6F33-BC2E-FD8D-4EEF0744A5F6}"/>
              </a:ext>
            </a:extLst>
          </p:cNvPr>
          <p:cNvSpPr>
            <a:spLocks noGrp="1"/>
          </p:cNvSpPr>
          <p:nvPr>
            <p:ph type="sldNum" sz="quarter" idx="12"/>
          </p:nvPr>
        </p:nvSpPr>
        <p:spPr/>
        <p:txBody>
          <a:bodyPr/>
          <a:lstStyle/>
          <a:p>
            <a:fld id="{BB2CE0DE-867F-455F-B20B-96D381B4AB71}" type="slidenum">
              <a:rPr lang="en-US" smtClean="0"/>
              <a:t>45</a:t>
            </a:fld>
            <a:endParaRPr lang="en-US"/>
          </a:p>
        </p:txBody>
      </p:sp>
      <p:pic>
        <p:nvPicPr>
          <p:cNvPr id="7" name="Picture 6">
            <a:extLst>
              <a:ext uri="{FF2B5EF4-FFF2-40B4-BE49-F238E27FC236}">
                <a16:creationId xmlns:a16="http://schemas.microsoft.com/office/drawing/2014/main" id="{07049EC9-2485-4D7A-53F2-584BA46CFCE9}"/>
              </a:ext>
            </a:extLst>
          </p:cNvPr>
          <p:cNvPicPr>
            <a:picLocks noChangeAspect="1"/>
          </p:cNvPicPr>
          <p:nvPr/>
        </p:nvPicPr>
        <p:blipFill>
          <a:blip r:embed="rId2"/>
          <a:stretch>
            <a:fillRect/>
          </a:stretch>
        </p:blipFill>
        <p:spPr>
          <a:xfrm>
            <a:off x="557406" y="1065212"/>
            <a:ext cx="6757794" cy="3790508"/>
          </a:xfrm>
          <a:prstGeom prst="rect">
            <a:avLst/>
          </a:prstGeom>
        </p:spPr>
      </p:pic>
      <p:sp>
        <p:nvSpPr>
          <p:cNvPr id="8" name="TextBox 7">
            <a:extLst>
              <a:ext uri="{FF2B5EF4-FFF2-40B4-BE49-F238E27FC236}">
                <a16:creationId xmlns:a16="http://schemas.microsoft.com/office/drawing/2014/main" id="{1CBFBEEB-602B-459E-5222-892192E5A9DC}"/>
              </a:ext>
            </a:extLst>
          </p:cNvPr>
          <p:cNvSpPr txBox="1"/>
          <p:nvPr/>
        </p:nvSpPr>
        <p:spPr>
          <a:xfrm>
            <a:off x="457200" y="5338718"/>
            <a:ext cx="6823278" cy="338554"/>
          </a:xfrm>
          <a:prstGeom prst="rect">
            <a:avLst/>
          </a:prstGeom>
          <a:noFill/>
        </p:spPr>
        <p:txBody>
          <a:bodyPr wrap="none" rtlCol="0">
            <a:spAutoFit/>
          </a:bodyPr>
          <a:lstStyle/>
          <a:p>
            <a:r>
              <a:rPr lang="en-US" sz="1600" dirty="0">
                <a:solidFill>
                  <a:srgbClr val="6B6B6B"/>
                </a:solidFill>
                <a:latin typeface="sohne"/>
              </a:rPr>
              <a:t>FIGURE : the orange filter at the bottom is thought to be a horizontal edge filter.</a:t>
            </a:r>
            <a:endParaRPr lang="en-IN" sz="1600" dirty="0"/>
          </a:p>
        </p:txBody>
      </p:sp>
    </p:spTree>
    <p:extLst>
      <p:ext uri="{BB962C8B-B14F-4D97-AF65-F5344CB8AC3E}">
        <p14:creationId xmlns:p14="http://schemas.microsoft.com/office/powerpoint/2010/main" val="393508546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5D0A5-3E79-1C08-B309-91A801BB90F9}"/>
              </a:ext>
            </a:extLst>
          </p:cNvPr>
          <p:cNvSpPr>
            <a:spLocks noGrp="1"/>
          </p:cNvSpPr>
          <p:nvPr>
            <p:ph type="title"/>
          </p:nvPr>
        </p:nvSpPr>
        <p:spPr/>
        <p:txBody>
          <a:bodyPr/>
          <a:lstStyle/>
          <a:p>
            <a:r>
              <a:rPr lang="en-IN" dirty="0"/>
              <a:t>One Layer of CNN</a:t>
            </a:r>
          </a:p>
        </p:txBody>
      </p:sp>
      <p:sp>
        <p:nvSpPr>
          <p:cNvPr id="3" name="Content Placeholder 2">
            <a:extLst>
              <a:ext uri="{FF2B5EF4-FFF2-40B4-BE49-F238E27FC236}">
                <a16:creationId xmlns:a16="http://schemas.microsoft.com/office/drawing/2014/main" id="{863CB840-1E09-5EAC-A4EA-305D9A7DADDD}"/>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AAA63794-7CE3-A3C7-5381-C519BB6C7AEE}"/>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0EC1C4BB-4300-8431-4D0F-5A6DA53290D2}"/>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ED560013-FE17-A800-5927-8DC16EC24761}"/>
              </a:ext>
            </a:extLst>
          </p:cNvPr>
          <p:cNvSpPr>
            <a:spLocks noGrp="1"/>
          </p:cNvSpPr>
          <p:nvPr>
            <p:ph type="sldNum" sz="quarter" idx="12"/>
          </p:nvPr>
        </p:nvSpPr>
        <p:spPr/>
        <p:txBody>
          <a:bodyPr/>
          <a:lstStyle/>
          <a:p>
            <a:fld id="{BB2CE0DE-867F-455F-B20B-96D381B4AB71}" type="slidenum">
              <a:rPr lang="en-US" smtClean="0"/>
              <a:t>46</a:t>
            </a:fld>
            <a:endParaRPr lang="en-US"/>
          </a:p>
        </p:txBody>
      </p:sp>
      <p:pic>
        <p:nvPicPr>
          <p:cNvPr id="8" name="Picture 7">
            <a:extLst>
              <a:ext uri="{FF2B5EF4-FFF2-40B4-BE49-F238E27FC236}">
                <a16:creationId xmlns:a16="http://schemas.microsoft.com/office/drawing/2014/main" id="{38883316-335D-4A49-1E74-6BB2E4DBC564}"/>
              </a:ext>
            </a:extLst>
          </p:cNvPr>
          <p:cNvPicPr>
            <a:picLocks noChangeAspect="1"/>
          </p:cNvPicPr>
          <p:nvPr/>
        </p:nvPicPr>
        <p:blipFill>
          <a:blip r:embed="rId2"/>
          <a:stretch>
            <a:fillRect/>
          </a:stretch>
        </p:blipFill>
        <p:spPr>
          <a:xfrm>
            <a:off x="586273" y="1219200"/>
            <a:ext cx="8376248" cy="4572000"/>
          </a:xfrm>
          <a:prstGeom prst="rect">
            <a:avLst/>
          </a:prstGeom>
        </p:spPr>
      </p:pic>
    </p:spTree>
    <p:extLst>
      <p:ext uri="{BB962C8B-B14F-4D97-AF65-F5344CB8AC3E}">
        <p14:creationId xmlns:p14="http://schemas.microsoft.com/office/powerpoint/2010/main" val="11533691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42EBF-C2F0-7637-2E61-BB8181C07C4F}"/>
              </a:ext>
            </a:extLst>
          </p:cNvPr>
          <p:cNvSpPr>
            <a:spLocks noGrp="1"/>
          </p:cNvSpPr>
          <p:nvPr>
            <p:ph type="title"/>
          </p:nvPr>
        </p:nvSpPr>
        <p:spPr/>
        <p:txBody>
          <a:bodyPr/>
          <a:lstStyle/>
          <a:p>
            <a:r>
              <a:rPr lang="en-IN" dirty="0"/>
              <a:t>Forward Propagation in CNN</a:t>
            </a:r>
          </a:p>
        </p:txBody>
      </p:sp>
      <p:sp>
        <p:nvSpPr>
          <p:cNvPr id="3" name="Content Placeholder 2">
            <a:extLst>
              <a:ext uri="{FF2B5EF4-FFF2-40B4-BE49-F238E27FC236}">
                <a16:creationId xmlns:a16="http://schemas.microsoft.com/office/drawing/2014/main" id="{464476FA-3B9E-6DE1-12BF-8022A42C19EF}"/>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FB6B1EBD-EC35-DBDF-8B9C-CCE66E280177}"/>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F517A956-2787-DF5C-07AF-BFAEFCACABE5}"/>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D4BB6FB2-FFD8-0743-1527-79CE16289E6C}"/>
              </a:ext>
            </a:extLst>
          </p:cNvPr>
          <p:cNvSpPr>
            <a:spLocks noGrp="1"/>
          </p:cNvSpPr>
          <p:nvPr>
            <p:ph type="sldNum" sz="quarter" idx="12"/>
          </p:nvPr>
        </p:nvSpPr>
        <p:spPr/>
        <p:txBody>
          <a:bodyPr/>
          <a:lstStyle/>
          <a:p>
            <a:fld id="{BB2CE0DE-867F-455F-B20B-96D381B4AB71}" type="slidenum">
              <a:rPr lang="en-US" smtClean="0"/>
              <a:t>47</a:t>
            </a:fld>
            <a:endParaRPr lang="en-US"/>
          </a:p>
        </p:txBody>
      </p:sp>
      <p:pic>
        <p:nvPicPr>
          <p:cNvPr id="8" name="Picture 7">
            <a:extLst>
              <a:ext uri="{FF2B5EF4-FFF2-40B4-BE49-F238E27FC236}">
                <a16:creationId xmlns:a16="http://schemas.microsoft.com/office/drawing/2014/main" id="{ECC315E9-A771-95E3-0629-1B74CDD5EE93}"/>
              </a:ext>
            </a:extLst>
          </p:cNvPr>
          <p:cNvPicPr>
            <a:picLocks noChangeAspect="1"/>
          </p:cNvPicPr>
          <p:nvPr/>
        </p:nvPicPr>
        <p:blipFill>
          <a:blip r:embed="rId3"/>
          <a:stretch>
            <a:fillRect/>
          </a:stretch>
        </p:blipFill>
        <p:spPr>
          <a:xfrm>
            <a:off x="55358" y="1142999"/>
            <a:ext cx="8936242" cy="4980423"/>
          </a:xfrm>
          <a:prstGeom prst="rect">
            <a:avLst/>
          </a:prstGeom>
        </p:spPr>
      </p:pic>
    </p:spTree>
    <p:extLst>
      <p:ext uri="{BB962C8B-B14F-4D97-AF65-F5344CB8AC3E}">
        <p14:creationId xmlns:p14="http://schemas.microsoft.com/office/powerpoint/2010/main" val="381751046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FFDF7-1364-3002-F526-2E57A4B3CF77}"/>
              </a:ext>
            </a:extLst>
          </p:cNvPr>
          <p:cNvSpPr>
            <a:spLocks noGrp="1"/>
          </p:cNvSpPr>
          <p:nvPr>
            <p:ph type="title"/>
          </p:nvPr>
        </p:nvSpPr>
        <p:spPr/>
        <p:txBody>
          <a:bodyPr/>
          <a:lstStyle/>
          <a:p>
            <a:endParaRPr lang="en-IN"/>
          </a:p>
        </p:txBody>
      </p:sp>
      <p:sp>
        <p:nvSpPr>
          <p:cNvPr id="4" name="Date Placeholder 3">
            <a:extLst>
              <a:ext uri="{FF2B5EF4-FFF2-40B4-BE49-F238E27FC236}">
                <a16:creationId xmlns:a16="http://schemas.microsoft.com/office/drawing/2014/main" id="{8B84F19A-9C5F-8CF3-F5CA-9F48191F770B}"/>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5F27EC68-708A-B111-665C-936182753CA5}"/>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5ED2CA19-74D6-0B36-80B2-E341867A5C78}"/>
              </a:ext>
            </a:extLst>
          </p:cNvPr>
          <p:cNvSpPr>
            <a:spLocks noGrp="1"/>
          </p:cNvSpPr>
          <p:nvPr>
            <p:ph type="sldNum" sz="quarter" idx="12"/>
          </p:nvPr>
        </p:nvSpPr>
        <p:spPr/>
        <p:txBody>
          <a:bodyPr/>
          <a:lstStyle/>
          <a:p>
            <a:fld id="{BB2CE0DE-867F-455F-B20B-96D381B4AB71}" type="slidenum">
              <a:rPr lang="en-US" smtClean="0"/>
              <a:t>48</a:t>
            </a:fld>
            <a:endParaRPr lang="en-US"/>
          </a:p>
        </p:txBody>
      </p:sp>
      <p:pic>
        <p:nvPicPr>
          <p:cNvPr id="8" name="Picture 7">
            <a:extLst>
              <a:ext uri="{FF2B5EF4-FFF2-40B4-BE49-F238E27FC236}">
                <a16:creationId xmlns:a16="http://schemas.microsoft.com/office/drawing/2014/main" id="{14A2684C-7757-2319-E99E-4D978C8DBB35}"/>
              </a:ext>
            </a:extLst>
          </p:cNvPr>
          <p:cNvPicPr>
            <a:picLocks noChangeAspect="1"/>
          </p:cNvPicPr>
          <p:nvPr/>
        </p:nvPicPr>
        <p:blipFill>
          <a:blip r:embed="rId2"/>
          <a:stretch>
            <a:fillRect/>
          </a:stretch>
        </p:blipFill>
        <p:spPr>
          <a:xfrm>
            <a:off x="609601" y="1123497"/>
            <a:ext cx="6044456" cy="2229161"/>
          </a:xfrm>
          <a:prstGeom prst="rect">
            <a:avLst/>
          </a:prstGeom>
        </p:spPr>
      </p:pic>
      <p:sp>
        <p:nvSpPr>
          <p:cNvPr id="11" name="TextBox 10">
            <a:extLst>
              <a:ext uri="{FF2B5EF4-FFF2-40B4-BE49-F238E27FC236}">
                <a16:creationId xmlns:a16="http://schemas.microsoft.com/office/drawing/2014/main" id="{14413DC0-CDF3-9F10-7A3B-5A436656B8CF}"/>
              </a:ext>
            </a:extLst>
          </p:cNvPr>
          <p:cNvSpPr txBox="1"/>
          <p:nvPr/>
        </p:nvSpPr>
        <p:spPr>
          <a:xfrm>
            <a:off x="614265" y="3449216"/>
            <a:ext cx="4522585" cy="300082"/>
          </a:xfrm>
          <a:prstGeom prst="rect">
            <a:avLst/>
          </a:prstGeom>
          <a:noFill/>
        </p:spPr>
        <p:txBody>
          <a:bodyPr wrap="none" rtlCol="0">
            <a:spAutoFit/>
          </a:bodyPr>
          <a:lstStyle/>
          <a:p>
            <a:r>
              <a:rPr lang="en-IN" sz="1350" dirty="0"/>
              <a:t>Consider one bias parameter for each 3x3x3 filter</a:t>
            </a:r>
          </a:p>
        </p:txBody>
      </p:sp>
    </p:spTree>
    <p:extLst>
      <p:ext uri="{BB962C8B-B14F-4D97-AF65-F5344CB8AC3E}">
        <p14:creationId xmlns:p14="http://schemas.microsoft.com/office/powerpoint/2010/main" val="292996652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46C34-0A51-341D-D499-5A51361613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00FDD1-2A7C-9BED-DD6B-30958F0BBA3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DC9ECD7-2CD3-3316-296B-688A481FB70A}"/>
              </a:ext>
            </a:extLst>
          </p:cNvPr>
          <p:cNvSpPr>
            <a:spLocks noGrp="1"/>
          </p:cNvSpPr>
          <p:nvPr>
            <p:ph idx="1"/>
          </p:nvPr>
        </p:nvSpPr>
        <p:spPr/>
        <p:txBody>
          <a:bodyPr/>
          <a:lstStyle/>
          <a:p>
            <a:endParaRPr lang="en-IN" dirty="0"/>
          </a:p>
        </p:txBody>
      </p:sp>
      <p:sp>
        <p:nvSpPr>
          <p:cNvPr id="4" name="Date Placeholder 3">
            <a:extLst>
              <a:ext uri="{FF2B5EF4-FFF2-40B4-BE49-F238E27FC236}">
                <a16:creationId xmlns:a16="http://schemas.microsoft.com/office/drawing/2014/main" id="{461DED33-FA37-E0D3-C873-E04DFE1BAB2C}"/>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98B7C419-5B67-3B69-A37C-1D71861E91DF}"/>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0F118F33-F6EF-5C71-1206-2256B8371659}"/>
              </a:ext>
            </a:extLst>
          </p:cNvPr>
          <p:cNvSpPr>
            <a:spLocks noGrp="1"/>
          </p:cNvSpPr>
          <p:nvPr>
            <p:ph type="sldNum" sz="quarter" idx="12"/>
          </p:nvPr>
        </p:nvSpPr>
        <p:spPr/>
        <p:txBody>
          <a:bodyPr/>
          <a:lstStyle/>
          <a:p>
            <a:fld id="{BB2CE0DE-867F-455F-B20B-96D381B4AB71}" type="slidenum">
              <a:rPr lang="en-US" smtClean="0"/>
              <a:t>49</a:t>
            </a:fld>
            <a:endParaRPr lang="en-US"/>
          </a:p>
        </p:txBody>
      </p:sp>
      <p:pic>
        <p:nvPicPr>
          <p:cNvPr id="8" name="Picture 7">
            <a:extLst>
              <a:ext uri="{FF2B5EF4-FFF2-40B4-BE49-F238E27FC236}">
                <a16:creationId xmlns:a16="http://schemas.microsoft.com/office/drawing/2014/main" id="{8AB84D5D-35FC-8D19-23F6-D8FC67994358}"/>
              </a:ext>
            </a:extLst>
          </p:cNvPr>
          <p:cNvPicPr>
            <a:picLocks noChangeAspect="1"/>
          </p:cNvPicPr>
          <p:nvPr/>
        </p:nvPicPr>
        <p:blipFill>
          <a:blip r:embed="rId2"/>
          <a:stretch>
            <a:fillRect/>
          </a:stretch>
        </p:blipFill>
        <p:spPr>
          <a:xfrm>
            <a:off x="586069" y="1000437"/>
            <a:ext cx="6044456" cy="2229161"/>
          </a:xfrm>
          <a:prstGeom prst="rect">
            <a:avLst/>
          </a:prstGeom>
        </p:spPr>
      </p:pic>
      <p:pic>
        <p:nvPicPr>
          <p:cNvPr id="10" name="Picture 9">
            <a:extLst>
              <a:ext uri="{FF2B5EF4-FFF2-40B4-BE49-F238E27FC236}">
                <a16:creationId xmlns:a16="http://schemas.microsoft.com/office/drawing/2014/main" id="{54DCB1F3-F2C9-DA97-C487-37D76B9222C3}"/>
              </a:ext>
            </a:extLst>
          </p:cNvPr>
          <p:cNvPicPr>
            <a:picLocks noChangeAspect="1"/>
          </p:cNvPicPr>
          <p:nvPr/>
        </p:nvPicPr>
        <p:blipFill>
          <a:blip r:embed="rId3"/>
          <a:stretch>
            <a:fillRect/>
          </a:stretch>
        </p:blipFill>
        <p:spPr>
          <a:xfrm>
            <a:off x="609600" y="3913301"/>
            <a:ext cx="6307949" cy="2410505"/>
          </a:xfrm>
          <a:prstGeom prst="rect">
            <a:avLst/>
          </a:prstGeom>
        </p:spPr>
      </p:pic>
      <p:sp>
        <p:nvSpPr>
          <p:cNvPr id="11" name="TextBox 10">
            <a:extLst>
              <a:ext uri="{FF2B5EF4-FFF2-40B4-BE49-F238E27FC236}">
                <a16:creationId xmlns:a16="http://schemas.microsoft.com/office/drawing/2014/main" id="{80C1A7F3-CE78-BDA1-5A40-7EE7CC4F8D8A}"/>
              </a:ext>
            </a:extLst>
          </p:cNvPr>
          <p:cNvSpPr txBox="1"/>
          <p:nvPr/>
        </p:nvSpPr>
        <p:spPr>
          <a:xfrm>
            <a:off x="609600" y="3266920"/>
            <a:ext cx="4522585" cy="300082"/>
          </a:xfrm>
          <a:prstGeom prst="rect">
            <a:avLst/>
          </a:prstGeom>
          <a:noFill/>
        </p:spPr>
        <p:txBody>
          <a:bodyPr wrap="none" rtlCol="0">
            <a:spAutoFit/>
          </a:bodyPr>
          <a:lstStyle/>
          <a:p>
            <a:r>
              <a:rPr lang="en-IN" sz="1350" dirty="0"/>
              <a:t>Consider one bias parameter for each 3x3x3 filter</a:t>
            </a:r>
          </a:p>
        </p:txBody>
      </p:sp>
    </p:spTree>
    <p:extLst>
      <p:ext uri="{BB962C8B-B14F-4D97-AF65-F5344CB8AC3E}">
        <p14:creationId xmlns:p14="http://schemas.microsoft.com/office/powerpoint/2010/main" val="64567434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6265B-0967-1528-3FD4-B86B8C5AD0B6}"/>
              </a:ext>
            </a:extLst>
          </p:cNvPr>
          <p:cNvSpPr>
            <a:spLocks noGrp="1"/>
          </p:cNvSpPr>
          <p:nvPr>
            <p:ph type="title"/>
          </p:nvPr>
        </p:nvSpPr>
        <p:spPr/>
        <p:txBody>
          <a:bodyPr/>
          <a:lstStyle/>
          <a:p>
            <a:r>
              <a:rPr lang="en-US" b="1" i="0" dirty="0">
                <a:solidFill>
                  <a:srgbClr val="242424"/>
                </a:solidFill>
                <a:effectLst/>
                <a:latin typeface="source-serif-pro"/>
              </a:rPr>
              <a:t>Number of Parameter calculation</a:t>
            </a:r>
            <a:endParaRPr lang="en-IN" dirty="0"/>
          </a:p>
        </p:txBody>
      </p:sp>
      <p:sp>
        <p:nvSpPr>
          <p:cNvPr id="3" name="Content Placeholder 2">
            <a:extLst>
              <a:ext uri="{FF2B5EF4-FFF2-40B4-BE49-F238E27FC236}">
                <a16:creationId xmlns:a16="http://schemas.microsoft.com/office/drawing/2014/main" id="{6E6E274D-F8C2-760A-D58D-0495E9F84E30}"/>
              </a:ext>
            </a:extLst>
          </p:cNvPr>
          <p:cNvSpPr>
            <a:spLocks noGrp="1"/>
          </p:cNvSpPr>
          <p:nvPr>
            <p:ph idx="1"/>
          </p:nvPr>
        </p:nvSpPr>
        <p:spPr/>
        <p:txBody>
          <a:bodyPr/>
          <a:lstStyle/>
          <a:p>
            <a:pPr marL="0" indent="0">
              <a:buNone/>
            </a:pPr>
            <a:r>
              <a:rPr lang="en-US" sz="2400" i="0" dirty="0">
                <a:solidFill>
                  <a:srgbClr val="242424"/>
                </a:solidFill>
                <a:effectLst/>
                <a:latin typeface="source-serif-pro"/>
              </a:rPr>
              <a:t>Parameters = (</a:t>
            </a:r>
            <a:r>
              <a:rPr lang="en-US" sz="2400" b="1" i="0" dirty="0" err="1">
                <a:solidFill>
                  <a:srgbClr val="242424"/>
                </a:solidFill>
                <a:effectLst/>
                <a:latin typeface="source-serif-pro"/>
              </a:rPr>
              <a:t>F</a:t>
            </a:r>
            <a:r>
              <a:rPr lang="en-US" sz="2400" i="0" dirty="0" err="1">
                <a:solidFill>
                  <a:srgbClr val="242424"/>
                </a:solidFill>
                <a:effectLst/>
                <a:latin typeface="source-serif-pro"/>
              </a:rPr>
              <a:t>xF</a:t>
            </a:r>
            <a:r>
              <a:rPr lang="en-US" sz="2400" i="0" dirty="0">
                <a:solidFill>
                  <a:srgbClr val="242424"/>
                </a:solidFill>
                <a:effectLst/>
                <a:latin typeface="source-serif-pro"/>
              </a:rPr>
              <a:t> * number of channels + bias-term) * </a:t>
            </a:r>
            <a:r>
              <a:rPr lang="en-US" sz="2400" b="1" i="0" dirty="0">
                <a:solidFill>
                  <a:srgbClr val="242424"/>
                </a:solidFill>
                <a:effectLst/>
                <a:latin typeface="source-serif-pro"/>
              </a:rPr>
              <a:t>D</a:t>
            </a:r>
          </a:p>
          <a:p>
            <a:pPr marL="0" indent="0" algn="l">
              <a:lnSpc>
                <a:spcPts val="2400"/>
              </a:lnSpc>
              <a:buNone/>
            </a:pPr>
            <a:endParaRPr lang="en-US" sz="2400" b="0" i="0" dirty="0">
              <a:solidFill>
                <a:srgbClr val="242424"/>
              </a:solidFill>
              <a:effectLst/>
              <a:latin typeface="source-serif-pro"/>
            </a:endParaRPr>
          </a:p>
          <a:p>
            <a:pPr marL="0" indent="0" algn="l">
              <a:lnSpc>
                <a:spcPts val="2400"/>
              </a:lnSpc>
              <a:buNone/>
            </a:pPr>
            <a:r>
              <a:rPr lang="en-US" sz="2400" b="0" i="0" dirty="0">
                <a:solidFill>
                  <a:srgbClr val="242424"/>
                </a:solidFill>
                <a:effectLst/>
                <a:latin typeface="source-serif-pro"/>
              </a:rPr>
              <a:t>The size of filter/kernel — &gt; </a:t>
            </a:r>
            <a:r>
              <a:rPr lang="en-US" sz="2400" b="1" i="0" dirty="0">
                <a:solidFill>
                  <a:srgbClr val="242424"/>
                </a:solidFill>
                <a:effectLst/>
                <a:latin typeface="source-serif-pro"/>
              </a:rPr>
              <a:t>F</a:t>
            </a:r>
            <a:r>
              <a:rPr lang="en-US" sz="2400" b="0" i="0" dirty="0">
                <a:solidFill>
                  <a:srgbClr val="242424"/>
                </a:solidFill>
                <a:effectLst/>
                <a:latin typeface="source-serif-pro"/>
              </a:rPr>
              <a:t> (</a:t>
            </a:r>
            <a:r>
              <a:rPr lang="en-US" sz="2400" dirty="0" err="1">
                <a:solidFill>
                  <a:srgbClr val="242424"/>
                </a:solidFill>
                <a:latin typeface="source-serif-pro"/>
              </a:rPr>
              <a:t>F</a:t>
            </a:r>
            <a:r>
              <a:rPr lang="en-US" sz="2400" b="0" i="0" dirty="0" err="1">
                <a:solidFill>
                  <a:srgbClr val="242424"/>
                </a:solidFill>
                <a:effectLst/>
                <a:latin typeface="source-serif-pro"/>
              </a:rPr>
              <a:t>xF</a:t>
            </a:r>
            <a:r>
              <a:rPr lang="en-US" sz="2400" b="0" i="0" dirty="0">
                <a:solidFill>
                  <a:srgbClr val="242424"/>
                </a:solidFill>
                <a:effectLst/>
                <a:latin typeface="source-serif-pro"/>
              </a:rPr>
              <a:t>)</a:t>
            </a:r>
          </a:p>
          <a:p>
            <a:pPr marL="0" indent="0" algn="l">
              <a:lnSpc>
                <a:spcPts val="2400"/>
              </a:lnSpc>
              <a:buNone/>
            </a:pPr>
            <a:r>
              <a:rPr lang="en-US" sz="2400" b="0" i="0" dirty="0">
                <a:solidFill>
                  <a:srgbClr val="242424"/>
                </a:solidFill>
                <a:effectLst/>
                <a:latin typeface="source-serif-pro"/>
              </a:rPr>
              <a:t>Depth/Number of feature Maps/Kernels/Filters/Activation maps — &gt; </a:t>
            </a:r>
            <a:r>
              <a:rPr lang="en-US" sz="2400" b="1" i="0" dirty="0">
                <a:solidFill>
                  <a:srgbClr val="242424"/>
                </a:solidFill>
                <a:effectLst/>
                <a:latin typeface="source-serif-pro"/>
              </a:rPr>
              <a:t>D</a:t>
            </a:r>
            <a:r>
              <a:rPr lang="en-US" sz="2400" b="0" i="0" dirty="0">
                <a:solidFill>
                  <a:srgbClr val="242424"/>
                </a:solidFill>
                <a:effectLst/>
                <a:latin typeface="source-serif-pro"/>
              </a:rPr>
              <a:t> (integer)</a:t>
            </a:r>
          </a:p>
          <a:p>
            <a:pPr marL="0" indent="0">
              <a:buNone/>
            </a:pPr>
            <a:endParaRPr lang="en-IN" sz="2400" dirty="0"/>
          </a:p>
        </p:txBody>
      </p:sp>
      <p:sp>
        <p:nvSpPr>
          <p:cNvPr id="4" name="Date Placeholder 3">
            <a:extLst>
              <a:ext uri="{FF2B5EF4-FFF2-40B4-BE49-F238E27FC236}">
                <a16:creationId xmlns:a16="http://schemas.microsoft.com/office/drawing/2014/main" id="{CF4AADFB-7FF8-CED1-9B8F-875D9CB630BB}"/>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8BEA7410-BD98-2AEB-BCD0-D474AE45423C}"/>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B167CC51-1965-0835-2D16-540D3695569D}"/>
              </a:ext>
            </a:extLst>
          </p:cNvPr>
          <p:cNvSpPr>
            <a:spLocks noGrp="1"/>
          </p:cNvSpPr>
          <p:nvPr>
            <p:ph type="sldNum" sz="quarter" idx="12"/>
          </p:nvPr>
        </p:nvSpPr>
        <p:spPr/>
        <p:txBody>
          <a:bodyPr/>
          <a:lstStyle/>
          <a:p>
            <a:fld id="{BB2CE0DE-867F-455F-B20B-96D381B4AB71}" type="slidenum">
              <a:rPr lang="en-US" smtClean="0"/>
              <a:t>50</a:t>
            </a:fld>
            <a:endParaRPr lang="en-US"/>
          </a:p>
        </p:txBody>
      </p:sp>
    </p:spTree>
    <p:extLst>
      <p:ext uri="{BB962C8B-B14F-4D97-AF65-F5344CB8AC3E}">
        <p14:creationId xmlns:p14="http://schemas.microsoft.com/office/powerpoint/2010/main" val="351899742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4BB0D-A527-A2B7-C6D0-2F4D0FB585B0}"/>
              </a:ext>
            </a:extLst>
          </p:cNvPr>
          <p:cNvSpPr>
            <a:spLocks noGrp="1"/>
          </p:cNvSpPr>
          <p:nvPr>
            <p:ph type="title"/>
          </p:nvPr>
        </p:nvSpPr>
        <p:spPr/>
        <p:txBody>
          <a:bodyPr/>
          <a:lstStyle/>
          <a:p>
            <a:r>
              <a:rPr lang="en-IN" dirty="0"/>
              <a:t>Calculating Number of Parameters</a:t>
            </a:r>
          </a:p>
        </p:txBody>
      </p:sp>
      <p:sp>
        <p:nvSpPr>
          <p:cNvPr id="4" name="Date Placeholder 3">
            <a:extLst>
              <a:ext uri="{FF2B5EF4-FFF2-40B4-BE49-F238E27FC236}">
                <a16:creationId xmlns:a16="http://schemas.microsoft.com/office/drawing/2014/main" id="{2CE010B6-0BC6-5091-076A-21CEAABB01B4}"/>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B4161C6B-2AC0-5509-D823-C095B57F2515}"/>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E9195B2A-4715-90CD-32C2-2A3192B130F6}"/>
              </a:ext>
            </a:extLst>
          </p:cNvPr>
          <p:cNvSpPr>
            <a:spLocks noGrp="1"/>
          </p:cNvSpPr>
          <p:nvPr>
            <p:ph type="sldNum" sz="quarter" idx="12"/>
          </p:nvPr>
        </p:nvSpPr>
        <p:spPr/>
        <p:txBody>
          <a:bodyPr/>
          <a:lstStyle/>
          <a:p>
            <a:fld id="{BB2CE0DE-867F-455F-B20B-96D381B4AB71}" type="slidenum">
              <a:rPr lang="en-US" smtClean="0"/>
              <a:t>51</a:t>
            </a:fld>
            <a:endParaRPr lang="en-US"/>
          </a:p>
        </p:txBody>
      </p:sp>
      <p:pic>
        <p:nvPicPr>
          <p:cNvPr id="8" name="Picture 7">
            <a:extLst>
              <a:ext uri="{FF2B5EF4-FFF2-40B4-BE49-F238E27FC236}">
                <a16:creationId xmlns:a16="http://schemas.microsoft.com/office/drawing/2014/main" id="{15DEAAC0-5393-DE12-257D-092B88FA404F}"/>
              </a:ext>
            </a:extLst>
          </p:cNvPr>
          <p:cNvPicPr>
            <a:picLocks noChangeAspect="1"/>
          </p:cNvPicPr>
          <p:nvPr/>
        </p:nvPicPr>
        <p:blipFill>
          <a:blip r:embed="rId3"/>
          <a:stretch>
            <a:fillRect/>
          </a:stretch>
        </p:blipFill>
        <p:spPr>
          <a:xfrm>
            <a:off x="566738" y="981687"/>
            <a:ext cx="8332250" cy="3873413"/>
          </a:xfrm>
          <a:prstGeom prst="rect">
            <a:avLst/>
          </a:prstGeom>
        </p:spPr>
      </p:pic>
      <p:sp>
        <p:nvSpPr>
          <p:cNvPr id="11" name="TextBox 10">
            <a:extLst>
              <a:ext uri="{FF2B5EF4-FFF2-40B4-BE49-F238E27FC236}">
                <a16:creationId xmlns:a16="http://schemas.microsoft.com/office/drawing/2014/main" id="{65B83BD5-AC63-3334-31B4-6AE881A924A6}"/>
              </a:ext>
            </a:extLst>
          </p:cNvPr>
          <p:cNvSpPr txBox="1"/>
          <p:nvPr/>
        </p:nvSpPr>
        <p:spPr>
          <a:xfrm>
            <a:off x="496364" y="4855100"/>
            <a:ext cx="8670963" cy="1846659"/>
          </a:xfrm>
          <a:prstGeom prst="rect">
            <a:avLst/>
          </a:prstGeom>
          <a:noFill/>
        </p:spPr>
        <p:txBody>
          <a:bodyPr wrap="none" rtlCol="0">
            <a:spAutoFit/>
          </a:bodyPr>
          <a:lstStyle/>
          <a:p>
            <a:pPr>
              <a:buNone/>
            </a:pPr>
            <a:r>
              <a:rPr lang="en-US" sz="1600" b="1" dirty="0"/>
              <a:t>How the number of parameters is calculated:</a:t>
            </a:r>
          </a:p>
          <a:p>
            <a:pPr>
              <a:buFont typeface="Arial" panose="020B0604020202020204" pitchFamily="34" charset="0"/>
              <a:buChar char="•"/>
            </a:pPr>
            <a:r>
              <a:rPr lang="en-US" sz="1600" dirty="0"/>
              <a:t>You have </a:t>
            </a:r>
            <a:r>
              <a:rPr lang="en-US" sz="1600" b="1" dirty="0"/>
              <a:t>1 filter</a:t>
            </a:r>
            <a:r>
              <a:rPr lang="en-US" sz="1600" dirty="0"/>
              <a:t> of size </a:t>
            </a:r>
            <a:r>
              <a:rPr lang="en-US" sz="1600" b="1" dirty="0"/>
              <a:t>3x3</a:t>
            </a:r>
            <a:r>
              <a:rPr lang="en-US" sz="1600" dirty="0"/>
              <a:t>.</a:t>
            </a:r>
          </a:p>
          <a:p>
            <a:pPr>
              <a:buFont typeface="Arial" panose="020B0604020202020204" pitchFamily="34" charset="0"/>
              <a:buChar char="•"/>
            </a:pPr>
            <a:r>
              <a:rPr lang="en-US" sz="1600" dirty="0"/>
              <a:t>Each filter has a depth equal to the number of input channels (here, </a:t>
            </a:r>
            <a:r>
              <a:rPr lang="en-US" sz="1600" b="1" dirty="0"/>
              <a:t>1 channel</a:t>
            </a:r>
            <a:r>
              <a:rPr lang="en-US" sz="1600" dirty="0"/>
              <a:t>).</a:t>
            </a:r>
          </a:p>
          <a:p>
            <a:pPr>
              <a:buFont typeface="Arial" panose="020B0604020202020204" pitchFamily="34" charset="0"/>
              <a:buChar char="•"/>
            </a:pPr>
            <a:r>
              <a:rPr lang="en-US" sz="1600" dirty="0"/>
              <a:t>So, total weights per filter = 3×3×1=9</a:t>
            </a:r>
          </a:p>
          <a:p>
            <a:pPr>
              <a:buFont typeface="Arial" panose="020B0604020202020204" pitchFamily="34" charset="0"/>
              <a:buChar char="•"/>
            </a:pPr>
            <a:r>
              <a:rPr lang="en-US" sz="1600" dirty="0"/>
              <a:t>Plus </a:t>
            </a:r>
            <a:r>
              <a:rPr lang="en-US" sz="1600" b="1" dirty="0"/>
              <a:t>1 bias</a:t>
            </a:r>
            <a:r>
              <a:rPr lang="en-US" sz="1600" dirty="0"/>
              <a:t> term per filter → total parameters = 9+1=10</a:t>
            </a:r>
          </a:p>
          <a:p>
            <a:r>
              <a:rPr lang="en-US" sz="1600" dirty="0"/>
              <a:t>Hence, the model will show 10 parameters in the summary.</a:t>
            </a:r>
          </a:p>
          <a:p>
            <a:endParaRPr lang="en-IN" sz="1600" dirty="0"/>
          </a:p>
        </p:txBody>
      </p:sp>
    </p:spTree>
    <p:extLst>
      <p:ext uri="{BB962C8B-B14F-4D97-AF65-F5344CB8AC3E}">
        <p14:creationId xmlns:p14="http://schemas.microsoft.com/office/powerpoint/2010/main" val="256392155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69805-8709-D68D-D2BC-AB8CB01B8947}"/>
              </a:ext>
            </a:extLst>
          </p:cNvPr>
          <p:cNvSpPr>
            <a:spLocks noGrp="1"/>
          </p:cNvSpPr>
          <p:nvPr>
            <p:ph type="title"/>
          </p:nvPr>
        </p:nvSpPr>
        <p:spPr/>
        <p:txBody>
          <a:bodyPr/>
          <a:lstStyle/>
          <a:p>
            <a:r>
              <a:rPr lang="en-IN" dirty="0"/>
              <a:t>Calculating Number of Parameters</a:t>
            </a:r>
          </a:p>
        </p:txBody>
      </p:sp>
      <p:sp>
        <p:nvSpPr>
          <p:cNvPr id="3" name="Content Placeholder 2">
            <a:extLst>
              <a:ext uri="{FF2B5EF4-FFF2-40B4-BE49-F238E27FC236}">
                <a16:creationId xmlns:a16="http://schemas.microsoft.com/office/drawing/2014/main" id="{C843D578-7841-D4F7-419C-C429322D0407}"/>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DC949FFF-8F6D-957B-AB50-2405088C78E7}"/>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AEC5FD02-CBC7-8730-361B-AC5D0EA16C1E}"/>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7E72D67F-194F-2524-1F8C-6DE3545C18BE}"/>
              </a:ext>
            </a:extLst>
          </p:cNvPr>
          <p:cNvSpPr>
            <a:spLocks noGrp="1"/>
          </p:cNvSpPr>
          <p:nvPr>
            <p:ph type="sldNum" sz="quarter" idx="12"/>
          </p:nvPr>
        </p:nvSpPr>
        <p:spPr/>
        <p:txBody>
          <a:bodyPr/>
          <a:lstStyle/>
          <a:p>
            <a:fld id="{BB2CE0DE-867F-455F-B20B-96D381B4AB71}" type="slidenum">
              <a:rPr lang="en-US" smtClean="0"/>
              <a:t>52</a:t>
            </a:fld>
            <a:endParaRPr lang="en-US"/>
          </a:p>
        </p:txBody>
      </p:sp>
      <p:pic>
        <p:nvPicPr>
          <p:cNvPr id="8" name="Picture 7">
            <a:extLst>
              <a:ext uri="{FF2B5EF4-FFF2-40B4-BE49-F238E27FC236}">
                <a16:creationId xmlns:a16="http://schemas.microsoft.com/office/drawing/2014/main" id="{8D4C79FC-A076-02A7-AD75-A2BA1DC70C19}"/>
              </a:ext>
            </a:extLst>
          </p:cNvPr>
          <p:cNvPicPr>
            <a:picLocks noChangeAspect="1"/>
          </p:cNvPicPr>
          <p:nvPr/>
        </p:nvPicPr>
        <p:blipFill>
          <a:blip r:embed="rId2"/>
          <a:srcRect b="46748"/>
          <a:stretch/>
        </p:blipFill>
        <p:spPr>
          <a:xfrm>
            <a:off x="115004" y="1143000"/>
            <a:ext cx="8999449" cy="2144486"/>
          </a:xfrm>
          <a:prstGeom prst="rect">
            <a:avLst/>
          </a:prstGeom>
        </p:spPr>
      </p:pic>
    </p:spTree>
    <p:extLst>
      <p:ext uri="{BB962C8B-B14F-4D97-AF65-F5344CB8AC3E}">
        <p14:creationId xmlns:p14="http://schemas.microsoft.com/office/powerpoint/2010/main" val="231907242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F5BFC0-C3AB-CFCB-5ADA-199FCABCCC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C1D13A-2886-9B94-5C9F-DE99DE624227}"/>
              </a:ext>
            </a:extLst>
          </p:cNvPr>
          <p:cNvSpPr>
            <a:spLocks noGrp="1"/>
          </p:cNvSpPr>
          <p:nvPr>
            <p:ph type="title"/>
          </p:nvPr>
        </p:nvSpPr>
        <p:spPr/>
        <p:txBody>
          <a:bodyPr/>
          <a:lstStyle/>
          <a:p>
            <a:r>
              <a:rPr lang="en-IN" dirty="0"/>
              <a:t>Calculating Number of Parameters</a:t>
            </a:r>
          </a:p>
        </p:txBody>
      </p:sp>
      <p:sp>
        <p:nvSpPr>
          <p:cNvPr id="3" name="Content Placeholder 2">
            <a:extLst>
              <a:ext uri="{FF2B5EF4-FFF2-40B4-BE49-F238E27FC236}">
                <a16:creationId xmlns:a16="http://schemas.microsoft.com/office/drawing/2014/main" id="{A07D60D7-1A17-C170-6E12-C4890D8012AA}"/>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5BAB61C5-C603-2EE9-F06E-63F5A57E5F7A}"/>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3526CFEB-5262-D7C4-5A81-1799FF42E149}"/>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EFB22B58-9925-0DFF-CFBC-8483D6D1600F}"/>
              </a:ext>
            </a:extLst>
          </p:cNvPr>
          <p:cNvSpPr>
            <a:spLocks noGrp="1"/>
          </p:cNvSpPr>
          <p:nvPr>
            <p:ph type="sldNum" sz="quarter" idx="12"/>
          </p:nvPr>
        </p:nvSpPr>
        <p:spPr/>
        <p:txBody>
          <a:bodyPr/>
          <a:lstStyle/>
          <a:p>
            <a:fld id="{BB2CE0DE-867F-455F-B20B-96D381B4AB71}" type="slidenum">
              <a:rPr lang="en-US" smtClean="0"/>
              <a:t>53</a:t>
            </a:fld>
            <a:endParaRPr lang="en-US"/>
          </a:p>
        </p:txBody>
      </p:sp>
      <p:pic>
        <p:nvPicPr>
          <p:cNvPr id="8" name="Picture 7">
            <a:extLst>
              <a:ext uri="{FF2B5EF4-FFF2-40B4-BE49-F238E27FC236}">
                <a16:creationId xmlns:a16="http://schemas.microsoft.com/office/drawing/2014/main" id="{15A08C9B-B8C1-54F8-93A3-4B37ABBB19B9}"/>
              </a:ext>
            </a:extLst>
          </p:cNvPr>
          <p:cNvPicPr>
            <a:picLocks noChangeAspect="1"/>
          </p:cNvPicPr>
          <p:nvPr/>
        </p:nvPicPr>
        <p:blipFill>
          <a:blip r:embed="rId2"/>
          <a:stretch>
            <a:fillRect/>
          </a:stretch>
        </p:blipFill>
        <p:spPr>
          <a:xfrm>
            <a:off x="228600" y="1208314"/>
            <a:ext cx="8999449" cy="4887686"/>
          </a:xfrm>
          <a:prstGeom prst="rect">
            <a:avLst/>
          </a:prstGeom>
        </p:spPr>
      </p:pic>
    </p:spTree>
    <p:extLst>
      <p:ext uri="{BB962C8B-B14F-4D97-AF65-F5344CB8AC3E}">
        <p14:creationId xmlns:p14="http://schemas.microsoft.com/office/powerpoint/2010/main" val="371765628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4B49F-6F29-7FED-A9B7-DF7EAB8409CC}"/>
              </a:ext>
            </a:extLst>
          </p:cNvPr>
          <p:cNvSpPr>
            <a:spLocks noGrp="1"/>
          </p:cNvSpPr>
          <p:nvPr>
            <p:ph type="title"/>
          </p:nvPr>
        </p:nvSpPr>
        <p:spPr/>
        <p:txBody>
          <a:bodyPr/>
          <a:lstStyle/>
          <a:p>
            <a:r>
              <a:rPr lang="en-US" sz="2000" dirty="0"/>
              <a:t>Calculating the output when an image passes through a Convolutional layer</a:t>
            </a:r>
            <a:endParaRPr lang="en-IN" sz="2000" dirty="0"/>
          </a:p>
        </p:txBody>
      </p:sp>
      <p:sp>
        <p:nvSpPr>
          <p:cNvPr id="3" name="Content Placeholder 2">
            <a:extLst>
              <a:ext uri="{FF2B5EF4-FFF2-40B4-BE49-F238E27FC236}">
                <a16:creationId xmlns:a16="http://schemas.microsoft.com/office/drawing/2014/main" id="{E7C33477-ACAE-5938-1872-D5B63A1CD715}"/>
              </a:ext>
            </a:extLst>
          </p:cNvPr>
          <p:cNvSpPr>
            <a:spLocks noGrp="1"/>
          </p:cNvSpPr>
          <p:nvPr>
            <p:ph idx="1"/>
          </p:nvPr>
        </p:nvSpPr>
        <p:spPr/>
        <p:txBody>
          <a:bodyPr/>
          <a:lstStyle/>
          <a:p>
            <a:pPr marL="0" algn="l">
              <a:spcBef>
                <a:spcPts val="0"/>
              </a:spcBef>
              <a:buNone/>
            </a:pPr>
            <a:r>
              <a:rPr lang="en-US" sz="2000" b="0" i="0" dirty="0">
                <a:solidFill>
                  <a:srgbClr val="242424"/>
                </a:solidFill>
                <a:effectLst/>
                <a:latin typeface="Times New Roman" panose="02020603050405020304" pitchFamily="18" charset="0"/>
                <a:cs typeface="Times New Roman" panose="02020603050405020304" pitchFamily="18" charset="0"/>
              </a:rPr>
              <a:t>All matrices are square </a:t>
            </a:r>
            <a:r>
              <a:rPr lang="en-US" sz="2000" b="0" i="0" dirty="0" err="1">
                <a:solidFill>
                  <a:srgbClr val="242424"/>
                </a:solidFill>
                <a:effectLst/>
                <a:latin typeface="Times New Roman" panose="02020603050405020304" pitchFamily="18" charset="0"/>
                <a:cs typeface="Times New Roman" panose="02020603050405020304" pitchFamily="18" charset="0"/>
              </a:rPr>
              <a:t>i.e</a:t>
            </a:r>
            <a:r>
              <a:rPr lang="en-US" sz="2000" b="0" i="0" dirty="0">
                <a:solidFill>
                  <a:srgbClr val="242424"/>
                </a:solidFill>
                <a:effectLst/>
                <a:latin typeface="Times New Roman" panose="02020603050405020304" pitchFamily="18" charset="0"/>
                <a:cs typeface="Times New Roman" panose="02020603050405020304" pitchFamily="18" charset="0"/>
              </a:rPr>
              <a:t> the image width = height.</a:t>
            </a:r>
          </a:p>
          <a:p>
            <a:pPr marL="0" algn="l">
              <a:spcBef>
                <a:spcPts val="0"/>
              </a:spcBef>
              <a:buNone/>
            </a:pPr>
            <a:r>
              <a:rPr lang="en-US" sz="2000" b="0" i="0" dirty="0">
                <a:solidFill>
                  <a:srgbClr val="242424"/>
                </a:solidFill>
                <a:effectLst/>
                <a:latin typeface="Times New Roman" panose="02020603050405020304" pitchFamily="18" charset="0"/>
                <a:cs typeface="Times New Roman" panose="02020603050405020304" pitchFamily="18" charset="0"/>
              </a:rPr>
              <a:t>Parameters that influence the output shape : -</a:t>
            </a:r>
          </a:p>
          <a:p>
            <a:pPr marL="0" algn="l">
              <a:spcBef>
                <a:spcPts val="0"/>
              </a:spcBef>
              <a:buFont typeface="+mj-lt"/>
              <a:buAutoNum type="arabicPeriod"/>
            </a:pPr>
            <a:r>
              <a:rPr lang="en-US" sz="2000" b="0" i="0" dirty="0">
                <a:solidFill>
                  <a:srgbClr val="242424"/>
                </a:solidFill>
                <a:effectLst/>
                <a:latin typeface="Times New Roman" panose="02020603050405020304" pitchFamily="18" charset="0"/>
                <a:cs typeface="Times New Roman" panose="02020603050405020304" pitchFamily="18" charset="0"/>
              </a:rPr>
              <a:t>The input dimensions of the image — &gt; I (</a:t>
            </a:r>
            <a:r>
              <a:rPr lang="en-US" sz="2000" b="0" i="0" dirty="0" err="1">
                <a:solidFill>
                  <a:srgbClr val="242424"/>
                </a:solidFill>
                <a:effectLst/>
                <a:latin typeface="Times New Roman" panose="02020603050405020304" pitchFamily="18" charset="0"/>
                <a:cs typeface="Times New Roman" panose="02020603050405020304" pitchFamily="18" charset="0"/>
              </a:rPr>
              <a:t>ixi</a:t>
            </a:r>
            <a:r>
              <a:rPr lang="en-US" sz="2000" b="0" i="0" dirty="0">
                <a:solidFill>
                  <a:srgbClr val="242424"/>
                </a:solidFill>
                <a:effectLst/>
                <a:latin typeface="Times New Roman" panose="02020603050405020304" pitchFamily="18" charset="0"/>
                <a:cs typeface="Times New Roman" panose="02020603050405020304" pitchFamily="18" charset="0"/>
              </a:rPr>
              <a:t>)</a:t>
            </a:r>
          </a:p>
          <a:p>
            <a:pPr marL="0" algn="l">
              <a:spcBef>
                <a:spcPts val="0"/>
              </a:spcBef>
              <a:buFont typeface="+mj-lt"/>
              <a:buAutoNum type="arabicPeriod"/>
            </a:pPr>
            <a:r>
              <a:rPr lang="en-US" sz="2000" b="0" i="0" dirty="0">
                <a:solidFill>
                  <a:srgbClr val="242424"/>
                </a:solidFill>
                <a:effectLst/>
                <a:latin typeface="Times New Roman" panose="02020603050405020304" pitchFamily="18" charset="0"/>
                <a:cs typeface="Times New Roman" panose="02020603050405020304" pitchFamily="18" charset="0"/>
              </a:rPr>
              <a:t>The size of filter/kernel — &gt; F (</a:t>
            </a:r>
            <a:r>
              <a:rPr lang="en-US" sz="2000" b="0" i="0" dirty="0" err="1">
                <a:solidFill>
                  <a:srgbClr val="242424"/>
                </a:solidFill>
                <a:effectLst/>
                <a:latin typeface="Times New Roman" panose="02020603050405020304" pitchFamily="18" charset="0"/>
                <a:cs typeface="Times New Roman" panose="02020603050405020304" pitchFamily="18" charset="0"/>
              </a:rPr>
              <a:t>fxf</a:t>
            </a:r>
            <a:r>
              <a:rPr lang="en-US" sz="2000" b="0" i="0" dirty="0">
                <a:solidFill>
                  <a:srgbClr val="242424"/>
                </a:solidFill>
                <a:effectLst/>
                <a:latin typeface="Times New Roman" panose="02020603050405020304" pitchFamily="18" charset="0"/>
                <a:cs typeface="Times New Roman" panose="02020603050405020304" pitchFamily="18" charset="0"/>
              </a:rPr>
              <a:t>)</a:t>
            </a:r>
          </a:p>
          <a:p>
            <a:pPr marL="0" algn="l">
              <a:spcBef>
                <a:spcPts val="0"/>
              </a:spcBef>
              <a:buFont typeface="+mj-lt"/>
              <a:buAutoNum type="arabicPeriod"/>
            </a:pPr>
            <a:r>
              <a:rPr lang="en-US" sz="2000" b="0" i="0" dirty="0">
                <a:solidFill>
                  <a:srgbClr val="242424"/>
                </a:solidFill>
                <a:effectLst/>
                <a:latin typeface="Times New Roman" panose="02020603050405020304" pitchFamily="18" charset="0"/>
                <a:cs typeface="Times New Roman" panose="02020603050405020304" pitchFamily="18" charset="0"/>
              </a:rPr>
              <a:t>Strides — &gt; S (integer)</a:t>
            </a:r>
          </a:p>
          <a:p>
            <a:pPr marL="0" algn="l">
              <a:spcBef>
                <a:spcPts val="0"/>
              </a:spcBef>
              <a:buFont typeface="+mj-lt"/>
              <a:buAutoNum type="arabicPeriod"/>
            </a:pPr>
            <a:r>
              <a:rPr lang="en-US" sz="2000" b="0" i="0" dirty="0">
                <a:solidFill>
                  <a:srgbClr val="242424"/>
                </a:solidFill>
                <a:effectLst/>
                <a:latin typeface="Times New Roman" panose="02020603050405020304" pitchFamily="18" charset="0"/>
                <a:cs typeface="Times New Roman" panose="02020603050405020304" pitchFamily="18" charset="0"/>
              </a:rPr>
              <a:t>Padding — &gt; P (integer)</a:t>
            </a:r>
          </a:p>
          <a:p>
            <a:pPr marL="0" algn="l">
              <a:spcBef>
                <a:spcPts val="0"/>
              </a:spcBef>
              <a:buFont typeface="+mj-lt"/>
              <a:buAutoNum type="arabicPeriod"/>
            </a:pPr>
            <a:r>
              <a:rPr lang="en-US" sz="2000" b="0" i="0" dirty="0">
                <a:solidFill>
                  <a:srgbClr val="242424"/>
                </a:solidFill>
                <a:effectLst/>
                <a:latin typeface="Times New Roman" panose="02020603050405020304" pitchFamily="18" charset="0"/>
                <a:cs typeface="Times New Roman" panose="02020603050405020304" pitchFamily="18" charset="0"/>
              </a:rPr>
              <a:t>Depth/Number of feature maps/activation maps/filters — &gt; D (integer)</a:t>
            </a:r>
          </a:p>
          <a:p>
            <a:pPr marL="0" indent="0" algn="l">
              <a:spcBef>
                <a:spcPts val="0"/>
              </a:spcBef>
              <a:buNone/>
            </a:pPr>
            <a:endParaRPr lang="en-US" sz="2000" b="1" i="0" dirty="0">
              <a:solidFill>
                <a:srgbClr val="242424"/>
              </a:solidFill>
              <a:effectLst/>
              <a:latin typeface="Times New Roman" panose="02020603050405020304" pitchFamily="18" charset="0"/>
              <a:cs typeface="Times New Roman" panose="02020603050405020304" pitchFamily="18" charset="0"/>
            </a:endParaRPr>
          </a:p>
          <a:p>
            <a:pPr marL="0" indent="0" algn="l">
              <a:spcBef>
                <a:spcPts val="0"/>
              </a:spcBef>
              <a:buNone/>
            </a:pPr>
            <a:r>
              <a:rPr lang="en-US" sz="2000" b="1" i="0" dirty="0">
                <a:solidFill>
                  <a:srgbClr val="242424"/>
                </a:solidFill>
                <a:effectLst/>
                <a:latin typeface="Times New Roman" panose="02020603050405020304" pitchFamily="18" charset="0"/>
                <a:cs typeface="Times New Roman" panose="02020603050405020304" pitchFamily="18" charset="0"/>
              </a:rPr>
              <a:t>Convolution Output dimension = [(I +2 *P - F) / S] +1 x D</a:t>
            </a:r>
            <a:endParaRPr lang="en-IN" dirty="0"/>
          </a:p>
        </p:txBody>
      </p:sp>
      <p:sp>
        <p:nvSpPr>
          <p:cNvPr id="4" name="Date Placeholder 3">
            <a:extLst>
              <a:ext uri="{FF2B5EF4-FFF2-40B4-BE49-F238E27FC236}">
                <a16:creationId xmlns:a16="http://schemas.microsoft.com/office/drawing/2014/main" id="{D261C60C-215F-C831-AF1D-3B1B1EAF1011}"/>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AA36964E-88B3-1437-86AE-D26B44094BDB}"/>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27533166-C855-EEBA-A5A2-0626EB539173}"/>
              </a:ext>
            </a:extLst>
          </p:cNvPr>
          <p:cNvSpPr>
            <a:spLocks noGrp="1"/>
          </p:cNvSpPr>
          <p:nvPr>
            <p:ph type="sldNum" sz="quarter" idx="12"/>
          </p:nvPr>
        </p:nvSpPr>
        <p:spPr/>
        <p:txBody>
          <a:bodyPr/>
          <a:lstStyle/>
          <a:p>
            <a:fld id="{BB2CE0DE-867F-455F-B20B-96D381B4AB71}" type="slidenum">
              <a:rPr lang="en-US" smtClean="0"/>
              <a:t>54</a:t>
            </a:fld>
            <a:endParaRPr lang="en-US"/>
          </a:p>
        </p:txBody>
      </p:sp>
    </p:spTree>
    <p:extLst>
      <p:ext uri="{BB962C8B-B14F-4D97-AF65-F5344CB8AC3E}">
        <p14:creationId xmlns:p14="http://schemas.microsoft.com/office/powerpoint/2010/main" val="238826382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276A6-EA93-1EA0-E3B6-1483DC10D5C2}"/>
              </a:ext>
            </a:extLst>
          </p:cNvPr>
          <p:cNvSpPr>
            <a:spLocks noGrp="1"/>
          </p:cNvSpPr>
          <p:nvPr>
            <p:ph type="title"/>
          </p:nvPr>
        </p:nvSpPr>
        <p:spPr/>
        <p:txBody>
          <a:bodyPr/>
          <a:lstStyle/>
          <a:p>
            <a:r>
              <a:rPr lang="en-US" dirty="0"/>
              <a:t>Example</a:t>
            </a:r>
            <a:endParaRPr lang="en-IN" dirty="0"/>
          </a:p>
        </p:txBody>
      </p:sp>
      <p:sp>
        <p:nvSpPr>
          <p:cNvPr id="3" name="Content Placeholder 2">
            <a:extLst>
              <a:ext uri="{FF2B5EF4-FFF2-40B4-BE49-F238E27FC236}">
                <a16:creationId xmlns:a16="http://schemas.microsoft.com/office/drawing/2014/main" id="{230A9A5A-EA5C-6A03-BF3C-029E6BBC712A}"/>
              </a:ext>
            </a:extLst>
          </p:cNvPr>
          <p:cNvSpPr>
            <a:spLocks noGrp="1"/>
          </p:cNvSpPr>
          <p:nvPr>
            <p:ph idx="1"/>
          </p:nvPr>
        </p:nvSpPr>
        <p:spPr/>
        <p:txBody>
          <a:bodyPr/>
          <a:lstStyle/>
          <a:p>
            <a:pPr algn="l">
              <a:buFont typeface="Arial" panose="020B0604020202020204" pitchFamily="34" charset="0"/>
              <a:buChar char="•"/>
            </a:pPr>
            <a:r>
              <a:rPr lang="en-US" sz="2000" b="0" i="0" dirty="0">
                <a:solidFill>
                  <a:srgbClr val="242424"/>
                </a:solidFill>
                <a:effectLst/>
                <a:latin typeface="source-serif-pro"/>
              </a:rPr>
              <a:t>An input image, I with dimensions (32x32x3) -An input image 32 pixel wide and 32 pixel in height with 3 channels </a:t>
            </a:r>
            <a:r>
              <a:rPr lang="en-US" sz="2000" b="0" i="0" dirty="0" err="1">
                <a:solidFill>
                  <a:srgbClr val="242424"/>
                </a:solidFill>
                <a:effectLst/>
                <a:latin typeface="source-serif-pro"/>
              </a:rPr>
              <a:t>i.e</a:t>
            </a:r>
            <a:r>
              <a:rPr lang="en-US" sz="2000" b="0" i="0" dirty="0">
                <a:solidFill>
                  <a:srgbClr val="242424"/>
                </a:solidFill>
                <a:effectLst/>
                <a:latin typeface="source-serif-pro"/>
              </a:rPr>
              <a:t>, (I =32),</a:t>
            </a:r>
          </a:p>
          <a:p>
            <a:pPr algn="l">
              <a:buFont typeface="Arial" panose="020B0604020202020204" pitchFamily="34" charset="0"/>
              <a:buChar char="•"/>
            </a:pPr>
            <a:r>
              <a:rPr lang="en-US" sz="2000" b="0" i="0" dirty="0">
                <a:solidFill>
                  <a:srgbClr val="242424"/>
                </a:solidFill>
                <a:effectLst/>
                <a:latin typeface="source-serif-pro"/>
              </a:rPr>
              <a:t>A filter size 3x3 (F=3)</a:t>
            </a:r>
          </a:p>
          <a:p>
            <a:pPr algn="l">
              <a:buFont typeface="Arial" panose="020B0604020202020204" pitchFamily="34" charset="0"/>
              <a:buChar char="•"/>
            </a:pPr>
            <a:r>
              <a:rPr lang="en-US" sz="2000" b="0" i="0" dirty="0">
                <a:solidFill>
                  <a:srgbClr val="242424"/>
                </a:solidFill>
                <a:effectLst/>
                <a:latin typeface="source-serif-pro"/>
              </a:rPr>
              <a:t>Stride is1 (S =1),</a:t>
            </a:r>
          </a:p>
          <a:p>
            <a:pPr algn="l">
              <a:buFont typeface="Arial" panose="020B0604020202020204" pitchFamily="34" charset="0"/>
              <a:buChar char="•"/>
            </a:pPr>
            <a:r>
              <a:rPr lang="en-US" sz="2000" b="0" i="0" dirty="0">
                <a:solidFill>
                  <a:srgbClr val="242424"/>
                </a:solidFill>
                <a:effectLst/>
                <a:latin typeface="source-serif-pro"/>
              </a:rPr>
              <a:t>Zero padding, and</a:t>
            </a:r>
          </a:p>
          <a:p>
            <a:pPr algn="l">
              <a:buFont typeface="Arial" panose="020B0604020202020204" pitchFamily="34" charset="0"/>
              <a:buChar char="•"/>
            </a:pPr>
            <a:r>
              <a:rPr lang="en-US" sz="2000" b="0" i="0" dirty="0">
                <a:solidFill>
                  <a:srgbClr val="242424"/>
                </a:solidFill>
                <a:effectLst/>
                <a:latin typeface="source-serif-pro"/>
              </a:rPr>
              <a:t>Depth /feature maps are 5 (D =5)</a:t>
            </a:r>
          </a:p>
          <a:p>
            <a:pPr marL="0" indent="0" algn="l">
              <a:buNone/>
            </a:pPr>
            <a:r>
              <a:rPr lang="en-US" sz="2000" b="1" i="0" dirty="0">
                <a:solidFill>
                  <a:srgbClr val="242424"/>
                </a:solidFill>
                <a:effectLst/>
                <a:latin typeface="source-serif-pro"/>
              </a:rPr>
              <a:t>The output dimensions are = </a:t>
            </a:r>
          </a:p>
          <a:p>
            <a:pPr marL="0" indent="0" algn="l">
              <a:buNone/>
            </a:pPr>
            <a:r>
              <a:rPr lang="en-US" sz="2000" b="1" i="0" dirty="0">
                <a:solidFill>
                  <a:srgbClr val="242424"/>
                </a:solidFill>
                <a:effectLst/>
                <a:latin typeface="source-serif-pro"/>
              </a:rPr>
              <a:t>[(32 - 3 + 2 * 0) / 1] +1 x 5 = (30x30x5)</a:t>
            </a:r>
            <a:endParaRPr lang="en-US" sz="2000" b="0" i="0" dirty="0">
              <a:solidFill>
                <a:srgbClr val="242424"/>
              </a:solidFill>
              <a:effectLst/>
              <a:latin typeface="source-serif-pro"/>
            </a:endParaRPr>
          </a:p>
          <a:p>
            <a:pPr marL="0" indent="0">
              <a:buNone/>
            </a:pPr>
            <a:endParaRPr lang="en-IN" sz="2000" dirty="0"/>
          </a:p>
        </p:txBody>
      </p:sp>
      <p:sp>
        <p:nvSpPr>
          <p:cNvPr id="4" name="Date Placeholder 3">
            <a:extLst>
              <a:ext uri="{FF2B5EF4-FFF2-40B4-BE49-F238E27FC236}">
                <a16:creationId xmlns:a16="http://schemas.microsoft.com/office/drawing/2014/main" id="{6A4423E8-C508-96B1-4A15-F6F780DDB7E4}"/>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F2D750A4-5752-13A3-05F5-C3B0BC1E60A2}"/>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ABEDE10C-BDB9-3A9A-76E8-03246C230142}"/>
              </a:ext>
            </a:extLst>
          </p:cNvPr>
          <p:cNvSpPr>
            <a:spLocks noGrp="1"/>
          </p:cNvSpPr>
          <p:nvPr>
            <p:ph type="sldNum" sz="quarter" idx="12"/>
          </p:nvPr>
        </p:nvSpPr>
        <p:spPr/>
        <p:txBody>
          <a:bodyPr/>
          <a:lstStyle/>
          <a:p>
            <a:fld id="{BB2CE0DE-867F-455F-B20B-96D381B4AB71}" type="slidenum">
              <a:rPr lang="en-US" smtClean="0"/>
              <a:t>55</a:t>
            </a:fld>
            <a:endParaRPr lang="en-US"/>
          </a:p>
        </p:txBody>
      </p:sp>
    </p:spTree>
    <p:extLst>
      <p:ext uri="{BB962C8B-B14F-4D97-AF65-F5344CB8AC3E}">
        <p14:creationId xmlns:p14="http://schemas.microsoft.com/office/powerpoint/2010/main" val="343293198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8FCB0-4019-93C3-78F5-80D66F12A020}"/>
              </a:ext>
            </a:extLst>
          </p:cNvPr>
          <p:cNvSpPr>
            <a:spLocks noGrp="1"/>
          </p:cNvSpPr>
          <p:nvPr>
            <p:ph type="title"/>
          </p:nvPr>
        </p:nvSpPr>
        <p:spPr/>
        <p:txBody>
          <a:bodyPr/>
          <a:lstStyle/>
          <a:p>
            <a:r>
              <a:rPr lang="en-US" b="1" i="0" dirty="0">
                <a:solidFill>
                  <a:srgbClr val="242424"/>
                </a:solidFill>
                <a:effectLst/>
                <a:latin typeface="source-serif-pro"/>
              </a:rPr>
              <a:t>Number of Parameter calculation</a:t>
            </a:r>
            <a:endParaRPr lang="en-IN" dirty="0"/>
          </a:p>
        </p:txBody>
      </p:sp>
      <p:sp>
        <p:nvSpPr>
          <p:cNvPr id="3" name="Content Placeholder 2">
            <a:extLst>
              <a:ext uri="{FF2B5EF4-FFF2-40B4-BE49-F238E27FC236}">
                <a16:creationId xmlns:a16="http://schemas.microsoft.com/office/drawing/2014/main" id="{4E769239-878D-A079-0278-88828E707BAC}"/>
              </a:ext>
            </a:extLst>
          </p:cNvPr>
          <p:cNvSpPr>
            <a:spLocks noGrp="1"/>
          </p:cNvSpPr>
          <p:nvPr>
            <p:ph idx="1"/>
          </p:nvPr>
        </p:nvSpPr>
        <p:spPr/>
        <p:txBody>
          <a:bodyPr/>
          <a:lstStyle/>
          <a:p>
            <a:pPr algn="l">
              <a:spcBef>
                <a:spcPts val="0"/>
              </a:spcBef>
              <a:buNone/>
            </a:pPr>
            <a:r>
              <a:rPr lang="en-US" sz="2400" dirty="0">
                <a:solidFill>
                  <a:srgbClr val="242424"/>
                </a:solidFill>
                <a:latin typeface="source-serif-pro"/>
              </a:rPr>
              <a:t>T</a:t>
            </a:r>
            <a:r>
              <a:rPr lang="en-US" sz="2400" i="0" dirty="0">
                <a:solidFill>
                  <a:srgbClr val="242424"/>
                </a:solidFill>
                <a:effectLst/>
                <a:latin typeface="source-serif-pro"/>
              </a:rPr>
              <a:t>he kernel Size is (3x3) with 3 channels (RGB in the input), one bias term, and 5 filters.</a:t>
            </a:r>
          </a:p>
          <a:p>
            <a:pPr algn="l">
              <a:spcBef>
                <a:spcPts val="0"/>
              </a:spcBef>
              <a:buNone/>
            </a:pPr>
            <a:endParaRPr lang="en-US" sz="2400" i="0" dirty="0">
              <a:solidFill>
                <a:srgbClr val="242424"/>
              </a:solidFill>
              <a:effectLst/>
              <a:latin typeface="source-serif-pro"/>
            </a:endParaRPr>
          </a:p>
          <a:p>
            <a:pPr algn="l">
              <a:spcBef>
                <a:spcPts val="0"/>
              </a:spcBef>
              <a:buNone/>
            </a:pPr>
            <a:r>
              <a:rPr lang="en-US" sz="2400" i="0" dirty="0">
                <a:solidFill>
                  <a:srgbClr val="242424"/>
                </a:solidFill>
                <a:effectLst/>
                <a:latin typeface="source-serif-pro"/>
              </a:rPr>
              <a:t>Parameters = (</a:t>
            </a:r>
            <a:r>
              <a:rPr lang="en-US" sz="2400" i="0" dirty="0" err="1">
                <a:solidFill>
                  <a:srgbClr val="242424"/>
                </a:solidFill>
                <a:effectLst/>
                <a:latin typeface="source-serif-pro"/>
              </a:rPr>
              <a:t>FxF</a:t>
            </a:r>
            <a:r>
              <a:rPr lang="en-US" sz="2400" i="0" dirty="0">
                <a:solidFill>
                  <a:srgbClr val="242424"/>
                </a:solidFill>
                <a:effectLst/>
                <a:latin typeface="source-serif-pro"/>
              </a:rPr>
              <a:t> * number of channels + bias-term) * D</a:t>
            </a:r>
          </a:p>
          <a:p>
            <a:pPr algn="l">
              <a:spcBef>
                <a:spcPts val="0"/>
              </a:spcBef>
              <a:buNone/>
            </a:pPr>
            <a:endParaRPr lang="en-US" sz="2400" i="0" dirty="0">
              <a:solidFill>
                <a:srgbClr val="242424"/>
              </a:solidFill>
              <a:effectLst/>
              <a:latin typeface="source-serif-pro"/>
            </a:endParaRPr>
          </a:p>
          <a:p>
            <a:pPr marL="0" indent="0" algn="l">
              <a:spcBef>
                <a:spcPts val="0"/>
              </a:spcBef>
              <a:buNone/>
            </a:pPr>
            <a:r>
              <a:rPr lang="en-US" sz="2400" i="0" dirty="0">
                <a:solidFill>
                  <a:srgbClr val="242424"/>
                </a:solidFill>
                <a:effectLst/>
                <a:latin typeface="source-serif-pro"/>
              </a:rPr>
              <a:t>In our example Parameters = (3 * 3 * 3 + 1) * 5 = 140</a:t>
            </a:r>
          </a:p>
          <a:p>
            <a:pPr marL="0" indent="0">
              <a:buNone/>
            </a:pPr>
            <a:endParaRPr lang="en-IN" dirty="0"/>
          </a:p>
        </p:txBody>
      </p:sp>
      <p:sp>
        <p:nvSpPr>
          <p:cNvPr id="4" name="Date Placeholder 3">
            <a:extLst>
              <a:ext uri="{FF2B5EF4-FFF2-40B4-BE49-F238E27FC236}">
                <a16:creationId xmlns:a16="http://schemas.microsoft.com/office/drawing/2014/main" id="{589525CE-FF62-8DC7-FF63-E9B55C9571DC}"/>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FBFED319-A56F-3E77-5884-5662911796F9}"/>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998CAFB-2F4E-BAD9-BD3B-CF9141D99D41}"/>
              </a:ext>
            </a:extLst>
          </p:cNvPr>
          <p:cNvSpPr>
            <a:spLocks noGrp="1"/>
          </p:cNvSpPr>
          <p:nvPr>
            <p:ph type="sldNum" sz="quarter" idx="12"/>
          </p:nvPr>
        </p:nvSpPr>
        <p:spPr/>
        <p:txBody>
          <a:bodyPr/>
          <a:lstStyle/>
          <a:p>
            <a:fld id="{BB2CE0DE-867F-455F-B20B-96D381B4AB71}" type="slidenum">
              <a:rPr lang="en-US" smtClean="0"/>
              <a:t>56</a:t>
            </a:fld>
            <a:endParaRPr lang="en-US"/>
          </a:p>
        </p:txBody>
      </p:sp>
    </p:spTree>
    <p:extLst>
      <p:ext uri="{BB962C8B-B14F-4D97-AF65-F5344CB8AC3E}">
        <p14:creationId xmlns:p14="http://schemas.microsoft.com/office/powerpoint/2010/main" val="370352842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8FCB0-4019-93C3-78F5-80D66F12A020}"/>
              </a:ext>
            </a:extLst>
          </p:cNvPr>
          <p:cNvSpPr>
            <a:spLocks noGrp="1"/>
          </p:cNvSpPr>
          <p:nvPr>
            <p:ph type="title"/>
          </p:nvPr>
        </p:nvSpPr>
        <p:spPr/>
        <p:txBody>
          <a:bodyPr/>
          <a:lstStyle/>
          <a:p>
            <a:r>
              <a:rPr lang="en-US" b="1" i="0" dirty="0">
                <a:solidFill>
                  <a:srgbClr val="242424"/>
                </a:solidFill>
                <a:effectLst/>
                <a:latin typeface="source-serif-pro"/>
              </a:rPr>
              <a:t>Number of Parameter calculation</a:t>
            </a:r>
            <a:endParaRPr lang="en-IN" dirty="0"/>
          </a:p>
        </p:txBody>
      </p:sp>
      <p:sp>
        <p:nvSpPr>
          <p:cNvPr id="3" name="Content Placeholder 2">
            <a:extLst>
              <a:ext uri="{FF2B5EF4-FFF2-40B4-BE49-F238E27FC236}">
                <a16:creationId xmlns:a16="http://schemas.microsoft.com/office/drawing/2014/main" id="{4E769239-878D-A079-0278-88828E707BAC}"/>
              </a:ext>
            </a:extLst>
          </p:cNvPr>
          <p:cNvSpPr>
            <a:spLocks noGrp="1"/>
          </p:cNvSpPr>
          <p:nvPr>
            <p:ph idx="1"/>
          </p:nvPr>
        </p:nvSpPr>
        <p:spPr/>
        <p:txBody>
          <a:bodyPr/>
          <a:lstStyle/>
          <a:p>
            <a:pPr algn="l">
              <a:spcBef>
                <a:spcPts val="0"/>
              </a:spcBef>
              <a:buNone/>
            </a:pPr>
            <a:r>
              <a:rPr lang="en-US" sz="2400" dirty="0">
                <a:solidFill>
                  <a:srgbClr val="242424"/>
                </a:solidFill>
                <a:latin typeface="source-serif-pro"/>
              </a:rPr>
              <a:t>T</a:t>
            </a:r>
            <a:r>
              <a:rPr lang="en-US" sz="2400" i="0" dirty="0">
                <a:solidFill>
                  <a:srgbClr val="242424"/>
                </a:solidFill>
                <a:effectLst/>
                <a:latin typeface="source-serif-pro"/>
              </a:rPr>
              <a:t>he kernel Size is (3x3) with 3 channels (RGB in the input), one bias term, and 5 filters.</a:t>
            </a:r>
          </a:p>
          <a:p>
            <a:pPr algn="l">
              <a:spcBef>
                <a:spcPts val="0"/>
              </a:spcBef>
              <a:buNone/>
            </a:pPr>
            <a:endParaRPr lang="en-US" sz="2400" i="0" dirty="0">
              <a:solidFill>
                <a:srgbClr val="242424"/>
              </a:solidFill>
              <a:effectLst/>
              <a:latin typeface="source-serif-pro"/>
            </a:endParaRPr>
          </a:p>
          <a:p>
            <a:pPr algn="l">
              <a:spcBef>
                <a:spcPts val="0"/>
              </a:spcBef>
              <a:buNone/>
            </a:pPr>
            <a:r>
              <a:rPr lang="en-US" sz="2400" i="0" dirty="0">
                <a:solidFill>
                  <a:srgbClr val="242424"/>
                </a:solidFill>
                <a:effectLst/>
                <a:latin typeface="source-serif-pro"/>
              </a:rPr>
              <a:t>Parameters = (</a:t>
            </a:r>
            <a:r>
              <a:rPr lang="en-US" sz="2400" i="0" dirty="0" err="1">
                <a:solidFill>
                  <a:srgbClr val="242424"/>
                </a:solidFill>
                <a:effectLst/>
                <a:latin typeface="source-serif-pro"/>
              </a:rPr>
              <a:t>FxF</a:t>
            </a:r>
            <a:r>
              <a:rPr lang="en-US" sz="2400" i="0" dirty="0">
                <a:solidFill>
                  <a:srgbClr val="242424"/>
                </a:solidFill>
                <a:effectLst/>
                <a:latin typeface="source-serif-pro"/>
              </a:rPr>
              <a:t> * number of channels + bias-term) * D</a:t>
            </a:r>
          </a:p>
          <a:p>
            <a:pPr algn="l">
              <a:spcBef>
                <a:spcPts val="0"/>
              </a:spcBef>
              <a:buNone/>
            </a:pPr>
            <a:endParaRPr lang="en-US" sz="2400" i="0" dirty="0">
              <a:solidFill>
                <a:srgbClr val="242424"/>
              </a:solidFill>
              <a:effectLst/>
              <a:latin typeface="source-serif-pro"/>
            </a:endParaRPr>
          </a:p>
          <a:p>
            <a:pPr marL="0" indent="0" algn="l">
              <a:spcBef>
                <a:spcPts val="0"/>
              </a:spcBef>
              <a:buNone/>
            </a:pPr>
            <a:r>
              <a:rPr lang="en-US" sz="2400" i="0" dirty="0">
                <a:solidFill>
                  <a:srgbClr val="242424"/>
                </a:solidFill>
                <a:effectLst/>
                <a:latin typeface="source-serif-pro"/>
              </a:rPr>
              <a:t>In our example Parameters = (3 * 3 * 3 + 1) * 5 = 140</a:t>
            </a:r>
          </a:p>
          <a:p>
            <a:pPr marL="0" indent="0">
              <a:buNone/>
            </a:pPr>
            <a:endParaRPr lang="en-IN" dirty="0"/>
          </a:p>
        </p:txBody>
      </p:sp>
      <p:sp>
        <p:nvSpPr>
          <p:cNvPr id="4" name="Date Placeholder 3">
            <a:extLst>
              <a:ext uri="{FF2B5EF4-FFF2-40B4-BE49-F238E27FC236}">
                <a16:creationId xmlns:a16="http://schemas.microsoft.com/office/drawing/2014/main" id="{589525CE-FF62-8DC7-FF63-E9B55C9571DC}"/>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FBFED319-A56F-3E77-5884-5662911796F9}"/>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998CAFB-2F4E-BAD9-BD3B-CF9141D99D41}"/>
              </a:ext>
            </a:extLst>
          </p:cNvPr>
          <p:cNvSpPr>
            <a:spLocks noGrp="1"/>
          </p:cNvSpPr>
          <p:nvPr>
            <p:ph type="sldNum" sz="quarter" idx="12"/>
          </p:nvPr>
        </p:nvSpPr>
        <p:spPr/>
        <p:txBody>
          <a:bodyPr/>
          <a:lstStyle/>
          <a:p>
            <a:fld id="{BB2CE0DE-867F-455F-B20B-96D381B4AB71}" type="slidenum">
              <a:rPr lang="en-US" smtClean="0"/>
              <a:t>57</a:t>
            </a:fld>
            <a:endParaRPr lang="en-US"/>
          </a:p>
        </p:txBody>
      </p:sp>
      <p:pic>
        <p:nvPicPr>
          <p:cNvPr id="9" name="Picture 8">
            <a:extLst>
              <a:ext uri="{FF2B5EF4-FFF2-40B4-BE49-F238E27FC236}">
                <a16:creationId xmlns:a16="http://schemas.microsoft.com/office/drawing/2014/main" id="{FFFBCC30-F892-9DBC-7128-A08E6545DE2C}"/>
              </a:ext>
            </a:extLst>
          </p:cNvPr>
          <p:cNvPicPr>
            <a:picLocks noChangeAspect="1"/>
          </p:cNvPicPr>
          <p:nvPr/>
        </p:nvPicPr>
        <p:blipFill>
          <a:blip r:embed="rId2"/>
          <a:stretch>
            <a:fillRect/>
          </a:stretch>
        </p:blipFill>
        <p:spPr>
          <a:xfrm>
            <a:off x="609600" y="4038600"/>
            <a:ext cx="7725853" cy="2934109"/>
          </a:xfrm>
          <a:prstGeom prst="rect">
            <a:avLst/>
          </a:prstGeom>
        </p:spPr>
      </p:pic>
    </p:spTree>
    <p:extLst>
      <p:ext uri="{BB962C8B-B14F-4D97-AF65-F5344CB8AC3E}">
        <p14:creationId xmlns:p14="http://schemas.microsoft.com/office/powerpoint/2010/main" val="60269411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923A05-C2FE-E597-4F64-411C8DAC07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0EF179-100D-1426-A966-697AF2DC846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2D545F0-D7F8-6937-0C0B-08F527DECB5C}"/>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D6D7D5BA-69A3-E144-665C-C248AA826AAA}"/>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3A86999F-3174-8536-9024-01E11614374E}"/>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BE0D9A7D-A09E-35A3-2055-611A7601ED82}"/>
              </a:ext>
            </a:extLst>
          </p:cNvPr>
          <p:cNvSpPr>
            <a:spLocks noGrp="1"/>
          </p:cNvSpPr>
          <p:nvPr>
            <p:ph type="sldNum" sz="quarter" idx="12"/>
          </p:nvPr>
        </p:nvSpPr>
        <p:spPr/>
        <p:txBody>
          <a:bodyPr/>
          <a:lstStyle/>
          <a:p>
            <a:fld id="{BB2CE0DE-867F-455F-B20B-96D381B4AB71}" type="slidenum">
              <a:rPr lang="en-US" smtClean="0"/>
              <a:t>58</a:t>
            </a:fld>
            <a:endParaRPr lang="en-US"/>
          </a:p>
        </p:txBody>
      </p:sp>
      <p:pic>
        <p:nvPicPr>
          <p:cNvPr id="7" name="Picture 6">
            <a:extLst>
              <a:ext uri="{FF2B5EF4-FFF2-40B4-BE49-F238E27FC236}">
                <a16:creationId xmlns:a16="http://schemas.microsoft.com/office/drawing/2014/main" id="{3383BADD-F678-FE9A-FE8B-F0942761171F}"/>
              </a:ext>
            </a:extLst>
          </p:cNvPr>
          <p:cNvPicPr>
            <a:picLocks noChangeAspect="1"/>
          </p:cNvPicPr>
          <p:nvPr/>
        </p:nvPicPr>
        <p:blipFill>
          <a:blip r:embed="rId2"/>
          <a:stretch>
            <a:fillRect/>
          </a:stretch>
        </p:blipFill>
        <p:spPr>
          <a:xfrm>
            <a:off x="432741" y="3461657"/>
            <a:ext cx="8711259" cy="2565862"/>
          </a:xfrm>
          <a:prstGeom prst="rect">
            <a:avLst/>
          </a:prstGeom>
        </p:spPr>
      </p:pic>
      <p:pic>
        <p:nvPicPr>
          <p:cNvPr id="9" name="Picture 8">
            <a:extLst>
              <a:ext uri="{FF2B5EF4-FFF2-40B4-BE49-F238E27FC236}">
                <a16:creationId xmlns:a16="http://schemas.microsoft.com/office/drawing/2014/main" id="{66B27B37-A2A5-16AE-1DC1-886C0DCC5159}"/>
              </a:ext>
            </a:extLst>
          </p:cNvPr>
          <p:cNvPicPr>
            <a:picLocks noChangeAspect="1"/>
          </p:cNvPicPr>
          <p:nvPr/>
        </p:nvPicPr>
        <p:blipFill>
          <a:blip r:embed="rId3"/>
          <a:stretch>
            <a:fillRect/>
          </a:stretch>
        </p:blipFill>
        <p:spPr>
          <a:xfrm>
            <a:off x="544967" y="136525"/>
            <a:ext cx="7725853" cy="2934109"/>
          </a:xfrm>
          <a:prstGeom prst="rect">
            <a:avLst/>
          </a:prstGeom>
        </p:spPr>
      </p:pic>
    </p:spTree>
    <p:extLst>
      <p:ext uri="{BB962C8B-B14F-4D97-AF65-F5344CB8AC3E}">
        <p14:creationId xmlns:p14="http://schemas.microsoft.com/office/powerpoint/2010/main" val="158613356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43A8E-47A2-043E-8D9E-BB8E14F055B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D3EADAA-F4EF-D042-6C5D-96544DEF74B1}"/>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9CD40D10-66A3-FBC0-4E86-3CFC4A96B7FF}"/>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62106A0C-C921-FA01-7922-D10DDA43CC86}"/>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824D4C13-896D-2306-9DF1-37C0B00D5857}"/>
              </a:ext>
            </a:extLst>
          </p:cNvPr>
          <p:cNvSpPr>
            <a:spLocks noGrp="1"/>
          </p:cNvSpPr>
          <p:nvPr>
            <p:ph type="sldNum" sz="quarter" idx="12"/>
          </p:nvPr>
        </p:nvSpPr>
        <p:spPr/>
        <p:txBody>
          <a:bodyPr/>
          <a:lstStyle/>
          <a:p>
            <a:fld id="{BB2CE0DE-867F-455F-B20B-96D381B4AB71}" type="slidenum">
              <a:rPr lang="en-US" smtClean="0"/>
              <a:t>59</a:t>
            </a:fld>
            <a:endParaRPr lang="en-US"/>
          </a:p>
        </p:txBody>
      </p:sp>
      <p:pic>
        <p:nvPicPr>
          <p:cNvPr id="8" name="Picture 7">
            <a:extLst>
              <a:ext uri="{FF2B5EF4-FFF2-40B4-BE49-F238E27FC236}">
                <a16:creationId xmlns:a16="http://schemas.microsoft.com/office/drawing/2014/main" id="{2B55693F-27EC-4C6A-BDC0-FC42341C7CCC}"/>
              </a:ext>
            </a:extLst>
          </p:cNvPr>
          <p:cNvPicPr>
            <a:picLocks noChangeAspect="1"/>
          </p:cNvPicPr>
          <p:nvPr/>
        </p:nvPicPr>
        <p:blipFill>
          <a:blip r:embed="rId2"/>
          <a:stretch>
            <a:fillRect/>
          </a:stretch>
        </p:blipFill>
        <p:spPr>
          <a:xfrm>
            <a:off x="152400" y="973327"/>
            <a:ext cx="8575675" cy="4758400"/>
          </a:xfrm>
          <a:prstGeom prst="rect">
            <a:avLst/>
          </a:prstGeom>
        </p:spPr>
      </p:pic>
    </p:spTree>
    <p:extLst>
      <p:ext uri="{BB962C8B-B14F-4D97-AF65-F5344CB8AC3E}">
        <p14:creationId xmlns:p14="http://schemas.microsoft.com/office/powerpoint/2010/main" val="198411417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6EBB0-1728-C687-6775-38CA073480DF}"/>
              </a:ext>
            </a:extLst>
          </p:cNvPr>
          <p:cNvSpPr>
            <a:spLocks noGrp="1"/>
          </p:cNvSpPr>
          <p:nvPr>
            <p:ph type="title"/>
          </p:nvPr>
        </p:nvSpPr>
        <p:spPr/>
        <p:txBody>
          <a:bodyPr/>
          <a:lstStyle/>
          <a:p>
            <a:r>
              <a:rPr lang="en-IN" sz="2800" dirty="0"/>
              <a:t>Types of Layers in Convolutional Network</a:t>
            </a:r>
          </a:p>
        </p:txBody>
      </p:sp>
      <p:sp>
        <p:nvSpPr>
          <p:cNvPr id="3" name="Content Placeholder 2">
            <a:extLst>
              <a:ext uri="{FF2B5EF4-FFF2-40B4-BE49-F238E27FC236}">
                <a16:creationId xmlns:a16="http://schemas.microsoft.com/office/drawing/2014/main" id="{45271417-265E-D0CB-C004-9F4EA7075CA1}"/>
              </a:ext>
            </a:extLst>
          </p:cNvPr>
          <p:cNvSpPr>
            <a:spLocks noGrp="1"/>
          </p:cNvSpPr>
          <p:nvPr>
            <p:ph idx="1"/>
          </p:nvPr>
        </p:nvSpPr>
        <p:spPr/>
        <p:txBody>
          <a:bodyPr/>
          <a:lstStyle/>
          <a:p>
            <a:r>
              <a:rPr lang="en-IN" dirty="0"/>
              <a:t>Convolution</a:t>
            </a:r>
          </a:p>
          <a:p>
            <a:r>
              <a:rPr lang="en-IN" dirty="0"/>
              <a:t>Pooling</a:t>
            </a:r>
          </a:p>
          <a:p>
            <a:r>
              <a:rPr lang="en-IN" dirty="0"/>
              <a:t>Fully Connected </a:t>
            </a:r>
          </a:p>
        </p:txBody>
      </p:sp>
      <p:sp>
        <p:nvSpPr>
          <p:cNvPr id="4" name="Date Placeholder 3">
            <a:extLst>
              <a:ext uri="{FF2B5EF4-FFF2-40B4-BE49-F238E27FC236}">
                <a16:creationId xmlns:a16="http://schemas.microsoft.com/office/drawing/2014/main" id="{43B3417C-EFC4-5078-B413-3132F40FCD03}"/>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33D0B845-0C1F-BB63-6591-EAC3E5821109}"/>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1ACA1CB6-BCDA-96FE-4A06-B9D4329BD716}"/>
              </a:ext>
            </a:extLst>
          </p:cNvPr>
          <p:cNvSpPr>
            <a:spLocks noGrp="1"/>
          </p:cNvSpPr>
          <p:nvPr>
            <p:ph type="sldNum" sz="quarter" idx="12"/>
          </p:nvPr>
        </p:nvSpPr>
        <p:spPr/>
        <p:txBody>
          <a:bodyPr/>
          <a:lstStyle/>
          <a:p>
            <a:fld id="{BB2CE0DE-867F-455F-B20B-96D381B4AB71}" type="slidenum">
              <a:rPr lang="en-US" smtClean="0"/>
              <a:t>60</a:t>
            </a:fld>
            <a:endParaRPr lang="en-US"/>
          </a:p>
        </p:txBody>
      </p:sp>
    </p:spTree>
    <p:extLst>
      <p:ext uri="{BB962C8B-B14F-4D97-AF65-F5344CB8AC3E}">
        <p14:creationId xmlns:p14="http://schemas.microsoft.com/office/powerpoint/2010/main" val="104843784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98E65-3252-1DB8-74E4-5518880642EB}"/>
              </a:ext>
            </a:extLst>
          </p:cNvPr>
          <p:cNvSpPr>
            <a:spLocks noGrp="1"/>
          </p:cNvSpPr>
          <p:nvPr>
            <p:ph type="title"/>
          </p:nvPr>
        </p:nvSpPr>
        <p:spPr/>
        <p:txBody>
          <a:bodyPr/>
          <a:lstStyle/>
          <a:p>
            <a:r>
              <a:rPr lang="en-IN" dirty="0"/>
              <a:t>Pooling</a:t>
            </a:r>
          </a:p>
        </p:txBody>
      </p:sp>
      <p:sp>
        <p:nvSpPr>
          <p:cNvPr id="3" name="Content Placeholder 2">
            <a:extLst>
              <a:ext uri="{FF2B5EF4-FFF2-40B4-BE49-F238E27FC236}">
                <a16:creationId xmlns:a16="http://schemas.microsoft.com/office/drawing/2014/main" id="{CBEF2B7C-F8C9-1447-D732-E618B3CF779E}"/>
              </a:ext>
            </a:extLst>
          </p:cNvPr>
          <p:cNvSpPr>
            <a:spLocks noGrp="1"/>
          </p:cNvSpPr>
          <p:nvPr>
            <p:ph idx="1"/>
          </p:nvPr>
        </p:nvSpPr>
        <p:spPr/>
        <p:txBody>
          <a:bodyPr/>
          <a:lstStyle/>
          <a:p>
            <a:pPr marL="0" indent="0">
              <a:buNone/>
            </a:pPr>
            <a:r>
              <a:rPr lang="en-IN" sz="2400" dirty="0"/>
              <a:t>Max Pooling</a:t>
            </a:r>
          </a:p>
        </p:txBody>
      </p:sp>
      <p:sp>
        <p:nvSpPr>
          <p:cNvPr id="4" name="Date Placeholder 3">
            <a:extLst>
              <a:ext uri="{FF2B5EF4-FFF2-40B4-BE49-F238E27FC236}">
                <a16:creationId xmlns:a16="http://schemas.microsoft.com/office/drawing/2014/main" id="{9CE907C9-A145-AB57-E532-C6337D220422}"/>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EDDB4B29-20AA-3963-5F1F-6F1322F8343C}"/>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02E7AF8E-89CB-B00D-1319-62CC9A6BFA3A}"/>
              </a:ext>
            </a:extLst>
          </p:cNvPr>
          <p:cNvSpPr>
            <a:spLocks noGrp="1"/>
          </p:cNvSpPr>
          <p:nvPr>
            <p:ph type="sldNum" sz="quarter" idx="12"/>
          </p:nvPr>
        </p:nvSpPr>
        <p:spPr/>
        <p:txBody>
          <a:bodyPr/>
          <a:lstStyle/>
          <a:p>
            <a:fld id="{BB2CE0DE-867F-455F-B20B-96D381B4AB71}" type="slidenum">
              <a:rPr lang="en-US" smtClean="0"/>
              <a:t>61</a:t>
            </a:fld>
            <a:endParaRPr lang="en-US"/>
          </a:p>
        </p:txBody>
      </p:sp>
      <p:pic>
        <p:nvPicPr>
          <p:cNvPr id="8" name="Picture 7">
            <a:extLst>
              <a:ext uri="{FF2B5EF4-FFF2-40B4-BE49-F238E27FC236}">
                <a16:creationId xmlns:a16="http://schemas.microsoft.com/office/drawing/2014/main" id="{99A83DF5-8195-E2DA-DE23-D3781B9E7DD9}"/>
              </a:ext>
            </a:extLst>
          </p:cNvPr>
          <p:cNvPicPr>
            <a:picLocks noChangeAspect="1"/>
          </p:cNvPicPr>
          <p:nvPr/>
        </p:nvPicPr>
        <p:blipFill>
          <a:blip r:embed="rId2"/>
          <a:stretch>
            <a:fillRect/>
          </a:stretch>
        </p:blipFill>
        <p:spPr>
          <a:xfrm>
            <a:off x="1143000" y="1676400"/>
            <a:ext cx="6172200" cy="2799761"/>
          </a:xfrm>
          <a:prstGeom prst="rect">
            <a:avLst/>
          </a:prstGeom>
        </p:spPr>
      </p:pic>
      <p:sp>
        <p:nvSpPr>
          <p:cNvPr id="9" name="TextBox 8">
            <a:extLst>
              <a:ext uri="{FF2B5EF4-FFF2-40B4-BE49-F238E27FC236}">
                <a16:creationId xmlns:a16="http://schemas.microsoft.com/office/drawing/2014/main" id="{50B51E41-55E3-54C5-1955-E08077BBABF1}"/>
              </a:ext>
            </a:extLst>
          </p:cNvPr>
          <p:cNvSpPr txBox="1"/>
          <p:nvPr/>
        </p:nvSpPr>
        <p:spPr>
          <a:xfrm>
            <a:off x="389616" y="4738277"/>
            <a:ext cx="8131329" cy="1477328"/>
          </a:xfrm>
          <a:prstGeom prst="rect">
            <a:avLst/>
          </a:prstGeom>
          <a:noFill/>
        </p:spPr>
        <p:txBody>
          <a:bodyPr wrap="none" rtlCol="0">
            <a:spAutoFit/>
          </a:bodyPr>
          <a:lstStyle/>
          <a:p>
            <a:r>
              <a:rPr lang="en-US" b="1" i="0" u="sng" dirty="0">
                <a:solidFill>
                  <a:srgbClr val="001D35"/>
                </a:solidFill>
                <a:effectLst/>
                <a:latin typeface="Google Sans"/>
              </a:rPr>
              <a:t>Intuition behind Max Pooling</a:t>
            </a:r>
          </a:p>
          <a:p>
            <a:r>
              <a:rPr lang="en-US" b="0" i="0" dirty="0">
                <a:solidFill>
                  <a:srgbClr val="001D35"/>
                </a:solidFill>
                <a:effectLst/>
                <a:latin typeface="Google Sans"/>
              </a:rPr>
              <a:t>By selecting the maximum value, it emphasizes the most salient feature within a </a:t>
            </a:r>
          </a:p>
          <a:p>
            <a:r>
              <a:rPr lang="en-US" b="0" i="0" dirty="0">
                <a:solidFill>
                  <a:srgbClr val="001D35"/>
                </a:solidFill>
                <a:effectLst/>
                <a:latin typeface="Google Sans"/>
              </a:rPr>
              <a:t>region and reduces the impact of less important or noisy activations.</a:t>
            </a:r>
          </a:p>
          <a:p>
            <a:r>
              <a:rPr lang="en-US" dirty="0">
                <a:solidFill>
                  <a:srgbClr val="242424"/>
                </a:solidFill>
                <a:latin typeface="source-serif-pro"/>
              </a:rPr>
              <a:t>M</a:t>
            </a:r>
            <a:r>
              <a:rPr lang="en-US" b="0" i="0" dirty="0">
                <a:solidFill>
                  <a:srgbClr val="242424"/>
                </a:solidFill>
                <a:effectLst/>
                <a:latin typeface="source-serif-pro"/>
              </a:rPr>
              <a:t>uch bigger max number of a particular quadrant corresponds to a feature detected.</a:t>
            </a:r>
            <a:endParaRPr lang="en-US" b="0" i="0" dirty="0">
              <a:solidFill>
                <a:srgbClr val="001D35"/>
              </a:solidFill>
              <a:effectLst/>
              <a:latin typeface="Google Sans"/>
            </a:endParaRPr>
          </a:p>
          <a:p>
            <a:endParaRPr lang="en-IN" dirty="0"/>
          </a:p>
        </p:txBody>
      </p:sp>
    </p:spTree>
    <p:extLst>
      <p:ext uri="{BB962C8B-B14F-4D97-AF65-F5344CB8AC3E}">
        <p14:creationId xmlns:p14="http://schemas.microsoft.com/office/powerpoint/2010/main" val="51815796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ACFFD-CD79-4BFE-11BC-83D3A40682CF}"/>
              </a:ext>
            </a:extLst>
          </p:cNvPr>
          <p:cNvSpPr>
            <a:spLocks noGrp="1"/>
          </p:cNvSpPr>
          <p:nvPr>
            <p:ph type="title"/>
          </p:nvPr>
        </p:nvSpPr>
        <p:spPr/>
        <p:txBody>
          <a:bodyPr/>
          <a:lstStyle/>
          <a:p>
            <a:r>
              <a:rPr lang="en-IN" dirty="0"/>
              <a:t>Pooling</a:t>
            </a:r>
          </a:p>
        </p:txBody>
      </p:sp>
      <p:sp>
        <p:nvSpPr>
          <p:cNvPr id="3" name="Content Placeholder 2">
            <a:extLst>
              <a:ext uri="{FF2B5EF4-FFF2-40B4-BE49-F238E27FC236}">
                <a16:creationId xmlns:a16="http://schemas.microsoft.com/office/drawing/2014/main" id="{3228DD55-9F55-9FE6-6881-6D7177F0388D}"/>
              </a:ext>
            </a:extLst>
          </p:cNvPr>
          <p:cNvSpPr>
            <a:spLocks noGrp="1"/>
          </p:cNvSpPr>
          <p:nvPr>
            <p:ph idx="1"/>
          </p:nvPr>
        </p:nvSpPr>
        <p:spPr/>
        <p:txBody>
          <a:bodyPr/>
          <a:lstStyle/>
          <a:p>
            <a:pPr marL="0" indent="0">
              <a:buNone/>
            </a:pPr>
            <a:r>
              <a:rPr lang="en-US" dirty="0"/>
              <a:t>Average Pooling</a:t>
            </a:r>
            <a:endParaRPr lang="en-IN" dirty="0"/>
          </a:p>
        </p:txBody>
      </p:sp>
      <p:sp>
        <p:nvSpPr>
          <p:cNvPr id="4" name="Date Placeholder 3">
            <a:extLst>
              <a:ext uri="{FF2B5EF4-FFF2-40B4-BE49-F238E27FC236}">
                <a16:creationId xmlns:a16="http://schemas.microsoft.com/office/drawing/2014/main" id="{D5855068-6DF7-6F29-ABBA-691FDC8E2F8A}"/>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CEEA1599-760C-D6A4-59CD-50E3DEFB5780}"/>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84508C61-2533-29E7-7560-031461534828}"/>
              </a:ext>
            </a:extLst>
          </p:cNvPr>
          <p:cNvSpPr>
            <a:spLocks noGrp="1"/>
          </p:cNvSpPr>
          <p:nvPr>
            <p:ph type="sldNum" sz="quarter" idx="12"/>
          </p:nvPr>
        </p:nvSpPr>
        <p:spPr/>
        <p:txBody>
          <a:bodyPr/>
          <a:lstStyle/>
          <a:p>
            <a:fld id="{BB2CE0DE-867F-455F-B20B-96D381B4AB71}" type="slidenum">
              <a:rPr lang="en-US" smtClean="0"/>
              <a:t>62</a:t>
            </a:fld>
            <a:endParaRPr lang="en-US"/>
          </a:p>
        </p:txBody>
      </p:sp>
      <p:pic>
        <p:nvPicPr>
          <p:cNvPr id="8" name="Picture 7">
            <a:extLst>
              <a:ext uri="{FF2B5EF4-FFF2-40B4-BE49-F238E27FC236}">
                <a16:creationId xmlns:a16="http://schemas.microsoft.com/office/drawing/2014/main" id="{0CD6E442-CB16-D4A0-711D-FE622DEA2C06}"/>
              </a:ext>
            </a:extLst>
          </p:cNvPr>
          <p:cNvPicPr>
            <a:picLocks noChangeAspect="1"/>
          </p:cNvPicPr>
          <p:nvPr/>
        </p:nvPicPr>
        <p:blipFill>
          <a:blip r:embed="rId2"/>
          <a:stretch>
            <a:fillRect/>
          </a:stretch>
        </p:blipFill>
        <p:spPr>
          <a:xfrm>
            <a:off x="574675" y="2254235"/>
            <a:ext cx="6192114" cy="3362794"/>
          </a:xfrm>
          <a:prstGeom prst="rect">
            <a:avLst/>
          </a:prstGeom>
        </p:spPr>
      </p:pic>
    </p:spTree>
    <p:extLst>
      <p:ext uri="{BB962C8B-B14F-4D97-AF65-F5344CB8AC3E}">
        <p14:creationId xmlns:p14="http://schemas.microsoft.com/office/powerpoint/2010/main" val="88886530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79529-66B1-DEBD-3FE6-BC79D1D461FE}"/>
              </a:ext>
            </a:extLst>
          </p:cNvPr>
          <p:cNvSpPr>
            <a:spLocks noGrp="1"/>
          </p:cNvSpPr>
          <p:nvPr>
            <p:ph type="title"/>
          </p:nvPr>
        </p:nvSpPr>
        <p:spPr/>
        <p:txBody>
          <a:bodyPr/>
          <a:lstStyle/>
          <a:p>
            <a:r>
              <a:rPr lang="en-US" sz="2000" i="0" dirty="0">
                <a:solidFill>
                  <a:srgbClr val="242424"/>
                </a:solidFill>
                <a:effectLst/>
                <a:latin typeface="sohne"/>
              </a:rPr>
              <a:t>Calculating the output when an image passes through a Pooling (Max) layer</a:t>
            </a:r>
            <a:endParaRPr lang="en-IN" sz="2000" dirty="0"/>
          </a:p>
        </p:txBody>
      </p:sp>
      <p:sp>
        <p:nvSpPr>
          <p:cNvPr id="3" name="Content Placeholder 2">
            <a:extLst>
              <a:ext uri="{FF2B5EF4-FFF2-40B4-BE49-F238E27FC236}">
                <a16:creationId xmlns:a16="http://schemas.microsoft.com/office/drawing/2014/main" id="{5EC2FD4A-5646-930E-33CC-0F8DB9BAF897}"/>
              </a:ext>
            </a:extLst>
          </p:cNvPr>
          <p:cNvSpPr>
            <a:spLocks noGrp="1"/>
          </p:cNvSpPr>
          <p:nvPr>
            <p:ph idx="1"/>
          </p:nvPr>
        </p:nvSpPr>
        <p:spPr/>
        <p:txBody>
          <a:bodyPr/>
          <a:lstStyle/>
          <a:p>
            <a:pPr marL="0" indent="0">
              <a:buNone/>
            </a:pPr>
            <a:r>
              <a:rPr lang="en-US" sz="2400" dirty="0"/>
              <a:t>The input dimensions of the image — &gt; I</a:t>
            </a:r>
          </a:p>
          <a:p>
            <a:pPr marL="0" indent="0">
              <a:buNone/>
            </a:pPr>
            <a:r>
              <a:rPr lang="en-US" sz="2400" dirty="0"/>
              <a:t>For a pooling layer, one can specify only the filter/kernel size (F) and the strides (S).</a:t>
            </a:r>
          </a:p>
          <a:p>
            <a:pPr marL="0" indent="0">
              <a:buNone/>
            </a:pPr>
            <a:endParaRPr lang="en-US" sz="2400" dirty="0"/>
          </a:p>
          <a:p>
            <a:pPr marL="0" indent="0">
              <a:buNone/>
            </a:pPr>
            <a:r>
              <a:rPr lang="en-US" sz="2400" dirty="0"/>
              <a:t>Pooling Output dimension = </a:t>
            </a:r>
          </a:p>
          <a:p>
            <a:pPr marL="0" indent="0">
              <a:buNone/>
            </a:pPr>
            <a:r>
              <a:rPr lang="en-US" sz="2400" dirty="0"/>
              <a:t>[(I - F) / S] + 1 x D</a:t>
            </a:r>
            <a:endParaRPr lang="en-IN" sz="2400" dirty="0"/>
          </a:p>
        </p:txBody>
      </p:sp>
      <p:sp>
        <p:nvSpPr>
          <p:cNvPr id="4" name="Date Placeholder 3">
            <a:extLst>
              <a:ext uri="{FF2B5EF4-FFF2-40B4-BE49-F238E27FC236}">
                <a16:creationId xmlns:a16="http://schemas.microsoft.com/office/drawing/2014/main" id="{07758840-AA9B-045E-5056-B728F3A05B5B}"/>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B7DBBF1A-118D-2B47-310F-735D5ED3221F}"/>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811CDA91-4451-35D4-66DA-B3025FFA48C2}"/>
              </a:ext>
            </a:extLst>
          </p:cNvPr>
          <p:cNvSpPr>
            <a:spLocks noGrp="1"/>
          </p:cNvSpPr>
          <p:nvPr>
            <p:ph type="sldNum" sz="quarter" idx="12"/>
          </p:nvPr>
        </p:nvSpPr>
        <p:spPr/>
        <p:txBody>
          <a:bodyPr/>
          <a:lstStyle/>
          <a:p>
            <a:fld id="{BB2CE0DE-867F-455F-B20B-96D381B4AB71}" type="slidenum">
              <a:rPr lang="en-US" smtClean="0"/>
              <a:t>63</a:t>
            </a:fld>
            <a:endParaRPr lang="en-US"/>
          </a:p>
        </p:txBody>
      </p:sp>
    </p:spTree>
    <p:extLst>
      <p:ext uri="{BB962C8B-B14F-4D97-AF65-F5344CB8AC3E}">
        <p14:creationId xmlns:p14="http://schemas.microsoft.com/office/powerpoint/2010/main" val="354180834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ADBA3-B7A7-7F84-9D28-2B04D4031B2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679BBFE-D0CA-3C2E-F166-45ACF7FE0924}"/>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07A5FBF3-E80A-105C-8C5B-EB3B5C3A3D91}"/>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1E0309FD-4F64-EFCA-D516-F7B83C80E9F6}"/>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1A4A73A-BE68-8976-64A3-5EC8D30F8A9A}"/>
              </a:ext>
            </a:extLst>
          </p:cNvPr>
          <p:cNvSpPr>
            <a:spLocks noGrp="1"/>
          </p:cNvSpPr>
          <p:nvPr>
            <p:ph type="sldNum" sz="quarter" idx="12"/>
          </p:nvPr>
        </p:nvSpPr>
        <p:spPr/>
        <p:txBody>
          <a:bodyPr/>
          <a:lstStyle/>
          <a:p>
            <a:fld id="{BB2CE0DE-867F-455F-B20B-96D381B4AB71}" type="slidenum">
              <a:rPr lang="en-US" smtClean="0"/>
              <a:t>64</a:t>
            </a:fld>
            <a:endParaRPr lang="en-US"/>
          </a:p>
        </p:txBody>
      </p:sp>
      <p:pic>
        <p:nvPicPr>
          <p:cNvPr id="9" name="Picture 8">
            <a:extLst>
              <a:ext uri="{FF2B5EF4-FFF2-40B4-BE49-F238E27FC236}">
                <a16:creationId xmlns:a16="http://schemas.microsoft.com/office/drawing/2014/main" id="{1EDCC85D-73C4-B172-E88D-5AC1ADE085C2}"/>
              </a:ext>
            </a:extLst>
          </p:cNvPr>
          <p:cNvPicPr>
            <a:picLocks noChangeAspect="1"/>
          </p:cNvPicPr>
          <p:nvPr/>
        </p:nvPicPr>
        <p:blipFill>
          <a:blip r:embed="rId2"/>
          <a:stretch>
            <a:fillRect/>
          </a:stretch>
        </p:blipFill>
        <p:spPr>
          <a:xfrm>
            <a:off x="381000" y="1076098"/>
            <a:ext cx="7354326" cy="3772426"/>
          </a:xfrm>
          <a:prstGeom prst="rect">
            <a:avLst/>
          </a:prstGeom>
        </p:spPr>
      </p:pic>
    </p:spTree>
    <p:extLst>
      <p:ext uri="{BB962C8B-B14F-4D97-AF65-F5344CB8AC3E}">
        <p14:creationId xmlns:p14="http://schemas.microsoft.com/office/powerpoint/2010/main" val="257411315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ADBA3-B7A7-7F84-9D28-2B04D4031B2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679BBFE-D0CA-3C2E-F166-45ACF7FE0924}"/>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07A5FBF3-E80A-105C-8C5B-EB3B5C3A3D91}"/>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1E0309FD-4F64-EFCA-D516-F7B83C80E9F6}"/>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1A4A73A-BE68-8976-64A3-5EC8D30F8A9A}"/>
              </a:ext>
            </a:extLst>
          </p:cNvPr>
          <p:cNvSpPr>
            <a:spLocks noGrp="1"/>
          </p:cNvSpPr>
          <p:nvPr>
            <p:ph type="sldNum" sz="quarter" idx="12"/>
          </p:nvPr>
        </p:nvSpPr>
        <p:spPr/>
        <p:txBody>
          <a:bodyPr/>
          <a:lstStyle/>
          <a:p>
            <a:fld id="{BB2CE0DE-867F-455F-B20B-96D381B4AB71}" type="slidenum">
              <a:rPr lang="en-US" smtClean="0"/>
              <a:t>65</a:t>
            </a:fld>
            <a:endParaRPr lang="en-US"/>
          </a:p>
        </p:txBody>
      </p:sp>
      <p:pic>
        <p:nvPicPr>
          <p:cNvPr id="9" name="Picture 8">
            <a:extLst>
              <a:ext uri="{FF2B5EF4-FFF2-40B4-BE49-F238E27FC236}">
                <a16:creationId xmlns:a16="http://schemas.microsoft.com/office/drawing/2014/main" id="{1EDCC85D-73C4-B172-E88D-5AC1ADE085C2}"/>
              </a:ext>
            </a:extLst>
          </p:cNvPr>
          <p:cNvPicPr>
            <a:picLocks noChangeAspect="1"/>
          </p:cNvPicPr>
          <p:nvPr/>
        </p:nvPicPr>
        <p:blipFill>
          <a:blip r:embed="rId2"/>
          <a:stretch>
            <a:fillRect/>
          </a:stretch>
        </p:blipFill>
        <p:spPr>
          <a:xfrm>
            <a:off x="381000" y="1076098"/>
            <a:ext cx="7354326" cy="3772426"/>
          </a:xfrm>
          <a:prstGeom prst="rect">
            <a:avLst/>
          </a:prstGeom>
        </p:spPr>
      </p:pic>
      <p:pic>
        <p:nvPicPr>
          <p:cNvPr id="11" name="Picture 10">
            <a:extLst>
              <a:ext uri="{FF2B5EF4-FFF2-40B4-BE49-F238E27FC236}">
                <a16:creationId xmlns:a16="http://schemas.microsoft.com/office/drawing/2014/main" id="{8A73A103-4537-B1F2-B221-B3FF42CC8596}"/>
              </a:ext>
            </a:extLst>
          </p:cNvPr>
          <p:cNvPicPr>
            <a:picLocks noChangeAspect="1"/>
          </p:cNvPicPr>
          <p:nvPr/>
        </p:nvPicPr>
        <p:blipFill>
          <a:blip r:embed="rId3"/>
          <a:stretch>
            <a:fillRect/>
          </a:stretch>
        </p:blipFill>
        <p:spPr>
          <a:xfrm>
            <a:off x="507152" y="5191224"/>
            <a:ext cx="2095792" cy="714475"/>
          </a:xfrm>
          <a:prstGeom prst="rect">
            <a:avLst/>
          </a:prstGeom>
        </p:spPr>
      </p:pic>
    </p:spTree>
    <p:extLst>
      <p:ext uri="{BB962C8B-B14F-4D97-AF65-F5344CB8AC3E}">
        <p14:creationId xmlns:p14="http://schemas.microsoft.com/office/powerpoint/2010/main" val="362990270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553E7-A2C8-5267-FBEF-96B03E21B41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A84D6A1-4C4E-957B-2E78-85295C573A9E}"/>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061FC29C-EA53-C5C9-8965-A3A18BE6E665}"/>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F327ED0F-6FE9-2860-2E95-E94890BE9880}"/>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4BC40672-8EDB-BCFC-B030-BDACA7B58F08}"/>
              </a:ext>
            </a:extLst>
          </p:cNvPr>
          <p:cNvSpPr>
            <a:spLocks noGrp="1"/>
          </p:cNvSpPr>
          <p:nvPr>
            <p:ph type="sldNum" sz="quarter" idx="12"/>
          </p:nvPr>
        </p:nvSpPr>
        <p:spPr/>
        <p:txBody>
          <a:bodyPr/>
          <a:lstStyle/>
          <a:p>
            <a:fld id="{BB2CE0DE-867F-455F-B20B-96D381B4AB71}" type="slidenum">
              <a:rPr lang="en-US" smtClean="0"/>
              <a:t>66</a:t>
            </a:fld>
            <a:endParaRPr lang="en-US"/>
          </a:p>
        </p:txBody>
      </p:sp>
      <p:pic>
        <p:nvPicPr>
          <p:cNvPr id="8" name="Picture 7">
            <a:extLst>
              <a:ext uri="{FF2B5EF4-FFF2-40B4-BE49-F238E27FC236}">
                <a16:creationId xmlns:a16="http://schemas.microsoft.com/office/drawing/2014/main" id="{FF74F1ED-01E2-9DA7-04B6-AB3069C89430}"/>
              </a:ext>
            </a:extLst>
          </p:cNvPr>
          <p:cNvPicPr>
            <a:picLocks noChangeAspect="1"/>
          </p:cNvPicPr>
          <p:nvPr/>
        </p:nvPicPr>
        <p:blipFill>
          <a:blip r:embed="rId2"/>
          <a:stretch>
            <a:fillRect/>
          </a:stretch>
        </p:blipFill>
        <p:spPr>
          <a:xfrm>
            <a:off x="4119" y="1065212"/>
            <a:ext cx="9144000" cy="3612731"/>
          </a:xfrm>
          <a:prstGeom prst="rect">
            <a:avLst/>
          </a:prstGeom>
        </p:spPr>
      </p:pic>
    </p:spTree>
    <p:extLst>
      <p:ext uri="{BB962C8B-B14F-4D97-AF65-F5344CB8AC3E}">
        <p14:creationId xmlns:p14="http://schemas.microsoft.com/office/powerpoint/2010/main" val="385137757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42DEF-A750-4B85-AF98-F99A25FDB1F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7604950-E277-41AA-B7A7-ECFB96A2D6C5}"/>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3D07A983-A325-48A5-9964-C1A6081440E5}"/>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C0B1CC34-6C6E-4C7E-8BE7-64BD98E18F2B}"/>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3BB975C-673D-4A51-971E-F2582E96BB67}"/>
              </a:ext>
            </a:extLst>
          </p:cNvPr>
          <p:cNvSpPr>
            <a:spLocks noGrp="1"/>
          </p:cNvSpPr>
          <p:nvPr>
            <p:ph type="sldNum" sz="quarter" idx="12"/>
          </p:nvPr>
        </p:nvSpPr>
        <p:spPr/>
        <p:txBody>
          <a:bodyPr/>
          <a:lstStyle/>
          <a:p>
            <a:fld id="{BB2CE0DE-867F-455F-B20B-96D381B4AB71}" type="slidenum">
              <a:rPr lang="en-US" smtClean="0"/>
              <a:t>67</a:t>
            </a:fld>
            <a:endParaRPr lang="en-US"/>
          </a:p>
        </p:txBody>
      </p:sp>
      <p:pic>
        <p:nvPicPr>
          <p:cNvPr id="8" name="Picture 7">
            <a:extLst>
              <a:ext uri="{FF2B5EF4-FFF2-40B4-BE49-F238E27FC236}">
                <a16:creationId xmlns:a16="http://schemas.microsoft.com/office/drawing/2014/main" id="{E9FE69FC-7920-4F42-99D2-635132CE7837}"/>
              </a:ext>
            </a:extLst>
          </p:cNvPr>
          <p:cNvPicPr>
            <a:picLocks noChangeAspect="1"/>
          </p:cNvPicPr>
          <p:nvPr/>
        </p:nvPicPr>
        <p:blipFill>
          <a:blip r:embed="rId2"/>
          <a:stretch>
            <a:fillRect/>
          </a:stretch>
        </p:blipFill>
        <p:spPr>
          <a:xfrm>
            <a:off x="414033" y="136525"/>
            <a:ext cx="5363771" cy="3521075"/>
          </a:xfrm>
          <a:prstGeom prst="rect">
            <a:avLst/>
          </a:prstGeom>
        </p:spPr>
      </p:pic>
      <p:pic>
        <p:nvPicPr>
          <p:cNvPr id="9" name="Picture 8">
            <a:extLst>
              <a:ext uri="{FF2B5EF4-FFF2-40B4-BE49-F238E27FC236}">
                <a16:creationId xmlns:a16="http://schemas.microsoft.com/office/drawing/2014/main" id="{A3D5E934-8A66-40DA-8F53-5484126DF86B}"/>
              </a:ext>
            </a:extLst>
          </p:cNvPr>
          <p:cNvPicPr>
            <a:picLocks noChangeAspect="1"/>
          </p:cNvPicPr>
          <p:nvPr/>
        </p:nvPicPr>
        <p:blipFill>
          <a:blip r:embed="rId3"/>
          <a:stretch>
            <a:fillRect/>
          </a:stretch>
        </p:blipFill>
        <p:spPr>
          <a:xfrm>
            <a:off x="228270" y="4191000"/>
            <a:ext cx="9078592" cy="1581371"/>
          </a:xfrm>
          <a:prstGeom prst="rect">
            <a:avLst/>
          </a:prstGeom>
        </p:spPr>
      </p:pic>
    </p:spTree>
    <p:extLst>
      <p:ext uri="{BB962C8B-B14F-4D97-AF65-F5344CB8AC3E}">
        <p14:creationId xmlns:p14="http://schemas.microsoft.com/office/powerpoint/2010/main" val="299066394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42DEF-A750-4B85-AF98-F99A25FDB1F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7604950-E277-41AA-B7A7-ECFB96A2D6C5}"/>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3D07A983-A325-48A5-9964-C1A6081440E5}"/>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C0B1CC34-6C6E-4C7E-8BE7-64BD98E18F2B}"/>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3BB975C-673D-4A51-971E-F2582E96BB67}"/>
              </a:ext>
            </a:extLst>
          </p:cNvPr>
          <p:cNvSpPr>
            <a:spLocks noGrp="1"/>
          </p:cNvSpPr>
          <p:nvPr>
            <p:ph type="sldNum" sz="quarter" idx="12"/>
          </p:nvPr>
        </p:nvSpPr>
        <p:spPr/>
        <p:txBody>
          <a:bodyPr/>
          <a:lstStyle/>
          <a:p>
            <a:fld id="{BB2CE0DE-867F-455F-B20B-96D381B4AB71}" type="slidenum">
              <a:rPr lang="en-US" smtClean="0"/>
              <a:t>68</a:t>
            </a:fld>
            <a:endParaRPr lang="en-US"/>
          </a:p>
        </p:txBody>
      </p:sp>
      <p:pic>
        <p:nvPicPr>
          <p:cNvPr id="8" name="Picture 7">
            <a:extLst>
              <a:ext uri="{FF2B5EF4-FFF2-40B4-BE49-F238E27FC236}">
                <a16:creationId xmlns:a16="http://schemas.microsoft.com/office/drawing/2014/main" id="{E9FE69FC-7920-4F42-99D2-635132CE7837}"/>
              </a:ext>
            </a:extLst>
          </p:cNvPr>
          <p:cNvPicPr>
            <a:picLocks noChangeAspect="1"/>
          </p:cNvPicPr>
          <p:nvPr/>
        </p:nvPicPr>
        <p:blipFill>
          <a:blip r:embed="rId2"/>
          <a:stretch>
            <a:fillRect/>
          </a:stretch>
        </p:blipFill>
        <p:spPr>
          <a:xfrm>
            <a:off x="414033" y="136525"/>
            <a:ext cx="4353533" cy="2857899"/>
          </a:xfrm>
          <a:prstGeom prst="rect">
            <a:avLst/>
          </a:prstGeom>
        </p:spPr>
      </p:pic>
      <p:pic>
        <p:nvPicPr>
          <p:cNvPr id="10" name="Picture 9">
            <a:extLst>
              <a:ext uri="{FF2B5EF4-FFF2-40B4-BE49-F238E27FC236}">
                <a16:creationId xmlns:a16="http://schemas.microsoft.com/office/drawing/2014/main" id="{D480321E-2429-4D49-ABAB-3EF2ABCED0CD}"/>
              </a:ext>
            </a:extLst>
          </p:cNvPr>
          <p:cNvPicPr>
            <a:picLocks noChangeAspect="1"/>
          </p:cNvPicPr>
          <p:nvPr/>
        </p:nvPicPr>
        <p:blipFill>
          <a:blip r:embed="rId3"/>
          <a:stretch>
            <a:fillRect/>
          </a:stretch>
        </p:blipFill>
        <p:spPr>
          <a:xfrm>
            <a:off x="416092" y="3299224"/>
            <a:ext cx="4763165" cy="1771897"/>
          </a:xfrm>
          <a:prstGeom prst="rect">
            <a:avLst/>
          </a:prstGeom>
        </p:spPr>
      </p:pic>
      <p:pic>
        <p:nvPicPr>
          <p:cNvPr id="9" name="Picture 8">
            <a:extLst>
              <a:ext uri="{FF2B5EF4-FFF2-40B4-BE49-F238E27FC236}">
                <a16:creationId xmlns:a16="http://schemas.microsoft.com/office/drawing/2014/main" id="{A3D5E934-8A66-40DA-8F53-5484126DF86B}"/>
              </a:ext>
            </a:extLst>
          </p:cNvPr>
          <p:cNvPicPr>
            <a:picLocks noChangeAspect="1"/>
          </p:cNvPicPr>
          <p:nvPr/>
        </p:nvPicPr>
        <p:blipFill>
          <a:blip r:embed="rId4"/>
          <a:stretch>
            <a:fillRect/>
          </a:stretch>
        </p:blipFill>
        <p:spPr>
          <a:xfrm>
            <a:off x="32704" y="2638314"/>
            <a:ext cx="9078592" cy="1581371"/>
          </a:xfrm>
          <a:prstGeom prst="rect">
            <a:avLst/>
          </a:prstGeom>
        </p:spPr>
      </p:pic>
    </p:spTree>
    <p:extLst>
      <p:ext uri="{BB962C8B-B14F-4D97-AF65-F5344CB8AC3E}">
        <p14:creationId xmlns:p14="http://schemas.microsoft.com/office/powerpoint/2010/main" val="202906629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D795E5-D2CD-4792-B6D2-361D9735BD9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5177B11-FFB6-4EDB-9265-492CA29F0EAF}"/>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4A56BAD4-44AA-480C-BAE2-48CF403165FF}"/>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880CE3DF-0D0A-4E0D-87CE-BF691D50D6D1}"/>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90D46331-5C8F-491D-8348-5EA49D129D03}"/>
              </a:ext>
            </a:extLst>
          </p:cNvPr>
          <p:cNvSpPr>
            <a:spLocks noGrp="1"/>
          </p:cNvSpPr>
          <p:nvPr>
            <p:ph type="sldNum" sz="quarter" idx="12"/>
          </p:nvPr>
        </p:nvSpPr>
        <p:spPr/>
        <p:txBody>
          <a:bodyPr/>
          <a:lstStyle/>
          <a:p>
            <a:fld id="{BB2CE0DE-867F-455F-B20B-96D381B4AB71}" type="slidenum">
              <a:rPr lang="en-US" smtClean="0"/>
              <a:t>69</a:t>
            </a:fld>
            <a:endParaRPr lang="en-US"/>
          </a:p>
        </p:txBody>
      </p:sp>
      <p:pic>
        <p:nvPicPr>
          <p:cNvPr id="8" name="Picture 7">
            <a:extLst>
              <a:ext uri="{FF2B5EF4-FFF2-40B4-BE49-F238E27FC236}">
                <a16:creationId xmlns:a16="http://schemas.microsoft.com/office/drawing/2014/main" id="{B88EE662-CF5D-438D-8456-ED26162ED7E8}"/>
              </a:ext>
            </a:extLst>
          </p:cNvPr>
          <p:cNvPicPr>
            <a:picLocks noChangeAspect="1"/>
          </p:cNvPicPr>
          <p:nvPr/>
        </p:nvPicPr>
        <p:blipFill>
          <a:blip r:embed="rId2"/>
          <a:stretch>
            <a:fillRect/>
          </a:stretch>
        </p:blipFill>
        <p:spPr>
          <a:xfrm>
            <a:off x="304800" y="124168"/>
            <a:ext cx="6125430" cy="5325218"/>
          </a:xfrm>
          <a:prstGeom prst="rect">
            <a:avLst/>
          </a:prstGeom>
        </p:spPr>
      </p:pic>
    </p:spTree>
    <p:extLst>
      <p:ext uri="{BB962C8B-B14F-4D97-AF65-F5344CB8AC3E}">
        <p14:creationId xmlns:p14="http://schemas.microsoft.com/office/powerpoint/2010/main" val="131706378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ADE173-2677-4981-9FFA-FEEDE768689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2FB846C-5A4D-4F58-95E1-E6DC1448D62A}"/>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8C7EC360-0C38-4055-9E72-51FBE29733DE}"/>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397D877B-D850-484D-AD64-2FE79F770186}"/>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A6DC9267-3AFA-4483-BF89-DE888200C286}"/>
              </a:ext>
            </a:extLst>
          </p:cNvPr>
          <p:cNvSpPr>
            <a:spLocks noGrp="1"/>
          </p:cNvSpPr>
          <p:nvPr>
            <p:ph type="sldNum" sz="quarter" idx="12"/>
          </p:nvPr>
        </p:nvSpPr>
        <p:spPr/>
        <p:txBody>
          <a:bodyPr/>
          <a:lstStyle/>
          <a:p>
            <a:fld id="{BB2CE0DE-867F-455F-B20B-96D381B4AB71}" type="slidenum">
              <a:rPr lang="en-US" smtClean="0"/>
              <a:t>70</a:t>
            </a:fld>
            <a:endParaRPr lang="en-US"/>
          </a:p>
        </p:txBody>
      </p:sp>
      <p:pic>
        <p:nvPicPr>
          <p:cNvPr id="8" name="Picture 7">
            <a:extLst>
              <a:ext uri="{FF2B5EF4-FFF2-40B4-BE49-F238E27FC236}">
                <a16:creationId xmlns:a16="http://schemas.microsoft.com/office/drawing/2014/main" id="{3A695692-4087-4397-B34A-B082C55CD529}"/>
              </a:ext>
            </a:extLst>
          </p:cNvPr>
          <p:cNvPicPr>
            <a:picLocks noChangeAspect="1"/>
          </p:cNvPicPr>
          <p:nvPr/>
        </p:nvPicPr>
        <p:blipFill>
          <a:blip r:embed="rId2"/>
          <a:stretch>
            <a:fillRect/>
          </a:stretch>
        </p:blipFill>
        <p:spPr>
          <a:xfrm>
            <a:off x="566738" y="1219200"/>
            <a:ext cx="5668166" cy="1800476"/>
          </a:xfrm>
          <a:prstGeom prst="rect">
            <a:avLst/>
          </a:prstGeom>
        </p:spPr>
      </p:pic>
    </p:spTree>
    <p:extLst>
      <p:ext uri="{BB962C8B-B14F-4D97-AF65-F5344CB8AC3E}">
        <p14:creationId xmlns:p14="http://schemas.microsoft.com/office/powerpoint/2010/main" val="72893579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6049B-CE24-4073-80BA-9041F67705B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10A2DE2-3115-4F41-A2C1-BC9285FA1EDA}"/>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2C763221-8539-42B6-B50E-3C3C6F259AFF}"/>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08A1D16A-2033-4798-B769-DAA4322FEF06}"/>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29EB6B8E-AED1-45CE-904E-1BA1770412B3}"/>
              </a:ext>
            </a:extLst>
          </p:cNvPr>
          <p:cNvSpPr>
            <a:spLocks noGrp="1"/>
          </p:cNvSpPr>
          <p:nvPr>
            <p:ph type="sldNum" sz="quarter" idx="12"/>
          </p:nvPr>
        </p:nvSpPr>
        <p:spPr/>
        <p:txBody>
          <a:bodyPr/>
          <a:lstStyle/>
          <a:p>
            <a:fld id="{BB2CE0DE-867F-455F-B20B-96D381B4AB71}" type="slidenum">
              <a:rPr lang="en-US" smtClean="0"/>
              <a:t>71</a:t>
            </a:fld>
            <a:endParaRPr lang="en-US"/>
          </a:p>
        </p:txBody>
      </p:sp>
      <p:pic>
        <p:nvPicPr>
          <p:cNvPr id="8" name="Picture 7">
            <a:extLst>
              <a:ext uri="{FF2B5EF4-FFF2-40B4-BE49-F238E27FC236}">
                <a16:creationId xmlns:a16="http://schemas.microsoft.com/office/drawing/2014/main" id="{898309A8-AD7D-4A4C-BD3A-746F53523923}"/>
              </a:ext>
            </a:extLst>
          </p:cNvPr>
          <p:cNvPicPr>
            <a:picLocks noChangeAspect="1"/>
          </p:cNvPicPr>
          <p:nvPr/>
        </p:nvPicPr>
        <p:blipFill>
          <a:blip r:embed="rId2"/>
          <a:stretch>
            <a:fillRect/>
          </a:stretch>
        </p:blipFill>
        <p:spPr>
          <a:xfrm>
            <a:off x="415224" y="170935"/>
            <a:ext cx="5639587" cy="5782482"/>
          </a:xfrm>
          <a:prstGeom prst="rect">
            <a:avLst/>
          </a:prstGeom>
        </p:spPr>
      </p:pic>
    </p:spTree>
    <p:extLst>
      <p:ext uri="{BB962C8B-B14F-4D97-AF65-F5344CB8AC3E}">
        <p14:creationId xmlns:p14="http://schemas.microsoft.com/office/powerpoint/2010/main" val="152162397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BE57A-8732-4CC1-B434-3718395243D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42B77B9-53F0-4153-A489-EB673DEB0205}"/>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50EBA846-EA5C-46D1-89C9-D07A4C98AF67}"/>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E9BD2B57-C510-40E3-932B-CAF8B46FDD06}"/>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32CE7C97-C8ED-4FB6-924C-5EBB41F0E3FB}"/>
              </a:ext>
            </a:extLst>
          </p:cNvPr>
          <p:cNvSpPr>
            <a:spLocks noGrp="1"/>
          </p:cNvSpPr>
          <p:nvPr>
            <p:ph type="sldNum" sz="quarter" idx="12"/>
          </p:nvPr>
        </p:nvSpPr>
        <p:spPr/>
        <p:txBody>
          <a:bodyPr/>
          <a:lstStyle/>
          <a:p>
            <a:fld id="{BB2CE0DE-867F-455F-B20B-96D381B4AB71}" type="slidenum">
              <a:rPr lang="en-US" smtClean="0"/>
              <a:t>72</a:t>
            </a:fld>
            <a:endParaRPr lang="en-US"/>
          </a:p>
        </p:txBody>
      </p:sp>
      <p:pic>
        <p:nvPicPr>
          <p:cNvPr id="8" name="Picture 7">
            <a:extLst>
              <a:ext uri="{FF2B5EF4-FFF2-40B4-BE49-F238E27FC236}">
                <a16:creationId xmlns:a16="http://schemas.microsoft.com/office/drawing/2014/main" id="{A5C80552-1FE8-4E36-B61C-3183AA4669EE}"/>
              </a:ext>
            </a:extLst>
          </p:cNvPr>
          <p:cNvPicPr>
            <a:picLocks noChangeAspect="1"/>
          </p:cNvPicPr>
          <p:nvPr/>
        </p:nvPicPr>
        <p:blipFill>
          <a:blip r:embed="rId2"/>
          <a:stretch>
            <a:fillRect/>
          </a:stretch>
        </p:blipFill>
        <p:spPr>
          <a:xfrm>
            <a:off x="574675" y="1219200"/>
            <a:ext cx="6087325" cy="1991003"/>
          </a:xfrm>
          <a:prstGeom prst="rect">
            <a:avLst/>
          </a:prstGeom>
        </p:spPr>
      </p:pic>
    </p:spTree>
    <p:extLst>
      <p:ext uri="{BB962C8B-B14F-4D97-AF65-F5344CB8AC3E}">
        <p14:creationId xmlns:p14="http://schemas.microsoft.com/office/powerpoint/2010/main" val="324338220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553E7-A2C8-5267-FBEF-96B03E21B41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A84D6A1-4C4E-957B-2E78-85295C573A9E}"/>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061FC29C-EA53-C5C9-8965-A3A18BE6E665}"/>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F327ED0F-6FE9-2860-2E95-E94890BE9880}"/>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4BC40672-8EDB-BCFC-B030-BDACA7B58F08}"/>
              </a:ext>
            </a:extLst>
          </p:cNvPr>
          <p:cNvSpPr>
            <a:spLocks noGrp="1"/>
          </p:cNvSpPr>
          <p:nvPr>
            <p:ph type="sldNum" sz="quarter" idx="12"/>
          </p:nvPr>
        </p:nvSpPr>
        <p:spPr/>
        <p:txBody>
          <a:bodyPr/>
          <a:lstStyle/>
          <a:p>
            <a:fld id="{BB2CE0DE-867F-455F-B20B-96D381B4AB71}" type="slidenum">
              <a:rPr lang="en-US" smtClean="0"/>
              <a:t>73</a:t>
            </a:fld>
            <a:endParaRPr lang="en-US"/>
          </a:p>
        </p:txBody>
      </p:sp>
      <p:pic>
        <p:nvPicPr>
          <p:cNvPr id="8" name="Picture 7">
            <a:extLst>
              <a:ext uri="{FF2B5EF4-FFF2-40B4-BE49-F238E27FC236}">
                <a16:creationId xmlns:a16="http://schemas.microsoft.com/office/drawing/2014/main" id="{FF74F1ED-01E2-9DA7-04B6-AB3069C89430}"/>
              </a:ext>
            </a:extLst>
          </p:cNvPr>
          <p:cNvPicPr>
            <a:picLocks noChangeAspect="1"/>
          </p:cNvPicPr>
          <p:nvPr/>
        </p:nvPicPr>
        <p:blipFill>
          <a:blip r:embed="rId2"/>
          <a:stretch>
            <a:fillRect/>
          </a:stretch>
        </p:blipFill>
        <p:spPr>
          <a:xfrm>
            <a:off x="-32657" y="1086983"/>
            <a:ext cx="9144000" cy="3612731"/>
          </a:xfrm>
          <a:prstGeom prst="rect">
            <a:avLst/>
          </a:prstGeom>
        </p:spPr>
      </p:pic>
      <p:pic>
        <p:nvPicPr>
          <p:cNvPr id="10" name="Picture 9">
            <a:extLst>
              <a:ext uri="{FF2B5EF4-FFF2-40B4-BE49-F238E27FC236}">
                <a16:creationId xmlns:a16="http://schemas.microsoft.com/office/drawing/2014/main" id="{09A0FB4B-F920-F9C4-6118-CEE3391E13A0}"/>
              </a:ext>
            </a:extLst>
          </p:cNvPr>
          <p:cNvPicPr>
            <a:picLocks noChangeAspect="1"/>
          </p:cNvPicPr>
          <p:nvPr/>
        </p:nvPicPr>
        <p:blipFill>
          <a:blip r:embed="rId3"/>
          <a:stretch>
            <a:fillRect/>
          </a:stretch>
        </p:blipFill>
        <p:spPr>
          <a:xfrm>
            <a:off x="447514" y="5237543"/>
            <a:ext cx="2305372" cy="533474"/>
          </a:xfrm>
          <a:prstGeom prst="rect">
            <a:avLst/>
          </a:prstGeom>
        </p:spPr>
      </p:pic>
    </p:spTree>
    <p:extLst>
      <p:ext uri="{BB962C8B-B14F-4D97-AF65-F5344CB8AC3E}">
        <p14:creationId xmlns:p14="http://schemas.microsoft.com/office/powerpoint/2010/main" val="176596372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AB4D4-D44B-38C2-EA3E-170500B259DA}"/>
              </a:ext>
            </a:extLst>
          </p:cNvPr>
          <p:cNvSpPr>
            <a:spLocks noGrp="1"/>
          </p:cNvSpPr>
          <p:nvPr>
            <p:ph type="title"/>
          </p:nvPr>
        </p:nvSpPr>
        <p:spPr/>
        <p:txBody>
          <a:bodyPr/>
          <a:lstStyle/>
          <a:p>
            <a:r>
              <a:rPr lang="en-US" dirty="0"/>
              <a:t>Question</a:t>
            </a:r>
            <a:endParaRPr lang="en-IN" dirty="0"/>
          </a:p>
        </p:txBody>
      </p:sp>
      <p:sp>
        <p:nvSpPr>
          <p:cNvPr id="3" name="Content Placeholder 2">
            <a:extLst>
              <a:ext uri="{FF2B5EF4-FFF2-40B4-BE49-F238E27FC236}">
                <a16:creationId xmlns:a16="http://schemas.microsoft.com/office/drawing/2014/main" id="{3B2E1833-070B-14C6-33E4-FD0A70E7BA6A}"/>
              </a:ext>
            </a:extLst>
          </p:cNvPr>
          <p:cNvSpPr>
            <a:spLocks noGrp="1"/>
          </p:cNvSpPr>
          <p:nvPr>
            <p:ph idx="1"/>
          </p:nvPr>
        </p:nvSpPr>
        <p:spPr/>
        <p:txBody>
          <a:bodyPr/>
          <a:lstStyle/>
          <a:p>
            <a:endParaRPr lang="en-IN" dirty="0"/>
          </a:p>
        </p:txBody>
      </p:sp>
      <p:sp>
        <p:nvSpPr>
          <p:cNvPr id="4" name="Date Placeholder 3">
            <a:extLst>
              <a:ext uri="{FF2B5EF4-FFF2-40B4-BE49-F238E27FC236}">
                <a16:creationId xmlns:a16="http://schemas.microsoft.com/office/drawing/2014/main" id="{FEF9A98C-154C-7E6E-FCD6-37797364D4F0}"/>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3991629F-243D-C6AB-D4C6-4A97D6E10F78}"/>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94328DEF-E6F4-7422-C1FE-A7B42BD4CF74}"/>
              </a:ext>
            </a:extLst>
          </p:cNvPr>
          <p:cNvSpPr>
            <a:spLocks noGrp="1"/>
          </p:cNvSpPr>
          <p:nvPr>
            <p:ph type="sldNum" sz="quarter" idx="12"/>
          </p:nvPr>
        </p:nvSpPr>
        <p:spPr/>
        <p:txBody>
          <a:bodyPr/>
          <a:lstStyle/>
          <a:p>
            <a:fld id="{BB2CE0DE-867F-455F-B20B-96D381B4AB71}" type="slidenum">
              <a:rPr lang="en-US" smtClean="0"/>
              <a:t>74</a:t>
            </a:fld>
            <a:endParaRPr lang="en-US"/>
          </a:p>
        </p:txBody>
      </p:sp>
      <p:pic>
        <p:nvPicPr>
          <p:cNvPr id="10" name="Picture 9">
            <a:extLst>
              <a:ext uri="{FF2B5EF4-FFF2-40B4-BE49-F238E27FC236}">
                <a16:creationId xmlns:a16="http://schemas.microsoft.com/office/drawing/2014/main" id="{ED0209C1-0B4A-6698-22A7-68751D3AA986}"/>
              </a:ext>
            </a:extLst>
          </p:cNvPr>
          <p:cNvPicPr>
            <a:picLocks noChangeAspect="1"/>
          </p:cNvPicPr>
          <p:nvPr/>
        </p:nvPicPr>
        <p:blipFill>
          <a:blip r:embed="rId2"/>
          <a:stretch>
            <a:fillRect/>
          </a:stretch>
        </p:blipFill>
        <p:spPr>
          <a:xfrm>
            <a:off x="69395" y="1371600"/>
            <a:ext cx="9144000" cy="1845648"/>
          </a:xfrm>
          <a:prstGeom prst="rect">
            <a:avLst/>
          </a:prstGeom>
        </p:spPr>
      </p:pic>
      <p:sp>
        <p:nvSpPr>
          <p:cNvPr id="7" name="TextBox 6">
            <a:extLst>
              <a:ext uri="{FF2B5EF4-FFF2-40B4-BE49-F238E27FC236}">
                <a16:creationId xmlns:a16="http://schemas.microsoft.com/office/drawing/2014/main" id="{FF499A77-DEC0-4723-9BFC-62E8A2923858}"/>
              </a:ext>
            </a:extLst>
          </p:cNvPr>
          <p:cNvSpPr txBox="1"/>
          <p:nvPr/>
        </p:nvSpPr>
        <p:spPr>
          <a:xfrm>
            <a:off x="526645" y="3429000"/>
            <a:ext cx="4040593" cy="369332"/>
          </a:xfrm>
          <a:prstGeom prst="rect">
            <a:avLst/>
          </a:prstGeom>
          <a:noFill/>
        </p:spPr>
        <p:txBody>
          <a:bodyPr wrap="none" rtlCol="0">
            <a:spAutoFit/>
          </a:bodyPr>
          <a:lstStyle/>
          <a:p>
            <a:r>
              <a:rPr lang="en-US" dirty="0"/>
              <a:t>Number of Parameters until Poo1</a:t>
            </a:r>
            <a:endParaRPr lang="en-IN" dirty="0"/>
          </a:p>
        </p:txBody>
      </p:sp>
    </p:spTree>
    <p:extLst>
      <p:ext uri="{BB962C8B-B14F-4D97-AF65-F5344CB8AC3E}">
        <p14:creationId xmlns:p14="http://schemas.microsoft.com/office/powerpoint/2010/main" val="331256770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10AA0-35DE-4180-BDB4-8C011113A2F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D5EF3A8-1AEE-4999-86FF-873374FB92A4}"/>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1A2121D3-24E3-4D73-927B-BBCFC4AED9B4}"/>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95279568-1D83-4F9B-BBF8-BA7300143A79}"/>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7F611D77-BC6B-4657-AA56-F54EE9774AE7}"/>
              </a:ext>
            </a:extLst>
          </p:cNvPr>
          <p:cNvSpPr>
            <a:spLocks noGrp="1"/>
          </p:cNvSpPr>
          <p:nvPr>
            <p:ph type="sldNum" sz="quarter" idx="12"/>
          </p:nvPr>
        </p:nvSpPr>
        <p:spPr/>
        <p:txBody>
          <a:bodyPr/>
          <a:lstStyle/>
          <a:p>
            <a:fld id="{BB2CE0DE-867F-455F-B20B-96D381B4AB71}" type="slidenum">
              <a:rPr lang="en-US" smtClean="0"/>
              <a:t>75</a:t>
            </a:fld>
            <a:endParaRPr lang="en-US"/>
          </a:p>
        </p:txBody>
      </p:sp>
      <p:pic>
        <p:nvPicPr>
          <p:cNvPr id="8" name="Picture 7">
            <a:extLst>
              <a:ext uri="{FF2B5EF4-FFF2-40B4-BE49-F238E27FC236}">
                <a16:creationId xmlns:a16="http://schemas.microsoft.com/office/drawing/2014/main" id="{34F13CBE-94A0-4349-A8ED-94264922F2EB}"/>
              </a:ext>
            </a:extLst>
          </p:cNvPr>
          <p:cNvPicPr>
            <a:picLocks noChangeAspect="1"/>
          </p:cNvPicPr>
          <p:nvPr/>
        </p:nvPicPr>
        <p:blipFill>
          <a:blip r:embed="rId2"/>
          <a:stretch>
            <a:fillRect/>
          </a:stretch>
        </p:blipFill>
        <p:spPr>
          <a:xfrm>
            <a:off x="542564" y="1065212"/>
            <a:ext cx="5163271" cy="4991797"/>
          </a:xfrm>
          <a:prstGeom prst="rect">
            <a:avLst/>
          </a:prstGeom>
        </p:spPr>
      </p:pic>
    </p:spTree>
    <p:extLst>
      <p:ext uri="{BB962C8B-B14F-4D97-AF65-F5344CB8AC3E}">
        <p14:creationId xmlns:p14="http://schemas.microsoft.com/office/powerpoint/2010/main" val="400185181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9C3904-79E3-429D-81AC-981D158E490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48A783B-BA30-4287-BDDA-C483B893B379}"/>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E8FEC999-CDC8-4858-9297-3A25F93D1DF8}"/>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A850930B-9C8E-485B-BB2C-4D35AD107291}"/>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01849F5E-7857-497A-918F-D04B4B82F056}"/>
              </a:ext>
            </a:extLst>
          </p:cNvPr>
          <p:cNvSpPr>
            <a:spLocks noGrp="1"/>
          </p:cNvSpPr>
          <p:nvPr>
            <p:ph type="sldNum" sz="quarter" idx="12"/>
          </p:nvPr>
        </p:nvSpPr>
        <p:spPr/>
        <p:txBody>
          <a:bodyPr/>
          <a:lstStyle/>
          <a:p>
            <a:fld id="{BB2CE0DE-867F-455F-B20B-96D381B4AB71}" type="slidenum">
              <a:rPr lang="en-US" smtClean="0"/>
              <a:t>76</a:t>
            </a:fld>
            <a:endParaRPr lang="en-US"/>
          </a:p>
        </p:txBody>
      </p:sp>
      <p:pic>
        <p:nvPicPr>
          <p:cNvPr id="8" name="Picture 7">
            <a:extLst>
              <a:ext uri="{FF2B5EF4-FFF2-40B4-BE49-F238E27FC236}">
                <a16:creationId xmlns:a16="http://schemas.microsoft.com/office/drawing/2014/main" id="{9F0212E8-BA70-4202-AF34-32B56D2CF0AA}"/>
              </a:ext>
            </a:extLst>
          </p:cNvPr>
          <p:cNvPicPr>
            <a:picLocks noChangeAspect="1"/>
          </p:cNvPicPr>
          <p:nvPr/>
        </p:nvPicPr>
        <p:blipFill>
          <a:blip r:embed="rId2"/>
          <a:stretch>
            <a:fillRect/>
          </a:stretch>
        </p:blipFill>
        <p:spPr>
          <a:xfrm>
            <a:off x="133122" y="84950"/>
            <a:ext cx="4915355" cy="5553850"/>
          </a:xfrm>
          <a:prstGeom prst="rect">
            <a:avLst/>
          </a:prstGeom>
        </p:spPr>
      </p:pic>
      <p:pic>
        <p:nvPicPr>
          <p:cNvPr id="10" name="Picture 9">
            <a:extLst>
              <a:ext uri="{FF2B5EF4-FFF2-40B4-BE49-F238E27FC236}">
                <a16:creationId xmlns:a16="http://schemas.microsoft.com/office/drawing/2014/main" id="{88DB3973-0B34-41FC-9FC5-825DF4E4BD3C}"/>
              </a:ext>
            </a:extLst>
          </p:cNvPr>
          <p:cNvPicPr>
            <a:picLocks noChangeAspect="1"/>
          </p:cNvPicPr>
          <p:nvPr/>
        </p:nvPicPr>
        <p:blipFill>
          <a:blip r:embed="rId3"/>
          <a:stretch>
            <a:fillRect/>
          </a:stretch>
        </p:blipFill>
        <p:spPr>
          <a:xfrm>
            <a:off x="5095126" y="3885828"/>
            <a:ext cx="3943900" cy="2667372"/>
          </a:xfrm>
          <a:prstGeom prst="rect">
            <a:avLst/>
          </a:prstGeom>
        </p:spPr>
      </p:pic>
    </p:spTree>
    <p:extLst>
      <p:ext uri="{BB962C8B-B14F-4D97-AF65-F5344CB8AC3E}">
        <p14:creationId xmlns:p14="http://schemas.microsoft.com/office/powerpoint/2010/main" val="84642084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896E9-DB92-882E-F7EA-76CB3413152C}"/>
              </a:ext>
            </a:extLst>
          </p:cNvPr>
          <p:cNvSpPr>
            <a:spLocks noGrp="1"/>
          </p:cNvSpPr>
          <p:nvPr>
            <p:ph type="title"/>
          </p:nvPr>
        </p:nvSpPr>
        <p:spPr/>
        <p:txBody>
          <a:bodyPr/>
          <a:lstStyle/>
          <a:p>
            <a:r>
              <a:rPr lang="en-IN" dirty="0"/>
              <a:t>Question</a:t>
            </a:r>
          </a:p>
        </p:txBody>
      </p:sp>
      <p:sp>
        <p:nvSpPr>
          <p:cNvPr id="3" name="Content Placeholder 2">
            <a:extLst>
              <a:ext uri="{FF2B5EF4-FFF2-40B4-BE49-F238E27FC236}">
                <a16:creationId xmlns:a16="http://schemas.microsoft.com/office/drawing/2014/main" id="{31B097EC-A018-FA5D-397D-18197ECC94B2}"/>
              </a:ext>
            </a:extLst>
          </p:cNvPr>
          <p:cNvSpPr>
            <a:spLocks noGrp="1"/>
          </p:cNvSpPr>
          <p:nvPr>
            <p:ph idx="1"/>
          </p:nvPr>
        </p:nvSpPr>
        <p:spPr/>
        <p:txBody>
          <a:bodyPr/>
          <a:lstStyle/>
          <a:p>
            <a:pPr marL="0" indent="0">
              <a:buNone/>
            </a:pPr>
            <a:r>
              <a:rPr lang="en-US" b="0" i="0" dirty="0">
                <a:solidFill>
                  <a:srgbClr val="302C41"/>
                </a:solidFill>
                <a:effectLst/>
                <a:latin typeface="Aspira Webfont"/>
              </a:rPr>
              <a:t>Calculate the output volume and the number of parameters in each layer in the following</a:t>
            </a:r>
            <a:br>
              <a:rPr lang="en-US" dirty="0"/>
            </a:br>
            <a:r>
              <a:rPr lang="en-US" b="0" i="0" dirty="0">
                <a:solidFill>
                  <a:srgbClr val="302C41"/>
                </a:solidFill>
                <a:effectLst/>
                <a:latin typeface="Aspira Webfont"/>
              </a:rPr>
              <a:t>CNN.</a:t>
            </a:r>
            <a:endParaRPr lang="en-IN" dirty="0"/>
          </a:p>
        </p:txBody>
      </p:sp>
      <p:sp>
        <p:nvSpPr>
          <p:cNvPr id="4" name="Date Placeholder 3">
            <a:extLst>
              <a:ext uri="{FF2B5EF4-FFF2-40B4-BE49-F238E27FC236}">
                <a16:creationId xmlns:a16="http://schemas.microsoft.com/office/drawing/2014/main" id="{04970E38-890F-B34E-C929-2EA20C5E3045}"/>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6097C5CA-D0EB-5143-B530-9B63A447F1CB}"/>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AF337256-C68E-510D-FD62-34466E842100}"/>
              </a:ext>
            </a:extLst>
          </p:cNvPr>
          <p:cNvSpPr>
            <a:spLocks noGrp="1"/>
          </p:cNvSpPr>
          <p:nvPr>
            <p:ph type="sldNum" sz="quarter" idx="12"/>
          </p:nvPr>
        </p:nvSpPr>
        <p:spPr/>
        <p:txBody>
          <a:bodyPr/>
          <a:lstStyle/>
          <a:p>
            <a:fld id="{BB2CE0DE-867F-455F-B20B-96D381B4AB71}" type="slidenum">
              <a:rPr lang="en-US" smtClean="0"/>
              <a:t>77</a:t>
            </a:fld>
            <a:endParaRPr lang="en-US"/>
          </a:p>
        </p:txBody>
      </p:sp>
      <p:pic>
        <p:nvPicPr>
          <p:cNvPr id="8" name="Picture 7">
            <a:extLst>
              <a:ext uri="{FF2B5EF4-FFF2-40B4-BE49-F238E27FC236}">
                <a16:creationId xmlns:a16="http://schemas.microsoft.com/office/drawing/2014/main" id="{278FDA22-D468-DE56-A525-5C038DF8B7F9}"/>
              </a:ext>
            </a:extLst>
          </p:cNvPr>
          <p:cNvPicPr>
            <a:picLocks noChangeAspect="1"/>
          </p:cNvPicPr>
          <p:nvPr/>
        </p:nvPicPr>
        <p:blipFill>
          <a:blip r:embed="rId2"/>
          <a:stretch>
            <a:fillRect/>
          </a:stretch>
        </p:blipFill>
        <p:spPr>
          <a:xfrm>
            <a:off x="620486" y="2824035"/>
            <a:ext cx="7624146" cy="2128965"/>
          </a:xfrm>
          <a:prstGeom prst="rect">
            <a:avLst/>
          </a:prstGeom>
        </p:spPr>
      </p:pic>
      <p:sp>
        <p:nvSpPr>
          <p:cNvPr id="7" name="TextBox 6">
            <a:extLst>
              <a:ext uri="{FF2B5EF4-FFF2-40B4-BE49-F238E27FC236}">
                <a16:creationId xmlns:a16="http://schemas.microsoft.com/office/drawing/2014/main" id="{83779B89-5E7E-4BD2-912A-E92B8E8A4AEA}"/>
              </a:ext>
            </a:extLst>
          </p:cNvPr>
          <p:cNvSpPr txBox="1"/>
          <p:nvPr/>
        </p:nvSpPr>
        <p:spPr>
          <a:xfrm>
            <a:off x="685800" y="5111393"/>
            <a:ext cx="2581156" cy="369332"/>
          </a:xfrm>
          <a:prstGeom prst="rect">
            <a:avLst/>
          </a:prstGeom>
          <a:noFill/>
        </p:spPr>
        <p:txBody>
          <a:bodyPr wrap="none" rtlCol="0">
            <a:spAutoFit/>
          </a:bodyPr>
          <a:lstStyle/>
          <a:p>
            <a:r>
              <a:rPr lang="en-US" dirty="0"/>
              <a:t>K= Number of filters</a:t>
            </a:r>
            <a:endParaRPr lang="en-IN" dirty="0"/>
          </a:p>
        </p:txBody>
      </p:sp>
    </p:spTree>
    <p:extLst>
      <p:ext uri="{BB962C8B-B14F-4D97-AF65-F5344CB8AC3E}">
        <p14:creationId xmlns:p14="http://schemas.microsoft.com/office/powerpoint/2010/main" val="325344712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C4B7A5-9FD9-449B-8F6F-6C0AE01EA5E9}"/>
              </a:ext>
            </a:extLst>
          </p:cNvPr>
          <p:cNvSpPr>
            <a:spLocks noGrp="1"/>
          </p:cNvSpPr>
          <p:nvPr>
            <p:ph type="title"/>
          </p:nvPr>
        </p:nvSpPr>
        <p:spPr/>
        <p:txBody>
          <a:bodyPr/>
          <a:lstStyle/>
          <a:p>
            <a:r>
              <a:rPr lang="en-US" dirty="0"/>
              <a:t>Answer</a:t>
            </a:r>
            <a:endParaRPr lang="en-IN" dirty="0"/>
          </a:p>
        </p:txBody>
      </p:sp>
      <p:sp>
        <p:nvSpPr>
          <p:cNvPr id="3" name="Content Placeholder 2">
            <a:extLst>
              <a:ext uri="{FF2B5EF4-FFF2-40B4-BE49-F238E27FC236}">
                <a16:creationId xmlns:a16="http://schemas.microsoft.com/office/drawing/2014/main" id="{108B95F2-4C0A-4ACC-B222-289543A91654}"/>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FD8E92A0-4645-4574-8A1D-1115D4CE401E}"/>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693CF3A2-A870-4B14-8581-BE1BFEA9B8B4}"/>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056643CD-BDBC-4EC3-878D-5D8F5A4B29D0}"/>
              </a:ext>
            </a:extLst>
          </p:cNvPr>
          <p:cNvSpPr>
            <a:spLocks noGrp="1"/>
          </p:cNvSpPr>
          <p:nvPr>
            <p:ph type="sldNum" sz="quarter" idx="12"/>
          </p:nvPr>
        </p:nvSpPr>
        <p:spPr/>
        <p:txBody>
          <a:bodyPr/>
          <a:lstStyle/>
          <a:p>
            <a:fld id="{BB2CE0DE-867F-455F-B20B-96D381B4AB71}" type="slidenum">
              <a:rPr lang="en-US" smtClean="0"/>
              <a:t>78</a:t>
            </a:fld>
            <a:endParaRPr lang="en-US"/>
          </a:p>
        </p:txBody>
      </p:sp>
      <p:pic>
        <p:nvPicPr>
          <p:cNvPr id="8" name="Picture 7">
            <a:extLst>
              <a:ext uri="{FF2B5EF4-FFF2-40B4-BE49-F238E27FC236}">
                <a16:creationId xmlns:a16="http://schemas.microsoft.com/office/drawing/2014/main" id="{22389FED-7E39-4986-9DD3-7BC30018751B}"/>
              </a:ext>
            </a:extLst>
          </p:cNvPr>
          <p:cNvPicPr>
            <a:picLocks noChangeAspect="1"/>
          </p:cNvPicPr>
          <p:nvPr/>
        </p:nvPicPr>
        <p:blipFill>
          <a:blip r:embed="rId2"/>
          <a:stretch>
            <a:fillRect/>
          </a:stretch>
        </p:blipFill>
        <p:spPr>
          <a:xfrm>
            <a:off x="609600" y="1219200"/>
            <a:ext cx="8018584" cy="4343400"/>
          </a:xfrm>
          <a:prstGeom prst="rect">
            <a:avLst/>
          </a:prstGeom>
        </p:spPr>
      </p:pic>
    </p:spTree>
    <p:extLst>
      <p:ext uri="{BB962C8B-B14F-4D97-AF65-F5344CB8AC3E}">
        <p14:creationId xmlns:p14="http://schemas.microsoft.com/office/powerpoint/2010/main" val="417782517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45E7A-2A8F-4BDB-F7AA-98E7D15B1F53}"/>
              </a:ext>
            </a:extLst>
          </p:cNvPr>
          <p:cNvSpPr>
            <a:spLocks noGrp="1"/>
          </p:cNvSpPr>
          <p:nvPr>
            <p:ph type="title"/>
          </p:nvPr>
        </p:nvSpPr>
        <p:spPr/>
        <p:txBody>
          <a:bodyPr/>
          <a:lstStyle/>
          <a:p>
            <a:r>
              <a:rPr lang="en-US" dirty="0"/>
              <a:t>Key Components of a CNN</a:t>
            </a:r>
            <a:endParaRPr lang="en-IN" dirty="0"/>
          </a:p>
        </p:txBody>
      </p:sp>
      <p:sp>
        <p:nvSpPr>
          <p:cNvPr id="3" name="Content Placeholder 2">
            <a:extLst>
              <a:ext uri="{FF2B5EF4-FFF2-40B4-BE49-F238E27FC236}">
                <a16:creationId xmlns:a16="http://schemas.microsoft.com/office/drawing/2014/main" id="{6B92D3ED-7015-BD23-F27C-8B2B7B5A6B68}"/>
              </a:ext>
            </a:extLst>
          </p:cNvPr>
          <p:cNvSpPr>
            <a:spLocks noGrp="1"/>
          </p:cNvSpPr>
          <p:nvPr>
            <p:ph idx="1"/>
          </p:nvPr>
        </p:nvSpPr>
        <p:spPr/>
        <p:txBody>
          <a:bodyPr/>
          <a:lstStyle/>
          <a:p>
            <a:pPr marL="0" indent="0" algn="l">
              <a:spcAft>
                <a:spcPts val="900"/>
              </a:spcAft>
              <a:buNone/>
            </a:pPr>
            <a:r>
              <a:rPr lang="en-US" sz="1800" b="0" i="0" dirty="0">
                <a:solidFill>
                  <a:srgbClr val="05192D"/>
                </a:solidFill>
                <a:effectLst/>
                <a:latin typeface="Studio-Feixen-Sans"/>
              </a:rPr>
              <a:t>1. Input Layer</a:t>
            </a:r>
          </a:p>
          <a:p>
            <a:pPr marL="0" indent="0" algn="l">
              <a:spcAft>
                <a:spcPts val="900"/>
              </a:spcAft>
              <a:buNone/>
            </a:pPr>
            <a:r>
              <a:rPr lang="en-US" sz="1800" b="0" i="0" dirty="0">
                <a:solidFill>
                  <a:srgbClr val="05192D"/>
                </a:solidFill>
                <a:effectLst/>
                <a:latin typeface="Studio-Feixen-Sans"/>
              </a:rPr>
              <a:t>2. Convolutional Layer</a:t>
            </a:r>
          </a:p>
          <a:p>
            <a:pPr marL="0" indent="0" algn="l">
              <a:spcAft>
                <a:spcPts val="900"/>
              </a:spcAft>
              <a:buNone/>
            </a:pPr>
            <a:r>
              <a:rPr lang="en-US" sz="1800" b="0" i="0" dirty="0">
                <a:solidFill>
                  <a:srgbClr val="05192D"/>
                </a:solidFill>
                <a:effectLst/>
                <a:latin typeface="Studio-Feixen-Sans"/>
              </a:rPr>
              <a:t>3. Activation Function</a:t>
            </a:r>
          </a:p>
          <a:p>
            <a:pPr marL="0" indent="0" algn="l">
              <a:spcAft>
                <a:spcPts val="900"/>
              </a:spcAft>
              <a:buNone/>
            </a:pPr>
            <a:r>
              <a:rPr lang="en-US" sz="1800" b="0" i="0" dirty="0">
                <a:solidFill>
                  <a:srgbClr val="05192D"/>
                </a:solidFill>
                <a:effectLst/>
                <a:latin typeface="Studio-Feixen-Sans"/>
              </a:rPr>
              <a:t>4. Pooling Layer</a:t>
            </a:r>
          </a:p>
          <a:p>
            <a:pPr marL="0" indent="0" algn="l">
              <a:spcAft>
                <a:spcPts val="900"/>
              </a:spcAft>
              <a:buNone/>
            </a:pPr>
            <a:r>
              <a:rPr lang="en-US" sz="1800" b="0" i="0" dirty="0">
                <a:solidFill>
                  <a:srgbClr val="05192D"/>
                </a:solidFill>
                <a:effectLst/>
                <a:latin typeface="Studio-Feixen-Sans"/>
              </a:rPr>
              <a:t>5. Fully Connected Layer</a:t>
            </a:r>
          </a:p>
          <a:p>
            <a:pPr marL="0" indent="0" algn="l">
              <a:spcAft>
                <a:spcPts val="900"/>
              </a:spcAft>
              <a:buNone/>
            </a:pPr>
            <a:r>
              <a:rPr lang="en-US" sz="1800" b="0" i="0" dirty="0">
                <a:solidFill>
                  <a:srgbClr val="05192D"/>
                </a:solidFill>
                <a:effectLst/>
                <a:latin typeface="Studio-Feixen-Sans"/>
              </a:rPr>
              <a:t>6. Output Layer</a:t>
            </a:r>
            <a:endParaRPr lang="en-IN" sz="1800" dirty="0"/>
          </a:p>
        </p:txBody>
      </p:sp>
      <p:sp>
        <p:nvSpPr>
          <p:cNvPr id="4" name="Date Placeholder 3">
            <a:extLst>
              <a:ext uri="{FF2B5EF4-FFF2-40B4-BE49-F238E27FC236}">
                <a16:creationId xmlns:a16="http://schemas.microsoft.com/office/drawing/2014/main" id="{16AB8402-9EE1-3008-E420-A3EA23A1C5F7}"/>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F65A52E0-B598-AB93-ABD9-1C968DFCA256}"/>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824C3985-AAFE-949D-3EDC-60F7C82FD12D}"/>
              </a:ext>
            </a:extLst>
          </p:cNvPr>
          <p:cNvSpPr>
            <a:spLocks noGrp="1"/>
          </p:cNvSpPr>
          <p:nvPr>
            <p:ph type="sldNum" sz="quarter" idx="12"/>
          </p:nvPr>
        </p:nvSpPr>
        <p:spPr/>
        <p:txBody>
          <a:bodyPr/>
          <a:lstStyle/>
          <a:p>
            <a:fld id="{BB2CE0DE-867F-455F-B20B-96D381B4AB71}" type="slidenum">
              <a:rPr lang="en-US" smtClean="0"/>
              <a:t>79</a:t>
            </a:fld>
            <a:endParaRPr lang="en-US"/>
          </a:p>
        </p:txBody>
      </p:sp>
      <p:pic>
        <p:nvPicPr>
          <p:cNvPr id="7" name="Picture 6">
            <a:extLst>
              <a:ext uri="{FF2B5EF4-FFF2-40B4-BE49-F238E27FC236}">
                <a16:creationId xmlns:a16="http://schemas.microsoft.com/office/drawing/2014/main" id="{FA600144-6184-5873-B6B7-4367F53FB176}"/>
              </a:ext>
            </a:extLst>
          </p:cNvPr>
          <p:cNvPicPr>
            <a:picLocks noChangeAspect="1"/>
          </p:cNvPicPr>
          <p:nvPr/>
        </p:nvPicPr>
        <p:blipFill>
          <a:blip r:embed="rId2"/>
          <a:stretch>
            <a:fillRect/>
          </a:stretch>
        </p:blipFill>
        <p:spPr>
          <a:xfrm>
            <a:off x="2590800" y="3418114"/>
            <a:ext cx="6553200" cy="3686176"/>
          </a:xfrm>
          <a:prstGeom prst="rect">
            <a:avLst/>
          </a:prstGeom>
        </p:spPr>
      </p:pic>
    </p:spTree>
    <p:extLst>
      <p:ext uri="{BB962C8B-B14F-4D97-AF65-F5344CB8AC3E}">
        <p14:creationId xmlns:p14="http://schemas.microsoft.com/office/powerpoint/2010/main" val="245775571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4943E-F110-208A-4D86-0FE7EFFB6E10}"/>
              </a:ext>
            </a:extLst>
          </p:cNvPr>
          <p:cNvSpPr>
            <a:spLocks noGrp="1"/>
          </p:cNvSpPr>
          <p:nvPr>
            <p:ph type="title"/>
          </p:nvPr>
        </p:nvSpPr>
        <p:spPr/>
        <p:txBody>
          <a:bodyPr/>
          <a:lstStyle/>
          <a:p>
            <a:r>
              <a:rPr lang="en-US" dirty="0"/>
              <a:t>Key Components of a CNN</a:t>
            </a:r>
            <a:endParaRPr lang="en-IN" dirty="0"/>
          </a:p>
        </p:txBody>
      </p:sp>
      <p:sp>
        <p:nvSpPr>
          <p:cNvPr id="3" name="Content Placeholder 2">
            <a:extLst>
              <a:ext uri="{FF2B5EF4-FFF2-40B4-BE49-F238E27FC236}">
                <a16:creationId xmlns:a16="http://schemas.microsoft.com/office/drawing/2014/main" id="{7C6E7A1D-1ED2-111A-1EEA-3D030D6AF051}"/>
              </a:ext>
            </a:extLst>
          </p:cNvPr>
          <p:cNvSpPr>
            <a:spLocks noGrp="1"/>
          </p:cNvSpPr>
          <p:nvPr>
            <p:ph idx="1"/>
          </p:nvPr>
        </p:nvSpPr>
        <p:spPr/>
        <p:txBody>
          <a:bodyPr/>
          <a:lstStyle/>
          <a:p>
            <a:pPr marL="0" indent="0" algn="just">
              <a:spcBef>
                <a:spcPts val="1800"/>
              </a:spcBef>
              <a:spcAft>
                <a:spcPts val="1800"/>
              </a:spcAft>
              <a:buNone/>
            </a:pPr>
            <a:r>
              <a:rPr lang="en-US" sz="1400" b="1" i="0" dirty="0">
                <a:solidFill>
                  <a:srgbClr val="000000"/>
                </a:solidFill>
                <a:effectLst/>
                <a:latin typeface="__CircularFontRegular_2948a7"/>
              </a:rPr>
              <a:t>Input Layer: </a:t>
            </a:r>
            <a:r>
              <a:rPr lang="en-US" sz="1400" i="0" dirty="0">
                <a:solidFill>
                  <a:srgbClr val="000000"/>
                </a:solidFill>
                <a:effectLst/>
                <a:latin typeface="__CircularFontRegular_2948a7"/>
              </a:rPr>
              <a:t>The input layer of a CNN receives the raw image data as input. Each image is represented as a matrix of pixel values. The size of the input layer is determined by the dimensions of the input image.</a:t>
            </a:r>
          </a:p>
          <a:p>
            <a:pPr marL="0" indent="0" algn="just">
              <a:spcBef>
                <a:spcPts val="1800"/>
              </a:spcBef>
              <a:spcAft>
                <a:spcPts val="1800"/>
              </a:spcAft>
              <a:buNone/>
            </a:pPr>
            <a:r>
              <a:rPr lang="en-US" sz="1400" b="1" i="0" dirty="0">
                <a:solidFill>
                  <a:srgbClr val="000000"/>
                </a:solidFill>
                <a:effectLst/>
                <a:latin typeface="__CircularFontRegular_2948a7"/>
              </a:rPr>
              <a:t>Feature Extraction through Convolutional Layers: </a:t>
            </a:r>
            <a:r>
              <a:rPr lang="en-US" sz="1400" b="0" i="0" dirty="0">
                <a:solidFill>
                  <a:srgbClr val="000000"/>
                </a:solidFill>
                <a:effectLst/>
                <a:latin typeface="__CircularFontRegular_2948a7"/>
              </a:rPr>
              <a:t>Convolutional layers scan the input data using filters (kernels) to detect patterns like edges, textures, or shapes. </a:t>
            </a:r>
          </a:p>
          <a:p>
            <a:pPr marL="0" indent="0" algn="just">
              <a:spcBef>
                <a:spcPts val="1800"/>
              </a:spcBef>
              <a:spcAft>
                <a:spcPts val="1800"/>
              </a:spcAft>
              <a:buNone/>
            </a:pPr>
            <a:r>
              <a:rPr lang="en-US" sz="1400" b="1" i="0" dirty="0">
                <a:solidFill>
                  <a:srgbClr val="000000"/>
                </a:solidFill>
                <a:effectLst/>
                <a:latin typeface="__CircularFontRegular_2948a7"/>
              </a:rPr>
              <a:t>Pooling Layers: </a:t>
            </a:r>
            <a:r>
              <a:rPr lang="en-US" sz="1400" b="0" i="0" dirty="0">
                <a:solidFill>
                  <a:srgbClr val="000000"/>
                </a:solidFill>
                <a:effectLst/>
                <a:latin typeface="__CircularFontRegular_2948a7"/>
              </a:rPr>
              <a:t>Pooling layers preserve key features while reducing computational complexity. This helps reduce multiple dimensions. </a:t>
            </a:r>
          </a:p>
          <a:p>
            <a:pPr marL="0" indent="0" algn="just">
              <a:spcBef>
                <a:spcPts val="1800"/>
              </a:spcBef>
              <a:spcAft>
                <a:spcPts val="1800"/>
              </a:spcAft>
              <a:buNone/>
            </a:pPr>
            <a:r>
              <a:rPr lang="en-US" sz="1400" b="1" i="0" dirty="0">
                <a:solidFill>
                  <a:srgbClr val="000000"/>
                </a:solidFill>
                <a:effectLst/>
                <a:latin typeface="__CircularFontRegular_2948a7"/>
              </a:rPr>
              <a:t>Activation Layers: </a:t>
            </a:r>
            <a:r>
              <a:rPr lang="en-US" sz="1400" b="0" i="0" dirty="0">
                <a:solidFill>
                  <a:srgbClr val="000000"/>
                </a:solidFill>
                <a:effectLst/>
                <a:latin typeface="__CircularFontRegular_2948a7"/>
              </a:rPr>
              <a:t>Activation layers apply non-linear functions like </a:t>
            </a:r>
            <a:r>
              <a:rPr lang="en-US" sz="1400" b="0" i="0" dirty="0" err="1">
                <a:solidFill>
                  <a:srgbClr val="000000"/>
                </a:solidFill>
                <a:effectLst/>
                <a:latin typeface="__CircularFontRegular_2948a7"/>
              </a:rPr>
              <a:t>ReLU</a:t>
            </a:r>
            <a:r>
              <a:rPr lang="en-US" sz="1400" b="0" i="0" dirty="0">
                <a:solidFill>
                  <a:srgbClr val="000000"/>
                </a:solidFill>
                <a:effectLst/>
                <a:latin typeface="__CircularFontRegular_2948a7"/>
              </a:rPr>
              <a:t> to introduce non-linearity. This enables the network to learn complex patterns.</a:t>
            </a:r>
            <a:endParaRPr lang="en-US" sz="1400" b="0" i="0" dirty="0">
              <a:solidFill>
                <a:srgbClr val="333333"/>
              </a:solidFill>
              <a:effectLst/>
              <a:latin typeface="__CircularFontRegular_2948a7"/>
            </a:endParaRPr>
          </a:p>
          <a:p>
            <a:pPr marL="0" indent="0" algn="just">
              <a:spcBef>
                <a:spcPts val="1800"/>
              </a:spcBef>
              <a:spcAft>
                <a:spcPts val="1800"/>
              </a:spcAft>
              <a:buNone/>
            </a:pPr>
            <a:r>
              <a:rPr lang="en-US" sz="1400" b="1" i="0" dirty="0">
                <a:solidFill>
                  <a:srgbClr val="000000"/>
                </a:solidFill>
                <a:effectLst/>
                <a:latin typeface="__CircularFontRegular_2948a7"/>
              </a:rPr>
              <a:t>Flattening and Fully Connected Layers: </a:t>
            </a:r>
            <a:r>
              <a:rPr lang="en-US" sz="1400" b="0" i="0" dirty="0">
                <a:solidFill>
                  <a:srgbClr val="000000"/>
                </a:solidFill>
                <a:effectLst/>
                <a:latin typeface="__CircularFontRegular_2948a7"/>
              </a:rPr>
              <a:t>Once the feature has been extracted, the data is converted into a vector and passed through fully connected layers for classification. </a:t>
            </a:r>
          </a:p>
          <a:p>
            <a:pPr marL="0" indent="0" algn="just">
              <a:spcBef>
                <a:spcPts val="1800"/>
              </a:spcBef>
              <a:spcAft>
                <a:spcPts val="1800"/>
              </a:spcAft>
              <a:buNone/>
            </a:pPr>
            <a:r>
              <a:rPr lang="en-US" sz="1400" b="1" i="0" dirty="0">
                <a:solidFill>
                  <a:srgbClr val="000000"/>
                </a:solidFill>
                <a:effectLst/>
                <a:latin typeface="__CircularFontRegular_2948a7"/>
              </a:rPr>
              <a:t>Output Layer: </a:t>
            </a:r>
            <a:r>
              <a:rPr lang="en-US" sz="1400" b="0" i="0" dirty="0">
                <a:solidFill>
                  <a:srgbClr val="000000"/>
                </a:solidFill>
                <a:effectLst/>
                <a:latin typeface="__CircularFontRegular_2948a7"/>
              </a:rPr>
              <a:t>The output layer provides the final prediction using a </a:t>
            </a:r>
            <a:r>
              <a:rPr lang="en-US" sz="1400" b="0" i="0" dirty="0" err="1">
                <a:solidFill>
                  <a:srgbClr val="000000"/>
                </a:solidFill>
                <a:effectLst/>
                <a:latin typeface="__CircularFontRegular_2948a7"/>
              </a:rPr>
              <a:t>Softmax</a:t>
            </a:r>
            <a:r>
              <a:rPr lang="en-US" sz="1400" b="0" i="0" dirty="0">
                <a:solidFill>
                  <a:srgbClr val="000000"/>
                </a:solidFill>
                <a:effectLst/>
                <a:latin typeface="__CircularFontRegular_2948a7"/>
              </a:rPr>
              <a:t> function for classification tasks.</a:t>
            </a:r>
            <a:endParaRPr lang="en-US" sz="1400" b="0" i="0" dirty="0">
              <a:solidFill>
                <a:srgbClr val="333333"/>
              </a:solidFill>
              <a:effectLst/>
              <a:latin typeface="__CircularFontRegular_2948a7"/>
            </a:endParaRPr>
          </a:p>
          <a:p>
            <a:pPr marL="0" indent="0">
              <a:buNone/>
            </a:pPr>
            <a:endParaRPr lang="en-IN" sz="1400" dirty="0"/>
          </a:p>
        </p:txBody>
      </p:sp>
      <p:sp>
        <p:nvSpPr>
          <p:cNvPr id="4" name="Date Placeholder 3">
            <a:extLst>
              <a:ext uri="{FF2B5EF4-FFF2-40B4-BE49-F238E27FC236}">
                <a16:creationId xmlns:a16="http://schemas.microsoft.com/office/drawing/2014/main" id="{43657E6B-7408-B58B-3A21-30BC246E985D}"/>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1CE08D08-6E4F-D2E4-F803-5542781F9E91}"/>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3C00E8B6-6943-7AF0-38DE-1F529C3A13D9}"/>
              </a:ext>
            </a:extLst>
          </p:cNvPr>
          <p:cNvSpPr>
            <a:spLocks noGrp="1"/>
          </p:cNvSpPr>
          <p:nvPr>
            <p:ph type="sldNum" sz="quarter" idx="12"/>
          </p:nvPr>
        </p:nvSpPr>
        <p:spPr/>
        <p:txBody>
          <a:bodyPr/>
          <a:lstStyle/>
          <a:p>
            <a:fld id="{BB2CE0DE-867F-455F-B20B-96D381B4AB71}" type="slidenum">
              <a:rPr lang="en-US" smtClean="0"/>
              <a:t>80</a:t>
            </a:fld>
            <a:endParaRPr lang="en-US"/>
          </a:p>
        </p:txBody>
      </p:sp>
    </p:spTree>
    <p:extLst>
      <p:ext uri="{BB962C8B-B14F-4D97-AF65-F5344CB8AC3E}">
        <p14:creationId xmlns:p14="http://schemas.microsoft.com/office/powerpoint/2010/main" val="103683031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24CD3-E744-1060-0146-C82A622D3160}"/>
              </a:ext>
            </a:extLst>
          </p:cNvPr>
          <p:cNvSpPr>
            <a:spLocks noGrp="1"/>
          </p:cNvSpPr>
          <p:nvPr>
            <p:ph type="title"/>
          </p:nvPr>
        </p:nvSpPr>
        <p:spPr/>
        <p:txBody>
          <a:bodyPr/>
          <a:lstStyle/>
          <a:p>
            <a:r>
              <a:rPr lang="en-US" sz="2800" b="0" dirty="0">
                <a:solidFill>
                  <a:srgbClr val="05192D"/>
                </a:solidFill>
                <a:effectLst/>
                <a:latin typeface="Studio-Feixen-Sans"/>
              </a:rPr>
              <a:t>Architecture of the CNNs applied to digit recognition</a:t>
            </a:r>
            <a:endParaRPr lang="en-IN" sz="2800" dirty="0"/>
          </a:p>
        </p:txBody>
      </p:sp>
      <p:sp>
        <p:nvSpPr>
          <p:cNvPr id="3" name="Content Placeholder 2">
            <a:extLst>
              <a:ext uri="{FF2B5EF4-FFF2-40B4-BE49-F238E27FC236}">
                <a16:creationId xmlns:a16="http://schemas.microsoft.com/office/drawing/2014/main" id="{3071C2EA-A1FB-B3DE-0997-F635364D60AC}"/>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FED4B12C-AA73-198E-A6D5-149F9C1AD3A7}"/>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36C744B5-3371-17F6-1727-E2715ED3108B}"/>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EDDE2A3B-0328-7BD0-FEB9-C6039D91350F}"/>
              </a:ext>
            </a:extLst>
          </p:cNvPr>
          <p:cNvSpPr>
            <a:spLocks noGrp="1"/>
          </p:cNvSpPr>
          <p:nvPr>
            <p:ph type="sldNum" sz="quarter" idx="12"/>
          </p:nvPr>
        </p:nvSpPr>
        <p:spPr/>
        <p:txBody>
          <a:bodyPr/>
          <a:lstStyle/>
          <a:p>
            <a:fld id="{BB2CE0DE-867F-455F-B20B-96D381B4AB71}" type="slidenum">
              <a:rPr lang="en-US" smtClean="0"/>
              <a:t>81</a:t>
            </a:fld>
            <a:endParaRPr lang="en-US"/>
          </a:p>
        </p:txBody>
      </p:sp>
      <p:pic>
        <p:nvPicPr>
          <p:cNvPr id="7" name="Picture 6">
            <a:extLst>
              <a:ext uri="{FF2B5EF4-FFF2-40B4-BE49-F238E27FC236}">
                <a16:creationId xmlns:a16="http://schemas.microsoft.com/office/drawing/2014/main" id="{A12AE45A-EDB6-54E9-697E-45F3C09D4529}"/>
              </a:ext>
            </a:extLst>
          </p:cNvPr>
          <p:cNvPicPr>
            <a:picLocks noChangeAspect="1"/>
          </p:cNvPicPr>
          <p:nvPr/>
        </p:nvPicPr>
        <p:blipFill>
          <a:blip r:embed="rId2"/>
          <a:stretch>
            <a:fillRect/>
          </a:stretch>
        </p:blipFill>
        <p:spPr>
          <a:xfrm>
            <a:off x="356961" y="1235964"/>
            <a:ext cx="8229600" cy="4402836"/>
          </a:xfrm>
          <a:prstGeom prst="rect">
            <a:avLst/>
          </a:prstGeom>
        </p:spPr>
      </p:pic>
    </p:spTree>
    <p:extLst>
      <p:ext uri="{BB962C8B-B14F-4D97-AF65-F5344CB8AC3E}">
        <p14:creationId xmlns:p14="http://schemas.microsoft.com/office/powerpoint/2010/main" val="380174238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FD272-58D6-2FAC-E000-F9E830750669}"/>
              </a:ext>
            </a:extLst>
          </p:cNvPr>
          <p:cNvSpPr>
            <a:spLocks noGrp="1"/>
          </p:cNvSpPr>
          <p:nvPr>
            <p:ph type="title"/>
          </p:nvPr>
        </p:nvSpPr>
        <p:spPr/>
        <p:txBody>
          <a:bodyPr/>
          <a:lstStyle/>
          <a:p>
            <a:r>
              <a:rPr lang="en-IN" dirty="0"/>
              <a:t>Popular CNN Architectures</a:t>
            </a:r>
          </a:p>
        </p:txBody>
      </p:sp>
      <p:sp>
        <p:nvSpPr>
          <p:cNvPr id="3" name="Content Placeholder 2">
            <a:extLst>
              <a:ext uri="{FF2B5EF4-FFF2-40B4-BE49-F238E27FC236}">
                <a16:creationId xmlns:a16="http://schemas.microsoft.com/office/drawing/2014/main" id="{A5D8A51B-DEB5-86A2-D03F-91BEB00A47CE}"/>
              </a:ext>
            </a:extLst>
          </p:cNvPr>
          <p:cNvSpPr>
            <a:spLocks noGrp="1"/>
          </p:cNvSpPr>
          <p:nvPr>
            <p:ph idx="1"/>
          </p:nvPr>
        </p:nvSpPr>
        <p:spPr/>
        <p:txBody>
          <a:bodyPr/>
          <a:lstStyle/>
          <a:p>
            <a:pPr marL="0" indent="0">
              <a:buNone/>
            </a:pPr>
            <a:r>
              <a:rPr lang="en-IN" sz="3200" dirty="0"/>
              <a:t>LeNet</a:t>
            </a:r>
          </a:p>
          <a:p>
            <a:pPr marL="0" indent="0">
              <a:buNone/>
            </a:pPr>
            <a:r>
              <a:rPr lang="en-IN" sz="3200" dirty="0" err="1"/>
              <a:t>AlexNet</a:t>
            </a:r>
            <a:endParaRPr lang="en-IN" sz="3200" dirty="0"/>
          </a:p>
          <a:p>
            <a:pPr marL="0" indent="0">
              <a:buNone/>
            </a:pPr>
            <a:r>
              <a:rPr lang="en-IN" sz="3200" dirty="0"/>
              <a:t>VGG</a:t>
            </a:r>
          </a:p>
          <a:p>
            <a:pPr marL="0" indent="0">
              <a:buNone/>
            </a:pPr>
            <a:r>
              <a:rPr lang="en-IN" sz="3200" dirty="0" err="1"/>
              <a:t>ResNet</a:t>
            </a:r>
            <a:endParaRPr lang="en-IN" dirty="0"/>
          </a:p>
        </p:txBody>
      </p:sp>
      <p:sp>
        <p:nvSpPr>
          <p:cNvPr id="4" name="Date Placeholder 3">
            <a:extLst>
              <a:ext uri="{FF2B5EF4-FFF2-40B4-BE49-F238E27FC236}">
                <a16:creationId xmlns:a16="http://schemas.microsoft.com/office/drawing/2014/main" id="{26B614C3-0A78-D43A-219A-44D3A592DD1E}"/>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7643E4C7-1961-0641-2EA6-2E1E2236088B}"/>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3D4BB345-E655-BB26-B1F0-0D1039AD2D89}"/>
              </a:ext>
            </a:extLst>
          </p:cNvPr>
          <p:cNvSpPr>
            <a:spLocks noGrp="1"/>
          </p:cNvSpPr>
          <p:nvPr>
            <p:ph type="sldNum" sz="quarter" idx="12"/>
          </p:nvPr>
        </p:nvSpPr>
        <p:spPr/>
        <p:txBody>
          <a:bodyPr/>
          <a:lstStyle/>
          <a:p>
            <a:fld id="{BB2CE0DE-867F-455F-B20B-96D381B4AB71}" type="slidenum">
              <a:rPr lang="en-US" smtClean="0"/>
              <a:t>82</a:t>
            </a:fld>
            <a:endParaRPr lang="en-US"/>
          </a:p>
        </p:txBody>
      </p:sp>
    </p:spTree>
    <p:extLst>
      <p:ext uri="{BB962C8B-B14F-4D97-AF65-F5344CB8AC3E}">
        <p14:creationId xmlns:p14="http://schemas.microsoft.com/office/powerpoint/2010/main" val="368789500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0E7BB-0FED-4141-B729-780E53D26D8E}"/>
              </a:ext>
            </a:extLst>
          </p:cNvPr>
          <p:cNvSpPr>
            <a:spLocks noGrp="1"/>
          </p:cNvSpPr>
          <p:nvPr>
            <p:ph type="title"/>
          </p:nvPr>
        </p:nvSpPr>
        <p:spPr/>
        <p:txBody>
          <a:bodyPr/>
          <a:lstStyle/>
          <a:p>
            <a:r>
              <a:rPr lang="en-IN" b="1" i="0" dirty="0">
                <a:solidFill>
                  <a:srgbClr val="242424"/>
                </a:solidFill>
                <a:effectLst/>
                <a:latin typeface="source-serif-pro"/>
              </a:rPr>
              <a:t>ImageNet</a:t>
            </a:r>
            <a:r>
              <a:rPr lang="en-IN" b="0" i="0" dirty="0">
                <a:solidFill>
                  <a:srgbClr val="242424"/>
                </a:solidFill>
                <a:effectLst/>
                <a:latin typeface="source-serif-pro"/>
              </a:rPr>
              <a:t> </a:t>
            </a:r>
            <a:endParaRPr lang="en-IN" dirty="0"/>
          </a:p>
        </p:txBody>
      </p:sp>
      <p:sp>
        <p:nvSpPr>
          <p:cNvPr id="3" name="Content Placeholder 2">
            <a:extLst>
              <a:ext uri="{FF2B5EF4-FFF2-40B4-BE49-F238E27FC236}">
                <a16:creationId xmlns:a16="http://schemas.microsoft.com/office/drawing/2014/main" id="{AB3E652B-06D4-457F-97AF-7C8FB2CB7092}"/>
              </a:ext>
            </a:extLst>
          </p:cNvPr>
          <p:cNvSpPr>
            <a:spLocks noGrp="1"/>
          </p:cNvSpPr>
          <p:nvPr>
            <p:ph idx="1"/>
          </p:nvPr>
        </p:nvSpPr>
        <p:spPr/>
        <p:txBody>
          <a:bodyPr/>
          <a:lstStyle/>
          <a:p>
            <a:pPr algn="just"/>
            <a:r>
              <a:rPr lang="en-US" sz="1800" dirty="0"/>
              <a:t>The ImageNet project is a large visual database designed for use in visual object recognition software research. </a:t>
            </a:r>
          </a:p>
          <a:p>
            <a:pPr algn="just"/>
            <a:r>
              <a:rPr lang="en-US" sz="1800" dirty="0"/>
              <a:t>The ImageNet project runs an annual software contest, the ImageNet Large Scale Visual Recognition Challenge (ILSVRC), where software programs compete to correctly classify and detect objects and scenes. </a:t>
            </a:r>
            <a:endParaRPr lang="en-IN" sz="1800" dirty="0"/>
          </a:p>
        </p:txBody>
      </p:sp>
      <p:sp>
        <p:nvSpPr>
          <p:cNvPr id="4" name="Date Placeholder 3">
            <a:extLst>
              <a:ext uri="{FF2B5EF4-FFF2-40B4-BE49-F238E27FC236}">
                <a16:creationId xmlns:a16="http://schemas.microsoft.com/office/drawing/2014/main" id="{CD5053EE-EAA0-4819-9E16-2760AFDBFBF6}"/>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BC3E4404-8DC7-4E05-A04A-DEA3E85E7B3B}"/>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5ECC0115-0195-44AC-90EB-BCFC68A8D27F}"/>
              </a:ext>
            </a:extLst>
          </p:cNvPr>
          <p:cNvSpPr>
            <a:spLocks noGrp="1"/>
          </p:cNvSpPr>
          <p:nvPr>
            <p:ph type="sldNum" sz="quarter" idx="12"/>
          </p:nvPr>
        </p:nvSpPr>
        <p:spPr/>
        <p:txBody>
          <a:bodyPr/>
          <a:lstStyle/>
          <a:p>
            <a:fld id="{BB2CE0DE-867F-455F-B20B-96D381B4AB71}" type="slidenum">
              <a:rPr lang="en-US" smtClean="0"/>
              <a:t>83</a:t>
            </a:fld>
            <a:endParaRPr lang="en-US"/>
          </a:p>
        </p:txBody>
      </p:sp>
    </p:spTree>
    <p:extLst>
      <p:ext uri="{BB962C8B-B14F-4D97-AF65-F5344CB8AC3E}">
        <p14:creationId xmlns:p14="http://schemas.microsoft.com/office/powerpoint/2010/main" val="209334623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552E2-C312-4824-8B7A-5C847127D78B}"/>
              </a:ext>
            </a:extLst>
          </p:cNvPr>
          <p:cNvSpPr>
            <a:spLocks noGrp="1"/>
          </p:cNvSpPr>
          <p:nvPr>
            <p:ph type="title"/>
          </p:nvPr>
        </p:nvSpPr>
        <p:spPr/>
        <p:txBody>
          <a:bodyPr/>
          <a:lstStyle/>
          <a:p>
            <a:r>
              <a:rPr lang="en-US" sz="3200" dirty="0"/>
              <a:t>ILSVRC winning architectures</a:t>
            </a:r>
            <a:endParaRPr lang="en-IN" dirty="0"/>
          </a:p>
        </p:txBody>
      </p:sp>
      <p:sp>
        <p:nvSpPr>
          <p:cNvPr id="3" name="Content Placeholder 2">
            <a:extLst>
              <a:ext uri="{FF2B5EF4-FFF2-40B4-BE49-F238E27FC236}">
                <a16:creationId xmlns:a16="http://schemas.microsoft.com/office/drawing/2014/main" id="{B27F82E5-1B40-4E20-B757-3993C88DAFE9}"/>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43153152-BBCE-4DB5-B2A8-17526D48F32E}"/>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6D525C84-28EB-497F-BBBF-95C51C491F98}"/>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C60FD846-CE46-4D3C-9854-11C4132BA62F}"/>
              </a:ext>
            </a:extLst>
          </p:cNvPr>
          <p:cNvSpPr>
            <a:spLocks noGrp="1"/>
          </p:cNvSpPr>
          <p:nvPr>
            <p:ph type="sldNum" sz="quarter" idx="12"/>
          </p:nvPr>
        </p:nvSpPr>
        <p:spPr/>
        <p:txBody>
          <a:bodyPr/>
          <a:lstStyle/>
          <a:p>
            <a:fld id="{BB2CE0DE-867F-455F-B20B-96D381B4AB71}" type="slidenum">
              <a:rPr lang="en-US" smtClean="0"/>
              <a:t>84</a:t>
            </a:fld>
            <a:endParaRPr lang="en-US"/>
          </a:p>
        </p:txBody>
      </p:sp>
      <p:pic>
        <p:nvPicPr>
          <p:cNvPr id="8" name="Picture 7">
            <a:extLst>
              <a:ext uri="{FF2B5EF4-FFF2-40B4-BE49-F238E27FC236}">
                <a16:creationId xmlns:a16="http://schemas.microsoft.com/office/drawing/2014/main" id="{265D7A71-8131-4A28-B028-607A2678B17C}"/>
              </a:ext>
            </a:extLst>
          </p:cNvPr>
          <p:cNvPicPr>
            <a:picLocks noChangeAspect="1"/>
          </p:cNvPicPr>
          <p:nvPr/>
        </p:nvPicPr>
        <p:blipFill>
          <a:blip r:embed="rId2"/>
          <a:stretch>
            <a:fillRect/>
          </a:stretch>
        </p:blipFill>
        <p:spPr>
          <a:xfrm>
            <a:off x="566737" y="1184097"/>
            <a:ext cx="6651523" cy="5029200"/>
          </a:xfrm>
          <a:prstGeom prst="rect">
            <a:avLst/>
          </a:prstGeom>
        </p:spPr>
      </p:pic>
    </p:spTree>
    <p:extLst>
      <p:ext uri="{BB962C8B-B14F-4D97-AF65-F5344CB8AC3E}">
        <p14:creationId xmlns:p14="http://schemas.microsoft.com/office/powerpoint/2010/main" val="182379727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1561B-CAFC-4CDB-96FC-725B9ACCAE6F}"/>
              </a:ext>
            </a:extLst>
          </p:cNvPr>
          <p:cNvSpPr>
            <a:spLocks noGrp="1"/>
          </p:cNvSpPr>
          <p:nvPr>
            <p:ph type="title"/>
          </p:nvPr>
        </p:nvSpPr>
        <p:spPr/>
        <p:txBody>
          <a:bodyPr/>
          <a:lstStyle/>
          <a:p>
            <a:r>
              <a:rPr lang="en-US" dirty="0" err="1"/>
              <a:t>LeNet</a:t>
            </a:r>
            <a:endParaRPr lang="en-IN" dirty="0"/>
          </a:p>
        </p:txBody>
      </p:sp>
      <p:sp>
        <p:nvSpPr>
          <p:cNvPr id="3" name="Content Placeholder 2">
            <a:extLst>
              <a:ext uri="{FF2B5EF4-FFF2-40B4-BE49-F238E27FC236}">
                <a16:creationId xmlns:a16="http://schemas.microsoft.com/office/drawing/2014/main" id="{AB75EA4B-EAE8-4A43-8087-8DA226E2C7E2}"/>
              </a:ext>
            </a:extLst>
          </p:cNvPr>
          <p:cNvSpPr>
            <a:spLocks noGrp="1"/>
          </p:cNvSpPr>
          <p:nvPr>
            <p:ph idx="1"/>
          </p:nvPr>
        </p:nvSpPr>
        <p:spPr/>
        <p:txBody>
          <a:bodyPr/>
          <a:lstStyle/>
          <a:p>
            <a:endParaRPr lang="en-IN" dirty="0"/>
          </a:p>
        </p:txBody>
      </p:sp>
      <p:sp>
        <p:nvSpPr>
          <p:cNvPr id="4" name="Date Placeholder 3">
            <a:extLst>
              <a:ext uri="{FF2B5EF4-FFF2-40B4-BE49-F238E27FC236}">
                <a16:creationId xmlns:a16="http://schemas.microsoft.com/office/drawing/2014/main" id="{82BE2DBB-F4FA-487F-A112-0FEE4B84A23F}"/>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E6844EE9-FE69-420B-8EDA-35751D76E877}"/>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96829407-6610-4578-9D47-487560CE9C24}"/>
              </a:ext>
            </a:extLst>
          </p:cNvPr>
          <p:cNvSpPr>
            <a:spLocks noGrp="1"/>
          </p:cNvSpPr>
          <p:nvPr>
            <p:ph type="sldNum" sz="quarter" idx="12"/>
          </p:nvPr>
        </p:nvSpPr>
        <p:spPr/>
        <p:txBody>
          <a:bodyPr/>
          <a:lstStyle/>
          <a:p>
            <a:fld id="{BB2CE0DE-867F-455F-B20B-96D381B4AB71}" type="slidenum">
              <a:rPr lang="en-US" smtClean="0"/>
              <a:t>85</a:t>
            </a:fld>
            <a:endParaRPr lang="en-US"/>
          </a:p>
        </p:txBody>
      </p:sp>
      <p:pic>
        <p:nvPicPr>
          <p:cNvPr id="8" name="Picture 7">
            <a:extLst>
              <a:ext uri="{FF2B5EF4-FFF2-40B4-BE49-F238E27FC236}">
                <a16:creationId xmlns:a16="http://schemas.microsoft.com/office/drawing/2014/main" id="{3EE93AA3-E394-43EA-9805-7963267D6F4C}"/>
              </a:ext>
            </a:extLst>
          </p:cNvPr>
          <p:cNvPicPr>
            <a:picLocks noChangeAspect="1"/>
          </p:cNvPicPr>
          <p:nvPr/>
        </p:nvPicPr>
        <p:blipFill>
          <a:blip r:embed="rId2"/>
          <a:stretch>
            <a:fillRect/>
          </a:stretch>
        </p:blipFill>
        <p:spPr>
          <a:xfrm>
            <a:off x="517080" y="1203789"/>
            <a:ext cx="9144000" cy="1241883"/>
          </a:xfrm>
          <a:prstGeom prst="rect">
            <a:avLst/>
          </a:prstGeom>
        </p:spPr>
      </p:pic>
      <p:pic>
        <p:nvPicPr>
          <p:cNvPr id="10" name="Picture 9">
            <a:extLst>
              <a:ext uri="{FF2B5EF4-FFF2-40B4-BE49-F238E27FC236}">
                <a16:creationId xmlns:a16="http://schemas.microsoft.com/office/drawing/2014/main" id="{4BB183BB-EF22-44B3-A315-5BF4DE822208}"/>
              </a:ext>
            </a:extLst>
          </p:cNvPr>
          <p:cNvPicPr>
            <a:picLocks noChangeAspect="1"/>
          </p:cNvPicPr>
          <p:nvPr/>
        </p:nvPicPr>
        <p:blipFill>
          <a:blip r:embed="rId3"/>
          <a:stretch>
            <a:fillRect/>
          </a:stretch>
        </p:blipFill>
        <p:spPr>
          <a:xfrm>
            <a:off x="578725" y="2745334"/>
            <a:ext cx="6965988" cy="1140865"/>
          </a:xfrm>
          <a:prstGeom prst="rect">
            <a:avLst/>
          </a:prstGeom>
        </p:spPr>
      </p:pic>
    </p:spTree>
    <p:extLst>
      <p:ext uri="{BB962C8B-B14F-4D97-AF65-F5344CB8AC3E}">
        <p14:creationId xmlns:p14="http://schemas.microsoft.com/office/powerpoint/2010/main" val="94857390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15E451-D9A7-2414-8560-25E28B5EFD86}"/>
              </a:ext>
            </a:extLst>
          </p:cNvPr>
          <p:cNvSpPr>
            <a:spLocks noGrp="1"/>
          </p:cNvSpPr>
          <p:nvPr>
            <p:ph type="title"/>
          </p:nvPr>
        </p:nvSpPr>
        <p:spPr/>
        <p:txBody>
          <a:bodyPr/>
          <a:lstStyle/>
          <a:p>
            <a:r>
              <a:rPr lang="en-IN" dirty="0"/>
              <a:t>LeNet5</a:t>
            </a:r>
          </a:p>
        </p:txBody>
      </p:sp>
      <p:sp>
        <p:nvSpPr>
          <p:cNvPr id="3" name="Content Placeholder 2">
            <a:extLst>
              <a:ext uri="{FF2B5EF4-FFF2-40B4-BE49-F238E27FC236}">
                <a16:creationId xmlns:a16="http://schemas.microsoft.com/office/drawing/2014/main" id="{7D5A3C9F-3141-7C83-669E-628048DDE00F}"/>
              </a:ext>
            </a:extLst>
          </p:cNvPr>
          <p:cNvSpPr>
            <a:spLocks noGrp="1"/>
          </p:cNvSpPr>
          <p:nvPr>
            <p:ph idx="1"/>
          </p:nvPr>
        </p:nvSpPr>
        <p:spPr/>
        <p:txBody>
          <a:bodyPr/>
          <a:lstStyle/>
          <a:p>
            <a:pPr marL="0" indent="0" algn="just">
              <a:buNone/>
            </a:pPr>
            <a:r>
              <a:rPr lang="en-US" sz="2000" b="0" i="0" dirty="0">
                <a:solidFill>
                  <a:srgbClr val="273239"/>
                </a:solidFill>
                <a:effectLst/>
                <a:latin typeface="Nunito" pitchFamily="2" charset="0"/>
              </a:rPr>
              <a:t>In the late 1990s, Yann LeCun, Léon </a:t>
            </a:r>
            <a:r>
              <a:rPr lang="en-US" sz="2000" b="0" i="0" dirty="0" err="1">
                <a:solidFill>
                  <a:srgbClr val="273239"/>
                </a:solidFill>
                <a:effectLst/>
                <a:latin typeface="Nunito" pitchFamily="2" charset="0"/>
              </a:rPr>
              <a:t>Bottou</a:t>
            </a:r>
            <a:r>
              <a:rPr lang="en-US" sz="2000" b="0" i="0" dirty="0">
                <a:solidFill>
                  <a:srgbClr val="273239"/>
                </a:solidFill>
                <a:effectLst/>
                <a:latin typeface="Nunito" pitchFamily="2" charset="0"/>
              </a:rPr>
              <a:t>, Yoshua Bengio, and Patrick Haffner created a convolutional neural network (CNN) based architecture called LeNet. </a:t>
            </a:r>
          </a:p>
          <a:p>
            <a:pPr marL="0" indent="0" algn="just">
              <a:buNone/>
            </a:pPr>
            <a:r>
              <a:rPr lang="en-US" sz="2000" b="0" i="0" dirty="0">
                <a:solidFill>
                  <a:srgbClr val="273239"/>
                </a:solidFill>
                <a:effectLst/>
                <a:latin typeface="Nunito" pitchFamily="2" charset="0"/>
              </a:rPr>
              <a:t>The </a:t>
            </a:r>
            <a:r>
              <a:rPr lang="en-US" sz="2000" b="1" i="0" dirty="0">
                <a:solidFill>
                  <a:srgbClr val="273239"/>
                </a:solidFill>
                <a:effectLst/>
                <a:latin typeface="Nunito" pitchFamily="2" charset="0"/>
              </a:rPr>
              <a:t>LeNet-5</a:t>
            </a:r>
            <a:r>
              <a:rPr lang="en-US" sz="2000" b="0" i="0" dirty="0">
                <a:solidFill>
                  <a:srgbClr val="273239"/>
                </a:solidFill>
                <a:effectLst/>
                <a:latin typeface="Nunito" pitchFamily="2" charset="0"/>
              </a:rPr>
              <a:t> architecture was developed to </a:t>
            </a:r>
            <a:r>
              <a:rPr lang="en-US" sz="2000" b="1" i="0" dirty="0">
                <a:solidFill>
                  <a:srgbClr val="273239"/>
                </a:solidFill>
                <a:effectLst/>
                <a:latin typeface="Nunito" pitchFamily="2" charset="0"/>
              </a:rPr>
              <a:t>recognize handwritten and machine-printed characters</a:t>
            </a:r>
            <a:r>
              <a:rPr lang="en-US" sz="2000" b="0" i="0" dirty="0">
                <a:solidFill>
                  <a:srgbClr val="273239"/>
                </a:solidFill>
                <a:effectLst/>
                <a:latin typeface="Nunito" pitchFamily="2" charset="0"/>
              </a:rPr>
              <a:t>, a function that showcased the potential of deep learning in practical applications. </a:t>
            </a:r>
            <a:endParaRPr lang="en-IN" sz="2000" dirty="0"/>
          </a:p>
        </p:txBody>
      </p:sp>
      <p:sp>
        <p:nvSpPr>
          <p:cNvPr id="4" name="Date Placeholder 3">
            <a:extLst>
              <a:ext uri="{FF2B5EF4-FFF2-40B4-BE49-F238E27FC236}">
                <a16:creationId xmlns:a16="http://schemas.microsoft.com/office/drawing/2014/main" id="{FD53F618-9EDA-167E-7168-6E57BFD26CAD}"/>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353C73E8-AF9D-E608-0AA8-7C3AF1C22DC7}"/>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C11F149D-8AFC-65E0-6518-9613FABCFF3C}"/>
              </a:ext>
            </a:extLst>
          </p:cNvPr>
          <p:cNvSpPr>
            <a:spLocks noGrp="1"/>
          </p:cNvSpPr>
          <p:nvPr>
            <p:ph type="sldNum" sz="quarter" idx="12"/>
          </p:nvPr>
        </p:nvSpPr>
        <p:spPr/>
        <p:txBody>
          <a:bodyPr/>
          <a:lstStyle/>
          <a:p>
            <a:fld id="{BB2CE0DE-867F-455F-B20B-96D381B4AB71}" type="slidenum">
              <a:rPr lang="en-US" smtClean="0"/>
              <a:t>86</a:t>
            </a:fld>
            <a:endParaRPr lang="en-US"/>
          </a:p>
        </p:txBody>
      </p:sp>
    </p:spTree>
    <p:extLst>
      <p:ext uri="{BB962C8B-B14F-4D97-AF65-F5344CB8AC3E}">
        <p14:creationId xmlns:p14="http://schemas.microsoft.com/office/powerpoint/2010/main" val="346472097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329521-4E25-8DD4-C918-593EA0C79A57}"/>
              </a:ext>
            </a:extLst>
          </p:cNvPr>
          <p:cNvSpPr>
            <a:spLocks noGrp="1"/>
          </p:cNvSpPr>
          <p:nvPr>
            <p:ph type="title"/>
          </p:nvPr>
        </p:nvSpPr>
        <p:spPr/>
        <p:txBody>
          <a:bodyPr/>
          <a:lstStyle/>
          <a:p>
            <a:r>
              <a:rPr lang="en-IN" dirty="0"/>
              <a:t>Features of LeNet-5</a:t>
            </a:r>
          </a:p>
        </p:txBody>
      </p:sp>
      <p:sp>
        <p:nvSpPr>
          <p:cNvPr id="3" name="Content Placeholder 2">
            <a:extLst>
              <a:ext uri="{FF2B5EF4-FFF2-40B4-BE49-F238E27FC236}">
                <a16:creationId xmlns:a16="http://schemas.microsoft.com/office/drawing/2014/main" id="{1C974FA4-2FD3-7DB7-A79A-6AEBDD951E0B}"/>
              </a:ext>
            </a:extLst>
          </p:cNvPr>
          <p:cNvSpPr>
            <a:spLocks noGrp="1"/>
          </p:cNvSpPr>
          <p:nvPr>
            <p:ph idx="1"/>
          </p:nvPr>
        </p:nvSpPr>
        <p:spPr/>
        <p:txBody>
          <a:bodyPr/>
          <a:lstStyle/>
          <a:p>
            <a:pPr algn="just">
              <a:spcBef>
                <a:spcPts val="0"/>
              </a:spcBef>
              <a:buFont typeface="Arial" panose="020B0604020202020204" pitchFamily="34" charset="0"/>
              <a:buChar char="•"/>
            </a:pPr>
            <a:r>
              <a:rPr lang="en-US" sz="2400" i="0" dirty="0">
                <a:solidFill>
                  <a:srgbClr val="242424"/>
                </a:solidFill>
                <a:effectLst/>
                <a:latin typeface="source-serif-pro"/>
              </a:rPr>
              <a:t>Every convolutional layer includes three parts: convolution, pooling, and nonlinear activation functions.</a:t>
            </a:r>
          </a:p>
          <a:p>
            <a:pPr algn="just">
              <a:spcBef>
                <a:spcPts val="0"/>
              </a:spcBef>
              <a:buFont typeface="Arial" panose="020B0604020202020204" pitchFamily="34" charset="0"/>
              <a:buChar char="•"/>
            </a:pPr>
            <a:r>
              <a:rPr lang="en-US" sz="2400" i="0" dirty="0">
                <a:solidFill>
                  <a:srgbClr val="242424"/>
                </a:solidFill>
                <a:effectLst/>
                <a:latin typeface="source-serif-pro"/>
              </a:rPr>
              <a:t>Using convolution to extract spatial features.</a:t>
            </a:r>
          </a:p>
          <a:p>
            <a:pPr algn="just">
              <a:spcBef>
                <a:spcPts val="0"/>
              </a:spcBef>
              <a:buFont typeface="Arial" panose="020B0604020202020204" pitchFamily="34" charset="0"/>
              <a:buChar char="•"/>
            </a:pPr>
            <a:r>
              <a:rPr lang="en-US" sz="2400" i="0" dirty="0">
                <a:solidFill>
                  <a:srgbClr val="242424"/>
                </a:solidFill>
                <a:effectLst/>
                <a:latin typeface="source-serif-pro"/>
              </a:rPr>
              <a:t>The </a:t>
            </a:r>
            <a:r>
              <a:rPr lang="en-US" sz="2400" b="1" i="0" dirty="0">
                <a:solidFill>
                  <a:srgbClr val="242424"/>
                </a:solidFill>
                <a:effectLst/>
                <a:latin typeface="source-serif-pro"/>
              </a:rPr>
              <a:t>average pooling layer </a:t>
            </a:r>
            <a:r>
              <a:rPr lang="en-US" sz="2400" i="0" dirty="0">
                <a:solidFill>
                  <a:srgbClr val="242424"/>
                </a:solidFill>
                <a:effectLst/>
                <a:latin typeface="source-serif-pro"/>
              </a:rPr>
              <a:t>is used for </a:t>
            </a:r>
            <a:r>
              <a:rPr lang="en-US" sz="2400" b="1" i="0" dirty="0">
                <a:solidFill>
                  <a:srgbClr val="242424"/>
                </a:solidFill>
                <a:effectLst/>
                <a:latin typeface="source-serif-pro"/>
              </a:rPr>
              <a:t>subsampling</a:t>
            </a:r>
            <a:r>
              <a:rPr lang="en-US" sz="2400" i="0" dirty="0">
                <a:solidFill>
                  <a:srgbClr val="242424"/>
                </a:solidFill>
                <a:effectLst/>
                <a:latin typeface="source-serif-pro"/>
              </a:rPr>
              <a:t>.</a:t>
            </a:r>
          </a:p>
          <a:p>
            <a:pPr algn="just">
              <a:spcBef>
                <a:spcPts val="0"/>
              </a:spcBef>
              <a:buFont typeface="Arial" panose="020B0604020202020204" pitchFamily="34" charset="0"/>
              <a:buChar char="•"/>
            </a:pPr>
            <a:r>
              <a:rPr lang="en-US" sz="2400" i="0" dirty="0">
                <a:solidFill>
                  <a:srgbClr val="242424"/>
                </a:solidFill>
                <a:effectLst/>
                <a:latin typeface="source-serif-pro"/>
              </a:rPr>
              <a:t>‘tanh’ is used as the activation function.</a:t>
            </a:r>
          </a:p>
          <a:p>
            <a:pPr algn="just">
              <a:spcBef>
                <a:spcPts val="0"/>
              </a:spcBef>
              <a:buFont typeface="Arial" panose="020B0604020202020204" pitchFamily="34" charset="0"/>
              <a:buChar char="•"/>
            </a:pPr>
            <a:r>
              <a:rPr lang="en-US" sz="2400" i="0" dirty="0">
                <a:solidFill>
                  <a:srgbClr val="242424"/>
                </a:solidFill>
                <a:effectLst/>
                <a:latin typeface="source-serif-pro"/>
              </a:rPr>
              <a:t>Using Multi-Layered Perceptron or Fully Connected Layers as the last classifier.</a:t>
            </a:r>
            <a:endParaRPr lang="en-IN" sz="2400" dirty="0"/>
          </a:p>
        </p:txBody>
      </p:sp>
      <p:sp>
        <p:nvSpPr>
          <p:cNvPr id="4" name="Date Placeholder 3">
            <a:extLst>
              <a:ext uri="{FF2B5EF4-FFF2-40B4-BE49-F238E27FC236}">
                <a16:creationId xmlns:a16="http://schemas.microsoft.com/office/drawing/2014/main" id="{FC8B51C0-53B9-11FA-6599-8AA0B106E222}"/>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01693899-2B8F-B907-E279-7F544BD16957}"/>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DCCD9DE9-6A66-7142-93A1-1DF2F208DBFB}"/>
              </a:ext>
            </a:extLst>
          </p:cNvPr>
          <p:cNvSpPr>
            <a:spLocks noGrp="1"/>
          </p:cNvSpPr>
          <p:nvPr>
            <p:ph type="sldNum" sz="quarter" idx="12"/>
          </p:nvPr>
        </p:nvSpPr>
        <p:spPr/>
        <p:txBody>
          <a:bodyPr/>
          <a:lstStyle/>
          <a:p>
            <a:fld id="{BB2CE0DE-867F-455F-B20B-96D381B4AB71}" type="slidenum">
              <a:rPr lang="en-US" smtClean="0"/>
              <a:t>87</a:t>
            </a:fld>
            <a:endParaRPr lang="en-US"/>
          </a:p>
        </p:txBody>
      </p:sp>
    </p:spTree>
    <p:extLst>
      <p:ext uri="{BB962C8B-B14F-4D97-AF65-F5344CB8AC3E}">
        <p14:creationId xmlns:p14="http://schemas.microsoft.com/office/powerpoint/2010/main" val="302130191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E1952-2489-17CC-F37E-0D6F04B8D439}"/>
              </a:ext>
            </a:extLst>
          </p:cNvPr>
          <p:cNvSpPr>
            <a:spLocks noGrp="1"/>
          </p:cNvSpPr>
          <p:nvPr>
            <p:ph type="title"/>
          </p:nvPr>
        </p:nvSpPr>
        <p:spPr/>
        <p:txBody>
          <a:bodyPr/>
          <a:lstStyle/>
          <a:p>
            <a:r>
              <a:rPr lang="en-IN" i="0" dirty="0">
                <a:solidFill>
                  <a:srgbClr val="242424"/>
                </a:solidFill>
                <a:effectLst/>
                <a:latin typeface="sohne"/>
              </a:rPr>
              <a:t>Architecture</a:t>
            </a:r>
            <a:endParaRPr lang="en-IN" dirty="0"/>
          </a:p>
        </p:txBody>
      </p:sp>
      <p:sp>
        <p:nvSpPr>
          <p:cNvPr id="3" name="Content Placeholder 2">
            <a:extLst>
              <a:ext uri="{FF2B5EF4-FFF2-40B4-BE49-F238E27FC236}">
                <a16:creationId xmlns:a16="http://schemas.microsoft.com/office/drawing/2014/main" id="{E14E0C70-AEC3-CC6C-C65D-4EFA349163DE}"/>
              </a:ext>
            </a:extLst>
          </p:cNvPr>
          <p:cNvSpPr>
            <a:spLocks noGrp="1"/>
          </p:cNvSpPr>
          <p:nvPr>
            <p:ph idx="1"/>
          </p:nvPr>
        </p:nvSpPr>
        <p:spPr/>
        <p:txBody>
          <a:bodyPr/>
          <a:lstStyle/>
          <a:p>
            <a:pPr marL="0" indent="0">
              <a:buNone/>
            </a:pPr>
            <a:r>
              <a:rPr lang="en-US" sz="2400" b="0" i="0" dirty="0">
                <a:solidFill>
                  <a:srgbClr val="242424"/>
                </a:solidFill>
                <a:effectLst/>
                <a:latin typeface="source-serif-pro"/>
              </a:rPr>
              <a:t>The LeNet-5 CNN architecture has </a:t>
            </a:r>
            <a:r>
              <a:rPr lang="en-US" sz="2400" b="1" i="0" dirty="0">
                <a:solidFill>
                  <a:srgbClr val="242424"/>
                </a:solidFill>
                <a:effectLst/>
                <a:latin typeface="source-serif-pro"/>
              </a:rPr>
              <a:t>seven</a:t>
            </a:r>
            <a:r>
              <a:rPr lang="en-US" sz="2400" b="0" i="0" dirty="0">
                <a:solidFill>
                  <a:srgbClr val="242424"/>
                </a:solidFill>
                <a:effectLst/>
                <a:latin typeface="source-serif-pro"/>
              </a:rPr>
              <a:t> layers. </a:t>
            </a:r>
            <a:r>
              <a:rPr lang="en-US" sz="2400" b="1" i="0" dirty="0">
                <a:solidFill>
                  <a:srgbClr val="242424"/>
                </a:solidFill>
                <a:effectLst/>
                <a:latin typeface="source-serif-pro"/>
              </a:rPr>
              <a:t>Three</a:t>
            </a:r>
            <a:r>
              <a:rPr lang="en-US" sz="2400" b="0" i="0" dirty="0">
                <a:solidFill>
                  <a:srgbClr val="242424"/>
                </a:solidFill>
                <a:effectLst/>
                <a:latin typeface="source-serif-pro"/>
              </a:rPr>
              <a:t> convolutional layers, </a:t>
            </a:r>
          </a:p>
          <a:p>
            <a:pPr marL="0" indent="0">
              <a:buNone/>
            </a:pPr>
            <a:r>
              <a:rPr lang="en-US" sz="2400" b="1" i="0" dirty="0">
                <a:solidFill>
                  <a:srgbClr val="242424"/>
                </a:solidFill>
                <a:effectLst/>
                <a:latin typeface="source-serif-pro"/>
              </a:rPr>
              <a:t>two</a:t>
            </a:r>
            <a:r>
              <a:rPr lang="en-US" sz="2400" b="0" i="0" dirty="0">
                <a:solidFill>
                  <a:srgbClr val="242424"/>
                </a:solidFill>
                <a:effectLst/>
                <a:latin typeface="source-serif-pro"/>
              </a:rPr>
              <a:t> subsampling layers, and </a:t>
            </a:r>
          </a:p>
          <a:p>
            <a:pPr marL="0" indent="0">
              <a:buNone/>
            </a:pPr>
            <a:r>
              <a:rPr lang="en-US" sz="2400" b="1" i="0" dirty="0">
                <a:solidFill>
                  <a:srgbClr val="242424"/>
                </a:solidFill>
                <a:effectLst/>
                <a:latin typeface="source-serif-pro"/>
              </a:rPr>
              <a:t>two </a:t>
            </a:r>
            <a:r>
              <a:rPr lang="en-US" sz="2400" b="0" i="0" dirty="0">
                <a:solidFill>
                  <a:srgbClr val="242424"/>
                </a:solidFill>
                <a:effectLst/>
                <a:latin typeface="source-serif-pro"/>
              </a:rPr>
              <a:t>fully linked layers make up the layer composition.</a:t>
            </a:r>
            <a:endParaRPr lang="en-IN" sz="2400" dirty="0"/>
          </a:p>
        </p:txBody>
      </p:sp>
      <p:sp>
        <p:nvSpPr>
          <p:cNvPr id="4" name="Date Placeholder 3">
            <a:extLst>
              <a:ext uri="{FF2B5EF4-FFF2-40B4-BE49-F238E27FC236}">
                <a16:creationId xmlns:a16="http://schemas.microsoft.com/office/drawing/2014/main" id="{15EAF9C4-EB6E-0226-990E-D478BE1A98F8}"/>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0034FFD2-CEA3-4ECD-DB2D-E0784AE6C244}"/>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8ED73952-2717-7FAE-7B66-056486BEDA0B}"/>
              </a:ext>
            </a:extLst>
          </p:cNvPr>
          <p:cNvSpPr>
            <a:spLocks noGrp="1"/>
          </p:cNvSpPr>
          <p:nvPr>
            <p:ph type="sldNum" sz="quarter" idx="12"/>
          </p:nvPr>
        </p:nvSpPr>
        <p:spPr/>
        <p:txBody>
          <a:bodyPr/>
          <a:lstStyle/>
          <a:p>
            <a:fld id="{BB2CE0DE-867F-455F-B20B-96D381B4AB71}" type="slidenum">
              <a:rPr lang="en-US" smtClean="0"/>
              <a:t>88</a:t>
            </a:fld>
            <a:endParaRPr lang="en-US"/>
          </a:p>
        </p:txBody>
      </p:sp>
      <p:pic>
        <p:nvPicPr>
          <p:cNvPr id="7" name="Picture 6">
            <a:extLst>
              <a:ext uri="{FF2B5EF4-FFF2-40B4-BE49-F238E27FC236}">
                <a16:creationId xmlns:a16="http://schemas.microsoft.com/office/drawing/2014/main" id="{311D84F4-D95E-4BF3-BFF8-C46B9772B2DF}"/>
              </a:ext>
            </a:extLst>
          </p:cNvPr>
          <p:cNvPicPr>
            <a:picLocks noChangeAspect="1"/>
          </p:cNvPicPr>
          <p:nvPr/>
        </p:nvPicPr>
        <p:blipFill>
          <a:blip r:embed="rId2"/>
          <a:stretch>
            <a:fillRect/>
          </a:stretch>
        </p:blipFill>
        <p:spPr>
          <a:xfrm>
            <a:off x="609600" y="3200400"/>
            <a:ext cx="8096250" cy="2895600"/>
          </a:xfrm>
          <a:prstGeom prst="rect">
            <a:avLst/>
          </a:prstGeom>
        </p:spPr>
      </p:pic>
    </p:spTree>
    <p:extLst>
      <p:ext uri="{BB962C8B-B14F-4D97-AF65-F5344CB8AC3E}">
        <p14:creationId xmlns:p14="http://schemas.microsoft.com/office/powerpoint/2010/main" val="96418389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1E80C-0DFE-49E5-4CD0-7F8EAD95646E}"/>
              </a:ext>
            </a:extLst>
          </p:cNvPr>
          <p:cNvSpPr>
            <a:spLocks noGrp="1"/>
          </p:cNvSpPr>
          <p:nvPr>
            <p:ph type="title"/>
          </p:nvPr>
        </p:nvSpPr>
        <p:spPr/>
        <p:txBody>
          <a:bodyPr/>
          <a:lstStyle/>
          <a:p>
            <a:r>
              <a:rPr lang="en-IN" dirty="0"/>
              <a:t>LeNet Architecture: First Layer</a:t>
            </a:r>
          </a:p>
        </p:txBody>
      </p:sp>
      <p:sp>
        <p:nvSpPr>
          <p:cNvPr id="3" name="Content Placeholder 2">
            <a:extLst>
              <a:ext uri="{FF2B5EF4-FFF2-40B4-BE49-F238E27FC236}">
                <a16:creationId xmlns:a16="http://schemas.microsoft.com/office/drawing/2014/main" id="{F78477A1-464D-EE43-2744-EFADE2AF071A}"/>
              </a:ext>
            </a:extLst>
          </p:cNvPr>
          <p:cNvSpPr>
            <a:spLocks noGrp="1"/>
          </p:cNvSpPr>
          <p:nvPr>
            <p:ph idx="1"/>
          </p:nvPr>
        </p:nvSpPr>
        <p:spPr/>
        <p:txBody>
          <a:bodyPr/>
          <a:lstStyle/>
          <a:p>
            <a:pPr marL="0" indent="0" algn="just">
              <a:buNone/>
            </a:pPr>
            <a:r>
              <a:rPr lang="en-US" sz="2000" b="0" i="0" dirty="0">
                <a:solidFill>
                  <a:srgbClr val="242424"/>
                </a:solidFill>
                <a:effectLst/>
                <a:latin typeface="source-serif-pro"/>
              </a:rPr>
              <a:t>The result of the </a:t>
            </a:r>
            <a:r>
              <a:rPr lang="en-US" sz="2000" b="1" i="0" dirty="0">
                <a:solidFill>
                  <a:srgbClr val="242424"/>
                </a:solidFill>
                <a:effectLst/>
                <a:latin typeface="source-serif-pro"/>
              </a:rPr>
              <a:t>convolution</a:t>
            </a:r>
            <a:r>
              <a:rPr lang="en-US" sz="2000" b="0" i="0" dirty="0">
                <a:solidFill>
                  <a:srgbClr val="242424"/>
                </a:solidFill>
                <a:effectLst/>
                <a:latin typeface="source-serif-pro"/>
              </a:rPr>
              <a:t> of an input image with 6 filters has to lead to the change in dimension from (32x32x1) to (28x28x6) and we get our </a:t>
            </a:r>
            <a:r>
              <a:rPr lang="en-US" sz="2000" b="1" i="0" dirty="0">
                <a:solidFill>
                  <a:srgbClr val="242424"/>
                </a:solidFill>
                <a:effectLst/>
                <a:latin typeface="source-serif-pro"/>
              </a:rPr>
              <a:t>first layer</a:t>
            </a:r>
            <a:r>
              <a:rPr lang="en-US" sz="2000" b="0" i="0" dirty="0">
                <a:solidFill>
                  <a:srgbClr val="242424"/>
                </a:solidFill>
                <a:effectLst/>
                <a:latin typeface="source-serif-pro"/>
              </a:rPr>
              <a:t>. So, 1 channel is changed to 6 channels as 6 filters are applied to our input image. Also, the image size has been reduced as a result of zero paddings with a kernel size of (5x5).</a:t>
            </a:r>
            <a:endParaRPr lang="en-IN" sz="2000" dirty="0"/>
          </a:p>
        </p:txBody>
      </p:sp>
      <p:sp>
        <p:nvSpPr>
          <p:cNvPr id="4" name="Date Placeholder 3">
            <a:extLst>
              <a:ext uri="{FF2B5EF4-FFF2-40B4-BE49-F238E27FC236}">
                <a16:creationId xmlns:a16="http://schemas.microsoft.com/office/drawing/2014/main" id="{AFA1EA1A-FDC0-9EEF-FEA5-BC7EDBF98391}"/>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297C0E1E-1E86-C1CD-3C0C-BEAF4D446075}"/>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A0174936-FF5E-9639-3274-999B7D6109B1}"/>
              </a:ext>
            </a:extLst>
          </p:cNvPr>
          <p:cNvSpPr>
            <a:spLocks noGrp="1"/>
          </p:cNvSpPr>
          <p:nvPr>
            <p:ph type="sldNum" sz="quarter" idx="12"/>
          </p:nvPr>
        </p:nvSpPr>
        <p:spPr/>
        <p:txBody>
          <a:bodyPr/>
          <a:lstStyle/>
          <a:p>
            <a:fld id="{BB2CE0DE-867F-455F-B20B-96D381B4AB71}" type="slidenum">
              <a:rPr lang="en-US" smtClean="0"/>
              <a:t>89</a:t>
            </a:fld>
            <a:endParaRPr lang="en-US"/>
          </a:p>
        </p:txBody>
      </p:sp>
      <p:pic>
        <p:nvPicPr>
          <p:cNvPr id="7" name="Picture 6">
            <a:extLst>
              <a:ext uri="{FF2B5EF4-FFF2-40B4-BE49-F238E27FC236}">
                <a16:creationId xmlns:a16="http://schemas.microsoft.com/office/drawing/2014/main" id="{861F3DDB-C92B-AAC6-FB49-1CE5F084FE0A}"/>
              </a:ext>
            </a:extLst>
          </p:cNvPr>
          <p:cNvPicPr>
            <a:picLocks noChangeAspect="1"/>
          </p:cNvPicPr>
          <p:nvPr/>
        </p:nvPicPr>
        <p:blipFill>
          <a:blip r:embed="rId2"/>
          <a:stretch>
            <a:fillRect/>
          </a:stretch>
        </p:blipFill>
        <p:spPr>
          <a:xfrm>
            <a:off x="457200" y="3063555"/>
            <a:ext cx="8458200" cy="3260251"/>
          </a:xfrm>
          <a:prstGeom prst="rect">
            <a:avLst/>
          </a:prstGeom>
        </p:spPr>
      </p:pic>
    </p:spTree>
    <p:extLst>
      <p:ext uri="{BB962C8B-B14F-4D97-AF65-F5344CB8AC3E}">
        <p14:creationId xmlns:p14="http://schemas.microsoft.com/office/powerpoint/2010/main" val="318529418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7F8AE-B625-DA68-2278-7F0D0AD68F4F}"/>
              </a:ext>
            </a:extLst>
          </p:cNvPr>
          <p:cNvSpPr>
            <a:spLocks noGrp="1"/>
          </p:cNvSpPr>
          <p:nvPr>
            <p:ph type="title"/>
          </p:nvPr>
        </p:nvSpPr>
        <p:spPr/>
        <p:txBody>
          <a:bodyPr/>
          <a:lstStyle/>
          <a:p>
            <a:r>
              <a:rPr lang="en-IN" dirty="0"/>
              <a:t>LeNet Architecture: Second Layer</a:t>
            </a:r>
          </a:p>
        </p:txBody>
      </p:sp>
      <p:sp>
        <p:nvSpPr>
          <p:cNvPr id="3" name="Content Placeholder 2">
            <a:extLst>
              <a:ext uri="{FF2B5EF4-FFF2-40B4-BE49-F238E27FC236}">
                <a16:creationId xmlns:a16="http://schemas.microsoft.com/office/drawing/2014/main" id="{ED1FB134-55DA-8134-1E7D-9AA643E5D2B7}"/>
              </a:ext>
            </a:extLst>
          </p:cNvPr>
          <p:cNvSpPr>
            <a:spLocks noGrp="1"/>
          </p:cNvSpPr>
          <p:nvPr>
            <p:ph idx="1"/>
          </p:nvPr>
        </p:nvSpPr>
        <p:spPr/>
        <p:txBody>
          <a:bodyPr/>
          <a:lstStyle/>
          <a:p>
            <a:pPr marL="0" indent="0" algn="just">
              <a:buNone/>
            </a:pPr>
            <a:r>
              <a:rPr lang="en-US" sz="1800" b="0" i="0" dirty="0">
                <a:solidFill>
                  <a:srgbClr val="242424"/>
                </a:solidFill>
                <a:effectLst/>
                <a:latin typeface="source-serif-pro"/>
              </a:rPr>
              <a:t>In the </a:t>
            </a:r>
            <a:r>
              <a:rPr lang="en-US" sz="1800" b="1" i="0" dirty="0">
                <a:solidFill>
                  <a:srgbClr val="242424"/>
                </a:solidFill>
                <a:effectLst/>
                <a:latin typeface="source-serif-pro"/>
              </a:rPr>
              <a:t>second layer</a:t>
            </a:r>
            <a:r>
              <a:rPr lang="en-US" sz="1800" b="0" i="0" dirty="0">
                <a:solidFill>
                  <a:srgbClr val="242424"/>
                </a:solidFill>
                <a:effectLst/>
                <a:latin typeface="source-serif-pro"/>
              </a:rPr>
              <a:t>, we implemented an </a:t>
            </a:r>
            <a:r>
              <a:rPr lang="en-US" sz="1800" b="1" i="0" dirty="0">
                <a:solidFill>
                  <a:srgbClr val="242424"/>
                </a:solidFill>
                <a:effectLst/>
                <a:latin typeface="source-serif-pro"/>
              </a:rPr>
              <a:t>average pooling layer </a:t>
            </a:r>
            <a:r>
              <a:rPr lang="en-US" sz="1800" b="0" i="0" dirty="0">
                <a:solidFill>
                  <a:srgbClr val="242424"/>
                </a:solidFill>
                <a:effectLst/>
                <a:latin typeface="source-serif-pro"/>
              </a:rPr>
              <a:t>with a filter size of (2x2) and a stride of 2. So, the resultant image dimension will decrease to (14x14x6). Here each unit in each feature map is connected to (</a:t>
            </a:r>
            <a:r>
              <a:rPr lang="en-US" sz="1800" b="1" i="0" dirty="0">
                <a:solidFill>
                  <a:srgbClr val="242424"/>
                </a:solidFill>
                <a:effectLst/>
                <a:latin typeface="source-serif-pro"/>
              </a:rPr>
              <a:t>2 x 2) </a:t>
            </a:r>
            <a:r>
              <a:rPr lang="en-US" sz="1800" b="0" i="0" dirty="0">
                <a:solidFill>
                  <a:srgbClr val="242424"/>
                </a:solidFill>
                <a:effectLst/>
                <a:latin typeface="source-serif-pro"/>
              </a:rPr>
              <a:t>neighborhood in the corresponding feature map in </a:t>
            </a:r>
            <a:r>
              <a:rPr lang="en-US" sz="1800" b="1" i="0" dirty="0">
                <a:solidFill>
                  <a:srgbClr val="242424"/>
                </a:solidFill>
                <a:effectLst/>
                <a:latin typeface="source-serif-pro"/>
              </a:rPr>
              <a:t>C1.</a:t>
            </a:r>
            <a:endParaRPr lang="en-IN" sz="1800" dirty="0"/>
          </a:p>
          <a:p>
            <a:pPr algn="just"/>
            <a:endParaRPr lang="en-IN" sz="1800" dirty="0"/>
          </a:p>
        </p:txBody>
      </p:sp>
      <p:sp>
        <p:nvSpPr>
          <p:cNvPr id="4" name="Date Placeholder 3">
            <a:extLst>
              <a:ext uri="{FF2B5EF4-FFF2-40B4-BE49-F238E27FC236}">
                <a16:creationId xmlns:a16="http://schemas.microsoft.com/office/drawing/2014/main" id="{2C38A69E-727B-D1E5-2A6A-E26DEEACD6B1}"/>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C72B26C6-F8EA-B2BE-5B3D-474DD6339E61}"/>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9A04F86A-87A9-40B5-BB30-7191D70A3BB3}"/>
              </a:ext>
            </a:extLst>
          </p:cNvPr>
          <p:cNvSpPr>
            <a:spLocks noGrp="1"/>
          </p:cNvSpPr>
          <p:nvPr>
            <p:ph type="sldNum" sz="quarter" idx="12"/>
          </p:nvPr>
        </p:nvSpPr>
        <p:spPr/>
        <p:txBody>
          <a:bodyPr/>
          <a:lstStyle/>
          <a:p>
            <a:fld id="{BB2CE0DE-867F-455F-B20B-96D381B4AB71}" type="slidenum">
              <a:rPr lang="en-US" smtClean="0"/>
              <a:t>90</a:t>
            </a:fld>
            <a:endParaRPr lang="en-US"/>
          </a:p>
        </p:txBody>
      </p:sp>
      <p:pic>
        <p:nvPicPr>
          <p:cNvPr id="1026" name="Picture 2">
            <a:extLst>
              <a:ext uri="{FF2B5EF4-FFF2-40B4-BE49-F238E27FC236}">
                <a16:creationId xmlns:a16="http://schemas.microsoft.com/office/drawing/2014/main" id="{B70F2867-BDF7-FEB9-D366-BC11C65045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2904" y="2743200"/>
            <a:ext cx="8334375" cy="3181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070326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02F564-6679-8B5E-D345-83602F58A00B}"/>
              </a:ext>
            </a:extLst>
          </p:cNvPr>
          <p:cNvSpPr>
            <a:spLocks noGrp="1"/>
          </p:cNvSpPr>
          <p:nvPr>
            <p:ph type="title"/>
          </p:nvPr>
        </p:nvSpPr>
        <p:spPr/>
        <p:txBody>
          <a:bodyPr/>
          <a:lstStyle/>
          <a:p>
            <a:r>
              <a:rPr lang="en-IN" dirty="0"/>
              <a:t>LeNet Architecture: Third Layer</a:t>
            </a:r>
          </a:p>
        </p:txBody>
      </p:sp>
      <p:sp>
        <p:nvSpPr>
          <p:cNvPr id="3" name="Content Placeholder 2">
            <a:extLst>
              <a:ext uri="{FF2B5EF4-FFF2-40B4-BE49-F238E27FC236}">
                <a16:creationId xmlns:a16="http://schemas.microsoft.com/office/drawing/2014/main" id="{755D62AB-5539-3CC8-175E-EE5733226D13}"/>
              </a:ext>
            </a:extLst>
          </p:cNvPr>
          <p:cNvSpPr>
            <a:spLocks noGrp="1"/>
          </p:cNvSpPr>
          <p:nvPr>
            <p:ph idx="1"/>
          </p:nvPr>
        </p:nvSpPr>
        <p:spPr/>
        <p:txBody>
          <a:bodyPr/>
          <a:lstStyle/>
          <a:p>
            <a:pPr marL="0" indent="0" algn="just">
              <a:buNone/>
            </a:pPr>
            <a:r>
              <a:rPr lang="en-US" sz="2000" b="0" i="0" dirty="0">
                <a:solidFill>
                  <a:srgbClr val="242424"/>
                </a:solidFill>
                <a:effectLst/>
                <a:latin typeface="source-serif-pro"/>
              </a:rPr>
              <a:t>If we proceed further to the </a:t>
            </a:r>
            <a:r>
              <a:rPr lang="en-US" sz="2000" b="1" i="0" dirty="0">
                <a:solidFill>
                  <a:srgbClr val="242424"/>
                </a:solidFill>
                <a:effectLst/>
                <a:latin typeface="source-serif-pro"/>
              </a:rPr>
              <a:t>third layer</a:t>
            </a:r>
            <a:r>
              <a:rPr lang="en-US" sz="2000" b="0" i="0" dirty="0">
                <a:solidFill>
                  <a:srgbClr val="242424"/>
                </a:solidFill>
                <a:effectLst/>
                <a:latin typeface="source-serif-pro"/>
              </a:rPr>
              <a:t>, we are applying </a:t>
            </a:r>
            <a:r>
              <a:rPr lang="en-US" sz="2000" b="1" i="0" dirty="0">
                <a:solidFill>
                  <a:srgbClr val="242424"/>
                </a:solidFill>
                <a:effectLst/>
                <a:latin typeface="source-serif-pro"/>
              </a:rPr>
              <a:t>16</a:t>
            </a:r>
            <a:r>
              <a:rPr lang="en-US" sz="2000" b="0" i="0" dirty="0">
                <a:solidFill>
                  <a:srgbClr val="242424"/>
                </a:solidFill>
                <a:effectLst/>
                <a:latin typeface="source-serif-pro"/>
              </a:rPr>
              <a:t> filters with a kernel size of (5x5) to </a:t>
            </a:r>
            <a:r>
              <a:rPr lang="en-US" sz="2000" b="1" i="0" dirty="0">
                <a:solidFill>
                  <a:srgbClr val="242424"/>
                </a:solidFill>
                <a:effectLst/>
                <a:latin typeface="source-serif-pro"/>
              </a:rPr>
              <a:t>S2 </a:t>
            </a:r>
            <a:r>
              <a:rPr lang="en-US" sz="2000" b="0" i="0" dirty="0">
                <a:solidFill>
                  <a:srgbClr val="242424"/>
                </a:solidFill>
                <a:effectLst/>
                <a:latin typeface="source-serif-pro"/>
              </a:rPr>
              <a:t>resulting in a </a:t>
            </a:r>
            <a:r>
              <a:rPr lang="en-US" sz="2000" b="1" i="0" dirty="0">
                <a:solidFill>
                  <a:srgbClr val="242424"/>
                </a:solidFill>
                <a:effectLst/>
                <a:latin typeface="source-serif-pro"/>
              </a:rPr>
              <a:t>convolution layer C3 </a:t>
            </a:r>
            <a:r>
              <a:rPr lang="en-US" sz="2000" b="0" i="0" dirty="0">
                <a:solidFill>
                  <a:srgbClr val="242424"/>
                </a:solidFill>
                <a:effectLst/>
                <a:latin typeface="source-serif-pro"/>
              </a:rPr>
              <a:t>with </a:t>
            </a:r>
            <a:r>
              <a:rPr lang="en-US" sz="2000" b="1" i="0" dirty="0">
                <a:solidFill>
                  <a:srgbClr val="242424"/>
                </a:solidFill>
                <a:effectLst/>
                <a:latin typeface="source-serif-pro"/>
              </a:rPr>
              <a:t>16 </a:t>
            </a:r>
            <a:r>
              <a:rPr lang="en-US" sz="2000" b="0" i="1" dirty="0">
                <a:solidFill>
                  <a:srgbClr val="242424"/>
                </a:solidFill>
                <a:effectLst/>
                <a:latin typeface="source-serif-pro"/>
              </a:rPr>
              <a:t>feature maps. </a:t>
            </a:r>
            <a:r>
              <a:rPr lang="en-US" sz="2000" b="0" i="0" dirty="0">
                <a:solidFill>
                  <a:srgbClr val="242424"/>
                </a:solidFill>
                <a:effectLst/>
                <a:latin typeface="source-serif-pro"/>
              </a:rPr>
              <a:t>This convolution results in changing the dimension of the image from </a:t>
            </a:r>
            <a:r>
              <a:rPr lang="en-US" sz="2000" b="1" i="1" dirty="0">
                <a:solidFill>
                  <a:srgbClr val="242424"/>
                </a:solidFill>
                <a:effectLst/>
                <a:latin typeface="source-serif-pro"/>
              </a:rPr>
              <a:t>(14 x 14 x 6) </a:t>
            </a:r>
            <a:r>
              <a:rPr lang="en-US" sz="2000" b="0" i="1" dirty="0">
                <a:solidFill>
                  <a:srgbClr val="242424"/>
                </a:solidFill>
                <a:effectLst/>
                <a:latin typeface="source-serif-pro"/>
              </a:rPr>
              <a:t>in</a:t>
            </a:r>
            <a:r>
              <a:rPr lang="en-US" sz="2000" b="1" i="1" dirty="0">
                <a:solidFill>
                  <a:srgbClr val="242424"/>
                </a:solidFill>
                <a:effectLst/>
                <a:latin typeface="source-serif-pro"/>
              </a:rPr>
              <a:t> S2 </a:t>
            </a:r>
            <a:r>
              <a:rPr lang="en-US" sz="2000" b="0" i="0" dirty="0">
                <a:solidFill>
                  <a:srgbClr val="242424"/>
                </a:solidFill>
                <a:effectLst/>
                <a:latin typeface="source-serif-pro"/>
              </a:rPr>
              <a:t>to (</a:t>
            </a:r>
            <a:r>
              <a:rPr lang="en-US" sz="2000" b="1" i="1" dirty="0">
                <a:solidFill>
                  <a:srgbClr val="242424"/>
                </a:solidFill>
                <a:effectLst/>
                <a:latin typeface="source-serif-pro"/>
              </a:rPr>
              <a:t>10 x 10 x 16) </a:t>
            </a:r>
            <a:r>
              <a:rPr lang="en-US" sz="2000" b="0" i="1" dirty="0">
                <a:solidFill>
                  <a:srgbClr val="242424"/>
                </a:solidFill>
                <a:effectLst/>
                <a:latin typeface="source-serif-pro"/>
              </a:rPr>
              <a:t>in</a:t>
            </a:r>
            <a:r>
              <a:rPr lang="en-US" sz="2000" b="1" i="1" dirty="0">
                <a:solidFill>
                  <a:srgbClr val="242424"/>
                </a:solidFill>
                <a:effectLst/>
                <a:latin typeface="source-serif-pro"/>
              </a:rPr>
              <a:t> C3</a:t>
            </a:r>
            <a:r>
              <a:rPr lang="en-US" sz="2000" b="0" i="0" dirty="0">
                <a:solidFill>
                  <a:srgbClr val="242424"/>
                </a:solidFill>
                <a:effectLst/>
                <a:latin typeface="source-serif-pro"/>
              </a:rPr>
              <a:t>.</a:t>
            </a:r>
            <a:endParaRPr lang="en-IN" sz="3600" dirty="0"/>
          </a:p>
        </p:txBody>
      </p:sp>
      <p:sp>
        <p:nvSpPr>
          <p:cNvPr id="4" name="Date Placeholder 3">
            <a:extLst>
              <a:ext uri="{FF2B5EF4-FFF2-40B4-BE49-F238E27FC236}">
                <a16:creationId xmlns:a16="http://schemas.microsoft.com/office/drawing/2014/main" id="{F31D54C4-E1EB-676D-332D-DA276B2D92CC}"/>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29F92B18-29F8-9B32-7705-911BBFE90EC7}"/>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E68602CF-9A77-5B2B-C3B3-91B04CA61D09}"/>
              </a:ext>
            </a:extLst>
          </p:cNvPr>
          <p:cNvSpPr>
            <a:spLocks noGrp="1"/>
          </p:cNvSpPr>
          <p:nvPr>
            <p:ph type="sldNum" sz="quarter" idx="12"/>
          </p:nvPr>
        </p:nvSpPr>
        <p:spPr/>
        <p:txBody>
          <a:bodyPr/>
          <a:lstStyle/>
          <a:p>
            <a:fld id="{BB2CE0DE-867F-455F-B20B-96D381B4AB71}" type="slidenum">
              <a:rPr lang="en-US" smtClean="0"/>
              <a:t>91</a:t>
            </a:fld>
            <a:endParaRPr lang="en-US"/>
          </a:p>
        </p:txBody>
      </p:sp>
      <p:pic>
        <p:nvPicPr>
          <p:cNvPr id="7" name="Picture 6">
            <a:extLst>
              <a:ext uri="{FF2B5EF4-FFF2-40B4-BE49-F238E27FC236}">
                <a16:creationId xmlns:a16="http://schemas.microsoft.com/office/drawing/2014/main" id="{F8316362-CA86-7F1C-0211-51F2FB73370D}"/>
              </a:ext>
            </a:extLst>
          </p:cNvPr>
          <p:cNvPicPr>
            <a:picLocks noChangeAspect="1"/>
          </p:cNvPicPr>
          <p:nvPr/>
        </p:nvPicPr>
        <p:blipFill>
          <a:blip r:embed="rId2"/>
          <a:stretch>
            <a:fillRect/>
          </a:stretch>
        </p:blipFill>
        <p:spPr>
          <a:xfrm>
            <a:off x="534081" y="2940489"/>
            <a:ext cx="8534400" cy="3460311"/>
          </a:xfrm>
          <a:prstGeom prst="rect">
            <a:avLst/>
          </a:prstGeom>
        </p:spPr>
      </p:pic>
    </p:spTree>
    <p:extLst>
      <p:ext uri="{BB962C8B-B14F-4D97-AF65-F5344CB8AC3E}">
        <p14:creationId xmlns:p14="http://schemas.microsoft.com/office/powerpoint/2010/main" val="234940662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E20DF-5316-D9D2-38B1-3A52BA89272F}"/>
              </a:ext>
            </a:extLst>
          </p:cNvPr>
          <p:cNvSpPr>
            <a:spLocks noGrp="1"/>
          </p:cNvSpPr>
          <p:nvPr>
            <p:ph type="title"/>
          </p:nvPr>
        </p:nvSpPr>
        <p:spPr/>
        <p:txBody>
          <a:bodyPr/>
          <a:lstStyle/>
          <a:p>
            <a:r>
              <a:rPr lang="en-IN" dirty="0"/>
              <a:t>LeNet Architecture: Fourth Layer</a:t>
            </a:r>
          </a:p>
        </p:txBody>
      </p:sp>
      <p:sp>
        <p:nvSpPr>
          <p:cNvPr id="3" name="Content Placeholder 2">
            <a:extLst>
              <a:ext uri="{FF2B5EF4-FFF2-40B4-BE49-F238E27FC236}">
                <a16:creationId xmlns:a16="http://schemas.microsoft.com/office/drawing/2014/main" id="{E73EB1D6-6F1D-10C2-5BAD-5BB6425940E7}"/>
              </a:ext>
            </a:extLst>
          </p:cNvPr>
          <p:cNvSpPr>
            <a:spLocks noGrp="1"/>
          </p:cNvSpPr>
          <p:nvPr>
            <p:ph idx="1"/>
          </p:nvPr>
        </p:nvSpPr>
        <p:spPr/>
        <p:txBody>
          <a:bodyPr/>
          <a:lstStyle/>
          <a:p>
            <a:pPr marL="0" indent="0" algn="just">
              <a:buNone/>
            </a:pPr>
            <a:r>
              <a:rPr lang="en-US" sz="2000" b="0" i="0" dirty="0">
                <a:solidFill>
                  <a:srgbClr val="242424"/>
                </a:solidFill>
                <a:effectLst/>
                <a:latin typeface="source-serif-pro"/>
              </a:rPr>
              <a:t>In the </a:t>
            </a:r>
            <a:r>
              <a:rPr lang="en-US" sz="2000" b="1" i="0" dirty="0">
                <a:solidFill>
                  <a:srgbClr val="242424"/>
                </a:solidFill>
                <a:effectLst/>
                <a:latin typeface="source-serif-pro"/>
              </a:rPr>
              <a:t>fourth layer, </a:t>
            </a:r>
            <a:r>
              <a:rPr lang="en-US" sz="2000" b="0" i="0" dirty="0">
                <a:solidFill>
                  <a:srgbClr val="242424"/>
                </a:solidFill>
                <a:effectLst/>
                <a:latin typeface="source-serif-pro"/>
              </a:rPr>
              <a:t>we’ll again apply the </a:t>
            </a:r>
            <a:r>
              <a:rPr lang="en-US" sz="2000" b="1" i="0" dirty="0">
                <a:solidFill>
                  <a:srgbClr val="242424"/>
                </a:solidFill>
                <a:effectLst/>
                <a:latin typeface="source-serif-pro"/>
              </a:rPr>
              <a:t>average pooling layer </a:t>
            </a:r>
            <a:r>
              <a:rPr lang="en-US" sz="2000" b="0" i="0" dirty="0">
                <a:solidFill>
                  <a:srgbClr val="242424"/>
                </a:solidFill>
                <a:effectLst/>
                <a:latin typeface="source-serif-pro"/>
              </a:rPr>
              <a:t>with the filter size as (2x2) and a stride of 2. So, the resultant image has a resultant of the average pool which will be of the dimension (5x5x16). Here each unit in each feature map of </a:t>
            </a:r>
            <a:r>
              <a:rPr lang="en-US" sz="2000" b="1" i="0" dirty="0">
                <a:solidFill>
                  <a:srgbClr val="242424"/>
                </a:solidFill>
                <a:effectLst/>
                <a:latin typeface="source-serif-pro"/>
              </a:rPr>
              <a:t>S4 </a:t>
            </a:r>
            <a:r>
              <a:rPr lang="en-US" sz="2000" b="0" i="0" dirty="0">
                <a:solidFill>
                  <a:srgbClr val="242424"/>
                </a:solidFill>
                <a:effectLst/>
                <a:latin typeface="source-serif-pro"/>
              </a:rPr>
              <a:t>is connected to (</a:t>
            </a:r>
            <a:r>
              <a:rPr lang="en-US" sz="2000" b="1" i="0" dirty="0">
                <a:solidFill>
                  <a:srgbClr val="242424"/>
                </a:solidFill>
                <a:effectLst/>
                <a:latin typeface="source-serif-pro"/>
              </a:rPr>
              <a:t>2 x 2) </a:t>
            </a:r>
            <a:r>
              <a:rPr lang="en-US" sz="2000" b="0" i="0" dirty="0">
                <a:solidFill>
                  <a:srgbClr val="242424"/>
                </a:solidFill>
                <a:effectLst/>
                <a:latin typeface="source-serif-pro"/>
              </a:rPr>
              <a:t>neighborhood in the corresponding feature map in </a:t>
            </a:r>
            <a:r>
              <a:rPr lang="en-US" sz="2000" b="1" i="0" dirty="0">
                <a:solidFill>
                  <a:srgbClr val="242424"/>
                </a:solidFill>
                <a:effectLst/>
                <a:latin typeface="source-serif-pro"/>
              </a:rPr>
              <a:t>C3.</a:t>
            </a:r>
            <a:endParaRPr lang="en-IN" sz="2000" dirty="0"/>
          </a:p>
        </p:txBody>
      </p:sp>
      <p:sp>
        <p:nvSpPr>
          <p:cNvPr id="4" name="Date Placeholder 3">
            <a:extLst>
              <a:ext uri="{FF2B5EF4-FFF2-40B4-BE49-F238E27FC236}">
                <a16:creationId xmlns:a16="http://schemas.microsoft.com/office/drawing/2014/main" id="{D59949AE-EE86-492B-D295-49CFC9D7C35B}"/>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D56376C5-0738-5FD1-729C-AB38B9E1DBCC}"/>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F9E7AEBB-E021-C641-1B5A-23D9BF94079D}"/>
              </a:ext>
            </a:extLst>
          </p:cNvPr>
          <p:cNvSpPr>
            <a:spLocks noGrp="1"/>
          </p:cNvSpPr>
          <p:nvPr>
            <p:ph type="sldNum" sz="quarter" idx="12"/>
          </p:nvPr>
        </p:nvSpPr>
        <p:spPr/>
        <p:txBody>
          <a:bodyPr/>
          <a:lstStyle/>
          <a:p>
            <a:fld id="{BB2CE0DE-867F-455F-B20B-96D381B4AB71}" type="slidenum">
              <a:rPr lang="en-US" smtClean="0"/>
              <a:t>92</a:t>
            </a:fld>
            <a:endParaRPr lang="en-US"/>
          </a:p>
        </p:txBody>
      </p:sp>
      <p:pic>
        <p:nvPicPr>
          <p:cNvPr id="7" name="Picture 6">
            <a:extLst>
              <a:ext uri="{FF2B5EF4-FFF2-40B4-BE49-F238E27FC236}">
                <a16:creationId xmlns:a16="http://schemas.microsoft.com/office/drawing/2014/main" id="{CAA271BD-473D-1E44-3CF1-2AD93B996A77}"/>
              </a:ext>
            </a:extLst>
          </p:cNvPr>
          <p:cNvPicPr>
            <a:picLocks noChangeAspect="1"/>
          </p:cNvPicPr>
          <p:nvPr/>
        </p:nvPicPr>
        <p:blipFill>
          <a:blip r:embed="rId2"/>
          <a:stretch>
            <a:fillRect/>
          </a:stretch>
        </p:blipFill>
        <p:spPr>
          <a:xfrm>
            <a:off x="566738" y="3174114"/>
            <a:ext cx="8229600" cy="3149692"/>
          </a:xfrm>
          <a:prstGeom prst="rect">
            <a:avLst/>
          </a:prstGeom>
        </p:spPr>
      </p:pic>
    </p:spTree>
    <p:extLst>
      <p:ext uri="{BB962C8B-B14F-4D97-AF65-F5344CB8AC3E}">
        <p14:creationId xmlns:p14="http://schemas.microsoft.com/office/powerpoint/2010/main" val="398921845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C46B8A-1585-2C13-D3E7-4D3173701100}"/>
              </a:ext>
            </a:extLst>
          </p:cNvPr>
          <p:cNvSpPr>
            <a:spLocks noGrp="1"/>
          </p:cNvSpPr>
          <p:nvPr>
            <p:ph type="title"/>
          </p:nvPr>
        </p:nvSpPr>
        <p:spPr/>
        <p:txBody>
          <a:bodyPr/>
          <a:lstStyle/>
          <a:p>
            <a:r>
              <a:rPr lang="en-IN" dirty="0"/>
              <a:t>LeNet Architecture: Fifth Layer</a:t>
            </a:r>
          </a:p>
        </p:txBody>
      </p:sp>
      <p:sp>
        <p:nvSpPr>
          <p:cNvPr id="3" name="Content Placeholder 2">
            <a:extLst>
              <a:ext uri="{FF2B5EF4-FFF2-40B4-BE49-F238E27FC236}">
                <a16:creationId xmlns:a16="http://schemas.microsoft.com/office/drawing/2014/main" id="{3A03E21E-BB54-97EB-C264-B61D32A65C1B}"/>
              </a:ext>
            </a:extLst>
          </p:cNvPr>
          <p:cNvSpPr>
            <a:spLocks noGrp="1"/>
          </p:cNvSpPr>
          <p:nvPr>
            <p:ph idx="1"/>
          </p:nvPr>
        </p:nvSpPr>
        <p:spPr/>
        <p:txBody>
          <a:bodyPr/>
          <a:lstStyle/>
          <a:p>
            <a:pPr marL="0" indent="0" algn="just">
              <a:buNone/>
            </a:pPr>
            <a:r>
              <a:rPr lang="en-US" sz="2000" b="0" i="0" dirty="0">
                <a:solidFill>
                  <a:srgbClr val="242424"/>
                </a:solidFill>
                <a:effectLst/>
                <a:latin typeface="source-serif-pro"/>
              </a:rPr>
              <a:t>In the </a:t>
            </a:r>
            <a:r>
              <a:rPr lang="en-US" sz="2000" b="1" i="0" dirty="0">
                <a:solidFill>
                  <a:srgbClr val="242424"/>
                </a:solidFill>
                <a:effectLst/>
                <a:latin typeface="source-serif-pro"/>
              </a:rPr>
              <a:t>fifth layer</a:t>
            </a:r>
            <a:r>
              <a:rPr lang="en-US" sz="2000" b="0" i="0" dirty="0">
                <a:solidFill>
                  <a:srgbClr val="242424"/>
                </a:solidFill>
                <a:effectLst/>
                <a:latin typeface="source-serif-pro"/>
              </a:rPr>
              <a:t>, we have a </a:t>
            </a:r>
            <a:r>
              <a:rPr lang="en-US" sz="2000" b="1" i="1" dirty="0">
                <a:solidFill>
                  <a:srgbClr val="242424"/>
                </a:solidFill>
                <a:effectLst/>
                <a:latin typeface="source-serif-pro"/>
              </a:rPr>
              <a:t>fully connected Convolution layer C5 </a:t>
            </a:r>
            <a:r>
              <a:rPr lang="en-US" sz="2000" b="0" i="0" dirty="0">
                <a:solidFill>
                  <a:srgbClr val="242424"/>
                </a:solidFill>
                <a:effectLst/>
                <a:latin typeface="source-serif-pro"/>
              </a:rPr>
              <a:t>that has 120 neuron units, and each unit of C5 is connected to (5 x 5) neighborhood on all 16 of S4’s feature maps i.e. every unit of C5 is connected to all the feature maps of S4 and, thus </a:t>
            </a:r>
            <a:r>
              <a:rPr lang="en-US" sz="2000" b="1" i="1" dirty="0">
                <a:solidFill>
                  <a:srgbClr val="242424"/>
                </a:solidFill>
                <a:effectLst/>
                <a:latin typeface="source-serif-pro"/>
              </a:rPr>
              <a:t>C5</a:t>
            </a:r>
            <a:r>
              <a:rPr lang="en-US" sz="2000" b="0" i="0" dirty="0">
                <a:solidFill>
                  <a:srgbClr val="242424"/>
                </a:solidFill>
                <a:effectLst/>
                <a:latin typeface="source-serif-pro"/>
              </a:rPr>
              <a:t> is known as </a:t>
            </a:r>
            <a:r>
              <a:rPr lang="en-US" sz="2000" b="1" i="1" dirty="0">
                <a:solidFill>
                  <a:srgbClr val="242424"/>
                </a:solidFill>
                <a:effectLst/>
                <a:latin typeface="source-serif-pro"/>
              </a:rPr>
              <a:t>Fully Connected Convolution Layer.</a:t>
            </a:r>
            <a:endParaRPr lang="en-IN" sz="2000" dirty="0"/>
          </a:p>
        </p:txBody>
      </p:sp>
      <p:sp>
        <p:nvSpPr>
          <p:cNvPr id="4" name="Date Placeholder 3">
            <a:extLst>
              <a:ext uri="{FF2B5EF4-FFF2-40B4-BE49-F238E27FC236}">
                <a16:creationId xmlns:a16="http://schemas.microsoft.com/office/drawing/2014/main" id="{E51A0891-BA27-36AC-8A1C-B588F8AFBB93}"/>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2E9468FE-9553-E2EE-1B0D-38768BB1D989}"/>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45823AF1-4B7F-4E25-3EFE-EB27993F1D13}"/>
              </a:ext>
            </a:extLst>
          </p:cNvPr>
          <p:cNvSpPr>
            <a:spLocks noGrp="1"/>
          </p:cNvSpPr>
          <p:nvPr>
            <p:ph type="sldNum" sz="quarter" idx="12"/>
          </p:nvPr>
        </p:nvSpPr>
        <p:spPr/>
        <p:txBody>
          <a:bodyPr/>
          <a:lstStyle/>
          <a:p>
            <a:fld id="{BB2CE0DE-867F-455F-B20B-96D381B4AB71}" type="slidenum">
              <a:rPr lang="en-US" smtClean="0"/>
              <a:t>93</a:t>
            </a:fld>
            <a:endParaRPr lang="en-US"/>
          </a:p>
        </p:txBody>
      </p:sp>
      <p:pic>
        <p:nvPicPr>
          <p:cNvPr id="7" name="Picture 6">
            <a:extLst>
              <a:ext uri="{FF2B5EF4-FFF2-40B4-BE49-F238E27FC236}">
                <a16:creationId xmlns:a16="http://schemas.microsoft.com/office/drawing/2014/main" id="{8F0EEE3D-8652-0D5D-50E3-ACB6DE1945F8}"/>
              </a:ext>
            </a:extLst>
          </p:cNvPr>
          <p:cNvPicPr>
            <a:picLocks noChangeAspect="1"/>
          </p:cNvPicPr>
          <p:nvPr/>
        </p:nvPicPr>
        <p:blipFill>
          <a:blip r:embed="rId2"/>
          <a:stretch>
            <a:fillRect/>
          </a:stretch>
        </p:blipFill>
        <p:spPr>
          <a:xfrm>
            <a:off x="909638" y="2805860"/>
            <a:ext cx="7315200" cy="3517946"/>
          </a:xfrm>
          <a:prstGeom prst="rect">
            <a:avLst/>
          </a:prstGeom>
        </p:spPr>
      </p:pic>
    </p:spTree>
    <p:extLst>
      <p:ext uri="{BB962C8B-B14F-4D97-AF65-F5344CB8AC3E}">
        <p14:creationId xmlns:p14="http://schemas.microsoft.com/office/powerpoint/2010/main" val="261302757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2DA7E-9796-38A3-D604-4D2E0A0AAFD0}"/>
              </a:ext>
            </a:extLst>
          </p:cNvPr>
          <p:cNvSpPr>
            <a:spLocks noGrp="1"/>
          </p:cNvSpPr>
          <p:nvPr>
            <p:ph type="title"/>
          </p:nvPr>
        </p:nvSpPr>
        <p:spPr/>
        <p:txBody>
          <a:bodyPr/>
          <a:lstStyle/>
          <a:p>
            <a:r>
              <a:rPr lang="en-IN" dirty="0"/>
              <a:t>LeNet Architecture: Sixth Layer</a:t>
            </a:r>
          </a:p>
        </p:txBody>
      </p:sp>
      <p:sp>
        <p:nvSpPr>
          <p:cNvPr id="3" name="Content Placeholder 2">
            <a:extLst>
              <a:ext uri="{FF2B5EF4-FFF2-40B4-BE49-F238E27FC236}">
                <a16:creationId xmlns:a16="http://schemas.microsoft.com/office/drawing/2014/main" id="{A294BA64-5ABE-F5B1-21CA-F447C111082F}"/>
              </a:ext>
            </a:extLst>
          </p:cNvPr>
          <p:cNvSpPr>
            <a:spLocks noGrp="1"/>
          </p:cNvSpPr>
          <p:nvPr>
            <p:ph idx="1"/>
          </p:nvPr>
        </p:nvSpPr>
        <p:spPr/>
        <p:txBody>
          <a:bodyPr/>
          <a:lstStyle/>
          <a:p>
            <a:pPr marL="0" indent="0">
              <a:buNone/>
            </a:pPr>
            <a:r>
              <a:rPr lang="en-US" sz="2000" b="0" i="0" dirty="0">
                <a:solidFill>
                  <a:srgbClr val="242424"/>
                </a:solidFill>
                <a:effectLst/>
                <a:latin typeface="source-serif-pro"/>
              </a:rPr>
              <a:t>The </a:t>
            </a:r>
            <a:r>
              <a:rPr lang="en-US" sz="2000" b="1" i="0" dirty="0">
                <a:solidFill>
                  <a:srgbClr val="242424"/>
                </a:solidFill>
                <a:effectLst/>
                <a:latin typeface="source-serif-pro"/>
              </a:rPr>
              <a:t>Sixth layer F6 </a:t>
            </a:r>
            <a:r>
              <a:rPr lang="en-US" sz="2000" b="0" i="0" dirty="0">
                <a:solidFill>
                  <a:srgbClr val="242424"/>
                </a:solidFill>
                <a:effectLst/>
                <a:latin typeface="source-serif-pro"/>
              </a:rPr>
              <a:t>consists of 84 neurons </a:t>
            </a:r>
            <a:r>
              <a:rPr lang="en-US" sz="2000" b="1" i="1" dirty="0">
                <a:solidFill>
                  <a:srgbClr val="242424"/>
                </a:solidFill>
                <a:effectLst/>
                <a:latin typeface="source-serif-pro"/>
              </a:rPr>
              <a:t>Fully connected </a:t>
            </a:r>
            <a:r>
              <a:rPr lang="en-US" sz="2000" b="0" i="0" dirty="0">
                <a:solidFill>
                  <a:srgbClr val="242424"/>
                </a:solidFill>
                <a:effectLst/>
                <a:latin typeface="source-serif-pro"/>
              </a:rPr>
              <a:t>with </a:t>
            </a:r>
            <a:r>
              <a:rPr lang="en-US" sz="2000" b="1" i="0" dirty="0">
                <a:solidFill>
                  <a:srgbClr val="242424"/>
                </a:solidFill>
                <a:effectLst/>
                <a:latin typeface="source-serif-pro"/>
              </a:rPr>
              <a:t>C5</a:t>
            </a:r>
            <a:r>
              <a:rPr lang="en-US" sz="2000" b="0" i="0" dirty="0">
                <a:solidFill>
                  <a:srgbClr val="242424"/>
                </a:solidFill>
                <a:effectLst/>
                <a:latin typeface="source-serif-pro"/>
              </a:rPr>
              <a:t>. Here dot product between the input vector and weight vector is performed and then bias is added to it. The result is then passed through a sigmoidal activation function.</a:t>
            </a:r>
            <a:endParaRPr lang="en-IN" sz="2000" dirty="0"/>
          </a:p>
        </p:txBody>
      </p:sp>
      <p:sp>
        <p:nvSpPr>
          <p:cNvPr id="4" name="Date Placeholder 3">
            <a:extLst>
              <a:ext uri="{FF2B5EF4-FFF2-40B4-BE49-F238E27FC236}">
                <a16:creationId xmlns:a16="http://schemas.microsoft.com/office/drawing/2014/main" id="{76D4844B-C98C-2DD3-079D-45C2CFD4978A}"/>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AA469C8C-CE63-E4F1-AC54-F1C911F58147}"/>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8E9B0CA2-2775-C9DD-D240-B24546B7E980}"/>
              </a:ext>
            </a:extLst>
          </p:cNvPr>
          <p:cNvSpPr>
            <a:spLocks noGrp="1"/>
          </p:cNvSpPr>
          <p:nvPr>
            <p:ph type="sldNum" sz="quarter" idx="12"/>
          </p:nvPr>
        </p:nvSpPr>
        <p:spPr/>
        <p:txBody>
          <a:bodyPr/>
          <a:lstStyle/>
          <a:p>
            <a:fld id="{BB2CE0DE-867F-455F-B20B-96D381B4AB71}" type="slidenum">
              <a:rPr lang="en-US" smtClean="0"/>
              <a:t>94</a:t>
            </a:fld>
            <a:endParaRPr lang="en-US"/>
          </a:p>
        </p:txBody>
      </p:sp>
      <p:pic>
        <p:nvPicPr>
          <p:cNvPr id="7" name="Picture 6">
            <a:extLst>
              <a:ext uri="{FF2B5EF4-FFF2-40B4-BE49-F238E27FC236}">
                <a16:creationId xmlns:a16="http://schemas.microsoft.com/office/drawing/2014/main" id="{81817A9F-CD54-474D-D506-6DAA9E8AAF22}"/>
              </a:ext>
            </a:extLst>
          </p:cNvPr>
          <p:cNvPicPr>
            <a:picLocks noChangeAspect="1"/>
          </p:cNvPicPr>
          <p:nvPr/>
        </p:nvPicPr>
        <p:blipFill>
          <a:blip r:embed="rId2"/>
          <a:stretch>
            <a:fillRect/>
          </a:stretch>
        </p:blipFill>
        <p:spPr>
          <a:xfrm>
            <a:off x="2295036" y="2180575"/>
            <a:ext cx="4560277" cy="4380562"/>
          </a:xfrm>
          <a:prstGeom prst="rect">
            <a:avLst/>
          </a:prstGeom>
        </p:spPr>
      </p:pic>
    </p:spTree>
    <p:extLst>
      <p:ext uri="{BB962C8B-B14F-4D97-AF65-F5344CB8AC3E}">
        <p14:creationId xmlns:p14="http://schemas.microsoft.com/office/powerpoint/2010/main" val="170091142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79F09-FB5B-11BC-8F1E-DE2CB4AC8669}"/>
              </a:ext>
            </a:extLst>
          </p:cNvPr>
          <p:cNvSpPr>
            <a:spLocks noGrp="1"/>
          </p:cNvSpPr>
          <p:nvPr>
            <p:ph type="title"/>
          </p:nvPr>
        </p:nvSpPr>
        <p:spPr/>
        <p:txBody>
          <a:bodyPr/>
          <a:lstStyle/>
          <a:p>
            <a:r>
              <a:rPr lang="en-IN" dirty="0"/>
              <a:t>LeNet Architecture: Last Layer</a:t>
            </a:r>
          </a:p>
        </p:txBody>
      </p:sp>
      <p:sp>
        <p:nvSpPr>
          <p:cNvPr id="3" name="Content Placeholder 2">
            <a:extLst>
              <a:ext uri="{FF2B5EF4-FFF2-40B4-BE49-F238E27FC236}">
                <a16:creationId xmlns:a16="http://schemas.microsoft.com/office/drawing/2014/main" id="{0CC2C078-8BED-68EC-08CA-41CF3FE265DD}"/>
              </a:ext>
            </a:extLst>
          </p:cNvPr>
          <p:cNvSpPr>
            <a:spLocks noGrp="1"/>
          </p:cNvSpPr>
          <p:nvPr>
            <p:ph idx="1"/>
          </p:nvPr>
        </p:nvSpPr>
        <p:spPr/>
        <p:txBody>
          <a:bodyPr/>
          <a:lstStyle/>
          <a:p>
            <a:pPr marL="0" indent="0" algn="just">
              <a:buNone/>
            </a:pPr>
            <a:r>
              <a:rPr lang="en-US" sz="2400" b="0" i="0" dirty="0">
                <a:solidFill>
                  <a:srgbClr val="242424"/>
                </a:solidFill>
                <a:effectLst/>
                <a:latin typeface="source-serif-pro"/>
              </a:rPr>
              <a:t>And </a:t>
            </a:r>
            <a:r>
              <a:rPr lang="en-US" sz="2400" b="1" i="0" dirty="0">
                <a:solidFill>
                  <a:srgbClr val="242424"/>
                </a:solidFill>
                <a:effectLst/>
                <a:latin typeface="source-serif-pro"/>
              </a:rPr>
              <a:t>finally</a:t>
            </a:r>
            <a:r>
              <a:rPr lang="en-US" sz="2400" b="0" i="0" dirty="0">
                <a:solidFill>
                  <a:srgbClr val="242424"/>
                </a:solidFill>
                <a:effectLst/>
                <a:latin typeface="source-serif-pro"/>
              </a:rPr>
              <a:t>, we have a fully connected </a:t>
            </a:r>
            <a:r>
              <a:rPr lang="en-US" sz="2400" b="0" i="0" dirty="0" err="1">
                <a:solidFill>
                  <a:srgbClr val="242424"/>
                </a:solidFill>
                <a:effectLst/>
                <a:latin typeface="source-serif-pro"/>
              </a:rPr>
              <a:t>softmax</a:t>
            </a:r>
            <a:r>
              <a:rPr lang="en-US" sz="2400" b="0" i="0" dirty="0">
                <a:solidFill>
                  <a:srgbClr val="242424"/>
                </a:solidFill>
                <a:effectLst/>
                <a:latin typeface="source-serif-pro"/>
              </a:rPr>
              <a:t> output layer with 10 possible values corresponding to the digits from </a:t>
            </a:r>
            <a:r>
              <a:rPr lang="en-US" sz="2400" b="1" i="1" dirty="0">
                <a:solidFill>
                  <a:srgbClr val="242424"/>
                </a:solidFill>
                <a:effectLst/>
                <a:latin typeface="source-serif-pro"/>
              </a:rPr>
              <a:t>0 to 9.</a:t>
            </a:r>
            <a:endParaRPr lang="en-IN" sz="2400" dirty="0"/>
          </a:p>
        </p:txBody>
      </p:sp>
      <p:sp>
        <p:nvSpPr>
          <p:cNvPr id="4" name="Date Placeholder 3">
            <a:extLst>
              <a:ext uri="{FF2B5EF4-FFF2-40B4-BE49-F238E27FC236}">
                <a16:creationId xmlns:a16="http://schemas.microsoft.com/office/drawing/2014/main" id="{D3A41AF6-B10F-76C6-1842-5C16AB5BBAE5}"/>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E0A3DEC2-6F32-F3B3-E3F0-D131D78F642C}"/>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EFF09C60-47E5-9854-452F-5EBC9B61E42D}"/>
              </a:ext>
            </a:extLst>
          </p:cNvPr>
          <p:cNvSpPr>
            <a:spLocks noGrp="1"/>
          </p:cNvSpPr>
          <p:nvPr>
            <p:ph type="sldNum" sz="quarter" idx="12"/>
          </p:nvPr>
        </p:nvSpPr>
        <p:spPr/>
        <p:txBody>
          <a:bodyPr/>
          <a:lstStyle/>
          <a:p>
            <a:fld id="{BB2CE0DE-867F-455F-B20B-96D381B4AB71}" type="slidenum">
              <a:rPr lang="en-US" smtClean="0"/>
              <a:t>95</a:t>
            </a:fld>
            <a:endParaRPr lang="en-US"/>
          </a:p>
        </p:txBody>
      </p:sp>
      <p:pic>
        <p:nvPicPr>
          <p:cNvPr id="7" name="Picture 6">
            <a:extLst>
              <a:ext uri="{FF2B5EF4-FFF2-40B4-BE49-F238E27FC236}">
                <a16:creationId xmlns:a16="http://schemas.microsoft.com/office/drawing/2014/main" id="{A247992A-ED73-CD2C-8693-6EED0A9752CB}"/>
              </a:ext>
            </a:extLst>
          </p:cNvPr>
          <p:cNvPicPr>
            <a:picLocks noChangeAspect="1"/>
          </p:cNvPicPr>
          <p:nvPr/>
        </p:nvPicPr>
        <p:blipFill>
          <a:blip r:embed="rId2"/>
          <a:stretch>
            <a:fillRect/>
          </a:stretch>
        </p:blipFill>
        <p:spPr>
          <a:xfrm>
            <a:off x="2094243" y="2091851"/>
            <a:ext cx="4955514" cy="4832101"/>
          </a:xfrm>
          <a:prstGeom prst="rect">
            <a:avLst/>
          </a:prstGeom>
        </p:spPr>
      </p:pic>
    </p:spTree>
    <p:extLst>
      <p:ext uri="{BB962C8B-B14F-4D97-AF65-F5344CB8AC3E}">
        <p14:creationId xmlns:p14="http://schemas.microsoft.com/office/powerpoint/2010/main" val="282937794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D5470-A1E6-CD5A-2828-992B670E2C19}"/>
              </a:ext>
            </a:extLst>
          </p:cNvPr>
          <p:cNvSpPr>
            <a:spLocks noGrp="1"/>
          </p:cNvSpPr>
          <p:nvPr>
            <p:ph type="title"/>
          </p:nvPr>
        </p:nvSpPr>
        <p:spPr/>
        <p:txBody>
          <a:bodyPr/>
          <a:lstStyle/>
          <a:p>
            <a:r>
              <a:rPr lang="en-IN" dirty="0"/>
              <a:t>VGG Architecture</a:t>
            </a:r>
          </a:p>
        </p:txBody>
      </p:sp>
      <p:sp>
        <p:nvSpPr>
          <p:cNvPr id="3" name="Content Placeholder 2">
            <a:extLst>
              <a:ext uri="{FF2B5EF4-FFF2-40B4-BE49-F238E27FC236}">
                <a16:creationId xmlns:a16="http://schemas.microsoft.com/office/drawing/2014/main" id="{ED23EC4C-1922-5EB9-9F36-F91B92A4EEB2}"/>
              </a:ext>
            </a:extLst>
          </p:cNvPr>
          <p:cNvSpPr>
            <a:spLocks noGrp="1"/>
          </p:cNvSpPr>
          <p:nvPr>
            <p:ph idx="1"/>
          </p:nvPr>
        </p:nvSpPr>
        <p:spPr/>
        <p:txBody>
          <a:bodyPr/>
          <a:lstStyle/>
          <a:p>
            <a:pPr algn="just">
              <a:buFont typeface="Arial" panose="020B0604020202020204" pitchFamily="34" charset="0"/>
              <a:buChar char="•"/>
            </a:pPr>
            <a:r>
              <a:rPr lang="en-US" sz="2000" b="1" i="0" dirty="0">
                <a:solidFill>
                  <a:schemeClr val="tx1"/>
                </a:solidFill>
                <a:effectLst/>
              </a:rPr>
              <a:t>VGG</a:t>
            </a:r>
            <a:r>
              <a:rPr lang="en-US" sz="2000" b="0" i="0" dirty="0">
                <a:solidFill>
                  <a:schemeClr val="tx1"/>
                </a:solidFill>
                <a:effectLst/>
              </a:rPr>
              <a:t> is an acronym for the Visual Geometric Group from Oxford University and </a:t>
            </a:r>
            <a:r>
              <a:rPr lang="en-US" sz="2000" b="1" i="0" dirty="0">
                <a:solidFill>
                  <a:schemeClr val="tx1"/>
                </a:solidFill>
                <a:effectLst/>
              </a:rPr>
              <a:t>VGG-16</a:t>
            </a:r>
            <a:r>
              <a:rPr lang="en-US" sz="2000" b="0" i="0" dirty="0">
                <a:solidFill>
                  <a:schemeClr val="tx1"/>
                </a:solidFill>
                <a:effectLst/>
              </a:rPr>
              <a:t> is a network with </a:t>
            </a:r>
            <a:r>
              <a:rPr lang="en-US" sz="2000" b="1" i="0" dirty="0">
                <a:solidFill>
                  <a:schemeClr val="tx1"/>
                </a:solidFill>
                <a:effectLst/>
              </a:rPr>
              <a:t>16</a:t>
            </a:r>
            <a:r>
              <a:rPr lang="en-US" sz="2000" b="0" i="0" dirty="0">
                <a:solidFill>
                  <a:schemeClr val="tx1"/>
                </a:solidFill>
                <a:effectLst/>
              </a:rPr>
              <a:t> layers proposed by the Visual Geometric Group. </a:t>
            </a:r>
          </a:p>
          <a:p>
            <a:pPr algn="just">
              <a:buFont typeface="Arial" panose="020B0604020202020204" pitchFamily="34" charset="0"/>
              <a:buChar char="•"/>
            </a:pPr>
            <a:r>
              <a:rPr lang="en-US" sz="2000" b="0" i="0" dirty="0">
                <a:solidFill>
                  <a:schemeClr val="tx1"/>
                </a:solidFill>
                <a:effectLst/>
              </a:rPr>
              <a:t>These 16 layers contain the trainable parameters and there are other layers also like the Max pool layer but those do not contain any trainable parameters. </a:t>
            </a:r>
          </a:p>
          <a:p>
            <a:pPr algn="just">
              <a:buFont typeface="Arial" panose="020B0604020202020204" pitchFamily="34" charset="0"/>
              <a:buChar char="•"/>
            </a:pPr>
            <a:r>
              <a:rPr lang="en-US" sz="2000" b="0" i="0" dirty="0">
                <a:solidFill>
                  <a:schemeClr val="tx1"/>
                </a:solidFill>
                <a:effectLst/>
              </a:rPr>
              <a:t>This architecture was the 1st runner up of the Visual Recognition Challenge of 2014 i.e. </a:t>
            </a:r>
            <a:r>
              <a:rPr lang="en-US" sz="2000" b="1" i="1" dirty="0">
                <a:solidFill>
                  <a:schemeClr val="tx1"/>
                </a:solidFill>
                <a:effectLst/>
              </a:rPr>
              <a:t>ILSVRC-2014 </a:t>
            </a:r>
            <a:r>
              <a:rPr lang="en-US" sz="2000" b="0" i="0" dirty="0">
                <a:solidFill>
                  <a:schemeClr val="tx1"/>
                </a:solidFill>
                <a:effectLst/>
              </a:rPr>
              <a:t>and was developed by</a:t>
            </a:r>
            <a:r>
              <a:rPr lang="en-US" sz="2000" b="0" i="1" dirty="0">
                <a:solidFill>
                  <a:schemeClr val="tx1"/>
                </a:solidFill>
                <a:effectLst/>
              </a:rPr>
              <a:t> </a:t>
            </a:r>
            <a:r>
              <a:rPr lang="en-US" sz="2000" b="1" i="1" dirty="0">
                <a:solidFill>
                  <a:schemeClr val="tx1"/>
                </a:solidFill>
                <a:effectLst/>
              </a:rPr>
              <a:t>Simonyan </a:t>
            </a:r>
            <a:r>
              <a:rPr lang="en-US" sz="2000" b="0" i="0" dirty="0">
                <a:solidFill>
                  <a:schemeClr val="tx1"/>
                </a:solidFill>
                <a:effectLst/>
              </a:rPr>
              <a:t>and </a:t>
            </a:r>
            <a:r>
              <a:rPr lang="en-US" sz="2000" b="1" i="1" dirty="0">
                <a:solidFill>
                  <a:schemeClr val="tx1"/>
                </a:solidFill>
                <a:effectLst/>
              </a:rPr>
              <a:t>Zisserman</a:t>
            </a:r>
            <a:r>
              <a:rPr lang="en-US" sz="2000" b="0" i="0" dirty="0">
                <a:solidFill>
                  <a:schemeClr val="tx1"/>
                </a:solidFill>
                <a:effectLst/>
              </a:rPr>
              <a:t>.</a:t>
            </a:r>
          </a:p>
          <a:p>
            <a:pPr algn="just">
              <a:buFont typeface="Arial" panose="020B0604020202020204" pitchFamily="34" charset="0"/>
              <a:buChar char="•"/>
            </a:pPr>
            <a:r>
              <a:rPr lang="en-US" sz="2000" dirty="0">
                <a:solidFill>
                  <a:schemeClr val="tx1"/>
                </a:solidFill>
              </a:rPr>
              <a:t>The VGG research group released a series of the convolution network model starting from VGG11 to VGG19. </a:t>
            </a:r>
          </a:p>
          <a:p>
            <a:pPr algn="just">
              <a:buFont typeface="Arial" panose="020B0604020202020204" pitchFamily="34" charset="0"/>
              <a:buChar char="•"/>
            </a:pPr>
            <a:r>
              <a:rPr lang="en-US" sz="2000" dirty="0">
                <a:solidFill>
                  <a:schemeClr val="tx1"/>
                </a:solidFill>
              </a:rPr>
              <a:t>The main intention of the VGG group on depth was to understand how the depth of convolutional networks affects the accuracy of the models of large-scale image classification and recognition. </a:t>
            </a:r>
            <a:endParaRPr lang="en-IN" sz="2000" dirty="0">
              <a:solidFill>
                <a:schemeClr val="tx1"/>
              </a:solidFill>
            </a:endParaRPr>
          </a:p>
        </p:txBody>
      </p:sp>
      <p:sp>
        <p:nvSpPr>
          <p:cNvPr id="4" name="Date Placeholder 3">
            <a:extLst>
              <a:ext uri="{FF2B5EF4-FFF2-40B4-BE49-F238E27FC236}">
                <a16:creationId xmlns:a16="http://schemas.microsoft.com/office/drawing/2014/main" id="{E632E020-45EE-5204-7550-6CC06D7C2370}"/>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2E881DF9-134C-3C82-40AE-AEC4D3586AA5}"/>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AFE64922-BACB-DA72-85B6-F8B59848A90B}"/>
              </a:ext>
            </a:extLst>
          </p:cNvPr>
          <p:cNvSpPr>
            <a:spLocks noGrp="1"/>
          </p:cNvSpPr>
          <p:nvPr>
            <p:ph type="sldNum" sz="quarter" idx="12"/>
          </p:nvPr>
        </p:nvSpPr>
        <p:spPr/>
        <p:txBody>
          <a:bodyPr/>
          <a:lstStyle/>
          <a:p>
            <a:fld id="{BB2CE0DE-867F-455F-B20B-96D381B4AB71}" type="slidenum">
              <a:rPr lang="en-US" smtClean="0"/>
              <a:t>96</a:t>
            </a:fld>
            <a:endParaRPr lang="en-US"/>
          </a:p>
        </p:txBody>
      </p:sp>
    </p:spTree>
    <p:extLst>
      <p:ext uri="{BB962C8B-B14F-4D97-AF65-F5344CB8AC3E}">
        <p14:creationId xmlns:p14="http://schemas.microsoft.com/office/powerpoint/2010/main" val="25134557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E692A-0DD2-215D-F6D2-E53CE5A7550D}"/>
              </a:ext>
            </a:extLst>
          </p:cNvPr>
          <p:cNvSpPr>
            <a:spLocks noGrp="1"/>
          </p:cNvSpPr>
          <p:nvPr>
            <p:ph type="title"/>
          </p:nvPr>
        </p:nvSpPr>
        <p:spPr/>
        <p:txBody>
          <a:bodyPr/>
          <a:lstStyle/>
          <a:p>
            <a:r>
              <a:rPr lang="en-IN" dirty="0"/>
              <a:t>VGG-16 Architecture </a:t>
            </a:r>
          </a:p>
        </p:txBody>
      </p:sp>
      <p:sp>
        <p:nvSpPr>
          <p:cNvPr id="3" name="Content Placeholder 2">
            <a:extLst>
              <a:ext uri="{FF2B5EF4-FFF2-40B4-BE49-F238E27FC236}">
                <a16:creationId xmlns:a16="http://schemas.microsoft.com/office/drawing/2014/main" id="{7180780E-38C0-BB6E-8456-1DC2B1A90FCD}"/>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35EDA7C0-0975-18C9-4F54-67D35DC3509E}"/>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4FCCCA70-D432-1809-9A76-349B818E8248}"/>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46822034-431F-E1F4-9FB4-30D7109AE9E1}"/>
              </a:ext>
            </a:extLst>
          </p:cNvPr>
          <p:cNvSpPr>
            <a:spLocks noGrp="1"/>
          </p:cNvSpPr>
          <p:nvPr>
            <p:ph type="sldNum" sz="quarter" idx="12"/>
          </p:nvPr>
        </p:nvSpPr>
        <p:spPr/>
        <p:txBody>
          <a:bodyPr/>
          <a:lstStyle/>
          <a:p>
            <a:fld id="{BB2CE0DE-867F-455F-B20B-96D381B4AB71}" type="slidenum">
              <a:rPr lang="en-US" smtClean="0"/>
              <a:t>97</a:t>
            </a:fld>
            <a:endParaRPr lang="en-US"/>
          </a:p>
        </p:txBody>
      </p:sp>
      <p:pic>
        <p:nvPicPr>
          <p:cNvPr id="7" name="Picture 6">
            <a:extLst>
              <a:ext uri="{FF2B5EF4-FFF2-40B4-BE49-F238E27FC236}">
                <a16:creationId xmlns:a16="http://schemas.microsoft.com/office/drawing/2014/main" id="{9EF27D6D-4967-026A-8F2A-0DAB9DDC0DD1}"/>
              </a:ext>
            </a:extLst>
          </p:cNvPr>
          <p:cNvPicPr>
            <a:picLocks noChangeAspect="1"/>
          </p:cNvPicPr>
          <p:nvPr/>
        </p:nvPicPr>
        <p:blipFill>
          <a:blip r:embed="rId2"/>
          <a:stretch>
            <a:fillRect/>
          </a:stretch>
        </p:blipFill>
        <p:spPr>
          <a:xfrm>
            <a:off x="653142" y="1219200"/>
            <a:ext cx="8000999" cy="5078412"/>
          </a:xfrm>
          <a:prstGeom prst="rect">
            <a:avLst/>
          </a:prstGeom>
        </p:spPr>
      </p:pic>
    </p:spTree>
    <p:extLst>
      <p:ext uri="{BB962C8B-B14F-4D97-AF65-F5344CB8AC3E}">
        <p14:creationId xmlns:p14="http://schemas.microsoft.com/office/powerpoint/2010/main" val="247637011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758D1-402D-4912-8D23-0F167599AF4F}"/>
              </a:ext>
            </a:extLst>
          </p:cNvPr>
          <p:cNvSpPr>
            <a:spLocks noGrp="1"/>
          </p:cNvSpPr>
          <p:nvPr>
            <p:ph type="title"/>
          </p:nvPr>
        </p:nvSpPr>
        <p:spPr/>
        <p:txBody>
          <a:bodyPr/>
          <a:lstStyle/>
          <a:p>
            <a:r>
              <a:rPr lang="en-US" dirty="0"/>
              <a:t>Features of VGG-16</a:t>
            </a:r>
            <a:endParaRPr lang="en-IN" dirty="0"/>
          </a:p>
        </p:txBody>
      </p:sp>
      <p:sp>
        <p:nvSpPr>
          <p:cNvPr id="3" name="Content Placeholder 2">
            <a:extLst>
              <a:ext uri="{FF2B5EF4-FFF2-40B4-BE49-F238E27FC236}">
                <a16:creationId xmlns:a16="http://schemas.microsoft.com/office/drawing/2014/main" id="{680A6FC3-8FED-43B6-95A1-328327FAE419}"/>
              </a:ext>
            </a:extLst>
          </p:cNvPr>
          <p:cNvSpPr>
            <a:spLocks noGrp="1"/>
          </p:cNvSpPr>
          <p:nvPr>
            <p:ph idx="1"/>
          </p:nvPr>
        </p:nvSpPr>
        <p:spPr/>
        <p:txBody>
          <a:bodyPr/>
          <a:lstStyle/>
          <a:p>
            <a:pPr algn="l">
              <a:buFont typeface="+mj-lt"/>
              <a:buAutoNum type="arabicPeriod"/>
            </a:pPr>
            <a:r>
              <a:rPr lang="en-US" sz="1600" b="1" i="0" dirty="0">
                <a:solidFill>
                  <a:srgbClr val="242424"/>
                </a:solidFill>
                <a:effectLst/>
                <a:latin typeface="source-serif-pro"/>
              </a:rPr>
              <a:t>Input Layer: </a:t>
            </a:r>
            <a:r>
              <a:rPr lang="en-US" sz="1600" b="0" i="0" dirty="0">
                <a:solidFill>
                  <a:srgbClr val="242424"/>
                </a:solidFill>
                <a:effectLst/>
                <a:latin typeface="source-serif-pro"/>
              </a:rPr>
              <a:t>It accepts color images as an input with the size 224 x 224 and 3 channels i.e. Red, Green, and Blue.</a:t>
            </a:r>
          </a:p>
          <a:p>
            <a:pPr algn="l">
              <a:buFont typeface="+mj-lt"/>
              <a:buAutoNum type="arabicPeriod"/>
            </a:pPr>
            <a:r>
              <a:rPr lang="en-US" sz="1600" b="1" i="0" dirty="0">
                <a:solidFill>
                  <a:srgbClr val="242424"/>
                </a:solidFill>
                <a:effectLst/>
                <a:latin typeface="source-serif-pro"/>
              </a:rPr>
              <a:t>Convolution Layer: </a:t>
            </a:r>
            <a:r>
              <a:rPr lang="en-US" sz="1600" b="0" i="0" dirty="0">
                <a:solidFill>
                  <a:srgbClr val="242424"/>
                </a:solidFill>
                <a:effectLst/>
                <a:latin typeface="source-serif-pro"/>
              </a:rPr>
              <a:t>The images pass through a stack of convolution layers where every convolution filter has a very small receptive field of 3 x 3 and stride of 1. Every convolution kernel uses row and column padding so that the size of input as well as the output feature maps remains the same or in other words, the resolution after the convolution is performed remains the same.</a:t>
            </a:r>
          </a:p>
          <a:p>
            <a:pPr algn="l">
              <a:buFont typeface="+mj-lt"/>
              <a:buAutoNum type="arabicPeriod"/>
            </a:pPr>
            <a:r>
              <a:rPr lang="en-US" sz="1600" b="1" i="0" dirty="0">
                <a:solidFill>
                  <a:srgbClr val="242424"/>
                </a:solidFill>
                <a:effectLst/>
                <a:latin typeface="source-serif-pro"/>
              </a:rPr>
              <a:t>Max pooling: </a:t>
            </a:r>
            <a:r>
              <a:rPr lang="en-US" sz="1600" b="0" i="0" dirty="0">
                <a:solidFill>
                  <a:srgbClr val="242424"/>
                </a:solidFill>
                <a:effectLst/>
                <a:latin typeface="source-serif-pro"/>
              </a:rPr>
              <a:t>It is performed over a max-pool window of size 2 x 2 with stride equals to 2, which means here max pool windows are non-overlapping windows.</a:t>
            </a:r>
          </a:p>
          <a:p>
            <a:pPr algn="l">
              <a:buFont typeface="+mj-lt"/>
              <a:buAutoNum type="arabicPeriod"/>
            </a:pPr>
            <a:r>
              <a:rPr lang="en-US" sz="1600" b="0" i="0" dirty="0">
                <a:solidFill>
                  <a:srgbClr val="242424"/>
                </a:solidFill>
                <a:effectLst/>
                <a:latin typeface="source-serif-pro"/>
              </a:rPr>
              <a:t>Not every convolution layer is followed by a max pool layer as at some places a convolution layer is following another convolution layer without the max-pool layer in between.</a:t>
            </a:r>
          </a:p>
          <a:p>
            <a:pPr algn="l">
              <a:buFont typeface="+mj-lt"/>
              <a:buAutoNum type="arabicPeriod"/>
            </a:pPr>
            <a:r>
              <a:rPr lang="en-US" sz="1600" b="0" i="0" dirty="0">
                <a:solidFill>
                  <a:srgbClr val="242424"/>
                </a:solidFill>
                <a:effectLst/>
                <a:latin typeface="source-serif-pro"/>
              </a:rPr>
              <a:t>The first two fully connected layers have 4096 channels each and the third fully connected layer which is also the output layer have 1000 channels, one for each category of images in the </a:t>
            </a:r>
            <a:r>
              <a:rPr lang="en-US" sz="1600" b="0" i="0" dirty="0" err="1">
                <a:solidFill>
                  <a:srgbClr val="242424"/>
                </a:solidFill>
                <a:effectLst/>
                <a:latin typeface="source-serif-pro"/>
              </a:rPr>
              <a:t>imagenet</a:t>
            </a:r>
            <a:r>
              <a:rPr lang="en-US" sz="1600" b="0" i="0" dirty="0">
                <a:solidFill>
                  <a:srgbClr val="242424"/>
                </a:solidFill>
                <a:effectLst/>
                <a:latin typeface="source-serif-pro"/>
              </a:rPr>
              <a:t> database.</a:t>
            </a:r>
          </a:p>
          <a:p>
            <a:pPr algn="l">
              <a:buFont typeface="+mj-lt"/>
              <a:buAutoNum type="arabicPeriod"/>
            </a:pPr>
            <a:r>
              <a:rPr lang="en-US" sz="1600" b="0" i="0" dirty="0">
                <a:solidFill>
                  <a:srgbClr val="242424"/>
                </a:solidFill>
                <a:effectLst/>
                <a:latin typeface="source-serif-pro"/>
              </a:rPr>
              <a:t>The hidden layers have </a:t>
            </a:r>
            <a:r>
              <a:rPr lang="en-US" sz="1600" b="0" i="0" dirty="0" err="1">
                <a:solidFill>
                  <a:srgbClr val="242424"/>
                </a:solidFill>
                <a:effectLst/>
                <a:latin typeface="source-serif-pro"/>
              </a:rPr>
              <a:t>ReLU</a:t>
            </a:r>
            <a:r>
              <a:rPr lang="en-US" sz="1600" b="0" i="0" dirty="0">
                <a:solidFill>
                  <a:srgbClr val="242424"/>
                </a:solidFill>
                <a:effectLst/>
                <a:latin typeface="source-serif-pro"/>
              </a:rPr>
              <a:t> as their activation function.</a:t>
            </a:r>
          </a:p>
          <a:p>
            <a:pPr marL="0" indent="0">
              <a:buNone/>
            </a:pPr>
            <a:endParaRPr lang="en-IN" sz="1600" dirty="0"/>
          </a:p>
        </p:txBody>
      </p:sp>
      <p:sp>
        <p:nvSpPr>
          <p:cNvPr id="4" name="Date Placeholder 3">
            <a:extLst>
              <a:ext uri="{FF2B5EF4-FFF2-40B4-BE49-F238E27FC236}">
                <a16:creationId xmlns:a16="http://schemas.microsoft.com/office/drawing/2014/main" id="{3B73B1D2-F425-4891-9EC1-E34FA565FAE9}"/>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A7C601CD-14F9-4EFF-B1E7-7C7F124703D1}"/>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280BE3D8-E55F-4BD0-9462-D8DE6B01FCA1}"/>
              </a:ext>
            </a:extLst>
          </p:cNvPr>
          <p:cNvSpPr>
            <a:spLocks noGrp="1"/>
          </p:cNvSpPr>
          <p:nvPr>
            <p:ph type="sldNum" sz="quarter" idx="12"/>
          </p:nvPr>
        </p:nvSpPr>
        <p:spPr/>
        <p:txBody>
          <a:bodyPr/>
          <a:lstStyle/>
          <a:p>
            <a:fld id="{BB2CE0DE-867F-455F-B20B-96D381B4AB71}" type="slidenum">
              <a:rPr lang="en-US" smtClean="0"/>
              <a:t>98</a:t>
            </a:fld>
            <a:endParaRPr lang="en-US"/>
          </a:p>
        </p:txBody>
      </p:sp>
    </p:spTree>
    <p:extLst>
      <p:ext uri="{BB962C8B-B14F-4D97-AF65-F5344CB8AC3E}">
        <p14:creationId xmlns:p14="http://schemas.microsoft.com/office/powerpoint/2010/main" val="29459262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194D8-2768-47EB-90C0-83BF3930263B}"/>
              </a:ext>
            </a:extLst>
          </p:cNvPr>
          <p:cNvSpPr>
            <a:spLocks noGrp="1"/>
          </p:cNvSpPr>
          <p:nvPr>
            <p:ph type="title"/>
          </p:nvPr>
        </p:nvSpPr>
        <p:spPr/>
        <p:txBody>
          <a:bodyPr/>
          <a:lstStyle/>
          <a:p>
            <a:r>
              <a:rPr lang="en-US" dirty="0"/>
              <a:t>VGG-16 Architecture</a:t>
            </a:r>
            <a:endParaRPr lang="en-IN" dirty="0"/>
          </a:p>
        </p:txBody>
      </p:sp>
      <p:sp>
        <p:nvSpPr>
          <p:cNvPr id="3" name="Content Placeholder 2">
            <a:extLst>
              <a:ext uri="{FF2B5EF4-FFF2-40B4-BE49-F238E27FC236}">
                <a16:creationId xmlns:a16="http://schemas.microsoft.com/office/drawing/2014/main" id="{91B1D4E4-C56B-4072-B24D-8457CEAB8B69}"/>
              </a:ext>
            </a:extLst>
          </p:cNvPr>
          <p:cNvSpPr>
            <a:spLocks noGrp="1"/>
          </p:cNvSpPr>
          <p:nvPr>
            <p:ph idx="1"/>
          </p:nvPr>
        </p:nvSpPr>
        <p:spPr/>
        <p:txBody>
          <a:bodyPr/>
          <a:lstStyle/>
          <a:p>
            <a:pPr algn="l"/>
            <a:r>
              <a:rPr lang="en-US" sz="1800" b="1" i="1" dirty="0">
                <a:solidFill>
                  <a:srgbClr val="242424"/>
                </a:solidFill>
                <a:effectLst/>
                <a:latin typeface="source-serif-pro"/>
              </a:rPr>
              <a:t>Input Layer</a:t>
            </a:r>
            <a:r>
              <a:rPr lang="en-US" sz="1800" b="1" i="0" dirty="0">
                <a:solidFill>
                  <a:srgbClr val="242424"/>
                </a:solidFill>
                <a:effectLst/>
                <a:latin typeface="source-serif-pro"/>
              </a:rPr>
              <a:t>:</a:t>
            </a:r>
            <a:endParaRPr lang="en-US" sz="1800" b="0" i="0" dirty="0">
              <a:solidFill>
                <a:srgbClr val="242424"/>
              </a:solidFill>
              <a:effectLst/>
              <a:latin typeface="source-serif-pro"/>
            </a:endParaRPr>
          </a:p>
          <a:p>
            <a:pPr algn="l">
              <a:buFont typeface="Arial" panose="020B0604020202020204" pitchFamily="34" charset="0"/>
              <a:buChar char="•"/>
            </a:pPr>
            <a:r>
              <a:rPr lang="en-US" sz="1800" b="0" i="0" dirty="0">
                <a:solidFill>
                  <a:srgbClr val="242424"/>
                </a:solidFill>
                <a:effectLst/>
                <a:latin typeface="source-serif-pro"/>
              </a:rPr>
              <a:t>The size of the input image is </a:t>
            </a:r>
            <a:r>
              <a:rPr lang="en-US" sz="1800" b="1" i="0" dirty="0">
                <a:solidFill>
                  <a:srgbClr val="242424"/>
                </a:solidFill>
                <a:effectLst/>
                <a:latin typeface="source-serif-pro"/>
              </a:rPr>
              <a:t>224 x 224</a:t>
            </a:r>
            <a:r>
              <a:rPr lang="en-US" sz="1800" b="0" i="0" dirty="0">
                <a:solidFill>
                  <a:srgbClr val="242424"/>
                </a:solidFill>
                <a:effectLst/>
                <a:latin typeface="source-serif-pro"/>
              </a:rPr>
              <a:t>.</a:t>
            </a:r>
          </a:p>
          <a:p>
            <a:pPr algn="l"/>
            <a:r>
              <a:rPr lang="en-US" sz="1800" b="1" i="1" dirty="0">
                <a:solidFill>
                  <a:srgbClr val="242424"/>
                </a:solidFill>
                <a:effectLst/>
                <a:latin typeface="source-serif-pro"/>
              </a:rPr>
              <a:t>Convolution Layer - 1</a:t>
            </a:r>
            <a:r>
              <a:rPr lang="en-US" sz="1800" b="1" i="0" dirty="0">
                <a:solidFill>
                  <a:srgbClr val="242424"/>
                </a:solidFill>
                <a:effectLst/>
                <a:latin typeface="source-serif-pro"/>
              </a:rPr>
              <a:t>:</a:t>
            </a:r>
            <a:endParaRPr lang="en-US" sz="1800" b="0" i="0" dirty="0">
              <a:solidFill>
                <a:srgbClr val="242424"/>
              </a:solidFill>
              <a:effectLst/>
              <a:latin typeface="source-serif-pro"/>
            </a:endParaRPr>
          </a:p>
          <a:p>
            <a:pPr algn="l">
              <a:buFont typeface="Arial" panose="020B0604020202020204" pitchFamily="34" charset="0"/>
              <a:buChar char="•"/>
            </a:pPr>
            <a:r>
              <a:rPr lang="en-US" sz="1800" b="1" i="0" dirty="0">
                <a:solidFill>
                  <a:srgbClr val="242424"/>
                </a:solidFill>
                <a:effectLst/>
                <a:latin typeface="source-serif-pro"/>
              </a:rPr>
              <a:t>Input size = N =</a:t>
            </a:r>
            <a:r>
              <a:rPr lang="en-US" sz="1800" b="0" i="0" dirty="0">
                <a:solidFill>
                  <a:srgbClr val="242424"/>
                </a:solidFill>
                <a:effectLst/>
                <a:latin typeface="source-serif-pro"/>
              </a:rPr>
              <a:t> 224</a:t>
            </a:r>
          </a:p>
          <a:p>
            <a:pPr algn="l">
              <a:buFont typeface="Arial" panose="020B0604020202020204" pitchFamily="34" charset="0"/>
              <a:buChar char="•"/>
            </a:pPr>
            <a:r>
              <a:rPr lang="en-US" sz="1800" b="1" i="0" dirty="0">
                <a:solidFill>
                  <a:srgbClr val="242424"/>
                </a:solidFill>
                <a:effectLst/>
                <a:latin typeface="source-serif-pro"/>
              </a:rPr>
              <a:t>Filter size = f = </a:t>
            </a:r>
            <a:r>
              <a:rPr lang="en-US" sz="1800" b="0" i="0" dirty="0">
                <a:solidFill>
                  <a:srgbClr val="242424"/>
                </a:solidFill>
                <a:effectLst/>
                <a:latin typeface="source-serif-pro"/>
              </a:rPr>
              <a:t>3 x 3</a:t>
            </a:r>
          </a:p>
          <a:p>
            <a:pPr algn="l">
              <a:buFont typeface="Arial" panose="020B0604020202020204" pitchFamily="34" charset="0"/>
              <a:buChar char="•"/>
            </a:pPr>
            <a:r>
              <a:rPr lang="en-US" sz="1800" b="1" i="0" dirty="0">
                <a:solidFill>
                  <a:srgbClr val="242424"/>
                </a:solidFill>
                <a:effectLst/>
                <a:latin typeface="source-serif-pro"/>
              </a:rPr>
              <a:t>No. of filters =</a:t>
            </a:r>
            <a:r>
              <a:rPr lang="en-US" sz="1800" b="0" i="0" dirty="0">
                <a:solidFill>
                  <a:srgbClr val="242424"/>
                </a:solidFill>
                <a:effectLst/>
                <a:latin typeface="source-serif-pro"/>
              </a:rPr>
              <a:t> 64</a:t>
            </a:r>
          </a:p>
          <a:p>
            <a:pPr algn="l">
              <a:buFont typeface="Arial" panose="020B0604020202020204" pitchFamily="34" charset="0"/>
              <a:buChar char="•"/>
            </a:pPr>
            <a:r>
              <a:rPr lang="en-US" sz="1800" b="1" i="0" dirty="0">
                <a:solidFill>
                  <a:srgbClr val="242424"/>
                </a:solidFill>
                <a:effectLst/>
                <a:latin typeface="source-serif-pro"/>
              </a:rPr>
              <a:t>Strides = S = </a:t>
            </a:r>
            <a:r>
              <a:rPr lang="en-US" sz="1800" b="0" i="0" dirty="0">
                <a:solidFill>
                  <a:srgbClr val="242424"/>
                </a:solidFill>
                <a:effectLst/>
                <a:latin typeface="source-serif-pro"/>
              </a:rPr>
              <a:t>1</a:t>
            </a:r>
          </a:p>
          <a:p>
            <a:pPr algn="l">
              <a:buFont typeface="Arial" panose="020B0604020202020204" pitchFamily="34" charset="0"/>
              <a:buChar char="•"/>
            </a:pPr>
            <a:r>
              <a:rPr lang="en-US" sz="1800" b="1" i="0" dirty="0">
                <a:solidFill>
                  <a:srgbClr val="242424"/>
                </a:solidFill>
                <a:effectLst/>
                <a:latin typeface="source-serif-pro"/>
              </a:rPr>
              <a:t>Padding = P = </a:t>
            </a:r>
            <a:r>
              <a:rPr lang="en-US" sz="1800" b="0" i="0" dirty="0">
                <a:solidFill>
                  <a:srgbClr val="242424"/>
                </a:solidFill>
                <a:effectLst/>
                <a:latin typeface="source-serif-pro"/>
              </a:rPr>
              <a:t>1</a:t>
            </a:r>
          </a:p>
          <a:p>
            <a:pPr algn="l">
              <a:buFont typeface="Arial" panose="020B0604020202020204" pitchFamily="34" charset="0"/>
              <a:buChar char="•"/>
            </a:pPr>
            <a:r>
              <a:rPr lang="en-US" sz="1800" b="1" i="0" dirty="0">
                <a:solidFill>
                  <a:srgbClr val="242424"/>
                </a:solidFill>
                <a:effectLst/>
                <a:latin typeface="source-serif-pro"/>
              </a:rPr>
              <a:t>Output feature map size =</a:t>
            </a:r>
            <a:r>
              <a:rPr lang="en-US" sz="1800" b="0" i="0" dirty="0">
                <a:solidFill>
                  <a:srgbClr val="242424"/>
                </a:solidFill>
                <a:effectLst/>
                <a:latin typeface="source-serif-pro"/>
              </a:rPr>
              <a:t> [(224–3+2)/1] + 1 </a:t>
            </a:r>
            <a:r>
              <a:rPr lang="en-US" sz="1800" b="1" i="0" dirty="0">
                <a:solidFill>
                  <a:srgbClr val="242424"/>
                </a:solidFill>
                <a:effectLst/>
                <a:latin typeface="source-serif-pro"/>
              </a:rPr>
              <a:t>= </a:t>
            </a:r>
            <a:r>
              <a:rPr lang="en-US" sz="1800" b="0" i="0" dirty="0">
                <a:solidFill>
                  <a:srgbClr val="242424"/>
                </a:solidFill>
                <a:effectLst/>
                <a:latin typeface="source-serif-pro"/>
              </a:rPr>
              <a:t>224</a:t>
            </a:r>
          </a:p>
          <a:p>
            <a:pPr algn="l">
              <a:buFont typeface="Arial" panose="020B0604020202020204" pitchFamily="34" charset="0"/>
              <a:buChar char="•"/>
            </a:pPr>
            <a:r>
              <a:rPr lang="en-US" sz="1800" b="1" i="0" dirty="0">
                <a:solidFill>
                  <a:srgbClr val="242424"/>
                </a:solidFill>
                <a:effectLst/>
                <a:latin typeface="source-serif-pro"/>
              </a:rPr>
              <a:t>Output with channels = </a:t>
            </a:r>
            <a:r>
              <a:rPr lang="en-US" sz="1800" b="0" i="0" dirty="0">
                <a:solidFill>
                  <a:srgbClr val="242424"/>
                </a:solidFill>
                <a:effectLst/>
                <a:latin typeface="source-serif-pro"/>
              </a:rPr>
              <a:t>224 x 224 x 64</a:t>
            </a:r>
          </a:p>
          <a:p>
            <a:pPr marL="0" indent="0">
              <a:buNone/>
            </a:pPr>
            <a:endParaRPr lang="en-IN" sz="2000" dirty="0"/>
          </a:p>
        </p:txBody>
      </p:sp>
      <p:sp>
        <p:nvSpPr>
          <p:cNvPr id="4" name="Date Placeholder 3">
            <a:extLst>
              <a:ext uri="{FF2B5EF4-FFF2-40B4-BE49-F238E27FC236}">
                <a16:creationId xmlns:a16="http://schemas.microsoft.com/office/drawing/2014/main" id="{3B56CB76-F7C4-4486-B26B-888D72FDCEA3}"/>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60147FBD-C928-4D9D-AEAA-9F22478B109F}"/>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0D695FB-D0D8-4FEF-8E08-2DCDC0F38F54}"/>
              </a:ext>
            </a:extLst>
          </p:cNvPr>
          <p:cNvSpPr>
            <a:spLocks noGrp="1"/>
          </p:cNvSpPr>
          <p:nvPr>
            <p:ph type="sldNum" sz="quarter" idx="12"/>
          </p:nvPr>
        </p:nvSpPr>
        <p:spPr/>
        <p:txBody>
          <a:bodyPr/>
          <a:lstStyle/>
          <a:p>
            <a:fld id="{BB2CE0DE-867F-455F-B20B-96D381B4AB71}" type="slidenum">
              <a:rPr lang="en-US" smtClean="0"/>
              <a:t>99</a:t>
            </a:fld>
            <a:endParaRPr lang="en-US"/>
          </a:p>
        </p:txBody>
      </p:sp>
      <p:pic>
        <p:nvPicPr>
          <p:cNvPr id="7" name="Picture 6">
            <a:extLst>
              <a:ext uri="{FF2B5EF4-FFF2-40B4-BE49-F238E27FC236}">
                <a16:creationId xmlns:a16="http://schemas.microsoft.com/office/drawing/2014/main" id="{6205E067-BB1F-48E6-87CC-51F97D8C2FD6}"/>
              </a:ext>
            </a:extLst>
          </p:cNvPr>
          <p:cNvPicPr>
            <a:picLocks noChangeAspect="1"/>
          </p:cNvPicPr>
          <p:nvPr/>
        </p:nvPicPr>
        <p:blipFill>
          <a:blip r:embed="rId2"/>
          <a:stretch>
            <a:fillRect/>
          </a:stretch>
        </p:blipFill>
        <p:spPr>
          <a:xfrm rot="5400000">
            <a:off x="4487640" y="1947640"/>
            <a:ext cx="6145657" cy="3081338"/>
          </a:xfrm>
          <a:prstGeom prst="rect">
            <a:avLst/>
          </a:prstGeom>
        </p:spPr>
      </p:pic>
    </p:spTree>
    <p:extLst>
      <p:ext uri="{BB962C8B-B14F-4D97-AF65-F5344CB8AC3E}">
        <p14:creationId xmlns:p14="http://schemas.microsoft.com/office/powerpoint/2010/main" val="109311778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194D8-2768-47EB-90C0-83BF3930263B}"/>
              </a:ext>
            </a:extLst>
          </p:cNvPr>
          <p:cNvSpPr>
            <a:spLocks noGrp="1"/>
          </p:cNvSpPr>
          <p:nvPr>
            <p:ph type="title"/>
          </p:nvPr>
        </p:nvSpPr>
        <p:spPr/>
        <p:txBody>
          <a:bodyPr/>
          <a:lstStyle/>
          <a:p>
            <a:r>
              <a:rPr lang="en-US" dirty="0"/>
              <a:t>VGG-16 Architecture</a:t>
            </a:r>
            <a:endParaRPr lang="en-IN" dirty="0"/>
          </a:p>
        </p:txBody>
      </p:sp>
      <p:sp>
        <p:nvSpPr>
          <p:cNvPr id="3" name="Content Placeholder 2">
            <a:extLst>
              <a:ext uri="{FF2B5EF4-FFF2-40B4-BE49-F238E27FC236}">
                <a16:creationId xmlns:a16="http://schemas.microsoft.com/office/drawing/2014/main" id="{91B1D4E4-C56B-4072-B24D-8457CEAB8B69}"/>
              </a:ext>
            </a:extLst>
          </p:cNvPr>
          <p:cNvSpPr>
            <a:spLocks noGrp="1"/>
          </p:cNvSpPr>
          <p:nvPr>
            <p:ph idx="1"/>
          </p:nvPr>
        </p:nvSpPr>
        <p:spPr/>
        <p:txBody>
          <a:bodyPr/>
          <a:lstStyle/>
          <a:p>
            <a:pPr marL="0" indent="0" algn="l">
              <a:buNone/>
            </a:pPr>
            <a:r>
              <a:rPr lang="en-US" sz="1800" b="1" i="1" dirty="0">
                <a:solidFill>
                  <a:srgbClr val="242424"/>
                </a:solidFill>
                <a:effectLst/>
                <a:latin typeface="source-serif-pro"/>
              </a:rPr>
              <a:t>Convolution Layer - 2</a:t>
            </a:r>
            <a:r>
              <a:rPr lang="en-US" sz="1800" b="1" i="0" dirty="0">
                <a:solidFill>
                  <a:srgbClr val="242424"/>
                </a:solidFill>
                <a:effectLst/>
                <a:latin typeface="source-serif-pro"/>
              </a:rPr>
              <a:t>:</a:t>
            </a:r>
            <a:endParaRPr lang="en-US" sz="1800" b="0" i="0" dirty="0">
              <a:solidFill>
                <a:srgbClr val="242424"/>
              </a:solidFill>
              <a:effectLst/>
              <a:latin typeface="source-serif-pro"/>
            </a:endParaRPr>
          </a:p>
          <a:p>
            <a:pPr marL="0" indent="0" algn="l">
              <a:buNone/>
            </a:pPr>
            <a:r>
              <a:rPr lang="en-US" sz="1800" b="1" i="0" dirty="0">
                <a:solidFill>
                  <a:srgbClr val="242424"/>
                </a:solidFill>
                <a:effectLst/>
                <a:latin typeface="source-serif-pro"/>
              </a:rPr>
              <a:t>Input size = N =</a:t>
            </a:r>
            <a:r>
              <a:rPr lang="en-US" sz="1800" b="0" i="0" dirty="0">
                <a:solidFill>
                  <a:srgbClr val="242424"/>
                </a:solidFill>
                <a:effectLst/>
                <a:latin typeface="source-serif-pro"/>
              </a:rPr>
              <a:t> 224</a:t>
            </a:r>
          </a:p>
          <a:p>
            <a:pPr marL="0" indent="0" algn="l">
              <a:buNone/>
            </a:pPr>
            <a:r>
              <a:rPr lang="en-US" sz="1800" b="1" i="0" dirty="0">
                <a:solidFill>
                  <a:srgbClr val="242424"/>
                </a:solidFill>
                <a:effectLst/>
                <a:latin typeface="source-serif-pro"/>
              </a:rPr>
              <a:t>Filter size = f = </a:t>
            </a:r>
            <a:r>
              <a:rPr lang="en-US" sz="1800" b="0" i="0" dirty="0">
                <a:solidFill>
                  <a:srgbClr val="242424"/>
                </a:solidFill>
                <a:effectLst/>
                <a:latin typeface="source-serif-pro"/>
              </a:rPr>
              <a:t>3 x 3</a:t>
            </a:r>
          </a:p>
          <a:p>
            <a:pPr marL="0" indent="0" algn="l">
              <a:buNone/>
            </a:pPr>
            <a:r>
              <a:rPr lang="en-US" sz="1800" b="1" i="0" dirty="0">
                <a:solidFill>
                  <a:srgbClr val="242424"/>
                </a:solidFill>
                <a:effectLst/>
                <a:latin typeface="source-serif-pro"/>
              </a:rPr>
              <a:t>No. of filters =</a:t>
            </a:r>
            <a:r>
              <a:rPr lang="en-US" sz="1800" b="0" i="0" dirty="0">
                <a:solidFill>
                  <a:srgbClr val="242424"/>
                </a:solidFill>
                <a:effectLst/>
                <a:latin typeface="source-serif-pro"/>
              </a:rPr>
              <a:t> 64</a:t>
            </a:r>
          </a:p>
          <a:p>
            <a:pPr marL="0" indent="0" algn="l">
              <a:buNone/>
            </a:pPr>
            <a:r>
              <a:rPr lang="en-US" sz="1800" b="1" i="0" dirty="0">
                <a:solidFill>
                  <a:srgbClr val="242424"/>
                </a:solidFill>
                <a:effectLst/>
                <a:latin typeface="source-serif-pro"/>
              </a:rPr>
              <a:t>Strides = S = </a:t>
            </a:r>
            <a:r>
              <a:rPr lang="en-US" sz="1800" b="0" i="0" dirty="0">
                <a:solidFill>
                  <a:srgbClr val="242424"/>
                </a:solidFill>
                <a:effectLst/>
                <a:latin typeface="source-serif-pro"/>
              </a:rPr>
              <a:t>1</a:t>
            </a:r>
          </a:p>
          <a:p>
            <a:pPr marL="0" indent="0" algn="l">
              <a:buNone/>
            </a:pPr>
            <a:r>
              <a:rPr lang="en-US" sz="1800" b="1" i="0" dirty="0">
                <a:solidFill>
                  <a:srgbClr val="242424"/>
                </a:solidFill>
                <a:effectLst/>
                <a:latin typeface="source-serif-pro"/>
              </a:rPr>
              <a:t>Padding = P = </a:t>
            </a:r>
            <a:r>
              <a:rPr lang="en-US" sz="1800" b="0" i="0" dirty="0">
                <a:solidFill>
                  <a:srgbClr val="242424"/>
                </a:solidFill>
                <a:effectLst/>
                <a:latin typeface="source-serif-pro"/>
              </a:rPr>
              <a:t>1</a:t>
            </a:r>
          </a:p>
          <a:p>
            <a:pPr marL="0" indent="0" algn="l">
              <a:buNone/>
            </a:pPr>
            <a:r>
              <a:rPr lang="en-US" sz="1800" b="1" i="0" dirty="0">
                <a:solidFill>
                  <a:srgbClr val="242424"/>
                </a:solidFill>
                <a:effectLst/>
                <a:latin typeface="source-serif-pro"/>
              </a:rPr>
              <a:t>Output feature map size =</a:t>
            </a:r>
            <a:r>
              <a:rPr lang="en-US" sz="1800" b="0" i="0" dirty="0">
                <a:solidFill>
                  <a:srgbClr val="242424"/>
                </a:solidFill>
                <a:effectLst/>
                <a:latin typeface="source-serif-pro"/>
              </a:rPr>
              <a:t> [(224–3+2)/1] + 1 </a:t>
            </a:r>
            <a:r>
              <a:rPr lang="en-US" sz="1800" b="1" i="0" dirty="0">
                <a:solidFill>
                  <a:srgbClr val="242424"/>
                </a:solidFill>
                <a:effectLst/>
                <a:latin typeface="source-serif-pro"/>
              </a:rPr>
              <a:t>= </a:t>
            </a:r>
            <a:r>
              <a:rPr lang="en-US" sz="1800" b="0" i="0" dirty="0">
                <a:solidFill>
                  <a:srgbClr val="242424"/>
                </a:solidFill>
                <a:effectLst/>
                <a:latin typeface="source-serif-pro"/>
              </a:rPr>
              <a:t>224</a:t>
            </a:r>
          </a:p>
          <a:p>
            <a:pPr marL="0" indent="0" algn="l">
              <a:buNone/>
            </a:pPr>
            <a:r>
              <a:rPr lang="en-US" sz="1800" b="1" i="0" dirty="0">
                <a:solidFill>
                  <a:srgbClr val="242424"/>
                </a:solidFill>
                <a:effectLst/>
                <a:latin typeface="source-serif-pro"/>
              </a:rPr>
              <a:t>Output with channels = </a:t>
            </a:r>
            <a:r>
              <a:rPr lang="en-US" sz="1800" b="0" i="0" dirty="0">
                <a:solidFill>
                  <a:srgbClr val="242424"/>
                </a:solidFill>
                <a:effectLst/>
                <a:latin typeface="source-serif-pro"/>
              </a:rPr>
              <a:t>224 x 224 x 64</a:t>
            </a:r>
          </a:p>
          <a:p>
            <a:pPr marL="0" indent="0">
              <a:buNone/>
            </a:pPr>
            <a:endParaRPr lang="en-IN" sz="2000" dirty="0"/>
          </a:p>
        </p:txBody>
      </p:sp>
      <p:sp>
        <p:nvSpPr>
          <p:cNvPr id="4" name="Date Placeholder 3">
            <a:extLst>
              <a:ext uri="{FF2B5EF4-FFF2-40B4-BE49-F238E27FC236}">
                <a16:creationId xmlns:a16="http://schemas.microsoft.com/office/drawing/2014/main" id="{3B56CB76-F7C4-4486-B26B-888D72FDCEA3}"/>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60147FBD-C928-4D9D-AEAA-9F22478B109F}"/>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0D695FB-D0D8-4FEF-8E08-2DCDC0F38F54}"/>
              </a:ext>
            </a:extLst>
          </p:cNvPr>
          <p:cNvSpPr>
            <a:spLocks noGrp="1"/>
          </p:cNvSpPr>
          <p:nvPr>
            <p:ph type="sldNum" sz="quarter" idx="12"/>
          </p:nvPr>
        </p:nvSpPr>
        <p:spPr/>
        <p:txBody>
          <a:bodyPr/>
          <a:lstStyle/>
          <a:p>
            <a:fld id="{BB2CE0DE-867F-455F-B20B-96D381B4AB71}" type="slidenum">
              <a:rPr lang="en-US" smtClean="0"/>
              <a:t>100</a:t>
            </a:fld>
            <a:endParaRPr lang="en-US"/>
          </a:p>
        </p:txBody>
      </p:sp>
      <p:pic>
        <p:nvPicPr>
          <p:cNvPr id="7" name="Picture 6">
            <a:extLst>
              <a:ext uri="{FF2B5EF4-FFF2-40B4-BE49-F238E27FC236}">
                <a16:creationId xmlns:a16="http://schemas.microsoft.com/office/drawing/2014/main" id="{6205E067-BB1F-48E6-87CC-51F97D8C2FD6}"/>
              </a:ext>
            </a:extLst>
          </p:cNvPr>
          <p:cNvPicPr>
            <a:picLocks noChangeAspect="1"/>
          </p:cNvPicPr>
          <p:nvPr/>
        </p:nvPicPr>
        <p:blipFill>
          <a:blip r:embed="rId2"/>
          <a:stretch>
            <a:fillRect/>
          </a:stretch>
        </p:blipFill>
        <p:spPr>
          <a:xfrm rot="5400000">
            <a:off x="4487640" y="1947640"/>
            <a:ext cx="6145657" cy="3081338"/>
          </a:xfrm>
          <a:prstGeom prst="rect">
            <a:avLst/>
          </a:prstGeom>
        </p:spPr>
      </p:pic>
    </p:spTree>
    <p:extLst>
      <p:ext uri="{BB962C8B-B14F-4D97-AF65-F5344CB8AC3E}">
        <p14:creationId xmlns:p14="http://schemas.microsoft.com/office/powerpoint/2010/main" val="59581444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194D8-2768-47EB-90C0-83BF3930263B}"/>
              </a:ext>
            </a:extLst>
          </p:cNvPr>
          <p:cNvSpPr>
            <a:spLocks noGrp="1"/>
          </p:cNvSpPr>
          <p:nvPr>
            <p:ph type="title"/>
          </p:nvPr>
        </p:nvSpPr>
        <p:spPr/>
        <p:txBody>
          <a:bodyPr/>
          <a:lstStyle/>
          <a:p>
            <a:r>
              <a:rPr lang="en-US" dirty="0"/>
              <a:t>VGG-16 Architecture</a:t>
            </a:r>
            <a:endParaRPr lang="en-IN" dirty="0"/>
          </a:p>
        </p:txBody>
      </p:sp>
      <p:sp>
        <p:nvSpPr>
          <p:cNvPr id="3" name="Content Placeholder 2">
            <a:extLst>
              <a:ext uri="{FF2B5EF4-FFF2-40B4-BE49-F238E27FC236}">
                <a16:creationId xmlns:a16="http://schemas.microsoft.com/office/drawing/2014/main" id="{91B1D4E4-C56B-4072-B24D-8457CEAB8B69}"/>
              </a:ext>
            </a:extLst>
          </p:cNvPr>
          <p:cNvSpPr>
            <a:spLocks noGrp="1"/>
          </p:cNvSpPr>
          <p:nvPr>
            <p:ph idx="1"/>
          </p:nvPr>
        </p:nvSpPr>
        <p:spPr/>
        <p:txBody>
          <a:bodyPr/>
          <a:lstStyle/>
          <a:p>
            <a:pPr marL="0" indent="0" algn="l">
              <a:buNone/>
            </a:pPr>
            <a:r>
              <a:rPr lang="en-US" sz="1600" b="1" i="1" dirty="0">
                <a:solidFill>
                  <a:srgbClr val="242424"/>
                </a:solidFill>
                <a:effectLst/>
                <a:latin typeface="source-serif-pro"/>
              </a:rPr>
              <a:t>Max-Pooling Layer - 1</a:t>
            </a:r>
            <a:r>
              <a:rPr lang="en-US" sz="1600" b="1" i="0" dirty="0">
                <a:solidFill>
                  <a:srgbClr val="242424"/>
                </a:solidFill>
                <a:effectLst/>
                <a:latin typeface="source-serif-pro"/>
              </a:rPr>
              <a:t>:</a:t>
            </a:r>
            <a:endParaRPr lang="en-US" sz="1600" b="0" i="0" dirty="0">
              <a:solidFill>
                <a:srgbClr val="242424"/>
              </a:solidFill>
              <a:effectLst/>
              <a:latin typeface="source-serif-pro"/>
            </a:endParaRPr>
          </a:p>
          <a:p>
            <a:pPr marL="0" indent="0" algn="l">
              <a:buNone/>
            </a:pPr>
            <a:r>
              <a:rPr lang="en-US" sz="1600" b="1" i="0" dirty="0">
                <a:solidFill>
                  <a:srgbClr val="242424"/>
                </a:solidFill>
                <a:effectLst/>
                <a:latin typeface="source-serif-pro"/>
              </a:rPr>
              <a:t>Input size = N =</a:t>
            </a:r>
            <a:r>
              <a:rPr lang="en-US" sz="1600" b="0" i="0" dirty="0">
                <a:solidFill>
                  <a:srgbClr val="242424"/>
                </a:solidFill>
                <a:effectLst/>
                <a:latin typeface="source-serif-pro"/>
              </a:rPr>
              <a:t> 224</a:t>
            </a:r>
          </a:p>
          <a:p>
            <a:pPr marL="0" indent="0" algn="l">
              <a:buNone/>
            </a:pPr>
            <a:r>
              <a:rPr lang="en-US" sz="1600" b="1" i="0" dirty="0">
                <a:solidFill>
                  <a:srgbClr val="242424"/>
                </a:solidFill>
                <a:effectLst/>
                <a:latin typeface="source-serif-pro"/>
              </a:rPr>
              <a:t>Filter size = f = </a:t>
            </a:r>
            <a:r>
              <a:rPr lang="en-US" sz="1600" b="0" i="0" dirty="0">
                <a:solidFill>
                  <a:srgbClr val="242424"/>
                </a:solidFill>
                <a:effectLst/>
                <a:latin typeface="source-serif-pro"/>
              </a:rPr>
              <a:t>2 x 2</a:t>
            </a:r>
          </a:p>
          <a:p>
            <a:pPr marL="0" indent="0" algn="l">
              <a:buNone/>
            </a:pPr>
            <a:r>
              <a:rPr lang="en-US" sz="1600" b="1" i="0" dirty="0">
                <a:solidFill>
                  <a:srgbClr val="242424"/>
                </a:solidFill>
                <a:effectLst/>
                <a:latin typeface="source-serif-pro"/>
              </a:rPr>
              <a:t>Strides = S = </a:t>
            </a:r>
            <a:r>
              <a:rPr lang="en-US" sz="1600" b="0" i="0" dirty="0">
                <a:solidFill>
                  <a:srgbClr val="242424"/>
                </a:solidFill>
                <a:effectLst/>
                <a:latin typeface="source-serif-pro"/>
              </a:rPr>
              <a:t>2</a:t>
            </a:r>
          </a:p>
          <a:p>
            <a:pPr marL="0" indent="0" algn="l">
              <a:buNone/>
            </a:pPr>
            <a:r>
              <a:rPr lang="en-US" sz="1600" b="1" i="0" dirty="0">
                <a:solidFill>
                  <a:srgbClr val="242424"/>
                </a:solidFill>
                <a:effectLst/>
                <a:latin typeface="source-serif-pro"/>
              </a:rPr>
              <a:t>Padding = P =</a:t>
            </a:r>
            <a:r>
              <a:rPr lang="en-US" sz="1600" b="0" i="0" dirty="0">
                <a:solidFill>
                  <a:srgbClr val="242424"/>
                </a:solidFill>
                <a:effectLst/>
                <a:latin typeface="source-serif-pro"/>
              </a:rPr>
              <a:t> 0</a:t>
            </a:r>
          </a:p>
          <a:p>
            <a:pPr marL="0" indent="0" algn="l">
              <a:buNone/>
            </a:pPr>
            <a:r>
              <a:rPr lang="en-US" sz="1600" b="1" i="0" dirty="0">
                <a:solidFill>
                  <a:srgbClr val="242424"/>
                </a:solidFill>
                <a:effectLst/>
                <a:latin typeface="source-serif-pro"/>
              </a:rPr>
              <a:t>Output feature map size =</a:t>
            </a:r>
            <a:r>
              <a:rPr lang="en-US" sz="1600" b="0" i="0" dirty="0">
                <a:solidFill>
                  <a:srgbClr val="242424"/>
                </a:solidFill>
                <a:effectLst/>
                <a:latin typeface="source-serif-pro"/>
              </a:rPr>
              <a:t> [(224–2+0)/2] + 1 </a:t>
            </a:r>
            <a:r>
              <a:rPr lang="en-US" sz="1600" b="1" i="0" dirty="0">
                <a:solidFill>
                  <a:srgbClr val="242424"/>
                </a:solidFill>
                <a:effectLst/>
                <a:latin typeface="source-serif-pro"/>
              </a:rPr>
              <a:t>= </a:t>
            </a:r>
            <a:r>
              <a:rPr lang="en-US" sz="1600" b="0" i="0" dirty="0">
                <a:solidFill>
                  <a:srgbClr val="242424"/>
                </a:solidFill>
                <a:effectLst/>
                <a:latin typeface="source-serif-pro"/>
              </a:rPr>
              <a:t>112</a:t>
            </a:r>
          </a:p>
          <a:p>
            <a:pPr marL="0" indent="0" algn="l">
              <a:buNone/>
            </a:pPr>
            <a:r>
              <a:rPr lang="en-US" sz="1600" b="1" i="0" dirty="0">
                <a:solidFill>
                  <a:srgbClr val="242424"/>
                </a:solidFill>
                <a:effectLst/>
                <a:latin typeface="source-serif-pro"/>
              </a:rPr>
              <a:t>Output with channels = </a:t>
            </a:r>
            <a:r>
              <a:rPr lang="en-US" sz="1600" b="0" i="0" dirty="0">
                <a:solidFill>
                  <a:srgbClr val="242424"/>
                </a:solidFill>
                <a:effectLst/>
                <a:latin typeface="source-serif-pro"/>
              </a:rPr>
              <a:t>112 x 112 x 64</a:t>
            </a:r>
          </a:p>
          <a:p>
            <a:pPr marL="0" indent="0">
              <a:buNone/>
            </a:pPr>
            <a:endParaRPr lang="en-IN" sz="2000" dirty="0"/>
          </a:p>
        </p:txBody>
      </p:sp>
      <p:sp>
        <p:nvSpPr>
          <p:cNvPr id="4" name="Date Placeholder 3">
            <a:extLst>
              <a:ext uri="{FF2B5EF4-FFF2-40B4-BE49-F238E27FC236}">
                <a16:creationId xmlns:a16="http://schemas.microsoft.com/office/drawing/2014/main" id="{3B56CB76-F7C4-4486-B26B-888D72FDCEA3}"/>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60147FBD-C928-4D9D-AEAA-9F22478B109F}"/>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0D695FB-D0D8-4FEF-8E08-2DCDC0F38F54}"/>
              </a:ext>
            </a:extLst>
          </p:cNvPr>
          <p:cNvSpPr>
            <a:spLocks noGrp="1"/>
          </p:cNvSpPr>
          <p:nvPr>
            <p:ph type="sldNum" sz="quarter" idx="12"/>
          </p:nvPr>
        </p:nvSpPr>
        <p:spPr/>
        <p:txBody>
          <a:bodyPr/>
          <a:lstStyle/>
          <a:p>
            <a:fld id="{BB2CE0DE-867F-455F-B20B-96D381B4AB71}" type="slidenum">
              <a:rPr lang="en-US" smtClean="0"/>
              <a:t>101</a:t>
            </a:fld>
            <a:endParaRPr lang="en-US"/>
          </a:p>
        </p:txBody>
      </p:sp>
      <p:pic>
        <p:nvPicPr>
          <p:cNvPr id="7" name="Picture 6">
            <a:extLst>
              <a:ext uri="{FF2B5EF4-FFF2-40B4-BE49-F238E27FC236}">
                <a16:creationId xmlns:a16="http://schemas.microsoft.com/office/drawing/2014/main" id="{6205E067-BB1F-48E6-87CC-51F97D8C2FD6}"/>
              </a:ext>
            </a:extLst>
          </p:cNvPr>
          <p:cNvPicPr>
            <a:picLocks noChangeAspect="1"/>
          </p:cNvPicPr>
          <p:nvPr/>
        </p:nvPicPr>
        <p:blipFill>
          <a:blip r:embed="rId2"/>
          <a:stretch>
            <a:fillRect/>
          </a:stretch>
        </p:blipFill>
        <p:spPr>
          <a:xfrm rot="5400000">
            <a:off x="4259040" y="1719041"/>
            <a:ext cx="6145657" cy="3538538"/>
          </a:xfrm>
          <a:prstGeom prst="rect">
            <a:avLst/>
          </a:prstGeom>
        </p:spPr>
      </p:pic>
    </p:spTree>
    <p:extLst>
      <p:ext uri="{BB962C8B-B14F-4D97-AF65-F5344CB8AC3E}">
        <p14:creationId xmlns:p14="http://schemas.microsoft.com/office/powerpoint/2010/main" val="298294682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194D8-2768-47EB-90C0-83BF3930263B}"/>
              </a:ext>
            </a:extLst>
          </p:cNvPr>
          <p:cNvSpPr>
            <a:spLocks noGrp="1"/>
          </p:cNvSpPr>
          <p:nvPr>
            <p:ph type="title"/>
          </p:nvPr>
        </p:nvSpPr>
        <p:spPr/>
        <p:txBody>
          <a:bodyPr/>
          <a:lstStyle/>
          <a:p>
            <a:r>
              <a:rPr lang="en-US" dirty="0"/>
              <a:t>VGG-16 Architecture</a:t>
            </a:r>
            <a:endParaRPr lang="en-IN" dirty="0"/>
          </a:p>
        </p:txBody>
      </p:sp>
      <p:sp>
        <p:nvSpPr>
          <p:cNvPr id="3" name="Content Placeholder 2">
            <a:extLst>
              <a:ext uri="{FF2B5EF4-FFF2-40B4-BE49-F238E27FC236}">
                <a16:creationId xmlns:a16="http://schemas.microsoft.com/office/drawing/2014/main" id="{91B1D4E4-C56B-4072-B24D-8457CEAB8B69}"/>
              </a:ext>
            </a:extLst>
          </p:cNvPr>
          <p:cNvSpPr>
            <a:spLocks noGrp="1"/>
          </p:cNvSpPr>
          <p:nvPr>
            <p:ph idx="1"/>
          </p:nvPr>
        </p:nvSpPr>
        <p:spPr/>
        <p:txBody>
          <a:bodyPr/>
          <a:lstStyle/>
          <a:p>
            <a:pPr marL="0" indent="0" algn="l">
              <a:buNone/>
            </a:pPr>
            <a:r>
              <a:rPr lang="en-US" sz="1800" b="1" i="1" dirty="0">
                <a:solidFill>
                  <a:srgbClr val="242424"/>
                </a:solidFill>
                <a:effectLst/>
                <a:latin typeface="source-serif-pro"/>
              </a:rPr>
              <a:t>Convolution Layer - 3</a:t>
            </a:r>
            <a:r>
              <a:rPr lang="en-US" sz="1800" b="1" i="0" dirty="0">
                <a:solidFill>
                  <a:srgbClr val="242424"/>
                </a:solidFill>
                <a:effectLst/>
                <a:latin typeface="source-serif-pro"/>
              </a:rPr>
              <a:t>:</a:t>
            </a:r>
            <a:endParaRPr lang="en-US" sz="1800" b="0" i="0" dirty="0">
              <a:solidFill>
                <a:srgbClr val="242424"/>
              </a:solidFill>
              <a:effectLst/>
              <a:latin typeface="source-serif-pro"/>
            </a:endParaRPr>
          </a:p>
          <a:p>
            <a:pPr marL="0" indent="0" algn="l">
              <a:buNone/>
            </a:pPr>
            <a:r>
              <a:rPr lang="en-US" sz="1800" b="1" i="0" dirty="0">
                <a:solidFill>
                  <a:srgbClr val="242424"/>
                </a:solidFill>
                <a:effectLst/>
                <a:latin typeface="source-serif-pro"/>
              </a:rPr>
              <a:t>Input size = N =</a:t>
            </a:r>
            <a:r>
              <a:rPr lang="en-US" sz="1800" b="0" i="0" dirty="0">
                <a:solidFill>
                  <a:srgbClr val="242424"/>
                </a:solidFill>
                <a:effectLst/>
                <a:latin typeface="source-serif-pro"/>
              </a:rPr>
              <a:t> 112</a:t>
            </a:r>
          </a:p>
          <a:p>
            <a:pPr marL="0" indent="0" algn="l">
              <a:buNone/>
            </a:pPr>
            <a:r>
              <a:rPr lang="en-US" sz="1800" b="1" i="0" dirty="0">
                <a:solidFill>
                  <a:srgbClr val="242424"/>
                </a:solidFill>
                <a:effectLst/>
                <a:latin typeface="source-serif-pro"/>
              </a:rPr>
              <a:t>Filter size = f = </a:t>
            </a:r>
            <a:r>
              <a:rPr lang="en-US" sz="1800" b="0" i="0" dirty="0">
                <a:solidFill>
                  <a:srgbClr val="242424"/>
                </a:solidFill>
                <a:effectLst/>
                <a:latin typeface="source-serif-pro"/>
              </a:rPr>
              <a:t>3 x 3</a:t>
            </a:r>
          </a:p>
          <a:p>
            <a:pPr marL="0" indent="0" algn="l">
              <a:buNone/>
            </a:pPr>
            <a:r>
              <a:rPr lang="en-US" sz="1800" b="1" i="0" dirty="0">
                <a:solidFill>
                  <a:srgbClr val="242424"/>
                </a:solidFill>
                <a:effectLst/>
                <a:latin typeface="source-serif-pro"/>
              </a:rPr>
              <a:t>No. of filters =</a:t>
            </a:r>
            <a:r>
              <a:rPr lang="en-US" sz="1800" b="0" i="0" dirty="0">
                <a:solidFill>
                  <a:srgbClr val="242424"/>
                </a:solidFill>
                <a:effectLst/>
                <a:latin typeface="source-serif-pro"/>
              </a:rPr>
              <a:t> 128</a:t>
            </a:r>
          </a:p>
          <a:p>
            <a:pPr marL="0" indent="0" algn="l">
              <a:buNone/>
            </a:pPr>
            <a:r>
              <a:rPr lang="en-US" sz="1800" b="1" i="0" dirty="0">
                <a:solidFill>
                  <a:srgbClr val="242424"/>
                </a:solidFill>
                <a:effectLst/>
                <a:latin typeface="source-serif-pro"/>
              </a:rPr>
              <a:t>Strides = S = </a:t>
            </a:r>
            <a:r>
              <a:rPr lang="en-US" sz="1800" b="0" i="0" dirty="0">
                <a:solidFill>
                  <a:srgbClr val="242424"/>
                </a:solidFill>
                <a:effectLst/>
                <a:latin typeface="source-serif-pro"/>
              </a:rPr>
              <a:t>1</a:t>
            </a:r>
          </a:p>
          <a:p>
            <a:pPr marL="0" indent="0" algn="l">
              <a:buNone/>
            </a:pPr>
            <a:r>
              <a:rPr lang="en-US" sz="1800" b="1" i="0" dirty="0">
                <a:solidFill>
                  <a:srgbClr val="242424"/>
                </a:solidFill>
                <a:effectLst/>
                <a:latin typeface="source-serif-pro"/>
              </a:rPr>
              <a:t>Padding = P = </a:t>
            </a:r>
            <a:r>
              <a:rPr lang="en-US" sz="1800" b="0" i="0" dirty="0">
                <a:solidFill>
                  <a:srgbClr val="242424"/>
                </a:solidFill>
                <a:effectLst/>
                <a:latin typeface="source-serif-pro"/>
              </a:rPr>
              <a:t>1</a:t>
            </a:r>
          </a:p>
          <a:p>
            <a:pPr marL="0" indent="0" algn="l">
              <a:buNone/>
            </a:pPr>
            <a:r>
              <a:rPr lang="en-US" sz="1800" b="1" i="0" dirty="0">
                <a:solidFill>
                  <a:srgbClr val="242424"/>
                </a:solidFill>
                <a:effectLst/>
                <a:latin typeface="source-serif-pro"/>
              </a:rPr>
              <a:t>Output feature map size =</a:t>
            </a:r>
            <a:r>
              <a:rPr lang="en-US" sz="1800" b="0" i="0" dirty="0">
                <a:solidFill>
                  <a:srgbClr val="242424"/>
                </a:solidFill>
                <a:effectLst/>
                <a:latin typeface="source-serif-pro"/>
              </a:rPr>
              <a:t> [(112–3+2)/1] + 1 </a:t>
            </a:r>
            <a:r>
              <a:rPr lang="en-US" sz="1800" b="1" i="0" dirty="0">
                <a:solidFill>
                  <a:srgbClr val="242424"/>
                </a:solidFill>
                <a:effectLst/>
                <a:latin typeface="source-serif-pro"/>
              </a:rPr>
              <a:t>= 112</a:t>
            </a:r>
            <a:endParaRPr lang="en-US" sz="1800" b="0" i="0" dirty="0">
              <a:solidFill>
                <a:srgbClr val="242424"/>
              </a:solidFill>
              <a:effectLst/>
              <a:latin typeface="source-serif-pro"/>
            </a:endParaRPr>
          </a:p>
          <a:p>
            <a:pPr marL="0" indent="0" algn="l">
              <a:buNone/>
            </a:pPr>
            <a:r>
              <a:rPr lang="en-US" sz="1800" b="1" i="0" dirty="0">
                <a:solidFill>
                  <a:srgbClr val="242424"/>
                </a:solidFill>
                <a:effectLst/>
                <a:latin typeface="source-serif-pro"/>
              </a:rPr>
              <a:t>Output with channels = </a:t>
            </a:r>
            <a:r>
              <a:rPr lang="en-US" sz="1800" b="0" i="0" dirty="0">
                <a:solidFill>
                  <a:srgbClr val="242424"/>
                </a:solidFill>
                <a:effectLst/>
                <a:latin typeface="source-serif-pro"/>
              </a:rPr>
              <a:t>112 x 112 x 128</a:t>
            </a:r>
          </a:p>
          <a:p>
            <a:pPr marL="0" indent="0">
              <a:buNone/>
            </a:pPr>
            <a:endParaRPr lang="en-IN" sz="2000" dirty="0"/>
          </a:p>
        </p:txBody>
      </p:sp>
      <p:sp>
        <p:nvSpPr>
          <p:cNvPr id="4" name="Date Placeholder 3">
            <a:extLst>
              <a:ext uri="{FF2B5EF4-FFF2-40B4-BE49-F238E27FC236}">
                <a16:creationId xmlns:a16="http://schemas.microsoft.com/office/drawing/2014/main" id="{3B56CB76-F7C4-4486-B26B-888D72FDCEA3}"/>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60147FBD-C928-4D9D-AEAA-9F22478B109F}"/>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0D695FB-D0D8-4FEF-8E08-2DCDC0F38F54}"/>
              </a:ext>
            </a:extLst>
          </p:cNvPr>
          <p:cNvSpPr>
            <a:spLocks noGrp="1"/>
          </p:cNvSpPr>
          <p:nvPr>
            <p:ph type="sldNum" sz="quarter" idx="12"/>
          </p:nvPr>
        </p:nvSpPr>
        <p:spPr/>
        <p:txBody>
          <a:bodyPr/>
          <a:lstStyle/>
          <a:p>
            <a:fld id="{BB2CE0DE-867F-455F-B20B-96D381B4AB71}" type="slidenum">
              <a:rPr lang="en-US" smtClean="0"/>
              <a:t>102</a:t>
            </a:fld>
            <a:endParaRPr lang="en-US"/>
          </a:p>
        </p:txBody>
      </p:sp>
      <p:pic>
        <p:nvPicPr>
          <p:cNvPr id="7" name="Picture 6">
            <a:extLst>
              <a:ext uri="{FF2B5EF4-FFF2-40B4-BE49-F238E27FC236}">
                <a16:creationId xmlns:a16="http://schemas.microsoft.com/office/drawing/2014/main" id="{6205E067-BB1F-48E6-87CC-51F97D8C2FD6}"/>
              </a:ext>
            </a:extLst>
          </p:cNvPr>
          <p:cNvPicPr>
            <a:picLocks noChangeAspect="1"/>
          </p:cNvPicPr>
          <p:nvPr/>
        </p:nvPicPr>
        <p:blipFill>
          <a:blip r:embed="rId2"/>
          <a:stretch>
            <a:fillRect/>
          </a:stretch>
        </p:blipFill>
        <p:spPr>
          <a:xfrm rot="5400000">
            <a:off x="4487640" y="1947640"/>
            <a:ext cx="6145657" cy="3081338"/>
          </a:xfrm>
          <a:prstGeom prst="rect">
            <a:avLst/>
          </a:prstGeom>
        </p:spPr>
      </p:pic>
    </p:spTree>
    <p:extLst>
      <p:ext uri="{BB962C8B-B14F-4D97-AF65-F5344CB8AC3E}">
        <p14:creationId xmlns:p14="http://schemas.microsoft.com/office/powerpoint/2010/main" val="168790321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194D8-2768-47EB-90C0-83BF3930263B}"/>
              </a:ext>
            </a:extLst>
          </p:cNvPr>
          <p:cNvSpPr>
            <a:spLocks noGrp="1"/>
          </p:cNvSpPr>
          <p:nvPr>
            <p:ph type="title"/>
          </p:nvPr>
        </p:nvSpPr>
        <p:spPr/>
        <p:txBody>
          <a:bodyPr/>
          <a:lstStyle/>
          <a:p>
            <a:r>
              <a:rPr lang="en-US" dirty="0"/>
              <a:t>VGG-16 Architecture</a:t>
            </a:r>
            <a:endParaRPr lang="en-IN" dirty="0"/>
          </a:p>
        </p:txBody>
      </p:sp>
      <p:sp>
        <p:nvSpPr>
          <p:cNvPr id="3" name="Content Placeholder 2">
            <a:extLst>
              <a:ext uri="{FF2B5EF4-FFF2-40B4-BE49-F238E27FC236}">
                <a16:creationId xmlns:a16="http://schemas.microsoft.com/office/drawing/2014/main" id="{91B1D4E4-C56B-4072-B24D-8457CEAB8B69}"/>
              </a:ext>
            </a:extLst>
          </p:cNvPr>
          <p:cNvSpPr>
            <a:spLocks noGrp="1"/>
          </p:cNvSpPr>
          <p:nvPr>
            <p:ph idx="1"/>
          </p:nvPr>
        </p:nvSpPr>
        <p:spPr/>
        <p:txBody>
          <a:bodyPr/>
          <a:lstStyle/>
          <a:p>
            <a:pPr marL="0" indent="0" algn="l">
              <a:buNone/>
            </a:pPr>
            <a:r>
              <a:rPr lang="en-US" sz="1400" b="1" i="1" dirty="0">
                <a:solidFill>
                  <a:srgbClr val="242424"/>
                </a:solidFill>
                <a:effectLst/>
                <a:latin typeface="source-serif-pro"/>
              </a:rPr>
              <a:t>Convolution Layer - 4</a:t>
            </a:r>
            <a:r>
              <a:rPr lang="en-US" sz="1400" b="1" i="0" dirty="0">
                <a:solidFill>
                  <a:srgbClr val="242424"/>
                </a:solidFill>
                <a:effectLst/>
                <a:latin typeface="source-serif-pro"/>
              </a:rPr>
              <a:t>:</a:t>
            </a:r>
            <a:endParaRPr lang="en-US" sz="1400" b="0" i="0" dirty="0">
              <a:solidFill>
                <a:srgbClr val="242424"/>
              </a:solidFill>
              <a:effectLst/>
              <a:latin typeface="source-serif-pro"/>
            </a:endParaRPr>
          </a:p>
          <a:p>
            <a:pPr marL="0" indent="0" algn="l">
              <a:buNone/>
            </a:pPr>
            <a:r>
              <a:rPr lang="en-US" sz="1400" b="1" i="0" dirty="0">
                <a:solidFill>
                  <a:srgbClr val="242424"/>
                </a:solidFill>
                <a:effectLst/>
                <a:latin typeface="source-serif-pro"/>
              </a:rPr>
              <a:t>Input size = N =</a:t>
            </a:r>
            <a:r>
              <a:rPr lang="en-US" sz="1400" b="0" i="0" dirty="0">
                <a:solidFill>
                  <a:srgbClr val="242424"/>
                </a:solidFill>
                <a:effectLst/>
                <a:latin typeface="source-serif-pro"/>
              </a:rPr>
              <a:t> 112</a:t>
            </a:r>
          </a:p>
          <a:p>
            <a:pPr marL="0" indent="0" algn="l">
              <a:buNone/>
            </a:pPr>
            <a:r>
              <a:rPr lang="en-US" sz="1400" b="1" i="0" dirty="0">
                <a:solidFill>
                  <a:srgbClr val="242424"/>
                </a:solidFill>
                <a:effectLst/>
                <a:latin typeface="source-serif-pro"/>
              </a:rPr>
              <a:t>Filter size = f = </a:t>
            </a:r>
            <a:r>
              <a:rPr lang="en-US" sz="1400" b="0" i="0" dirty="0">
                <a:solidFill>
                  <a:srgbClr val="242424"/>
                </a:solidFill>
                <a:effectLst/>
                <a:latin typeface="source-serif-pro"/>
              </a:rPr>
              <a:t>3 x 3</a:t>
            </a:r>
          </a:p>
          <a:p>
            <a:pPr marL="0" indent="0" algn="l">
              <a:buNone/>
            </a:pPr>
            <a:r>
              <a:rPr lang="en-US" sz="1400" b="1" i="0" dirty="0">
                <a:solidFill>
                  <a:srgbClr val="242424"/>
                </a:solidFill>
                <a:effectLst/>
                <a:latin typeface="source-serif-pro"/>
              </a:rPr>
              <a:t>No. of filters =</a:t>
            </a:r>
            <a:r>
              <a:rPr lang="en-US" sz="1400" b="0" i="0" dirty="0">
                <a:solidFill>
                  <a:srgbClr val="242424"/>
                </a:solidFill>
                <a:effectLst/>
                <a:latin typeface="source-serif-pro"/>
              </a:rPr>
              <a:t> 128</a:t>
            </a:r>
          </a:p>
          <a:p>
            <a:pPr marL="0" indent="0" algn="l">
              <a:buNone/>
            </a:pPr>
            <a:r>
              <a:rPr lang="en-US" sz="1400" b="1" i="0" dirty="0">
                <a:solidFill>
                  <a:srgbClr val="242424"/>
                </a:solidFill>
                <a:effectLst/>
                <a:latin typeface="source-serif-pro"/>
              </a:rPr>
              <a:t>Strides = S = </a:t>
            </a:r>
            <a:r>
              <a:rPr lang="en-US" sz="1400" b="0" i="0" dirty="0">
                <a:solidFill>
                  <a:srgbClr val="242424"/>
                </a:solidFill>
                <a:effectLst/>
                <a:latin typeface="source-serif-pro"/>
              </a:rPr>
              <a:t>1</a:t>
            </a:r>
          </a:p>
          <a:p>
            <a:pPr marL="0" indent="0" algn="l">
              <a:buNone/>
            </a:pPr>
            <a:r>
              <a:rPr lang="en-US" sz="1400" b="1" i="0" dirty="0">
                <a:solidFill>
                  <a:srgbClr val="242424"/>
                </a:solidFill>
                <a:effectLst/>
                <a:latin typeface="source-serif-pro"/>
              </a:rPr>
              <a:t>Padding = P = </a:t>
            </a:r>
            <a:r>
              <a:rPr lang="en-US" sz="1400" b="0" i="0" dirty="0">
                <a:solidFill>
                  <a:srgbClr val="242424"/>
                </a:solidFill>
                <a:effectLst/>
                <a:latin typeface="source-serif-pro"/>
              </a:rPr>
              <a:t>1</a:t>
            </a:r>
          </a:p>
          <a:p>
            <a:pPr marL="0" indent="0" algn="l">
              <a:buNone/>
            </a:pPr>
            <a:r>
              <a:rPr lang="en-US" sz="1400" b="1" i="0" dirty="0">
                <a:solidFill>
                  <a:srgbClr val="242424"/>
                </a:solidFill>
                <a:effectLst/>
                <a:latin typeface="source-serif-pro"/>
              </a:rPr>
              <a:t>Output feature map size =</a:t>
            </a:r>
            <a:r>
              <a:rPr lang="en-US" sz="1400" b="0" i="0" dirty="0">
                <a:solidFill>
                  <a:srgbClr val="242424"/>
                </a:solidFill>
                <a:effectLst/>
                <a:latin typeface="source-serif-pro"/>
              </a:rPr>
              <a:t> [(112–3+2)/1] + 1 </a:t>
            </a:r>
            <a:r>
              <a:rPr lang="en-US" sz="1400" b="1" i="0" dirty="0">
                <a:solidFill>
                  <a:srgbClr val="242424"/>
                </a:solidFill>
                <a:effectLst/>
                <a:latin typeface="source-serif-pro"/>
              </a:rPr>
              <a:t>= </a:t>
            </a:r>
            <a:r>
              <a:rPr lang="en-US" sz="1400" b="0" i="0" dirty="0">
                <a:solidFill>
                  <a:srgbClr val="242424"/>
                </a:solidFill>
                <a:effectLst/>
                <a:latin typeface="source-serif-pro"/>
              </a:rPr>
              <a:t>112</a:t>
            </a:r>
          </a:p>
          <a:p>
            <a:pPr marL="0" indent="0" algn="l">
              <a:buNone/>
            </a:pPr>
            <a:r>
              <a:rPr lang="en-US" sz="1400" b="1" i="0" dirty="0">
                <a:solidFill>
                  <a:srgbClr val="242424"/>
                </a:solidFill>
                <a:effectLst/>
                <a:latin typeface="source-serif-pro"/>
              </a:rPr>
              <a:t>Output with channels = </a:t>
            </a:r>
            <a:r>
              <a:rPr lang="en-US" sz="1400" b="0" i="0" dirty="0">
                <a:solidFill>
                  <a:srgbClr val="242424"/>
                </a:solidFill>
                <a:effectLst/>
                <a:latin typeface="source-serif-pro"/>
              </a:rPr>
              <a:t>112 x 112 x 128</a:t>
            </a:r>
          </a:p>
          <a:p>
            <a:pPr marL="0" indent="0">
              <a:buNone/>
            </a:pPr>
            <a:endParaRPr lang="en-IN" sz="2400" dirty="0"/>
          </a:p>
          <a:p>
            <a:pPr marL="0" indent="0" algn="l">
              <a:buNone/>
            </a:pPr>
            <a:r>
              <a:rPr lang="en-US" sz="1400" b="1" i="1" dirty="0">
                <a:solidFill>
                  <a:srgbClr val="242424"/>
                </a:solidFill>
                <a:effectLst/>
                <a:latin typeface="source-serif-pro"/>
              </a:rPr>
              <a:t>Max-Pooling Layer - 2</a:t>
            </a:r>
            <a:r>
              <a:rPr lang="en-US" sz="1400" b="1" i="0" dirty="0">
                <a:solidFill>
                  <a:srgbClr val="242424"/>
                </a:solidFill>
                <a:effectLst/>
                <a:latin typeface="source-serif-pro"/>
              </a:rPr>
              <a:t>:</a:t>
            </a:r>
            <a:endParaRPr lang="en-US" sz="1400" b="0" i="0" dirty="0">
              <a:solidFill>
                <a:srgbClr val="242424"/>
              </a:solidFill>
              <a:effectLst/>
              <a:latin typeface="source-serif-pro"/>
            </a:endParaRPr>
          </a:p>
          <a:p>
            <a:pPr marL="0" indent="0" algn="l">
              <a:buNone/>
            </a:pPr>
            <a:r>
              <a:rPr lang="en-US" sz="1400" b="1" i="0" dirty="0">
                <a:solidFill>
                  <a:srgbClr val="242424"/>
                </a:solidFill>
                <a:effectLst/>
                <a:latin typeface="source-serif-pro"/>
              </a:rPr>
              <a:t>Input size = N =</a:t>
            </a:r>
            <a:r>
              <a:rPr lang="en-US" sz="1400" b="0" i="0" dirty="0">
                <a:solidFill>
                  <a:srgbClr val="242424"/>
                </a:solidFill>
                <a:effectLst/>
                <a:latin typeface="source-serif-pro"/>
              </a:rPr>
              <a:t> 112</a:t>
            </a:r>
          </a:p>
          <a:p>
            <a:pPr marL="0" indent="0" algn="l">
              <a:buNone/>
            </a:pPr>
            <a:r>
              <a:rPr lang="en-US" sz="1400" b="1" i="0" dirty="0">
                <a:solidFill>
                  <a:srgbClr val="242424"/>
                </a:solidFill>
                <a:effectLst/>
                <a:latin typeface="source-serif-pro"/>
              </a:rPr>
              <a:t>Filter size = f = </a:t>
            </a:r>
            <a:r>
              <a:rPr lang="en-US" sz="1400" b="0" i="0" dirty="0">
                <a:solidFill>
                  <a:srgbClr val="242424"/>
                </a:solidFill>
                <a:effectLst/>
                <a:latin typeface="source-serif-pro"/>
              </a:rPr>
              <a:t>2 x 2</a:t>
            </a:r>
          </a:p>
          <a:p>
            <a:pPr marL="0" indent="0" algn="l">
              <a:buNone/>
            </a:pPr>
            <a:r>
              <a:rPr lang="en-US" sz="1400" b="1" i="0" dirty="0">
                <a:solidFill>
                  <a:srgbClr val="242424"/>
                </a:solidFill>
                <a:effectLst/>
                <a:latin typeface="source-serif-pro"/>
              </a:rPr>
              <a:t>Strides = S = </a:t>
            </a:r>
            <a:r>
              <a:rPr lang="en-US" sz="1400" b="0" i="0" dirty="0">
                <a:solidFill>
                  <a:srgbClr val="242424"/>
                </a:solidFill>
                <a:effectLst/>
                <a:latin typeface="source-serif-pro"/>
              </a:rPr>
              <a:t>2</a:t>
            </a:r>
          </a:p>
          <a:p>
            <a:pPr marL="0" indent="0" algn="l">
              <a:buNone/>
            </a:pPr>
            <a:r>
              <a:rPr lang="en-US" sz="1400" b="1" i="0" dirty="0">
                <a:solidFill>
                  <a:srgbClr val="242424"/>
                </a:solidFill>
                <a:effectLst/>
                <a:latin typeface="source-serif-pro"/>
              </a:rPr>
              <a:t>Padding = P =</a:t>
            </a:r>
            <a:r>
              <a:rPr lang="en-US" sz="1400" b="0" i="0" dirty="0">
                <a:solidFill>
                  <a:srgbClr val="242424"/>
                </a:solidFill>
                <a:effectLst/>
                <a:latin typeface="source-serif-pro"/>
              </a:rPr>
              <a:t> 0</a:t>
            </a:r>
          </a:p>
          <a:p>
            <a:pPr marL="0" indent="0" algn="l">
              <a:buNone/>
            </a:pPr>
            <a:r>
              <a:rPr lang="en-US" sz="1400" b="1" i="0" dirty="0">
                <a:solidFill>
                  <a:srgbClr val="242424"/>
                </a:solidFill>
                <a:effectLst/>
                <a:latin typeface="source-serif-pro"/>
              </a:rPr>
              <a:t>Output feature map size =</a:t>
            </a:r>
            <a:r>
              <a:rPr lang="en-US" sz="1400" b="0" i="0" dirty="0">
                <a:solidFill>
                  <a:srgbClr val="242424"/>
                </a:solidFill>
                <a:effectLst/>
                <a:latin typeface="source-serif-pro"/>
              </a:rPr>
              <a:t> [(112–2+0)/2] + 1 </a:t>
            </a:r>
            <a:r>
              <a:rPr lang="en-US" sz="1400" b="1" i="0" dirty="0">
                <a:solidFill>
                  <a:srgbClr val="242424"/>
                </a:solidFill>
                <a:effectLst/>
                <a:latin typeface="source-serif-pro"/>
              </a:rPr>
              <a:t>= </a:t>
            </a:r>
            <a:r>
              <a:rPr lang="en-US" sz="1400" b="0" i="0" dirty="0">
                <a:solidFill>
                  <a:srgbClr val="242424"/>
                </a:solidFill>
                <a:effectLst/>
                <a:latin typeface="source-serif-pro"/>
              </a:rPr>
              <a:t>56</a:t>
            </a:r>
          </a:p>
          <a:p>
            <a:pPr marL="0" indent="0" algn="l">
              <a:buNone/>
            </a:pPr>
            <a:r>
              <a:rPr lang="en-US" sz="1400" b="1" i="0" dirty="0">
                <a:solidFill>
                  <a:srgbClr val="242424"/>
                </a:solidFill>
                <a:effectLst/>
                <a:latin typeface="source-serif-pro"/>
              </a:rPr>
              <a:t>Output with channels = </a:t>
            </a:r>
            <a:r>
              <a:rPr lang="en-US" sz="1400" b="0" i="0" dirty="0">
                <a:solidFill>
                  <a:srgbClr val="242424"/>
                </a:solidFill>
                <a:effectLst/>
                <a:latin typeface="source-serif-pro"/>
              </a:rPr>
              <a:t>56 x 56 x 128</a:t>
            </a:r>
          </a:p>
          <a:p>
            <a:pPr marL="0" indent="0">
              <a:buNone/>
            </a:pPr>
            <a:endParaRPr lang="en-IN" sz="2000" dirty="0"/>
          </a:p>
        </p:txBody>
      </p:sp>
      <p:sp>
        <p:nvSpPr>
          <p:cNvPr id="4" name="Date Placeholder 3">
            <a:extLst>
              <a:ext uri="{FF2B5EF4-FFF2-40B4-BE49-F238E27FC236}">
                <a16:creationId xmlns:a16="http://schemas.microsoft.com/office/drawing/2014/main" id="{3B56CB76-F7C4-4486-B26B-888D72FDCEA3}"/>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60147FBD-C928-4D9D-AEAA-9F22478B109F}"/>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0D695FB-D0D8-4FEF-8E08-2DCDC0F38F54}"/>
              </a:ext>
            </a:extLst>
          </p:cNvPr>
          <p:cNvSpPr>
            <a:spLocks noGrp="1"/>
          </p:cNvSpPr>
          <p:nvPr>
            <p:ph type="sldNum" sz="quarter" idx="12"/>
          </p:nvPr>
        </p:nvSpPr>
        <p:spPr/>
        <p:txBody>
          <a:bodyPr/>
          <a:lstStyle/>
          <a:p>
            <a:fld id="{BB2CE0DE-867F-455F-B20B-96D381B4AB71}" type="slidenum">
              <a:rPr lang="en-US" smtClean="0"/>
              <a:t>103</a:t>
            </a:fld>
            <a:endParaRPr lang="en-US"/>
          </a:p>
        </p:txBody>
      </p:sp>
      <p:pic>
        <p:nvPicPr>
          <p:cNvPr id="7" name="Picture 6">
            <a:extLst>
              <a:ext uri="{FF2B5EF4-FFF2-40B4-BE49-F238E27FC236}">
                <a16:creationId xmlns:a16="http://schemas.microsoft.com/office/drawing/2014/main" id="{6205E067-BB1F-48E6-87CC-51F97D8C2FD6}"/>
              </a:ext>
            </a:extLst>
          </p:cNvPr>
          <p:cNvPicPr>
            <a:picLocks noChangeAspect="1"/>
          </p:cNvPicPr>
          <p:nvPr/>
        </p:nvPicPr>
        <p:blipFill>
          <a:blip r:embed="rId2"/>
          <a:stretch>
            <a:fillRect/>
          </a:stretch>
        </p:blipFill>
        <p:spPr>
          <a:xfrm rot="5400000">
            <a:off x="4487640" y="1947640"/>
            <a:ext cx="6145657" cy="3081338"/>
          </a:xfrm>
          <a:prstGeom prst="rect">
            <a:avLst/>
          </a:prstGeom>
        </p:spPr>
      </p:pic>
    </p:spTree>
    <p:extLst>
      <p:ext uri="{BB962C8B-B14F-4D97-AF65-F5344CB8AC3E}">
        <p14:creationId xmlns:p14="http://schemas.microsoft.com/office/powerpoint/2010/main" val="141428646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194D8-2768-47EB-90C0-83BF3930263B}"/>
              </a:ext>
            </a:extLst>
          </p:cNvPr>
          <p:cNvSpPr>
            <a:spLocks noGrp="1"/>
          </p:cNvSpPr>
          <p:nvPr>
            <p:ph type="title"/>
          </p:nvPr>
        </p:nvSpPr>
        <p:spPr/>
        <p:txBody>
          <a:bodyPr/>
          <a:lstStyle/>
          <a:p>
            <a:r>
              <a:rPr lang="en-US" dirty="0"/>
              <a:t>VGG-16 Architecture</a:t>
            </a:r>
            <a:endParaRPr lang="en-IN" dirty="0"/>
          </a:p>
        </p:txBody>
      </p:sp>
      <p:sp>
        <p:nvSpPr>
          <p:cNvPr id="3" name="Content Placeholder 2">
            <a:extLst>
              <a:ext uri="{FF2B5EF4-FFF2-40B4-BE49-F238E27FC236}">
                <a16:creationId xmlns:a16="http://schemas.microsoft.com/office/drawing/2014/main" id="{91B1D4E4-C56B-4072-B24D-8457CEAB8B69}"/>
              </a:ext>
            </a:extLst>
          </p:cNvPr>
          <p:cNvSpPr>
            <a:spLocks noGrp="1"/>
          </p:cNvSpPr>
          <p:nvPr>
            <p:ph idx="1"/>
          </p:nvPr>
        </p:nvSpPr>
        <p:spPr/>
        <p:txBody>
          <a:bodyPr/>
          <a:lstStyle/>
          <a:p>
            <a:pPr marL="0" indent="0" algn="l">
              <a:buNone/>
            </a:pPr>
            <a:r>
              <a:rPr lang="en-IN" sz="1600" i="1" dirty="0">
                <a:solidFill>
                  <a:srgbClr val="242424"/>
                </a:solidFill>
                <a:effectLst/>
                <a:latin typeface="source-serif-pro"/>
              </a:rPr>
              <a:t>Convolution Layer - 5</a:t>
            </a:r>
            <a:r>
              <a:rPr lang="en-IN" sz="1600" i="0" dirty="0">
                <a:solidFill>
                  <a:srgbClr val="242424"/>
                </a:solidFill>
                <a:effectLst/>
                <a:latin typeface="source-serif-pro"/>
              </a:rPr>
              <a:t>:</a:t>
            </a:r>
          </a:p>
          <a:p>
            <a:pPr marL="0" indent="0" algn="l">
              <a:buNone/>
            </a:pPr>
            <a:r>
              <a:rPr lang="en-IN" sz="1600" i="0" dirty="0">
                <a:solidFill>
                  <a:srgbClr val="242424"/>
                </a:solidFill>
                <a:effectLst/>
                <a:latin typeface="source-serif-pro"/>
              </a:rPr>
              <a:t>Input size = N = 56</a:t>
            </a:r>
          </a:p>
          <a:p>
            <a:pPr marL="0" indent="0" algn="l">
              <a:buNone/>
            </a:pPr>
            <a:r>
              <a:rPr lang="en-IN" sz="1600" i="0" dirty="0">
                <a:solidFill>
                  <a:srgbClr val="242424"/>
                </a:solidFill>
                <a:effectLst/>
                <a:latin typeface="source-serif-pro"/>
              </a:rPr>
              <a:t>Filter size = f = 3 x 3</a:t>
            </a:r>
          </a:p>
          <a:p>
            <a:pPr marL="0" indent="0" algn="l">
              <a:buNone/>
            </a:pPr>
            <a:r>
              <a:rPr lang="en-IN" sz="1600" i="0" dirty="0">
                <a:solidFill>
                  <a:srgbClr val="242424"/>
                </a:solidFill>
                <a:effectLst/>
                <a:latin typeface="source-serif-pro"/>
              </a:rPr>
              <a:t>No. of filters = 256</a:t>
            </a:r>
          </a:p>
          <a:p>
            <a:pPr marL="0" indent="0" algn="l">
              <a:buNone/>
            </a:pPr>
            <a:r>
              <a:rPr lang="en-IN" sz="1600" i="0" dirty="0">
                <a:solidFill>
                  <a:srgbClr val="242424"/>
                </a:solidFill>
                <a:effectLst/>
                <a:latin typeface="source-serif-pro"/>
              </a:rPr>
              <a:t>Strides = S = 1</a:t>
            </a:r>
          </a:p>
          <a:p>
            <a:pPr marL="0" indent="0" algn="l">
              <a:buNone/>
            </a:pPr>
            <a:r>
              <a:rPr lang="en-IN" sz="1600" i="0" dirty="0">
                <a:solidFill>
                  <a:srgbClr val="242424"/>
                </a:solidFill>
                <a:effectLst/>
                <a:latin typeface="source-serif-pro"/>
              </a:rPr>
              <a:t>Padding = P = 1</a:t>
            </a:r>
          </a:p>
          <a:p>
            <a:pPr marL="0" indent="0" algn="l">
              <a:buNone/>
            </a:pPr>
            <a:r>
              <a:rPr lang="en-IN" sz="1600" i="0" dirty="0">
                <a:solidFill>
                  <a:srgbClr val="242424"/>
                </a:solidFill>
                <a:effectLst/>
                <a:latin typeface="source-serif-pro"/>
              </a:rPr>
              <a:t>Output feature map size = [(56–3+2)/1] + 1 = 56</a:t>
            </a:r>
          </a:p>
          <a:p>
            <a:pPr marL="0" indent="0" algn="l">
              <a:buNone/>
            </a:pPr>
            <a:r>
              <a:rPr lang="en-IN" sz="1600" i="0" dirty="0">
                <a:solidFill>
                  <a:srgbClr val="242424"/>
                </a:solidFill>
                <a:effectLst/>
                <a:latin typeface="source-serif-pro"/>
              </a:rPr>
              <a:t>Output with channels = 56 x 56 x 256</a:t>
            </a:r>
          </a:p>
          <a:p>
            <a:pPr marL="0" indent="0" algn="l">
              <a:buNone/>
            </a:pPr>
            <a:endParaRPr lang="en-IN" sz="1600" i="0" dirty="0">
              <a:solidFill>
                <a:srgbClr val="242424"/>
              </a:solidFill>
              <a:effectLst/>
              <a:latin typeface="source-serif-pro"/>
            </a:endParaRPr>
          </a:p>
          <a:p>
            <a:pPr marL="0" indent="0" algn="l">
              <a:buNone/>
            </a:pPr>
            <a:r>
              <a:rPr lang="en-IN" sz="1600" i="1" dirty="0">
                <a:solidFill>
                  <a:srgbClr val="242424"/>
                </a:solidFill>
                <a:effectLst/>
                <a:latin typeface="source-serif-pro"/>
              </a:rPr>
              <a:t>Convolution Layer - 6</a:t>
            </a:r>
            <a:r>
              <a:rPr lang="en-IN" sz="1600" i="0" dirty="0">
                <a:solidFill>
                  <a:srgbClr val="242424"/>
                </a:solidFill>
                <a:effectLst/>
                <a:latin typeface="source-serif-pro"/>
              </a:rPr>
              <a:t>:</a:t>
            </a:r>
          </a:p>
          <a:p>
            <a:pPr marL="0" indent="0" algn="l">
              <a:buNone/>
            </a:pPr>
            <a:r>
              <a:rPr lang="en-IN" sz="1600" i="0" dirty="0">
                <a:solidFill>
                  <a:srgbClr val="242424"/>
                </a:solidFill>
                <a:effectLst/>
                <a:latin typeface="source-serif-pro"/>
              </a:rPr>
              <a:t>Input size = N = 56</a:t>
            </a:r>
          </a:p>
          <a:p>
            <a:pPr marL="0" indent="0" algn="l">
              <a:buNone/>
            </a:pPr>
            <a:r>
              <a:rPr lang="en-IN" sz="1600" i="0" dirty="0">
                <a:solidFill>
                  <a:srgbClr val="242424"/>
                </a:solidFill>
                <a:effectLst/>
                <a:latin typeface="source-serif-pro"/>
              </a:rPr>
              <a:t>Filter size = f = 3 x 3</a:t>
            </a:r>
          </a:p>
          <a:p>
            <a:pPr marL="0" indent="0" algn="l">
              <a:buNone/>
            </a:pPr>
            <a:r>
              <a:rPr lang="en-IN" sz="1600" i="0" dirty="0">
                <a:solidFill>
                  <a:srgbClr val="242424"/>
                </a:solidFill>
                <a:effectLst/>
                <a:latin typeface="source-serif-pro"/>
              </a:rPr>
              <a:t>No. of filters = 256</a:t>
            </a:r>
          </a:p>
          <a:p>
            <a:pPr marL="0" indent="0" algn="l">
              <a:buNone/>
            </a:pPr>
            <a:r>
              <a:rPr lang="en-IN" sz="1600" i="0" dirty="0">
                <a:solidFill>
                  <a:srgbClr val="242424"/>
                </a:solidFill>
                <a:effectLst/>
                <a:latin typeface="source-serif-pro"/>
              </a:rPr>
              <a:t>Strides = S = 1</a:t>
            </a:r>
          </a:p>
          <a:p>
            <a:pPr marL="0" indent="0" algn="l">
              <a:buNone/>
            </a:pPr>
            <a:r>
              <a:rPr lang="en-IN" sz="1600" i="0" dirty="0">
                <a:solidFill>
                  <a:srgbClr val="242424"/>
                </a:solidFill>
                <a:effectLst/>
                <a:latin typeface="source-serif-pro"/>
              </a:rPr>
              <a:t>Padding = P = 1</a:t>
            </a:r>
          </a:p>
          <a:p>
            <a:pPr marL="0" indent="0" algn="l">
              <a:buNone/>
            </a:pPr>
            <a:r>
              <a:rPr lang="en-IN" sz="1600" i="0" dirty="0">
                <a:solidFill>
                  <a:srgbClr val="242424"/>
                </a:solidFill>
                <a:effectLst/>
                <a:latin typeface="source-serif-pro"/>
              </a:rPr>
              <a:t>Output feature map size = [(56–3+2)/1] + 1 = 56</a:t>
            </a:r>
          </a:p>
          <a:p>
            <a:pPr marL="0" indent="0" algn="l">
              <a:buNone/>
            </a:pPr>
            <a:r>
              <a:rPr lang="en-IN" sz="1600" i="0" dirty="0">
                <a:solidFill>
                  <a:srgbClr val="242424"/>
                </a:solidFill>
                <a:effectLst/>
                <a:latin typeface="source-serif-pro"/>
              </a:rPr>
              <a:t>Output with channels = 56 x 56 x 256</a:t>
            </a:r>
          </a:p>
          <a:p>
            <a:pPr marL="0" indent="0">
              <a:buNone/>
            </a:pPr>
            <a:endParaRPr lang="en-IN" sz="2000" dirty="0"/>
          </a:p>
        </p:txBody>
      </p:sp>
      <p:sp>
        <p:nvSpPr>
          <p:cNvPr id="4" name="Date Placeholder 3">
            <a:extLst>
              <a:ext uri="{FF2B5EF4-FFF2-40B4-BE49-F238E27FC236}">
                <a16:creationId xmlns:a16="http://schemas.microsoft.com/office/drawing/2014/main" id="{3B56CB76-F7C4-4486-B26B-888D72FDCEA3}"/>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60147FBD-C928-4D9D-AEAA-9F22478B109F}"/>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0D695FB-D0D8-4FEF-8E08-2DCDC0F38F54}"/>
              </a:ext>
            </a:extLst>
          </p:cNvPr>
          <p:cNvSpPr>
            <a:spLocks noGrp="1"/>
          </p:cNvSpPr>
          <p:nvPr>
            <p:ph type="sldNum" sz="quarter" idx="12"/>
          </p:nvPr>
        </p:nvSpPr>
        <p:spPr/>
        <p:txBody>
          <a:bodyPr/>
          <a:lstStyle/>
          <a:p>
            <a:fld id="{BB2CE0DE-867F-455F-B20B-96D381B4AB71}" type="slidenum">
              <a:rPr lang="en-US" smtClean="0"/>
              <a:t>104</a:t>
            </a:fld>
            <a:endParaRPr lang="en-US"/>
          </a:p>
        </p:txBody>
      </p:sp>
      <p:pic>
        <p:nvPicPr>
          <p:cNvPr id="7" name="Picture 6">
            <a:extLst>
              <a:ext uri="{FF2B5EF4-FFF2-40B4-BE49-F238E27FC236}">
                <a16:creationId xmlns:a16="http://schemas.microsoft.com/office/drawing/2014/main" id="{6205E067-BB1F-48E6-87CC-51F97D8C2FD6}"/>
              </a:ext>
            </a:extLst>
          </p:cNvPr>
          <p:cNvPicPr>
            <a:picLocks noChangeAspect="1"/>
          </p:cNvPicPr>
          <p:nvPr/>
        </p:nvPicPr>
        <p:blipFill>
          <a:blip r:embed="rId2"/>
          <a:stretch>
            <a:fillRect/>
          </a:stretch>
        </p:blipFill>
        <p:spPr>
          <a:xfrm rot="5400000">
            <a:off x="4487640" y="1947640"/>
            <a:ext cx="6145657" cy="3081338"/>
          </a:xfrm>
          <a:prstGeom prst="rect">
            <a:avLst/>
          </a:prstGeom>
        </p:spPr>
      </p:pic>
    </p:spTree>
    <p:extLst>
      <p:ext uri="{BB962C8B-B14F-4D97-AF65-F5344CB8AC3E}">
        <p14:creationId xmlns:p14="http://schemas.microsoft.com/office/powerpoint/2010/main" val="40204735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194D8-2768-47EB-90C0-83BF3930263B}"/>
              </a:ext>
            </a:extLst>
          </p:cNvPr>
          <p:cNvSpPr>
            <a:spLocks noGrp="1"/>
          </p:cNvSpPr>
          <p:nvPr>
            <p:ph type="title"/>
          </p:nvPr>
        </p:nvSpPr>
        <p:spPr/>
        <p:txBody>
          <a:bodyPr/>
          <a:lstStyle/>
          <a:p>
            <a:r>
              <a:rPr lang="en-US" dirty="0"/>
              <a:t>VGG-16 Architecture</a:t>
            </a:r>
            <a:endParaRPr lang="en-IN" dirty="0"/>
          </a:p>
        </p:txBody>
      </p:sp>
      <p:sp>
        <p:nvSpPr>
          <p:cNvPr id="3" name="Content Placeholder 2">
            <a:extLst>
              <a:ext uri="{FF2B5EF4-FFF2-40B4-BE49-F238E27FC236}">
                <a16:creationId xmlns:a16="http://schemas.microsoft.com/office/drawing/2014/main" id="{91B1D4E4-C56B-4072-B24D-8457CEAB8B69}"/>
              </a:ext>
            </a:extLst>
          </p:cNvPr>
          <p:cNvSpPr>
            <a:spLocks noGrp="1"/>
          </p:cNvSpPr>
          <p:nvPr>
            <p:ph idx="1"/>
          </p:nvPr>
        </p:nvSpPr>
        <p:spPr/>
        <p:txBody>
          <a:bodyPr/>
          <a:lstStyle/>
          <a:p>
            <a:pPr marL="0" indent="0" algn="l">
              <a:buNone/>
            </a:pPr>
            <a:r>
              <a:rPr lang="en-IN" sz="1200" b="1" i="1" dirty="0">
                <a:solidFill>
                  <a:srgbClr val="242424"/>
                </a:solidFill>
                <a:effectLst/>
                <a:latin typeface="source-serif-pro"/>
              </a:rPr>
              <a:t>Convolution Layer - 7</a:t>
            </a:r>
            <a:r>
              <a:rPr lang="en-IN" sz="1200" b="1" i="0" dirty="0">
                <a:solidFill>
                  <a:srgbClr val="242424"/>
                </a:solidFill>
                <a:effectLst/>
                <a:latin typeface="source-serif-pro"/>
              </a:rPr>
              <a:t>:</a:t>
            </a:r>
            <a:endParaRPr lang="en-IN" sz="1200" b="0" i="0" dirty="0">
              <a:solidFill>
                <a:srgbClr val="242424"/>
              </a:solidFill>
              <a:effectLst/>
              <a:latin typeface="source-serif-pro"/>
            </a:endParaRPr>
          </a:p>
          <a:p>
            <a:pPr marL="0" indent="0" algn="l">
              <a:buNone/>
            </a:pPr>
            <a:r>
              <a:rPr lang="en-IN" sz="1200" b="1" i="0" dirty="0">
                <a:solidFill>
                  <a:srgbClr val="242424"/>
                </a:solidFill>
                <a:effectLst/>
                <a:latin typeface="source-serif-pro"/>
              </a:rPr>
              <a:t>Input size = N =</a:t>
            </a:r>
            <a:r>
              <a:rPr lang="en-IN" sz="1200" b="0" i="0" dirty="0">
                <a:solidFill>
                  <a:srgbClr val="242424"/>
                </a:solidFill>
                <a:effectLst/>
                <a:latin typeface="source-serif-pro"/>
              </a:rPr>
              <a:t> 56</a:t>
            </a:r>
          </a:p>
          <a:p>
            <a:pPr marL="0" indent="0" algn="l">
              <a:buNone/>
            </a:pPr>
            <a:r>
              <a:rPr lang="en-IN" sz="1200" b="1" i="0" dirty="0">
                <a:solidFill>
                  <a:srgbClr val="242424"/>
                </a:solidFill>
                <a:effectLst/>
                <a:latin typeface="source-serif-pro"/>
              </a:rPr>
              <a:t>Filter size = f = </a:t>
            </a:r>
            <a:r>
              <a:rPr lang="en-IN" sz="1200" b="0" i="0" dirty="0">
                <a:solidFill>
                  <a:srgbClr val="242424"/>
                </a:solidFill>
                <a:effectLst/>
                <a:latin typeface="source-serif-pro"/>
              </a:rPr>
              <a:t>3 x 3</a:t>
            </a:r>
          </a:p>
          <a:p>
            <a:pPr marL="0" indent="0" algn="l">
              <a:buNone/>
            </a:pPr>
            <a:r>
              <a:rPr lang="en-IN" sz="1200" b="1" i="0" dirty="0">
                <a:solidFill>
                  <a:srgbClr val="242424"/>
                </a:solidFill>
                <a:effectLst/>
                <a:latin typeface="source-serif-pro"/>
              </a:rPr>
              <a:t>No. of filters =</a:t>
            </a:r>
            <a:r>
              <a:rPr lang="en-IN" sz="1200" b="0" i="0" dirty="0">
                <a:solidFill>
                  <a:srgbClr val="242424"/>
                </a:solidFill>
                <a:effectLst/>
                <a:latin typeface="source-serif-pro"/>
              </a:rPr>
              <a:t> 256</a:t>
            </a:r>
          </a:p>
          <a:p>
            <a:pPr marL="0" indent="0" algn="l">
              <a:buNone/>
            </a:pPr>
            <a:r>
              <a:rPr lang="en-IN" sz="1200" b="1" i="0" dirty="0">
                <a:solidFill>
                  <a:srgbClr val="242424"/>
                </a:solidFill>
                <a:effectLst/>
                <a:latin typeface="source-serif-pro"/>
              </a:rPr>
              <a:t>Strides = S = </a:t>
            </a:r>
            <a:r>
              <a:rPr lang="en-IN" sz="1200" b="0" i="0" dirty="0">
                <a:solidFill>
                  <a:srgbClr val="242424"/>
                </a:solidFill>
                <a:effectLst/>
                <a:latin typeface="source-serif-pro"/>
              </a:rPr>
              <a:t>1</a:t>
            </a:r>
          </a:p>
          <a:p>
            <a:pPr marL="0" indent="0" algn="l">
              <a:buNone/>
            </a:pPr>
            <a:r>
              <a:rPr lang="en-IN" sz="1200" b="1" i="0" dirty="0">
                <a:solidFill>
                  <a:srgbClr val="242424"/>
                </a:solidFill>
                <a:effectLst/>
                <a:latin typeface="source-serif-pro"/>
              </a:rPr>
              <a:t>Padding = P = </a:t>
            </a:r>
            <a:r>
              <a:rPr lang="en-IN" sz="1200" b="0" i="0" dirty="0">
                <a:solidFill>
                  <a:srgbClr val="242424"/>
                </a:solidFill>
                <a:effectLst/>
                <a:latin typeface="source-serif-pro"/>
              </a:rPr>
              <a:t>1</a:t>
            </a:r>
          </a:p>
          <a:p>
            <a:pPr marL="0" indent="0" algn="l">
              <a:buNone/>
            </a:pPr>
            <a:r>
              <a:rPr lang="en-IN" sz="1200" b="1" i="0" dirty="0">
                <a:solidFill>
                  <a:srgbClr val="242424"/>
                </a:solidFill>
                <a:effectLst/>
                <a:latin typeface="source-serif-pro"/>
              </a:rPr>
              <a:t>Output feature map size =</a:t>
            </a:r>
            <a:r>
              <a:rPr lang="en-IN" sz="1200" b="0" i="0" dirty="0">
                <a:solidFill>
                  <a:srgbClr val="242424"/>
                </a:solidFill>
                <a:effectLst/>
                <a:latin typeface="source-serif-pro"/>
              </a:rPr>
              <a:t> [(56–3+2)/1] + 1 </a:t>
            </a:r>
            <a:r>
              <a:rPr lang="en-IN" sz="1200" b="1" i="0" dirty="0">
                <a:solidFill>
                  <a:srgbClr val="242424"/>
                </a:solidFill>
                <a:effectLst/>
                <a:latin typeface="source-serif-pro"/>
              </a:rPr>
              <a:t>= </a:t>
            </a:r>
            <a:r>
              <a:rPr lang="en-IN" sz="1200" b="0" i="0" dirty="0">
                <a:solidFill>
                  <a:srgbClr val="242424"/>
                </a:solidFill>
                <a:effectLst/>
                <a:latin typeface="source-serif-pro"/>
              </a:rPr>
              <a:t>56</a:t>
            </a:r>
          </a:p>
          <a:p>
            <a:pPr marL="0" indent="0" algn="l">
              <a:buNone/>
            </a:pPr>
            <a:r>
              <a:rPr lang="en-IN" sz="1200" b="1" i="0" dirty="0">
                <a:solidFill>
                  <a:srgbClr val="242424"/>
                </a:solidFill>
                <a:effectLst/>
                <a:latin typeface="source-serif-pro"/>
              </a:rPr>
              <a:t>Output with channels = </a:t>
            </a:r>
            <a:r>
              <a:rPr lang="en-IN" sz="1200" b="0" i="0" dirty="0">
                <a:solidFill>
                  <a:srgbClr val="242424"/>
                </a:solidFill>
                <a:effectLst/>
                <a:latin typeface="source-serif-pro"/>
              </a:rPr>
              <a:t>56 x 56 x 256</a:t>
            </a:r>
          </a:p>
          <a:p>
            <a:pPr marL="0" indent="0" algn="l">
              <a:buNone/>
            </a:pPr>
            <a:endParaRPr lang="en-IN" sz="1200" b="0" i="0" dirty="0">
              <a:solidFill>
                <a:srgbClr val="242424"/>
              </a:solidFill>
              <a:effectLst/>
              <a:latin typeface="source-serif-pro"/>
            </a:endParaRPr>
          </a:p>
          <a:p>
            <a:pPr marL="0" indent="0" algn="l">
              <a:buNone/>
            </a:pPr>
            <a:r>
              <a:rPr lang="en-IN" sz="1200" b="1" i="1" dirty="0">
                <a:solidFill>
                  <a:srgbClr val="242424"/>
                </a:solidFill>
                <a:effectLst/>
                <a:latin typeface="source-serif-pro"/>
              </a:rPr>
              <a:t>Max-Pooling Layer - 3</a:t>
            </a:r>
            <a:r>
              <a:rPr lang="en-IN" sz="1200" b="1" i="0" dirty="0">
                <a:solidFill>
                  <a:srgbClr val="242424"/>
                </a:solidFill>
                <a:effectLst/>
                <a:latin typeface="source-serif-pro"/>
              </a:rPr>
              <a:t>:</a:t>
            </a:r>
            <a:endParaRPr lang="en-IN" sz="1200" b="0" i="0" dirty="0">
              <a:solidFill>
                <a:srgbClr val="242424"/>
              </a:solidFill>
              <a:effectLst/>
              <a:latin typeface="source-serif-pro"/>
            </a:endParaRPr>
          </a:p>
          <a:p>
            <a:pPr marL="0" indent="0" algn="l">
              <a:buNone/>
            </a:pPr>
            <a:r>
              <a:rPr lang="en-IN" sz="1200" b="1" i="0" dirty="0">
                <a:solidFill>
                  <a:srgbClr val="242424"/>
                </a:solidFill>
                <a:effectLst/>
                <a:latin typeface="source-serif-pro"/>
              </a:rPr>
              <a:t>Input size = N =</a:t>
            </a:r>
            <a:r>
              <a:rPr lang="en-IN" sz="1200" b="0" i="0" dirty="0">
                <a:solidFill>
                  <a:srgbClr val="242424"/>
                </a:solidFill>
                <a:effectLst/>
                <a:latin typeface="source-serif-pro"/>
              </a:rPr>
              <a:t> 56</a:t>
            </a:r>
          </a:p>
          <a:p>
            <a:pPr marL="0" indent="0" algn="l">
              <a:buNone/>
            </a:pPr>
            <a:r>
              <a:rPr lang="en-IN" sz="1200" b="1" i="0" dirty="0">
                <a:solidFill>
                  <a:srgbClr val="242424"/>
                </a:solidFill>
                <a:effectLst/>
                <a:latin typeface="source-serif-pro"/>
              </a:rPr>
              <a:t>Filter size = f = </a:t>
            </a:r>
            <a:r>
              <a:rPr lang="en-IN" sz="1200" b="0" i="0" dirty="0">
                <a:solidFill>
                  <a:srgbClr val="242424"/>
                </a:solidFill>
                <a:effectLst/>
                <a:latin typeface="source-serif-pro"/>
              </a:rPr>
              <a:t>2 x 2</a:t>
            </a:r>
          </a:p>
          <a:p>
            <a:pPr marL="0" indent="0" algn="l">
              <a:buNone/>
            </a:pPr>
            <a:r>
              <a:rPr lang="en-IN" sz="1200" b="1" i="0" dirty="0">
                <a:solidFill>
                  <a:srgbClr val="242424"/>
                </a:solidFill>
                <a:effectLst/>
                <a:latin typeface="source-serif-pro"/>
              </a:rPr>
              <a:t>Strides = S = </a:t>
            </a:r>
            <a:r>
              <a:rPr lang="en-IN" sz="1200" b="0" i="0" dirty="0">
                <a:solidFill>
                  <a:srgbClr val="242424"/>
                </a:solidFill>
                <a:effectLst/>
                <a:latin typeface="source-serif-pro"/>
              </a:rPr>
              <a:t>2</a:t>
            </a:r>
          </a:p>
          <a:p>
            <a:pPr marL="0" indent="0" algn="l">
              <a:buNone/>
            </a:pPr>
            <a:r>
              <a:rPr lang="en-IN" sz="1200" b="1" i="0" dirty="0">
                <a:solidFill>
                  <a:srgbClr val="242424"/>
                </a:solidFill>
                <a:effectLst/>
                <a:latin typeface="source-serif-pro"/>
              </a:rPr>
              <a:t>Padding = P =</a:t>
            </a:r>
            <a:r>
              <a:rPr lang="en-IN" sz="1200" b="0" i="0" dirty="0">
                <a:solidFill>
                  <a:srgbClr val="242424"/>
                </a:solidFill>
                <a:effectLst/>
                <a:latin typeface="source-serif-pro"/>
              </a:rPr>
              <a:t> 0</a:t>
            </a:r>
          </a:p>
          <a:p>
            <a:pPr marL="0" indent="0" algn="l">
              <a:buNone/>
            </a:pPr>
            <a:r>
              <a:rPr lang="en-IN" sz="1200" b="1" i="0" dirty="0">
                <a:solidFill>
                  <a:srgbClr val="242424"/>
                </a:solidFill>
                <a:effectLst/>
                <a:latin typeface="source-serif-pro"/>
              </a:rPr>
              <a:t>Output feature map size =</a:t>
            </a:r>
            <a:r>
              <a:rPr lang="en-IN" sz="1200" b="0" i="0" dirty="0">
                <a:solidFill>
                  <a:srgbClr val="242424"/>
                </a:solidFill>
                <a:effectLst/>
                <a:latin typeface="source-serif-pro"/>
              </a:rPr>
              <a:t> [(56–2+0)/2] + 1 </a:t>
            </a:r>
            <a:r>
              <a:rPr lang="en-IN" sz="1200" b="1" i="0" dirty="0">
                <a:solidFill>
                  <a:srgbClr val="242424"/>
                </a:solidFill>
                <a:effectLst/>
                <a:latin typeface="source-serif-pro"/>
              </a:rPr>
              <a:t>= </a:t>
            </a:r>
            <a:r>
              <a:rPr lang="en-IN" sz="1200" b="0" i="0" dirty="0">
                <a:solidFill>
                  <a:srgbClr val="242424"/>
                </a:solidFill>
                <a:effectLst/>
                <a:latin typeface="source-serif-pro"/>
              </a:rPr>
              <a:t>28</a:t>
            </a:r>
          </a:p>
          <a:p>
            <a:pPr marL="0" indent="0" algn="l">
              <a:buNone/>
            </a:pPr>
            <a:r>
              <a:rPr lang="en-IN" sz="1200" b="1" i="0" dirty="0">
                <a:solidFill>
                  <a:srgbClr val="242424"/>
                </a:solidFill>
                <a:effectLst/>
                <a:latin typeface="source-serif-pro"/>
              </a:rPr>
              <a:t>Output with channels = </a:t>
            </a:r>
            <a:r>
              <a:rPr lang="en-IN" sz="1200" b="0" i="0" dirty="0">
                <a:solidFill>
                  <a:srgbClr val="242424"/>
                </a:solidFill>
                <a:effectLst/>
                <a:latin typeface="source-serif-pro"/>
              </a:rPr>
              <a:t>28 x 28 x 256</a:t>
            </a:r>
          </a:p>
          <a:p>
            <a:pPr marL="0" indent="0">
              <a:buNone/>
            </a:pPr>
            <a:endParaRPr lang="en-IN" sz="2000" dirty="0"/>
          </a:p>
          <a:p>
            <a:pPr marL="0" indent="0">
              <a:buNone/>
            </a:pPr>
            <a:r>
              <a:rPr lang="en-US" sz="1200" b="1" i="0" dirty="0">
                <a:solidFill>
                  <a:srgbClr val="242424"/>
                </a:solidFill>
                <a:effectLst/>
                <a:latin typeface="source-serif-pro"/>
              </a:rPr>
              <a:t>Similar calculations will be performed for the rest of the network.</a:t>
            </a:r>
            <a:endParaRPr lang="en-IN" sz="2000" dirty="0"/>
          </a:p>
        </p:txBody>
      </p:sp>
      <p:sp>
        <p:nvSpPr>
          <p:cNvPr id="4" name="Date Placeholder 3">
            <a:extLst>
              <a:ext uri="{FF2B5EF4-FFF2-40B4-BE49-F238E27FC236}">
                <a16:creationId xmlns:a16="http://schemas.microsoft.com/office/drawing/2014/main" id="{3B56CB76-F7C4-4486-B26B-888D72FDCEA3}"/>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60147FBD-C928-4D9D-AEAA-9F22478B109F}"/>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0D695FB-D0D8-4FEF-8E08-2DCDC0F38F54}"/>
              </a:ext>
            </a:extLst>
          </p:cNvPr>
          <p:cNvSpPr>
            <a:spLocks noGrp="1"/>
          </p:cNvSpPr>
          <p:nvPr>
            <p:ph type="sldNum" sz="quarter" idx="12"/>
          </p:nvPr>
        </p:nvSpPr>
        <p:spPr/>
        <p:txBody>
          <a:bodyPr/>
          <a:lstStyle/>
          <a:p>
            <a:fld id="{BB2CE0DE-867F-455F-B20B-96D381B4AB71}" type="slidenum">
              <a:rPr lang="en-US" smtClean="0"/>
              <a:t>105</a:t>
            </a:fld>
            <a:endParaRPr lang="en-US"/>
          </a:p>
        </p:txBody>
      </p:sp>
      <p:pic>
        <p:nvPicPr>
          <p:cNvPr id="7" name="Picture 6">
            <a:extLst>
              <a:ext uri="{FF2B5EF4-FFF2-40B4-BE49-F238E27FC236}">
                <a16:creationId xmlns:a16="http://schemas.microsoft.com/office/drawing/2014/main" id="{6205E067-BB1F-48E6-87CC-51F97D8C2FD6}"/>
              </a:ext>
            </a:extLst>
          </p:cNvPr>
          <p:cNvPicPr>
            <a:picLocks noChangeAspect="1"/>
          </p:cNvPicPr>
          <p:nvPr/>
        </p:nvPicPr>
        <p:blipFill>
          <a:blip r:embed="rId2"/>
          <a:stretch>
            <a:fillRect/>
          </a:stretch>
        </p:blipFill>
        <p:spPr>
          <a:xfrm rot="5400000">
            <a:off x="4487640" y="1947640"/>
            <a:ext cx="6145657" cy="3081338"/>
          </a:xfrm>
          <a:prstGeom prst="rect">
            <a:avLst/>
          </a:prstGeom>
        </p:spPr>
      </p:pic>
    </p:spTree>
    <p:extLst>
      <p:ext uri="{BB962C8B-B14F-4D97-AF65-F5344CB8AC3E}">
        <p14:creationId xmlns:p14="http://schemas.microsoft.com/office/powerpoint/2010/main" val="1715916565"/>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95DB2-72B6-453E-98F0-B3C0FDCF448D}"/>
              </a:ext>
            </a:extLst>
          </p:cNvPr>
          <p:cNvSpPr>
            <a:spLocks noGrp="1"/>
          </p:cNvSpPr>
          <p:nvPr>
            <p:ph type="title"/>
          </p:nvPr>
        </p:nvSpPr>
        <p:spPr/>
        <p:txBody>
          <a:bodyPr/>
          <a:lstStyle/>
          <a:p>
            <a:r>
              <a:rPr lang="en-US" dirty="0" err="1"/>
              <a:t>AlexNet</a:t>
            </a:r>
            <a:r>
              <a:rPr lang="en-US" dirty="0"/>
              <a:t> architecture</a:t>
            </a:r>
            <a:endParaRPr lang="en-IN" dirty="0"/>
          </a:p>
        </p:txBody>
      </p:sp>
      <p:sp>
        <p:nvSpPr>
          <p:cNvPr id="3" name="Content Placeholder 2">
            <a:extLst>
              <a:ext uri="{FF2B5EF4-FFF2-40B4-BE49-F238E27FC236}">
                <a16:creationId xmlns:a16="http://schemas.microsoft.com/office/drawing/2014/main" id="{A4286F07-A6BD-4E48-8B5D-0AE64CBF77FF}"/>
              </a:ext>
            </a:extLst>
          </p:cNvPr>
          <p:cNvSpPr>
            <a:spLocks noGrp="1"/>
          </p:cNvSpPr>
          <p:nvPr>
            <p:ph idx="1"/>
          </p:nvPr>
        </p:nvSpPr>
        <p:spPr/>
        <p:txBody>
          <a:bodyPr/>
          <a:lstStyle/>
          <a:p>
            <a:pPr algn="just"/>
            <a:r>
              <a:rPr lang="en-US" sz="2000" b="0" i="0" dirty="0">
                <a:solidFill>
                  <a:srgbClr val="242424"/>
                </a:solidFill>
                <a:effectLst/>
                <a:latin typeface="source-serif-pro"/>
              </a:rPr>
              <a:t>The </a:t>
            </a:r>
            <a:r>
              <a:rPr lang="en-US" sz="2000" b="0" i="0" dirty="0" err="1">
                <a:solidFill>
                  <a:srgbClr val="242424"/>
                </a:solidFill>
                <a:effectLst/>
                <a:latin typeface="source-serif-pro"/>
              </a:rPr>
              <a:t>AlexNet</a:t>
            </a:r>
            <a:r>
              <a:rPr lang="en-US" sz="2000" b="0" i="0" dirty="0">
                <a:solidFill>
                  <a:srgbClr val="242424"/>
                </a:solidFill>
                <a:effectLst/>
                <a:latin typeface="source-serif-pro"/>
              </a:rPr>
              <a:t> neural network architecture consists of </a:t>
            </a:r>
            <a:r>
              <a:rPr lang="en-US" sz="2000" b="1" i="0" dirty="0">
                <a:solidFill>
                  <a:srgbClr val="242424"/>
                </a:solidFill>
                <a:effectLst/>
                <a:latin typeface="source-serif-pro"/>
              </a:rPr>
              <a:t>8</a:t>
            </a:r>
            <a:r>
              <a:rPr lang="en-US" sz="2000" b="0" i="0" dirty="0">
                <a:solidFill>
                  <a:srgbClr val="242424"/>
                </a:solidFill>
                <a:effectLst/>
                <a:latin typeface="source-serif-pro"/>
              </a:rPr>
              <a:t> </a:t>
            </a:r>
            <a:r>
              <a:rPr lang="en-US" sz="2000" b="0" i="1" dirty="0">
                <a:solidFill>
                  <a:srgbClr val="242424"/>
                </a:solidFill>
                <a:effectLst/>
                <a:latin typeface="source-serif-pro"/>
              </a:rPr>
              <a:t>learned layers</a:t>
            </a:r>
            <a:r>
              <a:rPr lang="en-US" sz="2000" b="0" i="0" dirty="0">
                <a:solidFill>
                  <a:srgbClr val="242424"/>
                </a:solidFill>
                <a:effectLst/>
                <a:latin typeface="source-serif-pro"/>
              </a:rPr>
              <a:t> of which </a:t>
            </a:r>
            <a:r>
              <a:rPr lang="en-US" sz="2000" b="1" i="0" dirty="0">
                <a:solidFill>
                  <a:srgbClr val="242424"/>
                </a:solidFill>
                <a:effectLst/>
                <a:latin typeface="source-serif-pro"/>
              </a:rPr>
              <a:t>5</a:t>
            </a:r>
            <a:r>
              <a:rPr lang="en-US" sz="2000" b="0" i="0" dirty="0">
                <a:solidFill>
                  <a:srgbClr val="242424"/>
                </a:solidFill>
                <a:effectLst/>
                <a:latin typeface="source-serif-pro"/>
              </a:rPr>
              <a:t> are </a:t>
            </a:r>
            <a:r>
              <a:rPr lang="en-US" sz="2000" b="0" i="1" dirty="0">
                <a:solidFill>
                  <a:srgbClr val="242424"/>
                </a:solidFill>
                <a:effectLst/>
                <a:latin typeface="source-serif-pro"/>
              </a:rPr>
              <a:t>convolution layers</a:t>
            </a:r>
            <a:r>
              <a:rPr lang="en-US" sz="2000" b="0" i="0" dirty="0">
                <a:solidFill>
                  <a:srgbClr val="242424"/>
                </a:solidFill>
                <a:effectLst/>
                <a:latin typeface="source-serif-pro"/>
              </a:rPr>
              <a:t>, few are </a:t>
            </a:r>
            <a:r>
              <a:rPr lang="en-US" sz="2000" b="0" i="1" dirty="0">
                <a:solidFill>
                  <a:srgbClr val="242424"/>
                </a:solidFill>
                <a:effectLst/>
                <a:latin typeface="source-serif-pro"/>
              </a:rPr>
              <a:t>max-pooling layers</a:t>
            </a:r>
            <a:r>
              <a:rPr lang="en-US" sz="2000" b="0" i="0" dirty="0">
                <a:solidFill>
                  <a:srgbClr val="242424"/>
                </a:solidFill>
                <a:effectLst/>
                <a:latin typeface="source-serif-pro"/>
              </a:rPr>
              <a:t>, </a:t>
            </a:r>
            <a:r>
              <a:rPr lang="en-US" sz="2000" b="1" i="0" dirty="0">
                <a:solidFill>
                  <a:srgbClr val="242424"/>
                </a:solidFill>
                <a:effectLst/>
                <a:latin typeface="source-serif-pro"/>
              </a:rPr>
              <a:t>3</a:t>
            </a:r>
            <a:r>
              <a:rPr lang="en-US" sz="2000" b="0" i="0" dirty="0">
                <a:solidFill>
                  <a:srgbClr val="242424"/>
                </a:solidFill>
                <a:effectLst/>
                <a:latin typeface="source-serif-pro"/>
              </a:rPr>
              <a:t> are </a:t>
            </a:r>
            <a:r>
              <a:rPr lang="en-US" sz="2000" b="0" i="1" dirty="0">
                <a:solidFill>
                  <a:srgbClr val="242424"/>
                </a:solidFill>
                <a:effectLst/>
                <a:latin typeface="source-serif-pro"/>
              </a:rPr>
              <a:t>fully connected layers,</a:t>
            </a:r>
            <a:r>
              <a:rPr lang="en-US" sz="2000" b="0" i="0" dirty="0">
                <a:solidFill>
                  <a:srgbClr val="242424"/>
                </a:solidFill>
                <a:effectLst/>
                <a:latin typeface="source-serif-pro"/>
              </a:rPr>
              <a:t> and the output layer is a </a:t>
            </a:r>
            <a:r>
              <a:rPr lang="en-US" sz="2000" b="1" i="0" dirty="0">
                <a:solidFill>
                  <a:srgbClr val="242424"/>
                </a:solidFill>
                <a:effectLst/>
                <a:latin typeface="source-serif-pro"/>
              </a:rPr>
              <a:t>1000 </a:t>
            </a:r>
            <a:r>
              <a:rPr lang="en-US" sz="2000" b="0" i="0" dirty="0">
                <a:solidFill>
                  <a:srgbClr val="242424"/>
                </a:solidFill>
                <a:effectLst/>
                <a:latin typeface="source-serif-pro"/>
              </a:rPr>
              <a:t>channel </a:t>
            </a:r>
            <a:r>
              <a:rPr lang="en-US" sz="2000" b="0" i="0" dirty="0" err="1">
                <a:solidFill>
                  <a:srgbClr val="242424"/>
                </a:solidFill>
                <a:effectLst/>
                <a:latin typeface="source-serif-pro"/>
              </a:rPr>
              <a:t>softmax</a:t>
            </a:r>
            <a:r>
              <a:rPr lang="en-US" sz="2000" b="0" i="0" dirty="0">
                <a:solidFill>
                  <a:srgbClr val="242424"/>
                </a:solidFill>
                <a:effectLst/>
                <a:latin typeface="source-serif-pro"/>
              </a:rPr>
              <a:t> layer. The pooling used here is Max pool.</a:t>
            </a:r>
          </a:p>
          <a:p>
            <a:pPr algn="just"/>
            <a:endParaRPr lang="en-US" sz="2000" b="0" i="0" dirty="0">
              <a:solidFill>
                <a:srgbClr val="242424"/>
              </a:solidFill>
              <a:effectLst/>
              <a:latin typeface="source-serif-pro"/>
            </a:endParaRPr>
          </a:p>
          <a:p>
            <a:pPr marL="0" indent="0" algn="just">
              <a:buNone/>
            </a:pPr>
            <a:r>
              <a:rPr lang="en-US" sz="2000" b="0" i="0" dirty="0">
                <a:solidFill>
                  <a:srgbClr val="6B6B6B"/>
                </a:solidFill>
                <a:effectLst/>
                <a:latin typeface="sohne"/>
              </a:rPr>
              <a:t>Why 1000 channels of </a:t>
            </a:r>
            <a:r>
              <a:rPr lang="en-US" sz="2000" b="0" i="0" dirty="0" err="1">
                <a:solidFill>
                  <a:srgbClr val="6B6B6B"/>
                </a:solidFill>
                <a:effectLst/>
                <a:latin typeface="sohne"/>
              </a:rPr>
              <a:t>softmax</a:t>
            </a:r>
            <a:r>
              <a:rPr lang="en-US" sz="2000" b="0" i="0" dirty="0">
                <a:solidFill>
                  <a:srgbClr val="6B6B6B"/>
                </a:solidFill>
                <a:effectLst/>
                <a:latin typeface="sohne"/>
              </a:rPr>
              <a:t> layer are taken??</a:t>
            </a:r>
          </a:p>
          <a:p>
            <a:pPr marL="0" indent="0" algn="just">
              <a:buNone/>
            </a:pPr>
            <a:r>
              <a:rPr lang="en-US" sz="2000" b="0" i="0" dirty="0">
                <a:solidFill>
                  <a:srgbClr val="242424"/>
                </a:solidFill>
                <a:effectLst/>
                <a:latin typeface="source-serif-pro"/>
              </a:rPr>
              <a:t>This is because the </a:t>
            </a:r>
            <a:r>
              <a:rPr lang="en-US" sz="2000" b="0" i="0" dirty="0" err="1">
                <a:solidFill>
                  <a:srgbClr val="242424"/>
                </a:solidFill>
                <a:effectLst/>
                <a:latin typeface="source-serif-pro"/>
              </a:rPr>
              <a:t>Imagenet</a:t>
            </a:r>
            <a:r>
              <a:rPr lang="en-US" sz="2000" b="0" i="0" dirty="0">
                <a:solidFill>
                  <a:srgbClr val="242424"/>
                </a:solidFill>
                <a:effectLst/>
                <a:latin typeface="source-serif-pro"/>
              </a:rPr>
              <a:t> dataset contains 1000 different classes of images, so at the final output layer we have one node for each of these 1000 categories and the output layer is the </a:t>
            </a:r>
            <a:r>
              <a:rPr lang="en-US" sz="2000" b="0" i="0" dirty="0" err="1">
                <a:solidFill>
                  <a:srgbClr val="242424"/>
                </a:solidFill>
                <a:effectLst/>
                <a:latin typeface="source-serif-pro"/>
              </a:rPr>
              <a:t>softmax</a:t>
            </a:r>
            <a:r>
              <a:rPr lang="en-US" sz="2000" b="0" i="0" dirty="0">
                <a:solidFill>
                  <a:srgbClr val="242424"/>
                </a:solidFill>
                <a:effectLst/>
                <a:latin typeface="source-serif-pro"/>
              </a:rPr>
              <a:t> output layer.</a:t>
            </a:r>
          </a:p>
          <a:p>
            <a:pPr algn="just"/>
            <a:endParaRPr lang="en-IN" sz="2000" dirty="0"/>
          </a:p>
          <a:p>
            <a:pPr marL="0" indent="0" algn="just">
              <a:buNone/>
            </a:pPr>
            <a:endParaRPr lang="en-IN" sz="2000" dirty="0"/>
          </a:p>
        </p:txBody>
      </p:sp>
      <p:sp>
        <p:nvSpPr>
          <p:cNvPr id="4" name="Date Placeholder 3">
            <a:extLst>
              <a:ext uri="{FF2B5EF4-FFF2-40B4-BE49-F238E27FC236}">
                <a16:creationId xmlns:a16="http://schemas.microsoft.com/office/drawing/2014/main" id="{9EABA923-49B5-49C3-9D38-3A15B45A74EE}"/>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4C39FC59-6040-408B-9004-6A58D71C378F}"/>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F27F2BBD-CA28-485F-BBD7-DB7C62E5D9A8}"/>
              </a:ext>
            </a:extLst>
          </p:cNvPr>
          <p:cNvSpPr>
            <a:spLocks noGrp="1"/>
          </p:cNvSpPr>
          <p:nvPr>
            <p:ph type="sldNum" sz="quarter" idx="12"/>
          </p:nvPr>
        </p:nvSpPr>
        <p:spPr/>
        <p:txBody>
          <a:bodyPr/>
          <a:lstStyle/>
          <a:p>
            <a:fld id="{BB2CE0DE-867F-455F-B20B-96D381B4AB71}" type="slidenum">
              <a:rPr lang="en-US" smtClean="0"/>
              <a:t>106</a:t>
            </a:fld>
            <a:endParaRPr lang="en-US"/>
          </a:p>
        </p:txBody>
      </p:sp>
    </p:spTree>
    <p:extLst>
      <p:ext uri="{BB962C8B-B14F-4D97-AF65-F5344CB8AC3E}">
        <p14:creationId xmlns:p14="http://schemas.microsoft.com/office/powerpoint/2010/main" val="3049964482"/>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066C5-E4B4-47F2-9254-400F96DFACB7}"/>
              </a:ext>
            </a:extLst>
          </p:cNvPr>
          <p:cNvSpPr>
            <a:spLocks noGrp="1"/>
          </p:cNvSpPr>
          <p:nvPr>
            <p:ph type="title"/>
          </p:nvPr>
        </p:nvSpPr>
        <p:spPr/>
        <p:txBody>
          <a:bodyPr/>
          <a:lstStyle/>
          <a:p>
            <a:r>
              <a:rPr lang="en-IN" b="1" dirty="0">
                <a:solidFill>
                  <a:srgbClr val="242424"/>
                </a:solidFill>
                <a:latin typeface="source-serif-pro"/>
              </a:rPr>
              <a:t>B</a:t>
            </a:r>
            <a:r>
              <a:rPr lang="en-IN" b="1" i="0" dirty="0">
                <a:solidFill>
                  <a:srgbClr val="242424"/>
                </a:solidFill>
                <a:effectLst/>
                <a:latin typeface="source-serif-pro"/>
              </a:rPr>
              <a:t>asic architecture of </a:t>
            </a:r>
            <a:r>
              <a:rPr lang="en-IN" b="1" i="0" dirty="0" err="1">
                <a:solidFill>
                  <a:srgbClr val="242424"/>
                </a:solidFill>
                <a:effectLst/>
                <a:latin typeface="source-serif-pro"/>
              </a:rPr>
              <a:t>AlexNet</a:t>
            </a:r>
            <a:endParaRPr lang="en-IN" dirty="0"/>
          </a:p>
        </p:txBody>
      </p:sp>
      <p:sp>
        <p:nvSpPr>
          <p:cNvPr id="3" name="Content Placeholder 2">
            <a:extLst>
              <a:ext uri="{FF2B5EF4-FFF2-40B4-BE49-F238E27FC236}">
                <a16:creationId xmlns:a16="http://schemas.microsoft.com/office/drawing/2014/main" id="{50658333-AE6A-4705-848E-85296562A56A}"/>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AAA94A91-5F58-470B-AB05-D107E9920F0C}"/>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8B4C461C-8175-464A-8A2D-0322222CB41D}"/>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2FF1B75C-3A05-4F68-A913-511B0619D587}"/>
              </a:ext>
            </a:extLst>
          </p:cNvPr>
          <p:cNvSpPr>
            <a:spLocks noGrp="1"/>
          </p:cNvSpPr>
          <p:nvPr>
            <p:ph type="sldNum" sz="quarter" idx="12"/>
          </p:nvPr>
        </p:nvSpPr>
        <p:spPr/>
        <p:txBody>
          <a:bodyPr/>
          <a:lstStyle/>
          <a:p>
            <a:fld id="{BB2CE0DE-867F-455F-B20B-96D381B4AB71}" type="slidenum">
              <a:rPr lang="en-US" smtClean="0"/>
              <a:t>107</a:t>
            </a:fld>
            <a:endParaRPr lang="en-US"/>
          </a:p>
        </p:txBody>
      </p:sp>
      <p:pic>
        <p:nvPicPr>
          <p:cNvPr id="7" name="Picture 6">
            <a:extLst>
              <a:ext uri="{FF2B5EF4-FFF2-40B4-BE49-F238E27FC236}">
                <a16:creationId xmlns:a16="http://schemas.microsoft.com/office/drawing/2014/main" id="{C7221E2D-8A3A-4BAB-B530-E1056892250E}"/>
              </a:ext>
            </a:extLst>
          </p:cNvPr>
          <p:cNvPicPr>
            <a:picLocks noChangeAspect="1"/>
          </p:cNvPicPr>
          <p:nvPr/>
        </p:nvPicPr>
        <p:blipFill>
          <a:blip r:embed="rId3"/>
          <a:stretch>
            <a:fillRect/>
          </a:stretch>
        </p:blipFill>
        <p:spPr>
          <a:xfrm>
            <a:off x="609600" y="1252590"/>
            <a:ext cx="8476180" cy="4614809"/>
          </a:xfrm>
          <a:prstGeom prst="rect">
            <a:avLst/>
          </a:prstGeom>
        </p:spPr>
      </p:pic>
    </p:spTree>
    <p:extLst>
      <p:ext uri="{BB962C8B-B14F-4D97-AF65-F5344CB8AC3E}">
        <p14:creationId xmlns:p14="http://schemas.microsoft.com/office/powerpoint/2010/main" val="1716231296"/>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1EFCB8-9D49-2F47-F970-F62C7F273ABB}"/>
              </a:ext>
            </a:extLst>
          </p:cNvPr>
          <p:cNvSpPr>
            <a:spLocks noGrp="1"/>
          </p:cNvSpPr>
          <p:nvPr>
            <p:ph type="title"/>
          </p:nvPr>
        </p:nvSpPr>
        <p:spPr/>
        <p:txBody>
          <a:bodyPr/>
          <a:lstStyle/>
          <a:p>
            <a:r>
              <a:rPr lang="en-US" dirty="0" err="1"/>
              <a:t>AlexNet</a:t>
            </a:r>
            <a:endParaRPr lang="en-IN" dirty="0"/>
          </a:p>
        </p:txBody>
      </p:sp>
      <p:sp>
        <p:nvSpPr>
          <p:cNvPr id="3" name="Content Placeholder 2">
            <a:extLst>
              <a:ext uri="{FF2B5EF4-FFF2-40B4-BE49-F238E27FC236}">
                <a16:creationId xmlns:a16="http://schemas.microsoft.com/office/drawing/2014/main" id="{518C5AF0-57C0-A167-E7DF-8A476EEBD7CB}"/>
              </a:ext>
            </a:extLst>
          </p:cNvPr>
          <p:cNvSpPr>
            <a:spLocks noGrp="1"/>
          </p:cNvSpPr>
          <p:nvPr>
            <p:ph idx="1"/>
          </p:nvPr>
        </p:nvSpPr>
        <p:spPr/>
        <p:txBody>
          <a:bodyPr/>
          <a:lstStyle/>
          <a:p>
            <a:pPr algn="just"/>
            <a:r>
              <a:rPr lang="en-US" sz="2000" dirty="0"/>
              <a:t>60 Million parameters and 650000 neurons. </a:t>
            </a:r>
          </a:p>
          <a:p>
            <a:pPr algn="just"/>
            <a:r>
              <a:rPr lang="en-US" sz="2000" dirty="0"/>
              <a:t>The network is split into two pipelines and was trained on two GPU. </a:t>
            </a:r>
          </a:p>
          <a:p>
            <a:pPr algn="just"/>
            <a:r>
              <a:rPr lang="en-US" sz="2000" dirty="0"/>
              <a:t>Input Image size 256 x 256 RGB. </a:t>
            </a:r>
          </a:p>
          <a:p>
            <a:pPr algn="just"/>
            <a:r>
              <a:rPr lang="en-US" sz="2000" dirty="0"/>
              <a:t>Grey scale images to be replicated to obtain 3-Channel RGB </a:t>
            </a:r>
          </a:p>
          <a:p>
            <a:pPr algn="just"/>
            <a:r>
              <a:rPr lang="en-US" sz="2000" dirty="0"/>
              <a:t>Random crops of size 227 x 227 are fed to the input layer of </a:t>
            </a:r>
            <a:r>
              <a:rPr lang="en-US" sz="2000" dirty="0" err="1"/>
              <a:t>AlexNet</a:t>
            </a:r>
            <a:r>
              <a:rPr lang="en-US" sz="2000" dirty="0"/>
              <a:t>. </a:t>
            </a:r>
          </a:p>
          <a:p>
            <a:pPr algn="just"/>
            <a:r>
              <a:rPr lang="en-US" sz="2000" dirty="0"/>
              <a:t>Stochastic Gradient Descent with Momentum Optimizer. </a:t>
            </a:r>
          </a:p>
          <a:p>
            <a:pPr algn="just"/>
            <a:r>
              <a:rPr lang="en-US" sz="2000" dirty="0"/>
              <a:t>Top-5 error rate 15.3%.</a:t>
            </a:r>
            <a:endParaRPr lang="en-IN" sz="2000" dirty="0"/>
          </a:p>
        </p:txBody>
      </p:sp>
      <p:sp>
        <p:nvSpPr>
          <p:cNvPr id="4" name="Date Placeholder 3">
            <a:extLst>
              <a:ext uri="{FF2B5EF4-FFF2-40B4-BE49-F238E27FC236}">
                <a16:creationId xmlns:a16="http://schemas.microsoft.com/office/drawing/2014/main" id="{39E544ED-A383-3427-9F36-A9E03D7C0196}"/>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32151A45-A090-93E4-8355-51D5D1D35E2E}"/>
              </a:ext>
            </a:extLst>
          </p:cNvPr>
          <p:cNvSpPr>
            <a:spLocks noGrp="1"/>
          </p:cNvSpPr>
          <p:nvPr>
            <p:ph type="ftr" sz="quarter" idx="11"/>
          </p:nvPr>
        </p:nvSpPr>
        <p:spPr/>
        <p:txBody>
          <a:bodyPr/>
          <a:lstStyle/>
          <a:p>
            <a:r>
              <a:rPr lang="en-US" dirty="0"/>
              <a:t>BMSCE</a:t>
            </a:r>
          </a:p>
        </p:txBody>
      </p:sp>
      <p:sp>
        <p:nvSpPr>
          <p:cNvPr id="6" name="Slide Number Placeholder 5">
            <a:extLst>
              <a:ext uri="{FF2B5EF4-FFF2-40B4-BE49-F238E27FC236}">
                <a16:creationId xmlns:a16="http://schemas.microsoft.com/office/drawing/2014/main" id="{18FA93F2-B23C-CF70-5FAF-D935F316B2F4}"/>
              </a:ext>
            </a:extLst>
          </p:cNvPr>
          <p:cNvSpPr>
            <a:spLocks noGrp="1"/>
          </p:cNvSpPr>
          <p:nvPr>
            <p:ph type="sldNum" sz="quarter" idx="12"/>
          </p:nvPr>
        </p:nvSpPr>
        <p:spPr/>
        <p:txBody>
          <a:bodyPr/>
          <a:lstStyle/>
          <a:p>
            <a:fld id="{BB2CE0DE-867F-455F-B20B-96D381B4AB71}" type="slidenum">
              <a:rPr lang="en-US" smtClean="0"/>
              <a:t>108</a:t>
            </a:fld>
            <a:endParaRPr lang="en-US"/>
          </a:p>
        </p:txBody>
      </p:sp>
    </p:spTree>
    <p:extLst>
      <p:ext uri="{BB962C8B-B14F-4D97-AF65-F5344CB8AC3E}">
        <p14:creationId xmlns:p14="http://schemas.microsoft.com/office/powerpoint/2010/main" val="38524773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4760B-554B-40FE-9CCE-5A9919701430}"/>
              </a:ext>
            </a:extLst>
          </p:cNvPr>
          <p:cNvSpPr>
            <a:spLocks noGrp="1"/>
          </p:cNvSpPr>
          <p:nvPr>
            <p:ph type="title"/>
          </p:nvPr>
        </p:nvSpPr>
        <p:spPr/>
        <p:txBody>
          <a:bodyPr/>
          <a:lstStyle/>
          <a:p>
            <a:r>
              <a:rPr lang="en-US" dirty="0"/>
              <a:t>Transfer Learning</a:t>
            </a:r>
            <a:endParaRPr lang="en-IN" dirty="0"/>
          </a:p>
        </p:txBody>
      </p:sp>
      <p:sp>
        <p:nvSpPr>
          <p:cNvPr id="4" name="Date Placeholder 3">
            <a:extLst>
              <a:ext uri="{FF2B5EF4-FFF2-40B4-BE49-F238E27FC236}">
                <a16:creationId xmlns:a16="http://schemas.microsoft.com/office/drawing/2014/main" id="{9D972487-8DC7-49AF-BE4E-3B92EC10A56F}"/>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F8D48388-91B5-4652-B98D-FDAC93F5BB6D}"/>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3796784D-C960-4809-B55F-775F635959B1}"/>
              </a:ext>
            </a:extLst>
          </p:cNvPr>
          <p:cNvSpPr>
            <a:spLocks noGrp="1"/>
          </p:cNvSpPr>
          <p:nvPr>
            <p:ph type="sldNum" sz="quarter" idx="12"/>
          </p:nvPr>
        </p:nvSpPr>
        <p:spPr/>
        <p:txBody>
          <a:bodyPr/>
          <a:lstStyle/>
          <a:p>
            <a:fld id="{BB2CE0DE-867F-455F-B20B-96D381B4AB71}" type="slidenum">
              <a:rPr lang="en-US" smtClean="0"/>
              <a:t>109</a:t>
            </a:fld>
            <a:endParaRPr lang="en-US"/>
          </a:p>
        </p:txBody>
      </p:sp>
      <p:pic>
        <p:nvPicPr>
          <p:cNvPr id="1026" name="Picture 2" descr="Transfer learning">
            <a:extLst>
              <a:ext uri="{FF2B5EF4-FFF2-40B4-BE49-F238E27FC236}">
                <a16:creationId xmlns:a16="http://schemas.microsoft.com/office/drawing/2014/main" id="{0E03F1BF-3A38-42AC-B89D-8DFB2160C79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71600" y="2405008"/>
            <a:ext cx="6657374" cy="3744773"/>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EBCDE2EE-0F3E-445B-A738-62032E22B33A}"/>
              </a:ext>
            </a:extLst>
          </p:cNvPr>
          <p:cNvSpPr txBox="1"/>
          <p:nvPr/>
        </p:nvSpPr>
        <p:spPr>
          <a:xfrm>
            <a:off x="234325" y="1219200"/>
            <a:ext cx="8885702" cy="923330"/>
          </a:xfrm>
          <a:prstGeom prst="rect">
            <a:avLst/>
          </a:prstGeom>
          <a:noFill/>
        </p:spPr>
        <p:txBody>
          <a:bodyPr wrap="none" rtlCol="0">
            <a:spAutoFit/>
          </a:bodyPr>
          <a:lstStyle/>
          <a:p>
            <a:r>
              <a:rPr lang="en-US" b="0" i="0" dirty="0">
                <a:solidFill>
                  <a:srgbClr val="383838"/>
                </a:solidFill>
                <a:effectLst/>
                <a:latin typeface="Inter"/>
              </a:rPr>
              <a:t>Transfer learning is a powerful technique used in </a:t>
            </a:r>
            <a:r>
              <a:rPr lang="en-US" i="0" dirty="0">
                <a:effectLst/>
                <a:latin typeface="Inter"/>
              </a:rPr>
              <a:t>Deep Learning. </a:t>
            </a:r>
          </a:p>
          <a:p>
            <a:r>
              <a:rPr lang="en-US" b="0" i="0" dirty="0">
                <a:solidFill>
                  <a:srgbClr val="383838"/>
                </a:solidFill>
                <a:effectLst/>
                <a:latin typeface="Inter"/>
              </a:rPr>
              <a:t>By harnessing the ability to reuse existing models and their knowledge of new problems, </a:t>
            </a:r>
          </a:p>
          <a:p>
            <a:r>
              <a:rPr lang="en-US" b="0" i="0" dirty="0">
                <a:solidFill>
                  <a:srgbClr val="383838"/>
                </a:solidFill>
                <a:effectLst/>
                <a:latin typeface="Inter"/>
              </a:rPr>
              <a:t>transfer learning has opened doors to training deep </a:t>
            </a:r>
            <a:r>
              <a:rPr lang="en-US" i="0" dirty="0">
                <a:effectLst/>
                <a:latin typeface="Inter"/>
              </a:rPr>
              <a:t>neural networks </a:t>
            </a:r>
            <a:r>
              <a:rPr lang="en-US" b="0" i="0" dirty="0">
                <a:solidFill>
                  <a:srgbClr val="383838"/>
                </a:solidFill>
                <a:effectLst/>
                <a:latin typeface="Inter"/>
              </a:rPr>
              <a:t>even with limited data. </a:t>
            </a:r>
            <a:endParaRPr lang="en-IN" dirty="0"/>
          </a:p>
        </p:txBody>
      </p:sp>
    </p:spTree>
    <p:extLst>
      <p:ext uri="{BB962C8B-B14F-4D97-AF65-F5344CB8AC3E}">
        <p14:creationId xmlns:p14="http://schemas.microsoft.com/office/powerpoint/2010/main" val="165919506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D7733-D0D4-4311-95AB-193D9B19D090}"/>
              </a:ext>
            </a:extLst>
          </p:cNvPr>
          <p:cNvSpPr>
            <a:spLocks noGrp="1"/>
          </p:cNvSpPr>
          <p:nvPr>
            <p:ph type="title"/>
          </p:nvPr>
        </p:nvSpPr>
        <p:spPr/>
        <p:txBody>
          <a:bodyPr/>
          <a:lstStyle/>
          <a:p>
            <a:r>
              <a:rPr lang="en-US" sz="2000" dirty="0"/>
              <a:t>Traditional Machine Learning </a:t>
            </a:r>
            <a:r>
              <a:rPr lang="en-US" sz="2000" dirty="0" err="1"/>
              <a:t>vs.Transfer</a:t>
            </a:r>
            <a:r>
              <a:rPr lang="en-US" sz="2000" dirty="0"/>
              <a:t> Learning</a:t>
            </a:r>
            <a:endParaRPr lang="en-IN" sz="2000" dirty="0"/>
          </a:p>
        </p:txBody>
      </p:sp>
      <p:sp>
        <p:nvSpPr>
          <p:cNvPr id="3" name="Content Placeholder 2">
            <a:extLst>
              <a:ext uri="{FF2B5EF4-FFF2-40B4-BE49-F238E27FC236}">
                <a16:creationId xmlns:a16="http://schemas.microsoft.com/office/drawing/2014/main" id="{8A7FC167-717E-4C5E-9211-68C0FF83220C}"/>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BA1516BA-16C1-4833-8D0D-6D3BC231DE6D}"/>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307A26B8-0B7A-44E4-9A9B-CF7B12C41BA6}"/>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C9EEE234-B081-4A75-A9B1-17A3984C57E5}"/>
              </a:ext>
            </a:extLst>
          </p:cNvPr>
          <p:cNvSpPr>
            <a:spLocks noGrp="1"/>
          </p:cNvSpPr>
          <p:nvPr>
            <p:ph type="sldNum" sz="quarter" idx="12"/>
          </p:nvPr>
        </p:nvSpPr>
        <p:spPr/>
        <p:txBody>
          <a:bodyPr/>
          <a:lstStyle/>
          <a:p>
            <a:fld id="{BB2CE0DE-867F-455F-B20B-96D381B4AB71}" type="slidenum">
              <a:rPr lang="en-US" smtClean="0"/>
              <a:t>110</a:t>
            </a:fld>
            <a:endParaRPr lang="en-US"/>
          </a:p>
        </p:txBody>
      </p:sp>
      <p:pic>
        <p:nvPicPr>
          <p:cNvPr id="7" name="Picture 6">
            <a:extLst>
              <a:ext uri="{FF2B5EF4-FFF2-40B4-BE49-F238E27FC236}">
                <a16:creationId xmlns:a16="http://schemas.microsoft.com/office/drawing/2014/main" id="{952751FB-5044-4E5F-BDE5-0E8A47B86432}"/>
              </a:ext>
            </a:extLst>
          </p:cNvPr>
          <p:cNvPicPr>
            <a:picLocks noChangeAspect="1"/>
          </p:cNvPicPr>
          <p:nvPr/>
        </p:nvPicPr>
        <p:blipFill>
          <a:blip r:embed="rId2"/>
          <a:stretch>
            <a:fillRect/>
          </a:stretch>
        </p:blipFill>
        <p:spPr>
          <a:xfrm>
            <a:off x="542765" y="1219200"/>
            <a:ext cx="8339138" cy="4491701"/>
          </a:xfrm>
          <a:prstGeom prst="rect">
            <a:avLst/>
          </a:prstGeom>
        </p:spPr>
      </p:pic>
    </p:spTree>
    <p:extLst>
      <p:ext uri="{BB962C8B-B14F-4D97-AF65-F5344CB8AC3E}">
        <p14:creationId xmlns:p14="http://schemas.microsoft.com/office/powerpoint/2010/main" val="2472929860"/>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A2A0D-66F6-3F88-4D3E-76C82E793FF9}"/>
              </a:ext>
            </a:extLst>
          </p:cNvPr>
          <p:cNvSpPr>
            <a:spLocks noGrp="1"/>
          </p:cNvSpPr>
          <p:nvPr>
            <p:ph type="title"/>
          </p:nvPr>
        </p:nvSpPr>
        <p:spPr/>
        <p:txBody>
          <a:bodyPr/>
          <a:lstStyle/>
          <a:p>
            <a:r>
              <a:rPr lang="en-US" dirty="0"/>
              <a:t>Transfer Learning for Deep Learning</a:t>
            </a:r>
            <a:endParaRPr lang="en-IN" dirty="0"/>
          </a:p>
        </p:txBody>
      </p:sp>
      <p:sp>
        <p:nvSpPr>
          <p:cNvPr id="3" name="Content Placeholder 2">
            <a:extLst>
              <a:ext uri="{FF2B5EF4-FFF2-40B4-BE49-F238E27FC236}">
                <a16:creationId xmlns:a16="http://schemas.microsoft.com/office/drawing/2014/main" id="{04704876-5401-F974-E2AC-96EF74F42F26}"/>
              </a:ext>
            </a:extLst>
          </p:cNvPr>
          <p:cNvSpPr>
            <a:spLocks noGrp="1"/>
          </p:cNvSpPr>
          <p:nvPr>
            <p:ph idx="1"/>
          </p:nvPr>
        </p:nvSpPr>
        <p:spPr/>
        <p:txBody>
          <a:bodyPr/>
          <a:lstStyle/>
          <a:p>
            <a:pPr marL="0" indent="0" algn="just">
              <a:buNone/>
            </a:pPr>
            <a:r>
              <a:rPr lang="en-US" sz="2000" dirty="0"/>
              <a:t>Domains like natural language processing and image recognition are considered to be the hot areas of research for transfer learning. There are also many models that achieved state-of-the-art performance.</a:t>
            </a:r>
          </a:p>
          <a:p>
            <a:pPr marL="0" indent="0" algn="just">
              <a:buNone/>
            </a:pPr>
            <a:r>
              <a:rPr lang="en-US" sz="2000" dirty="0"/>
              <a:t>These pre-trained neural networks/models form the basis of transfer learning in the context of deep learning and are referred to as deep transfer learning.</a:t>
            </a:r>
          </a:p>
          <a:p>
            <a:pPr marL="0" indent="0" algn="just">
              <a:buNone/>
            </a:pPr>
            <a:r>
              <a:rPr lang="en-US" sz="2000" dirty="0"/>
              <a:t>The key idea here is to leverage the pre-trained model's weighted layers to extract features, but not update the model's weights during training with new data for the new task. </a:t>
            </a:r>
          </a:p>
          <a:p>
            <a:pPr marL="0" indent="0" algn="just">
              <a:buNone/>
            </a:pPr>
            <a:r>
              <a:rPr lang="en-US" sz="2000" dirty="0"/>
              <a:t>The pre-trained models are trained on a large and general enough dataset and will effectively serve as a generic model of the visual world.</a:t>
            </a:r>
          </a:p>
          <a:p>
            <a:pPr marL="0" indent="0" algn="just">
              <a:buNone/>
            </a:pPr>
            <a:endParaRPr lang="en-US" sz="2000" dirty="0"/>
          </a:p>
          <a:p>
            <a:pPr marL="0" indent="0" algn="just">
              <a:buNone/>
            </a:pPr>
            <a:endParaRPr lang="en-US" sz="2000" dirty="0"/>
          </a:p>
          <a:p>
            <a:pPr marL="0" indent="0" algn="just">
              <a:buNone/>
            </a:pPr>
            <a:endParaRPr lang="en-US" sz="2000" dirty="0"/>
          </a:p>
          <a:p>
            <a:pPr marL="0" indent="0" algn="just">
              <a:buNone/>
            </a:pPr>
            <a:endParaRPr lang="en-IN" sz="2000" dirty="0"/>
          </a:p>
        </p:txBody>
      </p:sp>
      <p:sp>
        <p:nvSpPr>
          <p:cNvPr id="4" name="Date Placeholder 3">
            <a:extLst>
              <a:ext uri="{FF2B5EF4-FFF2-40B4-BE49-F238E27FC236}">
                <a16:creationId xmlns:a16="http://schemas.microsoft.com/office/drawing/2014/main" id="{4A4B10B5-0066-6D6A-72CA-1142C74F89F4}"/>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67899A2C-79C2-3C14-62DC-CD774DF3129C}"/>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90D17F4D-EFF4-F103-2AEC-51C912747667}"/>
              </a:ext>
            </a:extLst>
          </p:cNvPr>
          <p:cNvSpPr>
            <a:spLocks noGrp="1"/>
          </p:cNvSpPr>
          <p:nvPr>
            <p:ph type="sldNum" sz="quarter" idx="12"/>
          </p:nvPr>
        </p:nvSpPr>
        <p:spPr/>
        <p:txBody>
          <a:bodyPr/>
          <a:lstStyle/>
          <a:p>
            <a:fld id="{BB2CE0DE-867F-455F-B20B-96D381B4AB71}" type="slidenum">
              <a:rPr lang="en-US" smtClean="0"/>
              <a:t>111</a:t>
            </a:fld>
            <a:endParaRPr lang="en-US"/>
          </a:p>
        </p:txBody>
      </p:sp>
    </p:spTree>
    <p:extLst>
      <p:ext uri="{BB962C8B-B14F-4D97-AF65-F5344CB8AC3E}">
        <p14:creationId xmlns:p14="http://schemas.microsoft.com/office/powerpoint/2010/main" val="27726327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A7908-3EEA-F536-6964-0AEE076C7FBC}"/>
              </a:ext>
            </a:extLst>
          </p:cNvPr>
          <p:cNvSpPr>
            <a:spLocks noGrp="1"/>
          </p:cNvSpPr>
          <p:nvPr>
            <p:ph type="title"/>
          </p:nvPr>
        </p:nvSpPr>
        <p:spPr/>
        <p:txBody>
          <a:bodyPr/>
          <a:lstStyle/>
          <a:p>
            <a:r>
              <a:rPr lang="en-US" sz="2000" dirty="0"/>
              <a:t>Off-the-shelf pre-trained models as feature extractors</a:t>
            </a:r>
            <a:endParaRPr lang="en-IN" sz="2000" dirty="0"/>
          </a:p>
        </p:txBody>
      </p:sp>
      <p:sp>
        <p:nvSpPr>
          <p:cNvPr id="3" name="Content Placeholder 2">
            <a:extLst>
              <a:ext uri="{FF2B5EF4-FFF2-40B4-BE49-F238E27FC236}">
                <a16:creationId xmlns:a16="http://schemas.microsoft.com/office/drawing/2014/main" id="{0675443E-3B37-AC63-FD87-89C7490647FE}"/>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045DBD9E-1AC7-D687-3C11-D8BDAF19408B}"/>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7D92F827-32EF-49F2-E427-ADAA3C8EE91A}"/>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067D4403-FAC3-7843-A072-4B6C36200AE6}"/>
              </a:ext>
            </a:extLst>
          </p:cNvPr>
          <p:cNvSpPr>
            <a:spLocks noGrp="1"/>
          </p:cNvSpPr>
          <p:nvPr>
            <p:ph type="sldNum" sz="quarter" idx="12"/>
          </p:nvPr>
        </p:nvSpPr>
        <p:spPr/>
        <p:txBody>
          <a:bodyPr/>
          <a:lstStyle/>
          <a:p>
            <a:fld id="{BB2CE0DE-867F-455F-B20B-96D381B4AB71}" type="slidenum">
              <a:rPr lang="en-US" smtClean="0"/>
              <a:t>112</a:t>
            </a:fld>
            <a:endParaRPr lang="en-US"/>
          </a:p>
        </p:txBody>
      </p:sp>
      <p:pic>
        <p:nvPicPr>
          <p:cNvPr id="9" name="Picture 8">
            <a:extLst>
              <a:ext uri="{FF2B5EF4-FFF2-40B4-BE49-F238E27FC236}">
                <a16:creationId xmlns:a16="http://schemas.microsoft.com/office/drawing/2014/main" id="{267C57F7-ACBC-8CBD-373F-095FB6799624}"/>
              </a:ext>
            </a:extLst>
          </p:cNvPr>
          <p:cNvPicPr>
            <a:picLocks noChangeAspect="1"/>
          </p:cNvPicPr>
          <p:nvPr/>
        </p:nvPicPr>
        <p:blipFill>
          <a:blip r:embed="rId2"/>
          <a:stretch>
            <a:fillRect/>
          </a:stretch>
        </p:blipFill>
        <p:spPr>
          <a:xfrm>
            <a:off x="293090" y="1219200"/>
            <a:ext cx="8564170" cy="5210902"/>
          </a:xfrm>
          <a:prstGeom prst="rect">
            <a:avLst/>
          </a:prstGeom>
        </p:spPr>
      </p:pic>
    </p:spTree>
    <p:extLst>
      <p:ext uri="{BB962C8B-B14F-4D97-AF65-F5344CB8AC3E}">
        <p14:creationId xmlns:p14="http://schemas.microsoft.com/office/powerpoint/2010/main" val="3772122140"/>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8CB73-6F84-0F93-FB59-DA0EDDCD2D0D}"/>
              </a:ext>
            </a:extLst>
          </p:cNvPr>
          <p:cNvSpPr>
            <a:spLocks noGrp="1"/>
          </p:cNvSpPr>
          <p:nvPr>
            <p:ph type="title"/>
          </p:nvPr>
        </p:nvSpPr>
        <p:spPr/>
        <p:txBody>
          <a:bodyPr/>
          <a:lstStyle/>
          <a:p>
            <a:r>
              <a:rPr lang="en-US" sz="2000" dirty="0"/>
              <a:t>Off-the-shelf pre-trained models as feature extractors</a:t>
            </a:r>
            <a:endParaRPr lang="en-IN" sz="2000" dirty="0"/>
          </a:p>
        </p:txBody>
      </p:sp>
      <p:sp>
        <p:nvSpPr>
          <p:cNvPr id="3" name="Content Placeholder 2">
            <a:extLst>
              <a:ext uri="{FF2B5EF4-FFF2-40B4-BE49-F238E27FC236}">
                <a16:creationId xmlns:a16="http://schemas.microsoft.com/office/drawing/2014/main" id="{226B14C2-C590-9073-6F2A-CA47ED1AD628}"/>
              </a:ext>
            </a:extLst>
          </p:cNvPr>
          <p:cNvSpPr>
            <a:spLocks noGrp="1"/>
          </p:cNvSpPr>
          <p:nvPr>
            <p:ph idx="1"/>
          </p:nvPr>
        </p:nvSpPr>
        <p:spPr/>
        <p:txBody>
          <a:bodyPr/>
          <a:lstStyle/>
          <a:p>
            <a:pPr algn="just"/>
            <a:r>
              <a:rPr lang="en-US" sz="2000" b="0" i="0" dirty="0">
                <a:solidFill>
                  <a:srgbClr val="1C1C1C"/>
                </a:solidFill>
                <a:effectLst/>
                <a:latin typeface="STK Bureau Sans Book"/>
              </a:rPr>
              <a:t>Deep learning systems are layered architectures that learn different features at different layers. Initial layers compile higher-level features that narrow down to fine-grained features as we go deeper into the network. </a:t>
            </a:r>
          </a:p>
          <a:p>
            <a:pPr algn="just"/>
            <a:r>
              <a:rPr lang="en-US" sz="2000" b="0" i="0" dirty="0">
                <a:solidFill>
                  <a:srgbClr val="1C1C1C"/>
                </a:solidFill>
                <a:effectLst/>
                <a:latin typeface="STK Bureau Sans Book"/>
              </a:rPr>
              <a:t>These layers are finally connected to the last layer (usually a fully connected layer, in the case of supervised learning) to get the final output. This opens the scope of using popular pre-trained networks (such as VGG Model, Inception Model, </a:t>
            </a:r>
            <a:r>
              <a:rPr lang="en-US" sz="2000" b="0" i="0" dirty="0" err="1">
                <a:solidFill>
                  <a:srgbClr val="1C1C1C"/>
                </a:solidFill>
                <a:effectLst/>
                <a:latin typeface="STK Bureau Sans Book"/>
              </a:rPr>
              <a:t>ResNet</a:t>
            </a:r>
            <a:r>
              <a:rPr lang="en-US" sz="2000" b="0" i="0" dirty="0">
                <a:solidFill>
                  <a:srgbClr val="1C1C1C"/>
                </a:solidFill>
                <a:effectLst/>
                <a:latin typeface="STK Bureau Sans Book"/>
              </a:rPr>
              <a:t> Model) without its final layer as a fixed feature extractor for other tasks.</a:t>
            </a:r>
            <a:endParaRPr lang="en-IN" sz="2000" dirty="0"/>
          </a:p>
        </p:txBody>
      </p:sp>
      <p:sp>
        <p:nvSpPr>
          <p:cNvPr id="4" name="Date Placeholder 3">
            <a:extLst>
              <a:ext uri="{FF2B5EF4-FFF2-40B4-BE49-F238E27FC236}">
                <a16:creationId xmlns:a16="http://schemas.microsoft.com/office/drawing/2014/main" id="{2143B889-1727-56C7-F835-A124D0371664}"/>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A29BF221-781E-7C8F-D036-16ADAEC85787}"/>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874A4A13-0CC4-6602-D778-483039DBA709}"/>
              </a:ext>
            </a:extLst>
          </p:cNvPr>
          <p:cNvSpPr>
            <a:spLocks noGrp="1"/>
          </p:cNvSpPr>
          <p:nvPr>
            <p:ph type="sldNum" sz="quarter" idx="12"/>
          </p:nvPr>
        </p:nvSpPr>
        <p:spPr/>
        <p:txBody>
          <a:bodyPr/>
          <a:lstStyle/>
          <a:p>
            <a:fld id="{BB2CE0DE-867F-455F-B20B-96D381B4AB71}" type="slidenum">
              <a:rPr lang="en-US" smtClean="0"/>
              <a:t>113</a:t>
            </a:fld>
            <a:endParaRPr lang="en-US"/>
          </a:p>
        </p:txBody>
      </p:sp>
    </p:spTree>
    <p:extLst>
      <p:ext uri="{BB962C8B-B14F-4D97-AF65-F5344CB8AC3E}">
        <p14:creationId xmlns:p14="http://schemas.microsoft.com/office/powerpoint/2010/main" val="1569863349"/>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31A88-A253-8450-A27C-F1AC61B60634}"/>
              </a:ext>
            </a:extLst>
          </p:cNvPr>
          <p:cNvSpPr>
            <a:spLocks noGrp="1"/>
          </p:cNvSpPr>
          <p:nvPr>
            <p:ph type="title"/>
          </p:nvPr>
        </p:nvSpPr>
        <p:spPr>
          <a:xfrm>
            <a:off x="566738" y="136525"/>
            <a:ext cx="8001000" cy="762000"/>
          </a:xfrm>
        </p:spPr>
        <p:txBody>
          <a:bodyPr/>
          <a:lstStyle/>
          <a:p>
            <a:r>
              <a:rPr lang="en-US" sz="2400" dirty="0"/>
              <a:t>Fine Tuning Off-the-shelf Pre-trained Models</a:t>
            </a:r>
            <a:endParaRPr lang="en-IN" sz="2400" dirty="0"/>
          </a:p>
        </p:txBody>
      </p:sp>
      <p:sp>
        <p:nvSpPr>
          <p:cNvPr id="3" name="Content Placeholder 2">
            <a:extLst>
              <a:ext uri="{FF2B5EF4-FFF2-40B4-BE49-F238E27FC236}">
                <a16:creationId xmlns:a16="http://schemas.microsoft.com/office/drawing/2014/main" id="{ACD63C36-432A-7E5D-A839-E507923D930E}"/>
              </a:ext>
            </a:extLst>
          </p:cNvPr>
          <p:cNvSpPr>
            <a:spLocks noGrp="1"/>
          </p:cNvSpPr>
          <p:nvPr>
            <p:ph idx="1"/>
          </p:nvPr>
        </p:nvSpPr>
        <p:spPr/>
        <p:txBody>
          <a:bodyPr/>
          <a:lstStyle/>
          <a:p>
            <a:pPr marL="0" indent="0" algn="just">
              <a:buNone/>
            </a:pPr>
            <a:r>
              <a:rPr lang="en-US" sz="2000" dirty="0"/>
              <a:t>This is a more engaging technique, where we do not just directly depend on the features extracted from the pre-trained models and replace the final layer but also selectively retrain some of the previous layers.</a:t>
            </a:r>
          </a:p>
          <a:p>
            <a:pPr marL="0" indent="0" algn="just">
              <a:buNone/>
            </a:pPr>
            <a:r>
              <a:rPr lang="en-US" sz="2000" dirty="0"/>
              <a:t>Deep neural networks are layered structures and have many tunable hyperparameters. The role of the initial layers is to capture generic features, while the later ones focus more on the explicit task at hand. It makes sense to fine-tune the higher-order feature representations in the base model to make them more relevant for the specific task. We can re-train some layers of the model while keeping some frozen in training.</a:t>
            </a:r>
            <a:endParaRPr lang="en-IN" sz="2000" dirty="0"/>
          </a:p>
        </p:txBody>
      </p:sp>
      <p:sp>
        <p:nvSpPr>
          <p:cNvPr id="4" name="Date Placeholder 3">
            <a:extLst>
              <a:ext uri="{FF2B5EF4-FFF2-40B4-BE49-F238E27FC236}">
                <a16:creationId xmlns:a16="http://schemas.microsoft.com/office/drawing/2014/main" id="{7FC02FA1-AFEB-93E9-17F7-6CDB11E61041}"/>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314EB91A-3D46-0CCC-0A3D-CE44400601A9}"/>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AD7E1516-B7CC-A271-CFB3-6D0B3C7CE18E}"/>
              </a:ext>
            </a:extLst>
          </p:cNvPr>
          <p:cNvSpPr>
            <a:spLocks noGrp="1"/>
          </p:cNvSpPr>
          <p:nvPr>
            <p:ph type="sldNum" sz="quarter" idx="12"/>
          </p:nvPr>
        </p:nvSpPr>
        <p:spPr/>
        <p:txBody>
          <a:bodyPr/>
          <a:lstStyle/>
          <a:p>
            <a:fld id="{BB2CE0DE-867F-455F-B20B-96D381B4AB71}" type="slidenum">
              <a:rPr lang="en-US" smtClean="0"/>
              <a:t>114</a:t>
            </a:fld>
            <a:endParaRPr lang="en-US"/>
          </a:p>
        </p:txBody>
      </p:sp>
    </p:spTree>
    <p:extLst>
      <p:ext uri="{BB962C8B-B14F-4D97-AF65-F5344CB8AC3E}">
        <p14:creationId xmlns:p14="http://schemas.microsoft.com/office/powerpoint/2010/main" val="2376615138"/>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6969E2-C0E6-F711-5327-365646F59B34}"/>
              </a:ext>
            </a:extLst>
          </p:cNvPr>
          <p:cNvSpPr>
            <a:spLocks noGrp="1"/>
          </p:cNvSpPr>
          <p:nvPr>
            <p:ph type="title"/>
          </p:nvPr>
        </p:nvSpPr>
        <p:spPr/>
        <p:txBody>
          <a:bodyPr/>
          <a:lstStyle/>
          <a:p>
            <a:r>
              <a:rPr lang="en-US" dirty="0"/>
              <a:t>Transfer Learning in 6 steps</a:t>
            </a:r>
            <a:endParaRPr lang="en-IN" dirty="0"/>
          </a:p>
        </p:txBody>
      </p:sp>
      <p:sp>
        <p:nvSpPr>
          <p:cNvPr id="3" name="Content Placeholder 2">
            <a:extLst>
              <a:ext uri="{FF2B5EF4-FFF2-40B4-BE49-F238E27FC236}">
                <a16:creationId xmlns:a16="http://schemas.microsoft.com/office/drawing/2014/main" id="{6D98E737-8697-D028-EEFA-E2767B1D5B00}"/>
              </a:ext>
            </a:extLst>
          </p:cNvPr>
          <p:cNvSpPr>
            <a:spLocks noGrp="1"/>
          </p:cNvSpPr>
          <p:nvPr>
            <p:ph idx="1"/>
          </p:nvPr>
        </p:nvSpPr>
        <p:spPr/>
        <p:txBody>
          <a:bodyPr/>
          <a:lstStyle/>
          <a:p>
            <a:pPr marL="0" indent="0" algn="just">
              <a:buNone/>
            </a:pPr>
            <a:r>
              <a:rPr lang="en-US" sz="1600" b="1" dirty="0"/>
              <a:t>1. Obtain pre-trained model</a:t>
            </a:r>
          </a:p>
          <a:p>
            <a:pPr algn="just"/>
            <a:r>
              <a:rPr lang="en-US" sz="1600" dirty="0"/>
              <a:t>The first step is to choose the pre-trained model we would like to keep as the base of our training, depending on the task. Transfer learning requires a strong correlation between the knowledge of the pre-trained source model and the target task domain for them to be compatible.</a:t>
            </a:r>
            <a:endParaRPr lang="en-IN" sz="1600" dirty="0"/>
          </a:p>
        </p:txBody>
      </p:sp>
      <p:sp>
        <p:nvSpPr>
          <p:cNvPr id="4" name="Date Placeholder 3">
            <a:extLst>
              <a:ext uri="{FF2B5EF4-FFF2-40B4-BE49-F238E27FC236}">
                <a16:creationId xmlns:a16="http://schemas.microsoft.com/office/drawing/2014/main" id="{231DDC98-E950-50E8-8A41-F99C6CE770B4}"/>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AA46FFA7-6FFA-B8A5-211F-4DA0206431C4}"/>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716FDB43-5E23-6673-E30C-4281AD11DBEC}"/>
              </a:ext>
            </a:extLst>
          </p:cNvPr>
          <p:cNvSpPr>
            <a:spLocks noGrp="1"/>
          </p:cNvSpPr>
          <p:nvPr>
            <p:ph type="sldNum" sz="quarter" idx="12"/>
          </p:nvPr>
        </p:nvSpPr>
        <p:spPr/>
        <p:txBody>
          <a:bodyPr/>
          <a:lstStyle/>
          <a:p>
            <a:fld id="{BB2CE0DE-867F-455F-B20B-96D381B4AB71}" type="slidenum">
              <a:rPr lang="en-US" smtClean="0"/>
              <a:t>115</a:t>
            </a:fld>
            <a:endParaRPr lang="en-US"/>
          </a:p>
        </p:txBody>
      </p:sp>
      <p:pic>
        <p:nvPicPr>
          <p:cNvPr id="9" name="Picture 8">
            <a:extLst>
              <a:ext uri="{FF2B5EF4-FFF2-40B4-BE49-F238E27FC236}">
                <a16:creationId xmlns:a16="http://schemas.microsoft.com/office/drawing/2014/main" id="{FE61D4EC-20F2-D10B-A48E-0913B7D7AA2A}"/>
              </a:ext>
            </a:extLst>
          </p:cNvPr>
          <p:cNvPicPr>
            <a:picLocks noChangeAspect="1"/>
          </p:cNvPicPr>
          <p:nvPr/>
        </p:nvPicPr>
        <p:blipFill>
          <a:blip r:embed="rId2"/>
          <a:stretch>
            <a:fillRect/>
          </a:stretch>
        </p:blipFill>
        <p:spPr>
          <a:xfrm>
            <a:off x="1298575" y="2971800"/>
            <a:ext cx="6553200" cy="3125271"/>
          </a:xfrm>
          <a:prstGeom prst="rect">
            <a:avLst/>
          </a:prstGeom>
        </p:spPr>
      </p:pic>
    </p:spTree>
    <p:extLst>
      <p:ext uri="{BB962C8B-B14F-4D97-AF65-F5344CB8AC3E}">
        <p14:creationId xmlns:p14="http://schemas.microsoft.com/office/powerpoint/2010/main" val="251607943"/>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3584C-1F6F-C970-9954-8D8E5F28A281}"/>
              </a:ext>
            </a:extLst>
          </p:cNvPr>
          <p:cNvSpPr>
            <a:spLocks noGrp="1"/>
          </p:cNvSpPr>
          <p:nvPr>
            <p:ph type="title"/>
          </p:nvPr>
        </p:nvSpPr>
        <p:spPr/>
        <p:txBody>
          <a:bodyPr/>
          <a:lstStyle/>
          <a:p>
            <a:r>
              <a:rPr lang="en-US" dirty="0"/>
              <a:t>Transfer Learning in 6 steps</a:t>
            </a:r>
            <a:endParaRPr lang="en-IN" dirty="0"/>
          </a:p>
        </p:txBody>
      </p:sp>
      <p:sp>
        <p:nvSpPr>
          <p:cNvPr id="3" name="Content Placeholder 2">
            <a:extLst>
              <a:ext uri="{FF2B5EF4-FFF2-40B4-BE49-F238E27FC236}">
                <a16:creationId xmlns:a16="http://schemas.microsoft.com/office/drawing/2014/main" id="{365C896F-F1A5-AEDF-B4E5-38D668BDE9D7}"/>
              </a:ext>
            </a:extLst>
          </p:cNvPr>
          <p:cNvSpPr>
            <a:spLocks noGrp="1"/>
          </p:cNvSpPr>
          <p:nvPr>
            <p:ph idx="1"/>
          </p:nvPr>
        </p:nvSpPr>
        <p:spPr/>
        <p:txBody>
          <a:bodyPr/>
          <a:lstStyle/>
          <a:p>
            <a:pPr marL="0" indent="0" algn="just">
              <a:buNone/>
            </a:pPr>
            <a:r>
              <a:rPr lang="en-US" sz="1400" b="1" dirty="0"/>
              <a:t>2. Create a base model</a:t>
            </a:r>
          </a:p>
          <a:p>
            <a:pPr marL="0" indent="0" algn="just">
              <a:buNone/>
            </a:pPr>
            <a:r>
              <a:rPr lang="en-US" sz="1400" dirty="0"/>
              <a:t>The base model is one of the architectures such as </a:t>
            </a:r>
            <a:r>
              <a:rPr lang="en-US" sz="1400" dirty="0" err="1"/>
              <a:t>ResNet</a:t>
            </a:r>
            <a:r>
              <a:rPr lang="en-US" sz="1400" dirty="0"/>
              <a:t> or </a:t>
            </a:r>
            <a:r>
              <a:rPr lang="en-US" sz="1400" dirty="0" err="1"/>
              <a:t>Xception</a:t>
            </a:r>
            <a:r>
              <a:rPr lang="en-US" sz="1400" dirty="0"/>
              <a:t> which we have selected in the first step to be in close relation to our task. We can either download the network weights which saves the time of additional training of the model. Else, we will have to use the network architecture to train our model from scratch. </a:t>
            </a:r>
          </a:p>
          <a:p>
            <a:pPr marL="0" indent="0" algn="just">
              <a:buNone/>
            </a:pPr>
            <a:r>
              <a:rPr lang="en-US" sz="1400" dirty="0"/>
              <a:t>There can be a case where the base model will have more neurons in the final output layer than we require in our use case. In such scenarios, we need to remove the final output layer and change it accordingly.</a:t>
            </a:r>
            <a:endParaRPr lang="en-IN" sz="1400" dirty="0"/>
          </a:p>
        </p:txBody>
      </p:sp>
      <p:sp>
        <p:nvSpPr>
          <p:cNvPr id="4" name="Date Placeholder 3">
            <a:extLst>
              <a:ext uri="{FF2B5EF4-FFF2-40B4-BE49-F238E27FC236}">
                <a16:creationId xmlns:a16="http://schemas.microsoft.com/office/drawing/2014/main" id="{A1D4F902-E399-581E-96E1-5E09DC4E2E47}"/>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86ED5F13-72EC-D260-6C3B-B79B711F01B7}"/>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14F1B94-7476-506F-FA00-D21B1BDB3371}"/>
              </a:ext>
            </a:extLst>
          </p:cNvPr>
          <p:cNvSpPr>
            <a:spLocks noGrp="1"/>
          </p:cNvSpPr>
          <p:nvPr>
            <p:ph type="sldNum" sz="quarter" idx="12"/>
          </p:nvPr>
        </p:nvSpPr>
        <p:spPr/>
        <p:txBody>
          <a:bodyPr/>
          <a:lstStyle/>
          <a:p>
            <a:fld id="{BB2CE0DE-867F-455F-B20B-96D381B4AB71}" type="slidenum">
              <a:rPr lang="en-US" smtClean="0"/>
              <a:t>116</a:t>
            </a:fld>
            <a:endParaRPr lang="en-US"/>
          </a:p>
        </p:txBody>
      </p:sp>
      <p:pic>
        <p:nvPicPr>
          <p:cNvPr id="7" name="Picture 6">
            <a:extLst>
              <a:ext uri="{FF2B5EF4-FFF2-40B4-BE49-F238E27FC236}">
                <a16:creationId xmlns:a16="http://schemas.microsoft.com/office/drawing/2014/main" id="{3B61493B-722C-909C-3D36-C90277085AC4}"/>
              </a:ext>
            </a:extLst>
          </p:cNvPr>
          <p:cNvPicPr>
            <a:picLocks noChangeAspect="1"/>
          </p:cNvPicPr>
          <p:nvPr/>
        </p:nvPicPr>
        <p:blipFill>
          <a:blip r:embed="rId2"/>
          <a:stretch>
            <a:fillRect/>
          </a:stretch>
        </p:blipFill>
        <p:spPr>
          <a:xfrm>
            <a:off x="1981200" y="3021919"/>
            <a:ext cx="5181600" cy="3795117"/>
          </a:xfrm>
          <a:prstGeom prst="rect">
            <a:avLst/>
          </a:prstGeom>
        </p:spPr>
      </p:pic>
    </p:spTree>
    <p:extLst>
      <p:ext uri="{BB962C8B-B14F-4D97-AF65-F5344CB8AC3E}">
        <p14:creationId xmlns:p14="http://schemas.microsoft.com/office/powerpoint/2010/main" val="721908261"/>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09F2A-5430-6655-927E-DD8ECD67717F}"/>
              </a:ext>
            </a:extLst>
          </p:cNvPr>
          <p:cNvSpPr>
            <a:spLocks noGrp="1"/>
          </p:cNvSpPr>
          <p:nvPr>
            <p:ph type="title"/>
          </p:nvPr>
        </p:nvSpPr>
        <p:spPr/>
        <p:txBody>
          <a:bodyPr/>
          <a:lstStyle/>
          <a:p>
            <a:r>
              <a:rPr lang="en-US" dirty="0"/>
              <a:t>Transfer Learning in 6 steps</a:t>
            </a:r>
            <a:endParaRPr lang="en-IN" dirty="0"/>
          </a:p>
        </p:txBody>
      </p:sp>
      <p:sp>
        <p:nvSpPr>
          <p:cNvPr id="3" name="Content Placeholder 2">
            <a:extLst>
              <a:ext uri="{FF2B5EF4-FFF2-40B4-BE49-F238E27FC236}">
                <a16:creationId xmlns:a16="http://schemas.microsoft.com/office/drawing/2014/main" id="{02D2B51B-F12B-207E-88B1-2D537D3EF4B0}"/>
              </a:ext>
            </a:extLst>
          </p:cNvPr>
          <p:cNvSpPr>
            <a:spLocks noGrp="1"/>
          </p:cNvSpPr>
          <p:nvPr>
            <p:ph idx="1"/>
          </p:nvPr>
        </p:nvSpPr>
        <p:spPr/>
        <p:txBody>
          <a:bodyPr/>
          <a:lstStyle/>
          <a:p>
            <a:pPr marL="0" indent="0" algn="just">
              <a:buNone/>
            </a:pPr>
            <a:r>
              <a:rPr lang="en-US" sz="1800" b="1" dirty="0"/>
              <a:t>3. Freeze layers</a:t>
            </a:r>
          </a:p>
          <a:p>
            <a:pPr marL="0" indent="0" algn="just">
              <a:buNone/>
            </a:pPr>
            <a:r>
              <a:rPr lang="en-US" sz="1800" dirty="0"/>
              <a:t>Freezing the starting layers from the pre-trained model is essential to avoid the additional work of making the model learn the basic features. </a:t>
            </a:r>
          </a:p>
          <a:p>
            <a:pPr marL="0" indent="0" algn="just">
              <a:buNone/>
            </a:pPr>
            <a:endParaRPr lang="en-US" sz="1800" dirty="0"/>
          </a:p>
          <a:p>
            <a:pPr marL="0" indent="0" algn="just">
              <a:buNone/>
            </a:pPr>
            <a:r>
              <a:rPr lang="en-US" sz="1800" dirty="0"/>
              <a:t>If we do not freeze the initial layers, we will lose all the learning that has already taken place. This will be no different from training the model from scratch and will be a loss of time, resources, etc.</a:t>
            </a:r>
          </a:p>
          <a:p>
            <a:pPr marL="0" indent="0" algn="just">
              <a:buNone/>
            </a:pPr>
            <a:endParaRPr lang="en-US" sz="1800" dirty="0"/>
          </a:p>
          <a:p>
            <a:pPr marL="0" indent="0" algn="just">
              <a:buNone/>
            </a:pPr>
            <a:r>
              <a:rPr lang="en-US" sz="1800" b="1" dirty="0"/>
              <a:t>4. Add new trainable layers</a:t>
            </a:r>
          </a:p>
          <a:p>
            <a:pPr marL="0" indent="0" algn="just">
              <a:buNone/>
            </a:pPr>
            <a:r>
              <a:rPr lang="en-US" sz="1800" dirty="0"/>
              <a:t>The only knowledge we are reusing from the base model is the feature extraction layers. We need to add additional layers on top of them to predict the specialized tasks of the model. These are generally the final output layers. </a:t>
            </a:r>
          </a:p>
          <a:p>
            <a:pPr marL="0" indent="0" algn="just">
              <a:buNone/>
            </a:pPr>
            <a:endParaRPr lang="en-US" sz="1800" dirty="0"/>
          </a:p>
        </p:txBody>
      </p:sp>
      <p:sp>
        <p:nvSpPr>
          <p:cNvPr id="4" name="Date Placeholder 3">
            <a:extLst>
              <a:ext uri="{FF2B5EF4-FFF2-40B4-BE49-F238E27FC236}">
                <a16:creationId xmlns:a16="http://schemas.microsoft.com/office/drawing/2014/main" id="{D071D887-D238-5D10-B418-0A6522E7B9B1}"/>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5992FDA3-7E0F-F6B4-5810-B7D01D9671FC}"/>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E72EC1FE-759B-FE32-EAA0-05943F606E7B}"/>
              </a:ext>
            </a:extLst>
          </p:cNvPr>
          <p:cNvSpPr>
            <a:spLocks noGrp="1"/>
          </p:cNvSpPr>
          <p:nvPr>
            <p:ph type="sldNum" sz="quarter" idx="12"/>
          </p:nvPr>
        </p:nvSpPr>
        <p:spPr/>
        <p:txBody>
          <a:bodyPr/>
          <a:lstStyle/>
          <a:p>
            <a:fld id="{BB2CE0DE-867F-455F-B20B-96D381B4AB71}" type="slidenum">
              <a:rPr lang="en-US" smtClean="0"/>
              <a:t>117</a:t>
            </a:fld>
            <a:endParaRPr lang="en-US"/>
          </a:p>
        </p:txBody>
      </p:sp>
    </p:spTree>
    <p:extLst>
      <p:ext uri="{BB962C8B-B14F-4D97-AF65-F5344CB8AC3E}">
        <p14:creationId xmlns:p14="http://schemas.microsoft.com/office/powerpoint/2010/main" val="84445820"/>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285A09-B99C-FDD1-144E-190127E011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A9D7B8-7F42-65BA-2546-6D539B150A66}"/>
              </a:ext>
            </a:extLst>
          </p:cNvPr>
          <p:cNvSpPr>
            <a:spLocks noGrp="1"/>
          </p:cNvSpPr>
          <p:nvPr>
            <p:ph type="title"/>
          </p:nvPr>
        </p:nvSpPr>
        <p:spPr/>
        <p:txBody>
          <a:bodyPr/>
          <a:lstStyle/>
          <a:p>
            <a:r>
              <a:rPr lang="en-US" dirty="0"/>
              <a:t>Transfer Learning in 6 steps</a:t>
            </a:r>
            <a:endParaRPr lang="en-IN" dirty="0"/>
          </a:p>
        </p:txBody>
      </p:sp>
      <p:sp>
        <p:nvSpPr>
          <p:cNvPr id="3" name="Content Placeholder 2">
            <a:extLst>
              <a:ext uri="{FF2B5EF4-FFF2-40B4-BE49-F238E27FC236}">
                <a16:creationId xmlns:a16="http://schemas.microsoft.com/office/drawing/2014/main" id="{1433CD0F-126A-7504-8005-A35CA9E070A1}"/>
              </a:ext>
            </a:extLst>
          </p:cNvPr>
          <p:cNvSpPr>
            <a:spLocks noGrp="1"/>
          </p:cNvSpPr>
          <p:nvPr>
            <p:ph idx="1"/>
          </p:nvPr>
        </p:nvSpPr>
        <p:spPr/>
        <p:txBody>
          <a:bodyPr/>
          <a:lstStyle/>
          <a:p>
            <a:pPr marL="0" indent="0" algn="just">
              <a:buNone/>
            </a:pPr>
            <a:r>
              <a:rPr lang="en-US" sz="1800" b="1" dirty="0"/>
              <a:t>5. Train the new layers</a:t>
            </a:r>
          </a:p>
          <a:p>
            <a:pPr marL="0" indent="0" algn="just">
              <a:buNone/>
            </a:pPr>
            <a:r>
              <a:rPr lang="en-US" sz="1800" dirty="0"/>
              <a:t>The pre-trained model’s final output will most likely differ from the output we want for our model. For example, pre-trained models trained on the ImageNet dataset will output 1000 classes. </a:t>
            </a:r>
          </a:p>
          <a:p>
            <a:pPr marL="0" indent="0" algn="just">
              <a:buNone/>
            </a:pPr>
            <a:r>
              <a:rPr lang="en-US" sz="1800" dirty="0"/>
              <a:t>However, we need our model to work for two classes. In this case, we have to train the model with a new output layer in place. </a:t>
            </a:r>
          </a:p>
          <a:p>
            <a:pPr marL="0" indent="0" algn="just">
              <a:buNone/>
            </a:pPr>
            <a:endParaRPr lang="en-US" sz="1800" dirty="0"/>
          </a:p>
          <a:p>
            <a:pPr marL="0" indent="0" algn="just">
              <a:buNone/>
            </a:pPr>
            <a:r>
              <a:rPr lang="en-US" sz="1800" b="1" dirty="0"/>
              <a:t>6. Fine-tune your model</a:t>
            </a:r>
          </a:p>
          <a:p>
            <a:pPr marL="0" indent="0" algn="just">
              <a:buNone/>
            </a:pPr>
            <a:r>
              <a:rPr lang="en-US" sz="1800" dirty="0"/>
              <a:t>One method of improving the performance is fine-tuning. </a:t>
            </a:r>
          </a:p>
          <a:p>
            <a:pPr marL="0" indent="0" algn="just">
              <a:buNone/>
            </a:pPr>
            <a:r>
              <a:rPr lang="en-US" sz="1800" dirty="0"/>
              <a:t>Fine-tuning involves unfreezing some part of the base model and training the entire model again on the whole dataset at a very low learning rate. The low learning rate will increase the performance of the model on the new dataset while preventing overfitting.</a:t>
            </a:r>
            <a:endParaRPr lang="en-IN" sz="1800" dirty="0"/>
          </a:p>
        </p:txBody>
      </p:sp>
      <p:sp>
        <p:nvSpPr>
          <p:cNvPr id="4" name="Date Placeholder 3">
            <a:extLst>
              <a:ext uri="{FF2B5EF4-FFF2-40B4-BE49-F238E27FC236}">
                <a16:creationId xmlns:a16="http://schemas.microsoft.com/office/drawing/2014/main" id="{2DCD4FFD-C9D9-2A00-76A4-86058570FF55}"/>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5C9FA4F3-EAC6-9D8D-DEC7-FE88F7B2EE49}"/>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586198DC-327E-6E4B-EBD2-385A5F555FB3}"/>
              </a:ext>
            </a:extLst>
          </p:cNvPr>
          <p:cNvSpPr>
            <a:spLocks noGrp="1"/>
          </p:cNvSpPr>
          <p:nvPr>
            <p:ph type="sldNum" sz="quarter" idx="12"/>
          </p:nvPr>
        </p:nvSpPr>
        <p:spPr/>
        <p:txBody>
          <a:bodyPr/>
          <a:lstStyle/>
          <a:p>
            <a:fld id="{BB2CE0DE-867F-455F-B20B-96D381B4AB71}" type="slidenum">
              <a:rPr lang="en-US" smtClean="0"/>
              <a:t>118</a:t>
            </a:fld>
            <a:endParaRPr lang="en-US"/>
          </a:p>
        </p:txBody>
      </p:sp>
    </p:spTree>
    <p:extLst>
      <p:ext uri="{BB962C8B-B14F-4D97-AF65-F5344CB8AC3E}">
        <p14:creationId xmlns:p14="http://schemas.microsoft.com/office/powerpoint/2010/main" val="210402136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3B965-77AC-3AC3-863F-CED9F973073F}"/>
              </a:ext>
            </a:extLst>
          </p:cNvPr>
          <p:cNvSpPr>
            <a:spLocks noGrp="1"/>
          </p:cNvSpPr>
          <p:nvPr>
            <p:ph type="title"/>
          </p:nvPr>
        </p:nvSpPr>
        <p:spPr/>
        <p:txBody>
          <a:bodyPr/>
          <a:lstStyle/>
          <a:p>
            <a:r>
              <a:rPr lang="en-IN" dirty="0"/>
              <a:t>Deep Learning Challenges</a:t>
            </a:r>
          </a:p>
        </p:txBody>
      </p:sp>
      <p:sp>
        <p:nvSpPr>
          <p:cNvPr id="3" name="Content Placeholder 2">
            <a:extLst>
              <a:ext uri="{FF2B5EF4-FFF2-40B4-BE49-F238E27FC236}">
                <a16:creationId xmlns:a16="http://schemas.microsoft.com/office/drawing/2014/main" id="{1C6176F6-B646-283F-BFF3-4D709D43E8F7}"/>
              </a:ext>
            </a:extLst>
          </p:cNvPr>
          <p:cNvSpPr>
            <a:spLocks noGrp="1"/>
          </p:cNvSpPr>
          <p:nvPr>
            <p:ph idx="1"/>
          </p:nvPr>
        </p:nvSpPr>
        <p:spPr/>
        <p:txBody>
          <a:bodyPr/>
          <a:lstStyle/>
          <a:p>
            <a:r>
              <a:rPr lang="en-US" dirty="0"/>
              <a:t>Deep learning is data hungry. </a:t>
            </a:r>
          </a:p>
          <a:p>
            <a:r>
              <a:rPr lang="en-US" dirty="0"/>
              <a:t>Overfitting or lack of generalization. </a:t>
            </a:r>
          </a:p>
          <a:p>
            <a:r>
              <a:rPr lang="en-US" b="1" dirty="0"/>
              <a:t>Vanishing/Exploding Gradient Problem. </a:t>
            </a:r>
          </a:p>
          <a:p>
            <a:r>
              <a:rPr lang="en-US" dirty="0"/>
              <a:t>Appropriate Learning Rate. </a:t>
            </a:r>
          </a:p>
          <a:p>
            <a:r>
              <a:rPr lang="en-US" dirty="0"/>
              <a:t>Covariate Shift. </a:t>
            </a:r>
          </a:p>
          <a:p>
            <a:r>
              <a:rPr lang="en-US" dirty="0"/>
              <a:t>Effective training.</a:t>
            </a:r>
            <a:endParaRPr lang="en-IN" dirty="0"/>
          </a:p>
        </p:txBody>
      </p:sp>
      <p:sp>
        <p:nvSpPr>
          <p:cNvPr id="4" name="Date Placeholder 3">
            <a:extLst>
              <a:ext uri="{FF2B5EF4-FFF2-40B4-BE49-F238E27FC236}">
                <a16:creationId xmlns:a16="http://schemas.microsoft.com/office/drawing/2014/main" id="{7625CF95-FC33-253D-9AC9-6C430AC6C57C}"/>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39BE3764-7B7B-DADA-CF06-037DD6D78D26}"/>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C5EE1762-D20C-F78F-01FB-E4A845A89E2A}"/>
              </a:ext>
            </a:extLst>
          </p:cNvPr>
          <p:cNvSpPr>
            <a:spLocks noGrp="1"/>
          </p:cNvSpPr>
          <p:nvPr>
            <p:ph type="sldNum" sz="quarter" idx="12"/>
          </p:nvPr>
        </p:nvSpPr>
        <p:spPr/>
        <p:txBody>
          <a:bodyPr/>
          <a:lstStyle/>
          <a:p>
            <a:fld id="{BB2CE0DE-867F-455F-B20B-96D381B4AB71}" type="slidenum">
              <a:rPr lang="en-US" smtClean="0"/>
              <a:t>119</a:t>
            </a:fld>
            <a:endParaRPr lang="en-US"/>
          </a:p>
        </p:txBody>
      </p:sp>
    </p:spTree>
    <p:extLst>
      <p:ext uri="{BB962C8B-B14F-4D97-AF65-F5344CB8AC3E}">
        <p14:creationId xmlns:p14="http://schemas.microsoft.com/office/powerpoint/2010/main" val="1831241395"/>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E71D6-04A1-7F9D-F69C-DEA1F2B30C13}"/>
              </a:ext>
            </a:extLst>
          </p:cNvPr>
          <p:cNvSpPr>
            <a:spLocks noGrp="1"/>
          </p:cNvSpPr>
          <p:nvPr>
            <p:ph type="title"/>
          </p:nvPr>
        </p:nvSpPr>
        <p:spPr/>
        <p:txBody>
          <a:bodyPr/>
          <a:lstStyle/>
          <a:p>
            <a:r>
              <a:rPr lang="en-US" sz="1800" dirty="0"/>
              <a:t>Vanishing and Exploding Gradients Problems in Deep Learning</a:t>
            </a:r>
            <a:endParaRPr lang="en-IN" sz="1800" dirty="0"/>
          </a:p>
        </p:txBody>
      </p:sp>
      <p:sp>
        <p:nvSpPr>
          <p:cNvPr id="3" name="Content Placeholder 2">
            <a:extLst>
              <a:ext uri="{FF2B5EF4-FFF2-40B4-BE49-F238E27FC236}">
                <a16:creationId xmlns:a16="http://schemas.microsoft.com/office/drawing/2014/main" id="{7A25EC03-937E-C779-33A7-A1529A593EE5}"/>
              </a:ext>
            </a:extLst>
          </p:cNvPr>
          <p:cNvSpPr>
            <a:spLocks noGrp="1"/>
          </p:cNvSpPr>
          <p:nvPr>
            <p:ph idx="1"/>
          </p:nvPr>
        </p:nvSpPr>
        <p:spPr/>
        <p:txBody>
          <a:bodyPr/>
          <a:lstStyle/>
          <a:p>
            <a:pPr marL="0" indent="0" algn="just">
              <a:buNone/>
            </a:pPr>
            <a:r>
              <a:rPr lang="en-US" sz="2400" b="0" i="0" dirty="0">
                <a:solidFill>
                  <a:srgbClr val="273239"/>
                </a:solidFill>
                <a:effectLst/>
                <a:latin typeface="Nunito" pitchFamily="2" charset="0"/>
              </a:rPr>
              <a:t>Gradient descent, a fundamental optimization algorithm, can sometimes encounter two common issues: </a:t>
            </a:r>
          </a:p>
          <a:p>
            <a:pPr marL="0" indent="0" algn="just">
              <a:buNone/>
            </a:pPr>
            <a:r>
              <a:rPr lang="en-US" sz="2400" dirty="0">
                <a:solidFill>
                  <a:srgbClr val="273239"/>
                </a:solidFill>
                <a:latin typeface="Nunito" pitchFamily="2" charset="0"/>
              </a:rPr>
              <a:t>V</a:t>
            </a:r>
            <a:r>
              <a:rPr lang="en-US" sz="2400" b="0" i="0" dirty="0">
                <a:solidFill>
                  <a:srgbClr val="273239"/>
                </a:solidFill>
                <a:effectLst/>
                <a:latin typeface="Nunito" pitchFamily="2" charset="0"/>
              </a:rPr>
              <a:t>anishing gradients</a:t>
            </a:r>
          </a:p>
          <a:p>
            <a:pPr marL="0" indent="0" algn="just">
              <a:buNone/>
            </a:pPr>
            <a:r>
              <a:rPr lang="en-US" sz="2400" dirty="0">
                <a:solidFill>
                  <a:srgbClr val="273239"/>
                </a:solidFill>
                <a:latin typeface="Nunito" pitchFamily="2" charset="0"/>
              </a:rPr>
              <a:t>E</a:t>
            </a:r>
            <a:r>
              <a:rPr lang="en-US" sz="2400" b="0" i="0" dirty="0">
                <a:solidFill>
                  <a:srgbClr val="273239"/>
                </a:solidFill>
                <a:effectLst/>
                <a:latin typeface="Nunito" pitchFamily="2" charset="0"/>
              </a:rPr>
              <a:t>xploding gradients</a:t>
            </a:r>
            <a:endParaRPr lang="en-IN" sz="2400" dirty="0"/>
          </a:p>
        </p:txBody>
      </p:sp>
      <p:sp>
        <p:nvSpPr>
          <p:cNvPr id="4" name="Date Placeholder 3">
            <a:extLst>
              <a:ext uri="{FF2B5EF4-FFF2-40B4-BE49-F238E27FC236}">
                <a16:creationId xmlns:a16="http://schemas.microsoft.com/office/drawing/2014/main" id="{83600A5E-FADE-EE8F-85FE-924EE9FC11EE}"/>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213BE8A0-F2AF-EC68-6FB3-3E4557F2E724}"/>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45089857-43A3-B24A-3953-DC590D1614BF}"/>
              </a:ext>
            </a:extLst>
          </p:cNvPr>
          <p:cNvSpPr>
            <a:spLocks noGrp="1"/>
          </p:cNvSpPr>
          <p:nvPr>
            <p:ph type="sldNum" sz="quarter" idx="12"/>
          </p:nvPr>
        </p:nvSpPr>
        <p:spPr/>
        <p:txBody>
          <a:bodyPr/>
          <a:lstStyle/>
          <a:p>
            <a:fld id="{BB2CE0DE-867F-455F-B20B-96D381B4AB71}" type="slidenum">
              <a:rPr lang="en-US" smtClean="0"/>
              <a:t>120</a:t>
            </a:fld>
            <a:endParaRPr lang="en-US"/>
          </a:p>
        </p:txBody>
      </p:sp>
    </p:spTree>
    <p:extLst>
      <p:ext uri="{BB962C8B-B14F-4D97-AF65-F5344CB8AC3E}">
        <p14:creationId xmlns:p14="http://schemas.microsoft.com/office/powerpoint/2010/main" val="271575914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2EDC6C-BD49-8828-1DCB-AF4BB3BF8B5E}"/>
              </a:ext>
            </a:extLst>
          </p:cNvPr>
          <p:cNvSpPr>
            <a:spLocks noGrp="1"/>
          </p:cNvSpPr>
          <p:nvPr>
            <p:ph type="title"/>
          </p:nvPr>
        </p:nvSpPr>
        <p:spPr/>
        <p:txBody>
          <a:bodyPr/>
          <a:lstStyle/>
          <a:p>
            <a:r>
              <a:rPr lang="en-IN" dirty="0"/>
              <a:t>Vanishing Gradients</a:t>
            </a:r>
          </a:p>
        </p:txBody>
      </p:sp>
      <p:sp>
        <p:nvSpPr>
          <p:cNvPr id="3" name="Content Placeholder 2">
            <a:extLst>
              <a:ext uri="{FF2B5EF4-FFF2-40B4-BE49-F238E27FC236}">
                <a16:creationId xmlns:a16="http://schemas.microsoft.com/office/drawing/2014/main" id="{D2555F23-5D6D-0070-A0E9-7D9528FC3AAE}"/>
              </a:ext>
            </a:extLst>
          </p:cNvPr>
          <p:cNvSpPr>
            <a:spLocks noGrp="1"/>
          </p:cNvSpPr>
          <p:nvPr>
            <p:ph idx="1"/>
          </p:nvPr>
        </p:nvSpPr>
        <p:spPr/>
        <p:txBody>
          <a:bodyPr/>
          <a:lstStyle/>
          <a:p>
            <a:pPr algn="just"/>
            <a:r>
              <a:rPr lang="en-US" dirty="0"/>
              <a:t>When gradients become </a:t>
            </a:r>
            <a:r>
              <a:rPr lang="en-US" b="1" dirty="0"/>
              <a:t>very small</a:t>
            </a:r>
            <a:r>
              <a:rPr lang="en-US" dirty="0"/>
              <a:t> during backpropagation, weights stop updating effectively.</a:t>
            </a:r>
          </a:p>
          <a:p>
            <a:pPr algn="just"/>
            <a:endParaRPr lang="en-US" dirty="0"/>
          </a:p>
          <a:p>
            <a:pPr algn="just"/>
            <a:r>
              <a:rPr lang="en-US" dirty="0"/>
              <a:t>The </a:t>
            </a:r>
            <a:r>
              <a:rPr lang="en-US" b="1" dirty="0"/>
              <a:t>early layers learn very slowly</a:t>
            </a:r>
            <a:r>
              <a:rPr lang="en-US" dirty="0"/>
              <a:t> (or not at all).</a:t>
            </a:r>
          </a:p>
          <a:p>
            <a:pPr algn="just"/>
            <a:endParaRPr lang="en-US" dirty="0"/>
          </a:p>
          <a:p>
            <a:pPr algn="just"/>
            <a:r>
              <a:rPr lang="en-US" dirty="0"/>
              <a:t>Network fails to capture </a:t>
            </a:r>
            <a:r>
              <a:rPr lang="en-US" b="1" dirty="0"/>
              <a:t>low-level features</a:t>
            </a:r>
            <a:r>
              <a:rPr lang="en-US" dirty="0"/>
              <a:t>.</a:t>
            </a:r>
          </a:p>
          <a:p>
            <a:endParaRPr lang="en-IN" dirty="0"/>
          </a:p>
          <a:p>
            <a:pPr marL="0" indent="0">
              <a:buNone/>
            </a:pPr>
            <a:endParaRPr lang="en-IN" dirty="0"/>
          </a:p>
        </p:txBody>
      </p:sp>
      <p:sp>
        <p:nvSpPr>
          <p:cNvPr id="4" name="Date Placeholder 3">
            <a:extLst>
              <a:ext uri="{FF2B5EF4-FFF2-40B4-BE49-F238E27FC236}">
                <a16:creationId xmlns:a16="http://schemas.microsoft.com/office/drawing/2014/main" id="{7319386F-DB5E-4CC7-4F0B-4CD2D4F24941}"/>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32DC27A8-0159-9DBC-BCB9-58E86B084911}"/>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39B20E0E-AF5A-2B12-45AE-2F78CCC62F3C}"/>
              </a:ext>
            </a:extLst>
          </p:cNvPr>
          <p:cNvSpPr>
            <a:spLocks noGrp="1"/>
          </p:cNvSpPr>
          <p:nvPr>
            <p:ph type="sldNum" sz="quarter" idx="12"/>
          </p:nvPr>
        </p:nvSpPr>
        <p:spPr/>
        <p:txBody>
          <a:bodyPr/>
          <a:lstStyle/>
          <a:p>
            <a:fld id="{BB2CE0DE-867F-455F-B20B-96D381B4AB71}" type="slidenum">
              <a:rPr lang="en-US" smtClean="0"/>
              <a:t>121</a:t>
            </a:fld>
            <a:endParaRPr lang="en-US"/>
          </a:p>
        </p:txBody>
      </p:sp>
    </p:spTree>
    <p:extLst>
      <p:ext uri="{BB962C8B-B14F-4D97-AF65-F5344CB8AC3E}">
        <p14:creationId xmlns:p14="http://schemas.microsoft.com/office/powerpoint/2010/main" val="3273229079"/>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C1F2C-855A-3992-DEA0-A58246F38E45}"/>
              </a:ext>
            </a:extLst>
          </p:cNvPr>
          <p:cNvSpPr>
            <a:spLocks noGrp="1"/>
          </p:cNvSpPr>
          <p:nvPr>
            <p:ph type="title"/>
          </p:nvPr>
        </p:nvSpPr>
        <p:spPr/>
        <p:txBody>
          <a:bodyPr/>
          <a:lstStyle/>
          <a:p>
            <a:r>
              <a:rPr lang="en-IN" dirty="0"/>
              <a:t>Exploding Gradients</a:t>
            </a:r>
          </a:p>
        </p:txBody>
      </p:sp>
      <p:sp>
        <p:nvSpPr>
          <p:cNvPr id="3" name="Content Placeholder 2">
            <a:extLst>
              <a:ext uri="{FF2B5EF4-FFF2-40B4-BE49-F238E27FC236}">
                <a16:creationId xmlns:a16="http://schemas.microsoft.com/office/drawing/2014/main" id="{1674D1B8-33D8-A6D3-51A8-6A545CD26084}"/>
              </a:ext>
            </a:extLst>
          </p:cNvPr>
          <p:cNvSpPr>
            <a:spLocks noGrp="1"/>
          </p:cNvSpPr>
          <p:nvPr>
            <p:ph idx="1"/>
          </p:nvPr>
        </p:nvSpPr>
        <p:spPr/>
        <p:txBody>
          <a:bodyPr/>
          <a:lstStyle/>
          <a:p>
            <a:r>
              <a:rPr lang="en-US" dirty="0"/>
              <a:t>When gradients become </a:t>
            </a:r>
            <a:r>
              <a:rPr lang="en-US" b="1" dirty="0"/>
              <a:t>very large</a:t>
            </a:r>
            <a:r>
              <a:rPr lang="en-US" dirty="0"/>
              <a:t>, weights grow exponentially.</a:t>
            </a:r>
          </a:p>
          <a:p>
            <a:r>
              <a:rPr lang="en-US" dirty="0"/>
              <a:t>Training becomes unstable.</a:t>
            </a:r>
          </a:p>
          <a:p>
            <a:r>
              <a:rPr lang="en-US" dirty="0"/>
              <a:t>Leads to </a:t>
            </a:r>
            <a:r>
              <a:rPr lang="en-US" b="1" dirty="0" err="1"/>
              <a:t>NaN</a:t>
            </a:r>
            <a:r>
              <a:rPr lang="en-US" b="1" dirty="0"/>
              <a:t> values</a:t>
            </a:r>
            <a:r>
              <a:rPr lang="en-US" dirty="0"/>
              <a:t> or diverging loss.</a:t>
            </a:r>
          </a:p>
          <a:p>
            <a:endParaRPr lang="en-IN" dirty="0"/>
          </a:p>
          <a:p>
            <a:endParaRPr lang="en-IN" dirty="0"/>
          </a:p>
        </p:txBody>
      </p:sp>
      <p:sp>
        <p:nvSpPr>
          <p:cNvPr id="4" name="Date Placeholder 3">
            <a:extLst>
              <a:ext uri="{FF2B5EF4-FFF2-40B4-BE49-F238E27FC236}">
                <a16:creationId xmlns:a16="http://schemas.microsoft.com/office/drawing/2014/main" id="{6E7F382A-7BD6-E43C-D2F7-A411F326E480}"/>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89273E0D-3904-FFDC-E211-649C05D6C08E}"/>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5366CBA2-999F-9B9D-3F78-233A00AF5CF3}"/>
              </a:ext>
            </a:extLst>
          </p:cNvPr>
          <p:cNvSpPr>
            <a:spLocks noGrp="1"/>
          </p:cNvSpPr>
          <p:nvPr>
            <p:ph type="sldNum" sz="quarter" idx="12"/>
          </p:nvPr>
        </p:nvSpPr>
        <p:spPr/>
        <p:txBody>
          <a:bodyPr/>
          <a:lstStyle/>
          <a:p>
            <a:fld id="{BB2CE0DE-867F-455F-B20B-96D381B4AB71}" type="slidenum">
              <a:rPr lang="en-US" smtClean="0"/>
              <a:t>122</a:t>
            </a:fld>
            <a:endParaRPr lang="en-US"/>
          </a:p>
        </p:txBody>
      </p:sp>
    </p:spTree>
    <p:extLst>
      <p:ext uri="{BB962C8B-B14F-4D97-AF65-F5344CB8AC3E}">
        <p14:creationId xmlns:p14="http://schemas.microsoft.com/office/powerpoint/2010/main" val="2960639037"/>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DADF80-2C5E-0C0F-75AA-6E793E343625}"/>
              </a:ext>
            </a:extLst>
          </p:cNvPr>
          <p:cNvSpPr>
            <a:spLocks noGrp="1"/>
          </p:cNvSpPr>
          <p:nvPr>
            <p:ph type="title"/>
          </p:nvPr>
        </p:nvSpPr>
        <p:spPr/>
        <p:txBody>
          <a:bodyPr/>
          <a:lstStyle/>
          <a:p>
            <a:r>
              <a:rPr lang="en-IN" dirty="0"/>
              <a:t>Simple Deep Neural Network	</a:t>
            </a:r>
          </a:p>
        </p:txBody>
      </p:sp>
      <p:sp>
        <p:nvSpPr>
          <p:cNvPr id="3" name="Content Placeholder 2">
            <a:extLst>
              <a:ext uri="{FF2B5EF4-FFF2-40B4-BE49-F238E27FC236}">
                <a16:creationId xmlns:a16="http://schemas.microsoft.com/office/drawing/2014/main" id="{662A4119-F481-F5E0-A815-695418C03B41}"/>
              </a:ext>
            </a:extLst>
          </p:cNvPr>
          <p:cNvSpPr>
            <a:spLocks noGrp="1"/>
          </p:cNvSpPr>
          <p:nvPr>
            <p:ph idx="1"/>
          </p:nvPr>
        </p:nvSpPr>
        <p:spPr/>
        <p:txBody>
          <a:bodyPr/>
          <a:lstStyle/>
          <a:p>
            <a:pPr>
              <a:buNone/>
            </a:pPr>
            <a:r>
              <a:rPr lang="en-US" sz="1400" dirty="0"/>
              <a:t>Let’s assume:</a:t>
            </a:r>
          </a:p>
          <a:p>
            <a:pPr>
              <a:buFont typeface="Arial" panose="020B0604020202020204" pitchFamily="34" charset="0"/>
              <a:buChar char="•"/>
            </a:pPr>
            <a:r>
              <a:rPr lang="en-US" sz="1400" dirty="0"/>
              <a:t>You have a </a:t>
            </a:r>
            <a:r>
              <a:rPr lang="en-US" sz="1400" b="1" dirty="0"/>
              <a:t>fully connected (dense)</a:t>
            </a:r>
            <a:r>
              <a:rPr lang="en-US" sz="1400" dirty="0"/>
              <a:t> neural network.</a:t>
            </a:r>
          </a:p>
          <a:p>
            <a:pPr>
              <a:buFont typeface="Arial" panose="020B0604020202020204" pitchFamily="34" charset="0"/>
              <a:buChar char="•"/>
            </a:pPr>
            <a:r>
              <a:rPr lang="en-US" sz="1400" dirty="0"/>
              <a:t>It has </a:t>
            </a:r>
            <a:r>
              <a:rPr lang="en-US" sz="1400" b="1" dirty="0"/>
              <a:t>100 hidden layers</a:t>
            </a:r>
            <a:r>
              <a:rPr lang="en-US" sz="1400" dirty="0"/>
              <a:t>.</a:t>
            </a:r>
          </a:p>
          <a:p>
            <a:pPr>
              <a:buFont typeface="Arial" panose="020B0604020202020204" pitchFamily="34" charset="0"/>
              <a:buChar char="•"/>
            </a:pPr>
            <a:r>
              <a:rPr lang="en-US" sz="1400" dirty="0"/>
              <a:t>Each layer:</a:t>
            </a:r>
          </a:p>
          <a:p>
            <a:pPr marL="742950" lvl="1" indent="-285750">
              <a:buFont typeface="Arial" panose="020B0604020202020204" pitchFamily="34" charset="0"/>
              <a:buChar char="•"/>
            </a:pPr>
            <a:r>
              <a:rPr lang="en-US" sz="1200" dirty="0"/>
              <a:t>Has a </a:t>
            </a:r>
            <a:r>
              <a:rPr lang="en-US" sz="1200" b="1" dirty="0"/>
              <a:t>single neuron</a:t>
            </a:r>
            <a:r>
              <a:rPr lang="en-US" sz="1200" dirty="0"/>
              <a:t>.</a:t>
            </a:r>
          </a:p>
          <a:p>
            <a:pPr marL="742950" lvl="1" indent="-285750">
              <a:buFont typeface="Arial" panose="020B0604020202020204" pitchFamily="34" charset="0"/>
              <a:buChar char="•"/>
            </a:pPr>
            <a:r>
              <a:rPr lang="en-US" sz="1200" dirty="0"/>
              <a:t>Has </a:t>
            </a:r>
            <a:r>
              <a:rPr lang="en-US" sz="1200" b="1" dirty="0"/>
              <a:t>no bias</a:t>
            </a:r>
            <a:r>
              <a:rPr lang="en-US" sz="1200" dirty="0"/>
              <a:t> (for simplicity).</a:t>
            </a:r>
          </a:p>
          <a:p>
            <a:pPr marL="742950" lvl="1" indent="-285750">
              <a:buFont typeface="Arial" panose="020B0604020202020204" pitchFamily="34" charset="0"/>
              <a:buChar char="•"/>
            </a:pPr>
            <a:r>
              <a:rPr lang="en-US" sz="1200" dirty="0"/>
              <a:t>Uses an </a:t>
            </a:r>
            <a:r>
              <a:rPr lang="en-US" sz="1200" b="1" dirty="0"/>
              <a:t>identity activation</a:t>
            </a:r>
            <a:r>
              <a:rPr lang="en-US" sz="1200" dirty="0"/>
              <a:t> (i.e., no activation — just pass value through).</a:t>
            </a:r>
          </a:p>
          <a:p>
            <a:pPr>
              <a:buNone/>
            </a:pPr>
            <a:r>
              <a:rPr lang="en-US" sz="1400" dirty="0"/>
              <a:t>Let:</a:t>
            </a:r>
          </a:p>
          <a:p>
            <a:pPr>
              <a:buFont typeface="Arial" panose="020B0604020202020204" pitchFamily="34" charset="0"/>
              <a:buChar char="•"/>
            </a:pPr>
            <a:r>
              <a:rPr lang="en-US" sz="1400" dirty="0"/>
              <a:t>Input to the network = x</a:t>
            </a:r>
          </a:p>
          <a:p>
            <a:pPr>
              <a:buFont typeface="Arial" panose="020B0604020202020204" pitchFamily="34" charset="0"/>
              <a:buChar char="•"/>
            </a:pPr>
            <a:r>
              <a:rPr lang="en-US" sz="1400" dirty="0"/>
              <a:t>Every layer has a weight w</a:t>
            </a:r>
          </a:p>
          <a:p>
            <a:pPr>
              <a:buFont typeface="Arial" panose="020B0604020202020204" pitchFamily="34" charset="0"/>
              <a:buChar char="•"/>
            </a:pPr>
            <a:r>
              <a:rPr lang="en-US" sz="1400" dirty="0"/>
              <a:t>So each layer just does:</a:t>
            </a:r>
          </a:p>
          <a:p>
            <a:endParaRPr lang="en-IN" sz="1400" dirty="0"/>
          </a:p>
          <a:p>
            <a:pPr marL="0" indent="0">
              <a:buNone/>
            </a:pPr>
            <a:endParaRPr lang="en-IN" sz="1400" dirty="0"/>
          </a:p>
        </p:txBody>
      </p:sp>
      <p:sp>
        <p:nvSpPr>
          <p:cNvPr id="4" name="Date Placeholder 3">
            <a:extLst>
              <a:ext uri="{FF2B5EF4-FFF2-40B4-BE49-F238E27FC236}">
                <a16:creationId xmlns:a16="http://schemas.microsoft.com/office/drawing/2014/main" id="{A0A6055B-E09E-AC86-B0ED-7CB8131260CA}"/>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D6DB6605-EB34-8454-9F87-BD6EFA5B061A}"/>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4F55F2C3-634B-E5BA-5C40-3668D751E034}"/>
              </a:ext>
            </a:extLst>
          </p:cNvPr>
          <p:cNvSpPr>
            <a:spLocks noGrp="1"/>
          </p:cNvSpPr>
          <p:nvPr>
            <p:ph type="sldNum" sz="quarter" idx="12"/>
          </p:nvPr>
        </p:nvSpPr>
        <p:spPr/>
        <p:txBody>
          <a:bodyPr/>
          <a:lstStyle/>
          <a:p>
            <a:fld id="{BB2CE0DE-867F-455F-B20B-96D381B4AB71}" type="slidenum">
              <a:rPr lang="en-US" smtClean="0"/>
              <a:t>123</a:t>
            </a:fld>
            <a:endParaRPr lang="en-US"/>
          </a:p>
        </p:txBody>
      </p:sp>
      <p:pic>
        <p:nvPicPr>
          <p:cNvPr id="8" name="Picture 7">
            <a:extLst>
              <a:ext uri="{FF2B5EF4-FFF2-40B4-BE49-F238E27FC236}">
                <a16:creationId xmlns:a16="http://schemas.microsoft.com/office/drawing/2014/main" id="{DB47E982-2548-D995-143B-AF239D244FD8}"/>
              </a:ext>
            </a:extLst>
          </p:cNvPr>
          <p:cNvPicPr>
            <a:picLocks noChangeAspect="1"/>
          </p:cNvPicPr>
          <p:nvPr/>
        </p:nvPicPr>
        <p:blipFill>
          <a:blip r:embed="rId3"/>
          <a:stretch>
            <a:fillRect/>
          </a:stretch>
        </p:blipFill>
        <p:spPr>
          <a:xfrm>
            <a:off x="3352800" y="3733800"/>
            <a:ext cx="1794494" cy="696686"/>
          </a:xfrm>
          <a:prstGeom prst="rect">
            <a:avLst/>
          </a:prstGeom>
        </p:spPr>
      </p:pic>
    </p:spTree>
    <p:extLst>
      <p:ext uri="{BB962C8B-B14F-4D97-AF65-F5344CB8AC3E}">
        <p14:creationId xmlns:p14="http://schemas.microsoft.com/office/powerpoint/2010/main" val="3198031930"/>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6CDCF-730D-A37F-B123-611D17E368FD}"/>
              </a:ext>
            </a:extLst>
          </p:cNvPr>
          <p:cNvSpPr>
            <a:spLocks noGrp="1"/>
          </p:cNvSpPr>
          <p:nvPr>
            <p:ph type="title"/>
          </p:nvPr>
        </p:nvSpPr>
        <p:spPr/>
        <p:txBody>
          <a:bodyPr/>
          <a:lstStyle/>
          <a:p>
            <a:r>
              <a:rPr lang="en-US" dirty="0"/>
              <a:t>Forward Propagation: Step by Step</a:t>
            </a:r>
            <a:endParaRPr lang="en-IN" dirty="0"/>
          </a:p>
        </p:txBody>
      </p:sp>
      <p:sp>
        <p:nvSpPr>
          <p:cNvPr id="3" name="Content Placeholder 2">
            <a:extLst>
              <a:ext uri="{FF2B5EF4-FFF2-40B4-BE49-F238E27FC236}">
                <a16:creationId xmlns:a16="http://schemas.microsoft.com/office/drawing/2014/main" id="{3F38967F-FDE6-AEBE-AF99-28C2D04CFD68}"/>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0CCCA8A7-975B-9C02-2338-1B78BDEDC749}"/>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8E03F598-B5E3-0A35-71CA-D0A5173F22A9}"/>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04AFC351-6221-5E66-5235-14D4474E5538}"/>
              </a:ext>
            </a:extLst>
          </p:cNvPr>
          <p:cNvSpPr>
            <a:spLocks noGrp="1"/>
          </p:cNvSpPr>
          <p:nvPr>
            <p:ph type="sldNum" sz="quarter" idx="12"/>
          </p:nvPr>
        </p:nvSpPr>
        <p:spPr/>
        <p:txBody>
          <a:bodyPr/>
          <a:lstStyle/>
          <a:p>
            <a:fld id="{BB2CE0DE-867F-455F-B20B-96D381B4AB71}" type="slidenum">
              <a:rPr lang="en-US" smtClean="0"/>
              <a:t>124</a:t>
            </a:fld>
            <a:endParaRPr lang="en-US"/>
          </a:p>
        </p:txBody>
      </p:sp>
      <p:pic>
        <p:nvPicPr>
          <p:cNvPr id="8" name="Picture 7">
            <a:extLst>
              <a:ext uri="{FF2B5EF4-FFF2-40B4-BE49-F238E27FC236}">
                <a16:creationId xmlns:a16="http://schemas.microsoft.com/office/drawing/2014/main" id="{7CEF0613-F199-76F1-EABF-B19DBA57D1EE}"/>
              </a:ext>
            </a:extLst>
          </p:cNvPr>
          <p:cNvPicPr>
            <a:picLocks noChangeAspect="1"/>
          </p:cNvPicPr>
          <p:nvPr/>
        </p:nvPicPr>
        <p:blipFill>
          <a:blip r:embed="rId2"/>
          <a:stretch>
            <a:fillRect/>
          </a:stretch>
        </p:blipFill>
        <p:spPr>
          <a:xfrm>
            <a:off x="574675" y="1219200"/>
            <a:ext cx="7045325" cy="4426245"/>
          </a:xfrm>
          <a:prstGeom prst="rect">
            <a:avLst/>
          </a:prstGeom>
        </p:spPr>
      </p:pic>
    </p:spTree>
    <p:extLst>
      <p:ext uri="{BB962C8B-B14F-4D97-AF65-F5344CB8AC3E}">
        <p14:creationId xmlns:p14="http://schemas.microsoft.com/office/powerpoint/2010/main" val="4084085516"/>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3D0568-C86B-D497-15E4-1A22E70FC490}"/>
              </a:ext>
            </a:extLst>
          </p:cNvPr>
          <p:cNvSpPr>
            <a:spLocks noGrp="1"/>
          </p:cNvSpPr>
          <p:nvPr>
            <p:ph type="title"/>
          </p:nvPr>
        </p:nvSpPr>
        <p:spPr/>
        <p:txBody>
          <a:bodyPr/>
          <a:lstStyle/>
          <a:p>
            <a:r>
              <a:rPr lang="en-IN" dirty="0"/>
              <a:t>What Does This Mean?</a:t>
            </a:r>
          </a:p>
        </p:txBody>
      </p:sp>
      <p:sp>
        <p:nvSpPr>
          <p:cNvPr id="3" name="Content Placeholder 2">
            <a:extLst>
              <a:ext uri="{FF2B5EF4-FFF2-40B4-BE49-F238E27FC236}">
                <a16:creationId xmlns:a16="http://schemas.microsoft.com/office/drawing/2014/main" id="{0DDAEDE4-6926-530D-4027-840BA109BE24}"/>
              </a:ext>
            </a:extLst>
          </p:cNvPr>
          <p:cNvSpPr>
            <a:spLocks noGrp="1"/>
          </p:cNvSpPr>
          <p:nvPr>
            <p:ph idx="1"/>
          </p:nvPr>
        </p:nvSpPr>
        <p:spPr/>
        <p:txBody>
          <a:bodyPr/>
          <a:lstStyle/>
          <a:p>
            <a:endParaRPr lang="en-IN" dirty="0"/>
          </a:p>
        </p:txBody>
      </p:sp>
      <p:sp>
        <p:nvSpPr>
          <p:cNvPr id="4" name="Date Placeholder 3">
            <a:extLst>
              <a:ext uri="{FF2B5EF4-FFF2-40B4-BE49-F238E27FC236}">
                <a16:creationId xmlns:a16="http://schemas.microsoft.com/office/drawing/2014/main" id="{3B030CAE-40F9-0000-455D-C76315B9B2A2}"/>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D58858CF-43B5-1A4E-5BE7-42110A49E0FB}"/>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70CD31E8-AD00-CC39-38E4-68160AF1CD4C}"/>
              </a:ext>
            </a:extLst>
          </p:cNvPr>
          <p:cNvSpPr>
            <a:spLocks noGrp="1"/>
          </p:cNvSpPr>
          <p:nvPr>
            <p:ph type="sldNum" sz="quarter" idx="12"/>
          </p:nvPr>
        </p:nvSpPr>
        <p:spPr/>
        <p:txBody>
          <a:bodyPr/>
          <a:lstStyle/>
          <a:p>
            <a:fld id="{BB2CE0DE-867F-455F-B20B-96D381B4AB71}" type="slidenum">
              <a:rPr lang="en-US" smtClean="0"/>
              <a:t>125</a:t>
            </a:fld>
            <a:endParaRPr lang="en-US"/>
          </a:p>
        </p:txBody>
      </p:sp>
      <p:pic>
        <p:nvPicPr>
          <p:cNvPr id="8" name="Picture 7">
            <a:extLst>
              <a:ext uri="{FF2B5EF4-FFF2-40B4-BE49-F238E27FC236}">
                <a16:creationId xmlns:a16="http://schemas.microsoft.com/office/drawing/2014/main" id="{E712117C-65E3-362E-4E1C-478CE648CE8A}"/>
              </a:ext>
            </a:extLst>
          </p:cNvPr>
          <p:cNvPicPr>
            <a:picLocks noChangeAspect="1"/>
          </p:cNvPicPr>
          <p:nvPr/>
        </p:nvPicPr>
        <p:blipFill>
          <a:blip r:embed="rId2"/>
          <a:stretch>
            <a:fillRect/>
          </a:stretch>
        </p:blipFill>
        <p:spPr>
          <a:xfrm>
            <a:off x="620486" y="1219200"/>
            <a:ext cx="5706271" cy="2848373"/>
          </a:xfrm>
          <a:prstGeom prst="rect">
            <a:avLst/>
          </a:prstGeom>
        </p:spPr>
      </p:pic>
      <p:pic>
        <p:nvPicPr>
          <p:cNvPr id="10" name="Picture 9">
            <a:extLst>
              <a:ext uri="{FF2B5EF4-FFF2-40B4-BE49-F238E27FC236}">
                <a16:creationId xmlns:a16="http://schemas.microsoft.com/office/drawing/2014/main" id="{42F3689D-034D-C546-E4CB-836A2B858C92}"/>
              </a:ext>
            </a:extLst>
          </p:cNvPr>
          <p:cNvPicPr>
            <a:picLocks noChangeAspect="1"/>
          </p:cNvPicPr>
          <p:nvPr/>
        </p:nvPicPr>
        <p:blipFill>
          <a:blip r:embed="rId3"/>
          <a:stretch>
            <a:fillRect/>
          </a:stretch>
        </p:blipFill>
        <p:spPr>
          <a:xfrm>
            <a:off x="457200" y="4219973"/>
            <a:ext cx="7878274" cy="2133898"/>
          </a:xfrm>
          <a:prstGeom prst="rect">
            <a:avLst/>
          </a:prstGeom>
        </p:spPr>
      </p:pic>
    </p:spTree>
    <p:extLst>
      <p:ext uri="{BB962C8B-B14F-4D97-AF65-F5344CB8AC3E}">
        <p14:creationId xmlns:p14="http://schemas.microsoft.com/office/powerpoint/2010/main" val="2049724351"/>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130C6-B2A2-4813-A6F3-0EE931ABA081}"/>
              </a:ext>
            </a:extLst>
          </p:cNvPr>
          <p:cNvSpPr>
            <a:spLocks noGrp="1"/>
          </p:cNvSpPr>
          <p:nvPr>
            <p:ph type="title"/>
          </p:nvPr>
        </p:nvSpPr>
        <p:spPr/>
        <p:txBody>
          <a:bodyPr/>
          <a:lstStyle/>
          <a:p>
            <a:r>
              <a:rPr lang="en-IN" sz="2400" dirty="0"/>
              <a:t>Vanishing Gradients: Why Does It Happen?</a:t>
            </a:r>
          </a:p>
        </p:txBody>
      </p:sp>
      <p:sp>
        <p:nvSpPr>
          <p:cNvPr id="3" name="Content Placeholder 2">
            <a:extLst>
              <a:ext uri="{FF2B5EF4-FFF2-40B4-BE49-F238E27FC236}">
                <a16:creationId xmlns:a16="http://schemas.microsoft.com/office/drawing/2014/main" id="{1C3A3BE4-2144-4AFF-93D5-48F14006B3A6}"/>
              </a:ext>
            </a:extLst>
          </p:cNvPr>
          <p:cNvSpPr>
            <a:spLocks noGrp="1"/>
          </p:cNvSpPr>
          <p:nvPr>
            <p:ph idx="1"/>
          </p:nvPr>
        </p:nvSpPr>
        <p:spPr/>
        <p:txBody>
          <a:bodyPr/>
          <a:lstStyle/>
          <a:p>
            <a:pPr marL="0" indent="0" algn="just">
              <a:buNone/>
            </a:pPr>
            <a:r>
              <a:rPr lang="en-US" sz="2400" b="0" i="0" dirty="0">
                <a:solidFill>
                  <a:srgbClr val="242424"/>
                </a:solidFill>
                <a:effectLst/>
                <a:latin typeface="source-serif-pro"/>
              </a:rPr>
              <a:t>During backpropagation, gradients are calculated for each layer, starting from the output layer and moving toward the input layer. If the network has many layers, the gradients get multiplied many times (due to the chain rule). For certain activation functions (like the sigmoid or tanh), the gradients shrink with each layer, potentially becoming so small that the weight updates stop.</a:t>
            </a:r>
          </a:p>
          <a:p>
            <a:pPr marL="0" indent="0" algn="just">
              <a:buNone/>
            </a:pPr>
            <a:endParaRPr lang="en-IN" sz="2400" dirty="0"/>
          </a:p>
        </p:txBody>
      </p:sp>
      <p:sp>
        <p:nvSpPr>
          <p:cNvPr id="4" name="Date Placeholder 3">
            <a:extLst>
              <a:ext uri="{FF2B5EF4-FFF2-40B4-BE49-F238E27FC236}">
                <a16:creationId xmlns:a16="http://schemas.microsoft.com/office/drawing/2014/main" id="{00D7FB58-6632-4C57-83A1-78A5F59129D1}"/>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B142F65E-0792-4B6B-A953-C16347B130B0}"/>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17659C5A-B747-46B0-85D7-4D94354BE01E}"/>
              </a:ext>
            </a:extLst>
          </p:cNvPr>
          <p:cNvSpPr>
            <a:spLocks noGrp="1"/>
          </p:cNvSpPr>
          <p:nvPr>
            <p:ph type="sldNum" sz="quarter" idx="12"/>
          </p:nvPr>
        </p:nvSpPr>
        <p:spPr/>
        <p:txBody>
          <a:bodyPr/>
          <a:lstStyle/>
          <a:p>
            <a:fld id="{BB2CE0DE-867F-455F-B20B-96D381B4AB71}" type="slidenum">
              <a:rPr lang="en-US" smtClean="0"/>
              <a:t>126</a:t>
            </a:fld>
            <a:endParaRPr lang="en-US"/>
          </a:p>
        </p:txBody>
      </p:sp>
    </p:spTree>
    <p:extLst>
      <p:ext uri="{BB962C8B-B14F-4D97-AF65-F5344CB8AC3E}">
        <p14:creationId xmlns:p14="http://schemas.microsoft.com/office/powerpoint/2010/main" val="1874589354"/>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130C6-B2A2-4813-A6F3-0EE931ABA081}"/>
              </a:ext>
            </a:extLst>
          </p:cNvPr>
          <p:cNvSpPr>
            <a:spLocks noGrp="1"/>
          </p:cNvSpPr>
          <p:nvPr>
            <p:ph type="title"/>
          </p:nvPr>
        </p:nvSpPr>
        <p:spPr/>
        <p:txBody>
          <a:bodyPr/>
          <a:lstStyle/>
          <a:p>
            <a:r>
              <a:rPr lang="en-IN" sz="2400" dirty="0"/>
              <a:t>Exploding: Why Does It Happen?</a:t>
            </a:r>
          </a:p>
        </p:txBody>
      </p:sp>
      <p:sp>
        <p:nvSpPr>
          <p:cNvPr id="3" name="Content Placeholder 2">
            <a:extLst>
              <a:ext uri="{FF2B5EF4-FFF2-40B4-BE49-F238E27FC236}">
                <a16:creationId xmlns:a16="http://schemas.microsoft.com/office/drawing/2014/main" id="{1C3A3BE4-2144-4AFF-93D5-48F14006B3A6}"/>
              </a:ext>
            </a:extLst>
          </p:cNvPr>
          <p:cNvSpPr>
            <a:spLocks noGrp="1"/>
          </p:cNvSpPr>
          <p:nvPr>
            <p:ph idx="1"/>
          </p:nvPr>
        </p:nvSpPr>
        <p:spPr/>
        <p:txBody>
          <a:bodyPr/>
          <a:lstStyle/>
          <a:p>
            <a:pPr marL="0" indent="0" algn="just">
              <a:buNone/>
            </a:pPr>
            <a:r>
              <a:rPr lang="en-US" sz="2400" dirty="0"/>
              <a:t>Similar to vanishing gradients, exploding gradients are caused by repeated multiplication during backpropagation, but in this case, the gradients grow exponentially as we move backward through the network. This often happens when the weights of the network are initialized poorly, or when the network is too deep.</a:t>
            </a:r>
            <a:endParaRPr lang="en-IN" sz="2400" dirty="0"/>
          </a:p>
        </p:txBody>
      </p:sp>
      <p:sp>
        <p:nvSpPr>
          <p:cNvPr id="4" name="Date Placeholder 3">
            <a:extLst>
              <a:ext uri="{FF2B5EF4-FFF2-40B4-BE49-F238E27FC236}">
                <a16:creationId xmlns:a16="http://schemas.microsoft.com/office/drawing/2014/main" id="{00D7FB58-6632-4C57-83A1-78A5F59129D1}"/>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B142F65E-0792-4B6B-A953-C16347B130B0}"/>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17659C5A-B747-46B0-85D7-4D94354BE01E}"/>
              </a:ext>
            </a:extLst>
          </p:cNvPr>
          <p:cNvSpPr>
            <a:spLocks noGrp="1"/>
          </p:cNvSpPr>
          <p:nvPr>
            <p:ph type="sldNum" sz="quarter" idx="12"/>
          </p:nvPr>
        </p:nvSpPr>
        <p:spPr/>
        <p:txBody>
          <a:bodyPr/>
          <a:lstStyle/>
          <a:p>
            <a:fld id="{BB2CE0DE-867F-455F-B20B-96D381B4AB71}" type="slidenum">
              <a:rPr lang="en-US" smtClean="0"/>
              <a:t>127</a:t>
            </a:fld>
            <a:endParaRPr lang="en-US"/>
          </a:p>
        </p:txBody>
      </p:sp>
    </p:spTree>
    <p:extLst>
      <p:ext uri="{BB962C8B-B14F-4D97-AF65-F5344CB8AC3E}">
        <p14:creationId xmlns:p14="http://schemas.microsoft.com/office/powerpoint/2010/main" val="1980499480"/>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27372-B238-4EDD-9521-D8BCB071C041}"/>
              </a:ext>
            </a:extLst>
          </p:cNvPr>
          <p:cNvSpPr>
            <a:spLocks noGrp="1"/>
          </p:cNvSpPr>
          <p:nvPr>
            <p:ph type="title"/>
          </p:nvPr>
        </p:nvSpPr>
        <p:spPr/>
        <p:txBody>
          <a:bodyPr/>
          <a:lstStyle/>
          <a:p>
            <a:r>
              <a:rPr lang="en-US" sz="2400" dirty="0"/>
              <a:t>Solutions to Vanishing and Exploding Gradients</a:t>
            </a:r>
            <a:endParaRPr lang="en-IN" sz="2400" dirty="0"/>
          </a:p>
        </p:txBody>
      </p:sp>
      <p:sp>
        <p:nvSpPr>
          <p:cNvPr id="3" name="Content Placeholder 2">
            <a:extLst>
              <a:ext uri="{FF2B5EF4-FFF2-40B4-BE49-F238E27FC236}">
                <a16:creationId xmlns:a16="http://schemas.microsoft.com/office/drawing/2014/main" id="{001D02AF-F6A3-455D-A655-E15591675BEF}"/>
              </a:ext>
            </a:extLst>
          </p:cNvPr>
          <p:cNvSpPr>
            <a:spLocks noGrp="1"/>
          </p:cNvSpPr>
          <p:nvPr>
            <p:ph idx="1"/>
          </p:nvPr>
        </p:nvSpPr>
        <p:spPr/>
        <p:txBody>
          <a:bodyPr/>
          <a:lstStyle/>
          <a:p>
            <a:pPr marL="0" indent="0" algn="just">
              <a:buNone/>
            </a:pPr>
            <a:r>
              <a:rPr lang="en-US" sz="2000" b="1" i="0" dirty="0">
                <a:solidFill>
                  <a:srgbClr val="242424"/>
                </a:solidFill>
                <a:effectLst/>
                <a:latin typeface="sohne"/>
              </a:rPr>
              <a:t>1. Weight Initialization</a:t>
            </a:r>
          </a:p>
          <a:p>
            <a:pPr algn="just">
              <a:buFont typeface="Arial" panose="020B0604020202020204" pitchFamily="34" charset="0"/>
              <a:buChar char="•"/>
            </a:pPr>
            <a:r>
              <a:rPr lang="en-US" sz="2000" b="1" i="0" dirty="0">
                <a:solidFill>
                  <a:srgbClr val="242424"/>
                </a:solidFill>
                <a:effectLst/>
                <a:latin typeface="source-serif-pro"/>
              </a:rPr>
              <a:t>For vanishing gradients</a:t>
            </a:r>
            <a:r>
              <a:rPr lang="en-US" sz="2000" b="0" i="0" dirty="0">
                <a:solidFill>
                  <a:srgbClr val="242424"/>
                </a:solidFill>
                <a:effectLst/>
                <a:latin typeface="source-serif-pro"/>
              </a:rPr>
              <a:t>, </a:t>
            </a:r>
            <a:r>
              <a:rPr lang="en-US" sz="2000" b="1" i="0" dirty="0">
                <a:solidFill>
                  <a:srgbClr val="242424"/>
                </a:solidFill>
                <a:effectLst/>
                <a:latin typeface="source-serif-pro"/>
              </a:rPr>
              <a:t>Xavier initialization</a:t>
            </a:r>
            <a:r>
              <a:rPr lang="en-US" sz="2000" b="0" i="0" dirty="0">
                <a:solidFill>
                  <a:srgbClr val="242424"/>
                </a:solidFill>
                <a:effectLst/>
                <a:latin typeface="source-serif-pro"/>
              </a:rPr>
              <a:t> (also known as </a:t>
            </a:r>
            <a:r>
              <a:rPr lang="en-US" sz="2000" b="0" i="0" dirty="0" err="1">
                <a:solidFill>
                  <a:srgbClr val="242424"/>
                </a:solidFill>
                <a:effectLst/>
                <a:latin typeface="source-serif-pro"/>
              </a:rPr>
              <a:t>Glorot</a:t>
            </a:r>
            <a:r>
              <a:rPr lang="en-US" sz="2000" b="0" i="0" dirty="0">
                <a:solidFill>
                  <a:srgbClr val="242424"/>
                </a:solidFill>
                <a:effectLst/>
                <a:latin typeface="source-serif-pro"/>
              </a:rPr>
              <a:t> initialization) helps by setting the initial weights such that they are not too large or too small. This maintains the gradients at a reasonable scale across layers.</a:t>
            </a:r>
          </a:p>
          <a:p>
            <a:pPr algn="just">
              <a:buFont typeface="Arial" panose="020B0604020202020204" pitchFamily="34" charset="0"/>
              <a:buChar char="•"/>
            </a:pPr>
            <a:r>
              <a:rPr lang="en-US" sz="2000" b="1" i="0" dirty="0">
                <a:solidFill>
                  <a:srgbClr val="242424"/>
                </a:solidFill>
                <a:effectLst/>
                <a:latin typeface="source-serif-pro"/>
              </a:rPr>
              <a:t>For exploding gradients</a:t>
            </a:r>
            <a:r>
              <a:rPr lang="en-US" sz="2000" b="0" i="0" dirty="0">
                <a:solidFill>
                  <a:srgbClr val="242424"/>
                </a:solidFill>
                <a:effectLst/>
                <a:latin typeface="source-serif-pro"/>
              </a:rPr>
              <a:t>, </a:t>
            </a:r>
            <a:r>
              <a:rPr lang="en-US" sz="2000" b="1" i="0" dirty="0">
                <a:solidFill>
                  <a:srgbClr val="242424"/>
                </a:solidFill>
                <a:effectLst/>
                <a:latin typeface="source-serif-pro"/>
              </a:rPr>
              <a:t>He initialization</a:t>
            </a:r>
            <a:r>
              <a:rPr lang="en-US" sz="2000" b="0" i="0" dirty="0">
                <a:solidFill>
                  <a:srgbClr val="242424"/>
                </a:solidFill>
                <a:effectLst/>
                <a:latin typeface="source-serif-pro"/>
              </a:rPr>
              <a:t> is often used when working with </a:t>
            </a:r>
            <a:r>
              <a:rPr lang="en-US" sz="2000" b="0" i="0" dirty="0" err="1">
                <a:solidFill>
                  <a:srgbClr val="242424"/>
                </a:solidFill>
                <a:effectLst/>
                <a:latin typeface="source-serif-pro"/>
              </a:rPr>
              <a:t>ReLU</a:t>
            </a:r>
            <a:r>
              <a:rPr lang="en-US" sz="2000" b="0" i="0" dirty="0">
                <a:solidFill>
                  <a:srgbClr val="242424"/>
                </a:solidFill>
                <a:effectLst/>
                <a:latin typeface="source-serif-pro"/>
              </a:rPr>
              <a:t> activations. It scales the weights in such a way that avoids large gradient magnitudes.</a:t>
            </a:r>
          </a:p>
          <a:p>
            <a:pPr algn="just"/>
            <a:endParaRPr lang="en-IN" sz="2000" dirty="0"/>
          </a:p>
        </p:txBody>
      </p:sp>
      <p:sp>
        <p:nvSpPr>
          <p:cNvPr id="4" name="Date Placeholder 3">
            <a:extLst>
              <a:ext uri="{FF2B5EF4-FFF2-40B4-BE49-F238E27FC236}">
                <a16:creationId xmlns:a16="http://schemas.microsoft.com/office/drawing/2014/main" id="{66368F8E-2970-43ED-95C5-C2AFD7E8A074}"/>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5D9A1B5A-D31E-4A94-9421-B7FF3EA2D65D}"/>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1BB80D52-B24B-4AC3-8225-A74B0FE06B0F}"/>
              </a:ext>
            </a:extLst>
          </p:cNvPr>
          <p:cNvSpPr>
            <a:spLocks noGrp="1"/>
          </p:cNvSpPr>
          <p:nvPr>
            <p:ph type="sldNum" sz="quarter" idx="12"/>
          </p:nvPr>
        </p:nvSpPr>
        <p:spPr/>
        <p:txBody>
          <a:bodyPr/>
          <a:lstStyle/>
          <a:p>
            <a:fld id="{BB2CE0DE-867F-455F-B20B-96D381B4AB71}" type="slidenum">
              <a:rPr lang="en-US" smtClean="0"/>
              <a:t>128</a:t>
            </a:fld>
            <a:endParaRPr lang="en-US"/>
          </a:p>
        </p:txBody>
      </p:sp>
    </p:spTree>
    <p:extLst>
      <p:ext uri="{BB962C8B-B14F-4D97-AF65-F5344CB8AC3E}">
        <p14:creationId xmlns:p14="http://schemas.microsoft.com/office/powerpoint/2010/main" val="822069663"/>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27372-B238-4EDD-9521-D8BCB071C041}"/>
              </a:ext>
            </a:extLst>
          </p:cNvPr>
          <p:cNvSpPr>
            <a:spLocks noGrp="1"/>
          </p:cNvSpPr>
          <p:nvPr>
            <p:ph type="title"/>
          </p:nvPr>
        </p:nvSpPr>
        <p:spPr/>
        <p:txBody>
          <a:bodyPr/>
          <a:lstStyle/>
          <a:p>
            <a:r>
              <a:rPr lang="en-US" sz="2400" dirty="0"/>
              <a:t>Solutions to Vanishing and Exploding Gradients</a:t>
            </a:r>
            <a:endParaRPr lang="en-IN" sz="2400" dirty="0"/>
          </a:p>
        </p:txBody>
      </p:sp>
      <p:sp>
        <p:nvSpPr>
          <p:cNvPr id="3" name="Content Placeholder 2">
            <a:extLst>
              <a:ext uri="{FF2B5EF4-FFF2-40B4-BE49-F238E27FC236}">
                <a16:creationId xmlns:a16="http://schemas.microsoft.com/office/drawing/2014/main" id="{001D02AF-F6A3-455D-A655-E15591675BEF}"/>
              </a:ext>
            </a:extLst>
          </p:cNvPr>
          <p:cNvSpPr>
            <a:spLocks noGrp="1"/>
          </p:cNvSpPr>
          <p:nvPr>
            <p:ph idx="1"/>
          </p:nvPr>
        </p:nvSpPr>
        <p:spPr/>
        <p:txBody>
          <a:bodyPr/>
          <a:lstStyle/>
          <a:p>
            <a:pPr marL="0" indent="0" algn="just">
              <a:buNone/>
            </a:pPr>
            <a:r>
              <a:rPr lang="en-US" sz="1800" b="1" i="0" dirty="0">
                <a:solidFill>
                  <a:srgbClr val="242424"/>
                </a:solidFill>
                <a:effectLst/>
                <a:latin typeface="sohne"/>
              </a:rPr>
              <a:t>2. Batch Normalization</a:t>
            </a:r>
          </a:p>
          <a:p>
            <a:pPr algn="just"/>
            <a:r>
              <a:rPr lang="en-US" sz="1800" b="0" i="0" dirty="0">
                <a:solidFill>
                  <a:srgbClr val="242424"/>
                </a:solidFill>
                <a:effectLst/>
                <a:latin typeface="source-serif-pro"/>
              </a:rPr>
              <a:t>Batch normalization </a:t>
            </a:r>
            <a:r>
              <a:rPr lang="en-US" sz="1800" b="1" i="0" dirty="0">
                <a:solidFill>
                  <a:srgbClr val="242424"/>
                </a:solidFill>
                <a:effectLst/>
                <a:latin typeface="source-serif-pro"/>
              </a:rPr>
              <a:t>normalizes the output </a:t>
            </a:r>
            <a:r>
              <a:rPr lang="en-US" sz="1800" b="0" i="0" dirty="0">
                <a:solidFill>
                  <a:srgbClr val="242424"/>
                </a:solidFill>
                <a:effectLst/>
                <a:latin typeface="source-serif-pro"/>
              </a:rPr>
              <a:t>of each layer, ensuring that the input to the next layer has a controlled distribution. This helps combat both vanishing and exploding gradients by stabilizing the training process.</a:t>
            </a:r>
          </a:p>
          <a:p>
            <a:pPr algn="just"/>
            <a:endParaRPr lang="en-IN" sz="2400" dirty="0"/>
          </a:p>
        </p:txBody>
      </p:sp>
      <p:sp>
        <p:nvSpPr>
          <p:cNvPr id="4" name="Date Placeholder 3">
            <a:extLst>
              <a:ext uri="{FF2B5EF4-FFF2-40B4-BE49-F238E27FC236}">
                <a16:creationId xmlns:a16="http://schemas.microsoft.com/office/drawing/2014/main" id="{66368F8E-2970-43ED-95C5-C2AFD7E8A074}"/>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5D9A1B5A-D31E-4A94-9421-B7FF3EA2D65D}"/>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1BB80D52-B24B-4AC3-8225-A74B0FE06B0F}"/>
              </a:ext>
            </a:extLst>
          </p:cNvPr>
          <p:cNvSpPr>
            <a:spLocks noGrp="1"/>
          </p:cNvSpPr>
          <p:nvPr>
            <p:ph type="sldNum" sz="quarter" idx="12"/>
          </p:nvPr>
        </p:nvSpPr>
        <p:spPr/>
        <p:txBody>
          <a:bodyPr/>
          <a:lstStyle/>
          <a:p>
            <a:fld id="{BB2CE0DE-867F-455F-B20B-96D381B4AB71}" type="slidenum">
              <a:rPr lang="en-US" smtClean="0"/>
              <a:t>129</a:t>
            </a:fld>
            <a:endParaRPr lang="en-US"/>
          </a:p>
        </p:txBody>
      </p:sp>
      <p:pic>
        <p:nvPicPr>
          <p:cNvPr id="7" name="Picture 6">
            <a:extLst>
              <a:ext uri="{FF2B5EF4-FFF2-40B4-BE49-F238E27FC236}">
                <a16:creationId xmlns:a16="http://schemas.microsoft.com/office/drawing/2014/main" id="{F269DC52-90A1-4BA6-9DC2-52450FA2C7D9}"/>
              </a:ext>
            </a:extLst>
          </p:cNvPr>
          <p:cNvPicPr>
            <a:picLocks noChangeAspect="1"/>
          </p:cNvPicPr>
          <p:nvPr/>
        </p:nvPicPr>
        <p:blipFill>
          <a:blip r:embed="rId2"/>
          <a:stretch>
            <a:fillRect/>
          </a:stretch>
        </p:blipFill>
        <p:spPr>
          <a:xfrm>
            <a:off x="2425888" y="2438400"/>
            <a:ext cx="5498911" cy="4283075"/>
          </a:xfrm>
          <a:prstGeom prst="rect">
            <a:avLst/>
          </a:prstGeom>
        </p:spPr>
      </p:pic>
    </p:spTree>
    <p:extLst>
      <p:ext uri="{BB962C8B-B14F-4D97-AF65-F5344CB8AC3E}">
        <p14:creationId xmlns:p14="http://schemas.microsoft.com/office/powerpoint/2010/main" val="3467471466"/>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27372-B238-4EDD-9521-D8BCB071C041}"/>
              </a:ext>
            </a:extLst>
          </p:cNvPr>
          <p:cNvSpPr>
            <a:spLocks noGrp="1"/>
          </p:cNvSpPr>
          <p:nvPr>
            <p:ph type="title"/>
          </p:nvPr>
        </p:nvSpPr>
        <p:spPr/>
        <p:txBody>
          <a:bodyPr/>
          <a:lstStyle/>
          <a:p>
            <a:r>
              <a:rPr lang="en-US" sz="2400" dirty="0"/>
              <a:t>Solutions to Vanishing and Exploding Gradients</a:t>
            </a:r>
            <a:endParaRPr lang="en-IN" sz="2400" dirty="0"/>
          </a:p>
        </p:txBody>
      </p:sp>
      <p:sp>
        <p:nvSpPr>
          <p:cNvPr id="3" name="Content Placeholder 2">
            <a:extLst>
              <a:ext uri="{FF2B5EF4-FFF2-40B4-BE49-F238E27FC236}">
                <a16:creationId xmlns:a16="http://schemas.microsoft.com/office/drawing/2014/main" id="{001D02AF-F6A3-455D-A655-E15591675BEF}"/>
              </a:ext>
            </a:extLst>
          </p:cNvPr>
          <p:cNvSpPr>
            <a:spLocks noGrp="1"/>
          </p:cNvSpPr>
          <p:nvPr>
            <p:ph idx="1"/>
          </p:nvPr>
        </p:nvSpPr>
        <p:spPr/>
        <p:txBody>
          <a:bodyPr/>
          <a:lstStyle/>
          <a:p>
            <a:pPr marL="0" indent="0" algn="just">
              <a:buNone/>
            </a:pPr>
            <a:r>
              <a:rPr lang="en-US" sz="2400" b="1" i="0" dirty="0">
                <a:solidFill>
                  <a:srgbClr val="242424"/>
                </a:solidFill>
                <a:effectLst/>
                <a:latin typeface="sohne"/>
              </a:rPr>
              <a:t>3. Gradient Clipping</a:t>
            </a:r>
          </a:p>
          <a:p>
            <a:pPr algn="just"/>
            <a:r>
              <a:rPr lang="en-US" sz="2400" b="0" i="0" dirty="0">
                <a:solidFill>
                  <a:srgbClr val="242424"/>
                </a:solidFill>
                <a:effectLst/>
                <a:latin typeface="source-serif-pro"/>
              </a:rPr>
              <a:t>For exploding gradients, one effective technique is </a:t>
            </a:r>
            <a:r>
              <a:rPr lang="en-US" sz="2400" b="1" i="0" dirty="0">
                <a:solidFill>
                  <a:srgbClr val="242424"/>
                </a:solidFill>
                <a:effectLst/>
                <a:latin typeface="source-serif-pro"/>
              </a:rPr>
              <a:t>gradient clipping</a:t>
            </a:r>
            <a:r>
              <a:rPr lang="en-US" sz="2400" b="0" i="0" dirty="0">
                <a:solidFill>
                  <a:srgbClr val="242424"/>
                </a:solidFill>
                <a:effectLst/>
                <a:latin typeface="source-serif-pro"/>
              </a:rPr>
              <a:t>, which involves </a:t>
            </a:r>
            <a:r>
              <a:rPr lang="en-US" sz="2400" b="0" i="0" dirty="0">
                <a:solidFill>
                  <a:srgbClr val="0000FF"/>
                </a:solidFill>
                <a:effectLst/>
                <a:latin typeface="source-serif-pro"/>
              </a:rPr>
              <a:t>capping the gradients at a certain threshold</a:t>
            </a:r>
            <a:r>
              <a:rPr lang="en-US" sz="2400" b="0" i="0" dirty="0">
                <a:solidFill>
                  <a:srgbClr val="242424"/>
                </a:solidFill>
                <a:effectLst/>
                <a:latin typeface="source-serif-pro"/>
              </a:rPr>
              <a:t>. This prevents them from growing uncontrollably.</a:t>
            </a:r>
          </a:p>
          <a:p>
            <a:pPr algn="just"/>
            <a:endParaRPr lang="en-IN" sz="3200" dirty="0"/>
          </a:p>
        </p:txBody>
      </p:sp>
      <p:sp>
        <p:nvSpPr>
          <p:cNvPr id="4" name="Date Placeholder 3">
            <a:extLst>
              <a:ext uri="{FF2B5EF4-FFF2-40B4-BE49-F238E27FC236}">
                <a16:creationId xmlns:a16="http://schemas.microsoft.com/office/drawing/2014/main" id="{66368F8E-2970-43ED-95C5-C2AFD7E8A074}"/>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5D9A1B5A-D31E-4A94-9421-B7FF3EA2D65D}"/>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1BB80D52-B24B-4AC3-8225-A74B0FE06B0F}"/>
              </a:ext>
            </a:extLst>
          </p:cNvPr>
          <p:cNvSpPr>
            <a:spLocks noGrp="1"/>
          </p:cNvSpPr>
          <p:nvPr>
            <p:ph type="sldNum" sz="quarter" idx="12"/>
          </p:nvPr>
        </p:nvSpPr>
        <p:spPr/>
        <p:txBody>
          <a:bodyPr/>
          <a:lstStyle/>
          <a:p>
            <a:fld id="{BB2CE0DE-867F-455F-B20B-96D381B4AB71}" type="slidenum">
              <a:rPr lang="en-US" smtClean="0"/>
              <a:t>130</a:t>
            </a:fld>
            <a:endParaRPr lang="en-US"/>
          </a:p>
        </p:txBody>
      </p:sp>
    </p:spTree>
    <p:extLst>
      <p:ext uri="{BB962C8B-B14F-4D97-AF65-F5344CB8AC3E}">
        <p14:creationId xmlns:p14="http://schemas.microsoft.com/office/powerpoint/2010/main" val="1810782294"/>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27372-B238-4EDD-9521-D8BCB071C041}"/>
              </a:ext>
            </a:extLst>
          </p:cNvPr>
          <p:cNvSpPr>
            <a:spLocks noGrp="1"/>
          </p:cNvSpPr>
          <p:nvPr>
            <p:ph type="title"/>
          </p:nvPr>
        </p:nvSpPr>
        <p:spPr/>
        <p:txBody>
          <a:bodyPr/>
          <a:lstStyle/>
          <a:p>
            <a:r>
              <a:rPr lang="en-US" sz="2400" dirty="0"/>
              <a:t>Solutions to Vanishing and Exploding Gradients</a:t>
            </a:r>
            <a:endParaRPr lang="en-IN" sz="2400" dirty="0"/>
          </a:p>
        </p:txBody>
      </p:sp>
      <p:sp>
        <p:nvSpPr>
          <p:cNvPr id="3" name="Content Placeholder 2">
            <a:extLst>
              <a:ext uri="{FF2B5EF4-FFF2-40B4-BE49-F238E27FC236}">
                <a16:creationId xmlns:a16="http://schemas.microsoft.com/office/drawing/2014/main" id="{001D02AF-F6A3-455D-A655-E15591675BEF}"/>
              </a:ext>
            </a:extLst>
          </p:cNvPr>
          <p:cNvSpPr>
            <a:spLocks noGrp="1"/>
          </p:cNvSpPr>
          <p:nvPr>
            <p:ph idx="1"/>
          </p:nvPr>
        </p:nvSpPr>
        <p:spPr/>
        <p:txBody>
          <a:bodyPr/>
          <a:lstStyle/>
          <a:p>
            <a:pPr marL="0" indent="0" algn="just">
              <a:buNone/>
            </a:pPr>
            <a:r>
              <a:rPr lang="en-US" sz="2000" b="1" i="0" dirty="0">
                <a:solidFill>
                  <a:srgbClr val="242424"/>
                </a:solidFill>
                <a:effectLst/>
                <a:latin typeface="sohne"/>
              </a:rPr>
              <a:t>4. Alternative Activation Functions</a:t>
            </a:r>
          </a:p>
          <a:p>
            <a:pPr algn="just"/>
            <a:r>
              <a:rPr lang="en-US" sz="2000" b="0" i="0" dirty="0">
                <a:solidFill>
                  <a:srgbClr val="242424"/>
                </a:solidFill>
                <a:effectLst/>
                <a:latin typeface="source-serif-pro"/>
              </a:rPr>
              <a:t>Using activation functions like </a:t>
            </a:r>
            <a:r>
              <a:rPr lang="en-US" sz="2000" b="1" i="0" dirty="0" err="1">
                <a:solidFill>
                  <a:srgbClr val="242424"/>
                </a:solidFill>
                <a:effectLst/>
                <a:latin typeface="source-serif-pro"/>
              </a:rPr>
              <a:t>ReLU</a:t>
            </a:r>
            <a:r>
              <a:rPr lang="en-US" sz="2000" b="0" i="0" dirty="0">
                <a:solidFill>
                  <a:srgbClr val="242424"/>
                </a:solidFill>
                <a:effectLst/>
                <a:latin typeface="source-serif-pro"/>
              </a:rPr>
              <a:t> or </a:t>
            </a:r>
            <a:r>
              <a:rPr lang="en-US" sz="2000" b="1" i="0" dirty="0">
                <a:solidFill>
                  <a:srgbClr val="242424"/>
                </a:solidFill>
                <a:effectLst/>
                <a:latin typeface="source-serif-pro"/>
              </a:rPr>
              <a:t>Leaky </a:t>
            </a:r>
            <a:r>
              <a:rPr lang="en-US" sz="2000" b="1" i="0" dirty="0" err="1">
                <a:solidFill>
                  <a:srgbClr val="242424"/>
                </a:solidFill>
                <a:effectLst/>
                <a:latin typeface="source-serif-pro"/>
              </a:rPr>
              <a:t>ReLU</a:t>
            </a:r>
            <a:r>
              <a:rPr lang="en-US" sz="2000" b="0" i="0" dirty="0">
                <a:solidFill>
                  <a:srgbClr val="242424"/>
                </a:solidFill>
                <a:effectLst/>
                <a:latin typeface="source-serif-pro"/>
              </a:rPr>
              <a:t> instead of sigmoid or tanh can mitigate vanishing gradients, as </a:t>
            </a:r>
            <a:r>
              <a:rPr lang="en-US" sz="2000" b="0" i="0" dirty="0" err="1">
                <a:solidFill>
                  <a:srgbClr val="242424"/>
                </a:solidFill>
                <a:effectLst/>
                <a:latin typeface="source-serif-pro"/>
              </a:rPr>
              <a:t>ReLU</a:t>
            </a:r>
            <a:r>
              <a:rPr lang="en-US" sz="2000" b="0" i="0" dirty="0">
                <a:solidFill>
                  <a:srgbClr val="242424"/>
                </a:solidFill>
                <a:effectLst/>
                <a:latin typeface="source-serif-pro"/>
              </a:rPr>
              <a:t> does not saturate for positive values. However, </a:t>
            </a:r>
            <a:r>
              <a:rPr lang="en-US" sz="2000" b="0" i="0" dirty="0" err="1">
                <a:solidFill>
                  <a:srgbClr val="242424"/>
                </a:solidFill>
                <a:effectLst/>
                <a:latin typeface="source-serif-pro"/>
              </a:rPr>
              <a:t>ReLU</a:t>
            </a:r>
            <a:r>
              <a:rPr lang="en-US" sz="2000" b="0" i="0" dirty="0">
                <a:solidFill>
                  <a:srgbClr val="242424"/>
                </a:solidFill>
                <a:effectLst/>
                <a:latin typeface="source-serif-pro"/>
              </a:rPr>
              <a:t> can suffer from exploding gradients if not used properly, so it’s important to combine it with other techniques like proper weight initialization.</a:t>
            </a:r>
          </a:p>
          <a:p>
            <a:pPr marL="0" indent="0" algn="just">
              <a:buNone/>
            </a:pPr>
            <a:endParaRPr lang="en-IN" sz="3600" dirty="0"/>
          </a:p>
        </p:txBody>
      </p:sp>
      <p:sp>
        <p:nvSpPr>
          <p:cNvPr id="4" name="Date Placeholder 3">
            <a:extLst>
              <a:ext uri="{FF2B5EF4-FFF2-40B4-BE49-F238E27FC236}">
                <a16:creationId xmlns:a16="http://schemas.microsoft.com/office/drawing/2014/main" id="{66368F8E-2970-43ED-95C5-C2AFD7E8A074}"/>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5D9A1B5A-D31E-4A94-9421-B7FF3EA2D65D}"/>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1BB80D52-B24B-4AC3-8225-A74B0FE06B0F}"/>
              </a:ext>
            </a:extLst>
          </p:cNvPr>
          <p:cNvSpPr>
            <a:spLocks noGrp="1"/>
          </p:cNvSpPr>
          <p:nvPr>
            <p:ph type="sldNum" sz="quarter" idx="12"/>
          </p:nvPr>
        </p:nvSpPr>
        <p:spPr/>
        <p:txBody>
          <a:bodyPr/>
          <a:lstStyle/>
          <a:p>
            <a:fld id="{BB2CE0DE-867F-455F-B20B-96D381B4AB71}" type="slidenum">
              <a:rPr lang="en-US" smtClean="0"/>
              <a:t>131</a:t>
            </a:fld>
            <a:endParaRPr lang="en-US"/>
          </a:p>
        </p:txBody>
      </p:sp>
    </p:spTree>
    <p:extLst>
      <p:ext uri="{BB962C8B-B14F-4D97-AF65-F5344CB8AC3E}">
        <p14:creationId xmlns:p14="http://schemas.microsoft.com/office/powerpoint/2010/main" val="1747434632"/>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27372-B238-4EDD-9521-D8BCB071C041}"/>
              </a:ext>
            </a:extLst>
          </p:cNvPr>
          <p:cNvSpPr>
            <a:spLocks noGrp="1"/>
          </p:cNvSpPr>
          <p:nvPr>
            <p:ph type="title"/>
          </p:nvPr>
        </p:nvSpPr>
        <p:spPr/>
        <p:txBody>
          <a:bodyPr/>
          <a:lstStyle/>
          <a:p>
            <a:r>
              <a:rPr lang="en-US" sz="2400" dirty="0"/>
              <a:t>Solutions to Vanishing and Exploding Gradients</a:t>
            </a:r>
            <a:endParaRPr lang="en-IN" sz="2400" dirty="0"/>
          </a:p>
        </p:txBody>
      </p:sp>
      <p:sp>
        <p:nvSpPr>
          <p:cNvPr id="3" name="Content Placeholder 2">
            <a:extLst>
              <a:ext uri="{FF2B5EF4-FFF2-40B4-BE49-F238E27FC236}">
                <a16:creationId xmlns:a16="http://schemas.microsoft.com/office/drawing/2014/main" id="{001D02AF-F6A3-455D-A655-E15591675BEF}"/>
              </a:ext>
            </a:extLst>
          </p:cNvPr>
          <p:cNvSpPr>
            <a:spLocks noGrp="1"/>
          </p:cNvSpPr>
          <p:nvPr>
            <p:ph idx="1"/>
          </p:nvPr>
        </p:nvSpPr>
        <p:spPr/>
        <p:txBody>
          <a:bodyPr/>
          <a:lstStyle/>
          <a:p>
            <a:pPr marL="0" indent="0" algn="just">
              <a:buNone/>
            </a:pPr>
            <a:r>
              <a:rPr lang="en-US" sz="2000"/>
              <a:t>5. Skip </a:t>
            </a:r>
            <a:r>
              <a:rPr lang="en-US" sz="2000" dirty="0"/>
              <a:t>Connections and Residual Networks (</a:t>
            </a:r>
            <a:r>
              <a:rPr lang="en-US" sz="2000" dirty="0" err="1"/>
              <a:t>ResNets</a:t>
            </a:r>
            <a:r>
              <a:rPr lang="en-US" sz="2000" dirty="0"/>
              <a:t>): Skip connections, as seen in </a:t>
            </a:r>
            <a:r>
              <a:rPr lang="en-US" sz="2000" dirty="0" err="1"/>
              <a:t>ResNets</a:t>
            </a:r>
            <a:r>
              <a:rPr lang="en-US" sz="2000" dirty="0"/>
              <a:t>, allow the gradient to bypass certain layers during backpropagation. This facilitates the flow of information through the network, preventing gradients from vanishing.</a:t>
            </a:r>
            <a:endParaRPr lang="en-IN" sz="2000" dirty="0"/>
          </a:p>
        </p:txBody>
      </p:sp>
      <p:sp>
        <p:nvSpPr>
          <p:cNvPr id="4" name="Date Placeholder 3">
            <a:extLst>
              <a:ext uri="{FF2B5EF4-FFF2-40B4-BE49-F238E27FC236}">
                <a16:creationId xmlns:a16="http://schemas.microsoft.com/office/drawing/2014/main" id="{66368F8E-2970-43ED-95C5-C2AFD7E8A074}"/>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5D9A1B5A-D31E-4A94-9421-B7FF3EA2D65D}"/>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1BB80D52-B24B-4AC3-8225-A74B0FE06B0F}"/>
              </a:ext>
            </a:extLst>
          </p:cNvPr>
          <p:cNvSpPr>
            <a:spLocks noGrp="1"/>
          </p:cNvSpPr>
          <p:nvPr>
            <p:ph type="sldNum" sz="quarter" idx="12"/>
          </p:nvPr>
        </p:nvSpPr>
        <p:spPr/>
        <p:txBody>
          <a:bodyPr/>
          <a:lstStyle/>
          <a:p>
            <a:fld id="{BB2CE0DE-867F-455F-B20B-96D381B4AB71}" type="slidenum">
              <a:rPr lang="en-US" smtClean="0"/>
              <a:t>132</a:t>
            </a:fld>
            <a:endParaRPr lang="en-US"/>
          </a:p>
        </p:txBody>
      </p:sp>
    </p:spTree>
    <p:extLst>
      <p:ext uri="{BB962C8B-B14F-4D97-AF65-F5344CB8AC3E}">
        <p14:creationId xmlns:p14="http://schemas.microsoft.com/office/powerpoint/2010/main" val="2969002948"/>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2451C-4413-44D1-A031-898561B19612}"/>
              </a:ext>
            </a:extLst>
          </p:cNvPr>
          <p:cNvSpPr>
            <a:spLocks noGrp="1"/>
          </p:cNvSpPr>
          <p:nvPr>
            <p:ph type="title"/>
          </p:nvPr>
        </p:nvSpPr>
        <p:spPr/>
        <p:txBody>
          <a:bodyPr/>
          <a:lstStyle/>
          <a:p>
            <a:r>
              <a:rPr lang="en-IN" dirty="0"/>
              <a:t>Residual Networks (</a:t>
            </a:r>
            <a:r>
              <a:rPr lang="en-IN" dirty="0" err="1"/>
              <a:t>ResNet</a:t>
            </a:r>
            <a:r>
              <a:rPr lang="en-IN" dirty="0"/>
              <a:t>)</a:t>
            </a:r>
          </a:p>
        </p:txBody>
      </p:sp>
      <p:sp>
        <p:nvSpPr>
          <p:cNvPr id="3" name="Content Placeholder 2">
            <a:extLst>
              <a:ext uri="{FF2B5EF4-FFF2-40B4-BE49-F238E27FC236}">
                <a16:creationId xmlns:a16="http://schemas.microsoft.com/office/drawing/2014/main" id="{8738C8B5-E0A2-49E3-BEDA-C56BA752DF26}"/>
              </a:ext>
            </a:extLst>
          </p:cNvPr>
          <p:cNvSpPr>
            <a:spLocks noGrp="1"/>
          </p:cNvSpPr>
          <p:nvPr>
            <p:ph idx="1"/>
          </p:nvPr>
        </p:nvSpPr>
        <p:spPr/>
        <p:txBody>
          <a:bodyPr/>
          <a:lstStyle/>
          <a:p>
            <a:pPr marL="0" indent="0" algn="just">
              <a:buNone/>
            </a:pPr>
            <a:r>
              <a:rPr lang="en-US" sz="1800" b="0" i="0" dirty="0">
                <a:solidFill>
                  <a:srgbClr val="273239"/>
                </a:solidFill>
                <a:effectLst/>
                <a:latin typeface="Nunito" pitchFamily="2" charset="0"/>
              </a:rPr>
              <a:t>After the first CNN-based architecture (</a:t>
            </a:r>
            <a:r>
              <a:rPr lang="en-US" sz="1800" b="0" i="0" dirty="0" err="1">
                <a:solidFill>
                  <a:srgbClr val="273239"/>
                </a:solidFill>
                <a:effectLst/>
                <a:latin typeface="Nunito" pitchFamily="2" charset="0"/>
              </a:rPr>
              <a:t>AlexNet</a:t>
            </a:r>
            <a:r>
              <a:rPr lang="en-US" sz="1800" b="0" i="0" dirty="0">
                <a:solidFill>
                  <a:srgbClr val="273239"/>
                </a:solidFill>
                <a:effectLst/>
                <a:latin typeface="Nunito" pitchFamily="2" charset="0"/>
              </a:rPr>
              <a:t>) that win the ImageNet 2012 competition, Every subsequent winning architecture uses more layers in a deep neural network to reduce the error rate. </a:t>
            </a:r>
          </a:p>
          <a:p>
            <a:pPr marL="0" indent="0" algn="just">
              <a:buNone/>
            </a:pPr>
            <a:r>
              <a:rPr lang="en-US" sz="1800" b="0" i="0" dirty="0">
                <a:solidFill>
                  <a:srgbClr val="273239"/>
                </a:solidFill>
                <a:effectLst/>
                <a:latin typeface="Nunito" pitchFamily="2" charset="0"/>
              </a:rPr>
              <a:t>This works for less number of layers, but when we increase the number of layers, there is a common problem in deep learning associated with that called the </a:t>
            </a:r>
            <a:r>
              <a:rPr lang="en-US" sz="1800" b="1" i="0" dirty="0">
                <a:solidFill>
                  <a:srgbClr val="273239"/>
                </a:solidFill>
                <a:effectLst/>
                <a:latin typeface="Nunito" pitchFamily="2" charset="0"/>
              </a:rPr>
              <a:t>Vanishing/Exploding gradient</a:t>
            </a:r>
            <a:r>
              <a:rPr lang="en-US" sz="1800" b="0" i="0" dirty="0">
                <a:solidFill>
                  <a:srgbClr val="273239"/>
                </a:solidFill>
                <a:effectLst/>
                <a:latin typeface="Nunito" pitchFamily="2" charset="0"/>
              </a:rPr>
              <a:t>. </a:t>
            </a:r>
          </a:p>
          <a:p>
            <a:pPr marL="0" indent="0" algn="just">
              <a:buNone/>
            </a:pPr>
            <a:r>
              <a:rPr lang="en-US" sz="1800" b="0" i="0" dirty="0">
                <a:solidFill>
                  <a:srgbClr val="273239"/>
                </a:solidFill>
                <a:effectLst/>
                <a:latin typeface="Nunito" pitchFamily="2" charset="0"/>
              </a:rPr>
              <a:t>This causes the gradient to become 0 or too large. Thus when we increases number of layers, the training and test error rate also increases. </a:t>
            </a:r>
            <a:endParaRPr lang="en-IN" sz="1800" dirty="0"/>
          </a:p>
        </p:txBody>
      </p:sp>
      <p:sp>
        <p:nvSpPr>
          <p:cNvPr id="4" name="Date Placeholder 3">
            <a:extLst>
              <a:ext uri="{FF2B5EF4-FFF2-40B4-BE49-F238E27FC236}">
                <a16:creationId xmlns:a16="http://schemas.microsoft.com/office/drawing/2014/main" id="{7BD2940F-3D67-4088-AAE6-EB28C66BBF0A}"/>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229B0C58-9B89-4996-90AC-CC7DADB5E346}"/>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32C11E3E-D080-477C-9E45-8D45845394CC}"/>
              </a:ext>
            </a:extLst>
          </p:cNvPr>
          <p:cNvSpPr>
            <a:spLocks noGrp="1"/>
          </p:cNvSpPr>
          <p:nvPr>
            <p:ph type="sldNum" sz="quarter" idx="12"/>
          </p:nvPr>
        </p:nvSpPr>
        <p:spPr/>
        <p:txBody>
          <a:bodyPr/>
          <a:lstStyle/>
          <a:p>
            <a:fld id="{BB2CE0DE-867F-455F-B20B-96D381B4AB71}" type="slidenum">
              <a:rPr lang="en-US" smtClean="0"/>
              <a:t>133</a:t>
            </a:fld>
            <a:endParaRPr lang="en-US"/>
          </a:p>
        </p:txBody>
      </p:sp>
      <p:pic>
        <p:nvPicPr>
          <p:cNvPr id="9" name="Picture 8">
            <a:extLst>
              <a:ext uri="{FF2B5EF4-FFF2-40B4-BE49-F238E27FC236}">
                <a16:creationId xmlns:a16="http://schemas.microsoft.com/office/drawing/2014/main" id="{7DA1C6DF-5D38-478B-B9F2-CEDC9D9D919F}"/>
              </a:ext>
            </a:extLst>
          </p:cNvPr>
          <p:cNvPicPr>
            <a:picLocks noChangeAspect="1"/>
          </p:cNvPicPr>
          <p:nvPr/>
        </p:nvPicPr>
        <p:blipFill>
          <a:blip r:embed="rId3"/>
          <a:stretch>
            <a:fillRect/>
          </a:stretch>
        </p:blipFill>
        <p:spPr>
          <a:xfrm>
            <a:off x="227995" y="3733800"/>
            <a:ext cx="8678486" cy="2924583"/>
          </a:xfrm>
          <a:prstGeom prst="rect">
            <a:avLst/>
          </a:prstGeom>
        </p:spPr>
      </p:pic>
    </p:spTree>
    <p:extLst>
      <p:ext uri="{BB962C8B-B14F-4D97-AF65-F5344CB8AC3E}">
        <p14:creationId xmlns:p14="http://schemas.microsoft.com/office/powerpoint/2010/main" val="2929198059"/>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2005D-8373-4410-A9A5-DB9E2A1812FE}"/>
              </a:ext>
            </a:extLst>
          </p:cNvPr>
          <p:cNvSpPr>
            <a:spLocks noGrp="1"/>
          </p:cNvSpPr>
          <p:nvPr>
            <p:ph type="title"/>
          </p:nvPr>
        </p:nvSpPr>
        <p:spPr/>
        <p:txBody>
          <a:bodyPr/>
          <a:lstStyle/>
          <a:p>
            <a:r>
              <a:rPr lang="en-IN" dirty="0"/>
              <a:t>Residual Networks (</a:t>
            </a:r>
            <a:r>
              <a:rPr lang="en-IN" dirty="0" err="1"/>
              <a:t>ResNet</a:t>
            </a:r>
            <a:r>
              <a:rPr lang="en-IN" dirty="0"/>
              <a:t>)</a:t>
            </a:r>
          </a:p>
        </p:txBody>
      </p:sp>
      <p:sp>
        <p:nvSpPr>
          <p:cNvPr id="3" name="Content Placeholder 2">
            <a:extLst>
              <a:ext uri="{FF2B5EF4-FFF2-40B4-BE49-F238E27FC236}">
                <a16:creationId xmlns:a16="http://schemas.microsoft.com/office/drawing/2014/main" id="{CCCF7218-6D5B-4904-959D-1CFA1304AF51}"/>
              </a:ext>
            </a:extLst>
          </p:cNvPr>
          <p:cNvSpPr>
            <a:spLocks noGrp="1"/>
          </p:cNvSpPr>
          <p:nvPr>
            <p:ph idx="1"/>
          </p:nvPr>
        </p:nvSpPr>
        <p:spPr/>
        <p:txBody>
          <a:bodyPr/>
          <a:lstStyle/>
          <a:p>
            <a:pPr algn="just" rtl="0" fontAlgn="base"/>
            <a:r>
              <a:rPr lang="en-US" sz="2000" b="0" i="0" dirty="0" err="1">
                <a:solidFill>
                  <a:srgbClr val="273239"/>
                </a:solidFill>
                <a:effectLst/>
                <a:latin typeface="Nunito" pitchFamily="2" charset="0"/>
              </a:rPr>
              <a:t>ResNet</a:t>
            </a:r>
            <a:r>
              <a:rPr lang="en-US" sz="2000" b="0" i="0" dirty="0">
                <a:solidFill>
                  <a:srgbClr val="273239"/>
                </a:solidFill>
                <a:effectLst/>
                <a:latin typeface="Nunito" pitchFamily="2" charset="0"/>
              </a:rPr>
              <a:t>, which was proposed in 2015 by researchers at Microsoft Research introduced a new architecture called Residual Network. </a:t>
            </a:r>
          </a:p>
          <a:p>
            <a:pPr algn="just" rtl="0" fontAlgn="base"/>
            <a:r>
              <a:rPr lang="en-US" sz="2000" b="1" i="0" dirty="0">
                <a:solidFill>
                  <a:srgbClr val="273239"/>
                </a:solidFill>
                <a:effectLst/>
                <a:latin typeface="Nunito" pitchFamily="2" charset="0"/>
              </a:rPr>
              <a:t>Residual Network: </a:t>
            </a:r>
            <a:r>
              <a:rPr lang="en-US" sz="2000" b="0" i="0" dirty="0">
                <a:solidFill>
                  <a:srgbClr val="273239"/>
                </a:solidFill>
                <a:effectLst/>
                <a:latin typeface="Nunito" pitchFamily="2" charset="0"/>
              </a:rPr>
              <a:t>In order to solve the problem of the vanishing/exploding gradient, this architecture introduced the concept called </a:t>
            </a:r>
            <a:r>
              <a:rPr lang="en-US" sz="2000" b="1" i="0" dirty="0">
                <a:solidFill>
                  <a:srgbClr val="273239"/>
                </a:solidFill>
                <a:effectLst/>
                <a:latin typeface="Nunito" pitchFamily="2" charset="0"/>
              </a:rPr>
              <a:t>Residual Blocks</a:t>
            </a:r>
            <a:r>
              <a:rPr lang="en-US" sz="2000" b="0" i="0" dirty="0">
                <a:solidFill>
                  <a:srgbClr val="273239"/>
                </a:solidFill>
                <a:effectLst/>
                <a:latin typeface="Nunito" pitchFamily="2" charset="0"/>
              </a:rPr>
              <a:t>. In this network, we use a technique called </a:t>
            </a:r>
            <a:r>
              <a:rPr lang="en-US" sz="2000" b="1" i="1" dirty="0">
                <a:solidFill>
                  <a:srgbClr val="273239"/>
                </a:solidFill>
                <a:effectLst/>
                <a:latin typeface="Nunito" pitchFamily="2" charset="0"/>
              </a:rPr>
              <a:t>skip connections</a:t>
            </a:r>
            <a:r>
              <a:rPr lang="en-US" sz="2000" b="0" i="0" dirty="0">
                <a:solidFill>
                  <a:srgbClr val="273239"/>
                </a:solidFill>
                <a:effectLst/>
                <a:latin typeface="Nunito" pitchFamily="2" charset="0"/>
              </a:rPr>
              <a:t>. The skip connection connects activations of a  layer to further layers by skipping some layers in between. This forms a residual block. </a:t>
            </a:r>
            <a:r>
              <a:rPr lang="en-US" sz="2000" b="0" i="0" dirty="0" err="1">
                <a:solidFill>
                  <a:srgbClr val="273239"/>
                </a:solidFill>
                <a:effectLst/>
                <a:latin typeface="Nunito" pitchFamily="2" charset="0"/>
              </a:rPr>
              <a:t>Resnets</a:t>
            </a:r>
            <a:r>
              <a:rPr lang="en-US" sz="2000" b="0" i="0" dirty="0">
                <a:solidFill>
                  <a:srgbClr val="273239"/>
                </a:solidFill>
                <a:effectLst/>
                <a:latin typeface="Nunito" pitchFamily="2" charset="0"/>
              </a:rPr>
              <a:t> are made by stacking these residual blocks together.</a:t>
            </a:r>
          </a:p>
          <a:p>
            <a:endParaRPr lang="en-IN" sz="2000" dirty="0"/>
          </a:p>
        </p:txBody>
      </p:sp>
      <p:sp>
        <p:nvSpPr>
          <p:cNvPr id="4" name="Date Placeholder 3">
            <a:extLst>
              <a:ext uri="{FF2B5EF4-FFF2-40B4-BE49-F238E27FC236}">
                <a16:creationId xmlns:a16="http://schemas.microsoft.com/office/drawing/2014/main" id="{4CC4D853-5C09-4A40-BA9A-9F60B8107F99}"/>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A4C77FE0-A267-4CAD-8B7E-828C9D63E6D4}"/>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A642F114-FB6E-42E5-9107-794156DB90C7}"/>
              </a:ext>
            </a:extLst>
          </p:cNvPr>
          <p:cNvSpPr>
            <a:spLocks noGrp="1"/>
          </p:cNvSpPr>
          <p:nvPr>
            <p:ph type="sldNum" sz="quarter" idx="12"/>
          </p:nvPr>
        </p:nvSpPr>
        <p:spPr/>
        <p:txBody>
          <a:bodyPr/>
          <a:lstStyle/>
          <a:p>
            <a:fld id="{BB2CE0DE-867F-455F-B20B-96D381B4AB71}" type="slidenum">
              <a:rPr lang="en-US" smtClean="0"/>
              <a:t>134</a:t>
            </a:fld>
            <a:endParaRPr lang="en-US"/>
          </a:p>
        </p:txBody>
      </p:sp>
    </p:spTree>
    <p:extLst>
      <p:ext uri="{BB962C8B-B14F-4D97-AF65-F5344CB8AC3E}">
        <p14:creationId xmlns:p14="http://schemas.microsoft.com/office/powerpoint/2010/main" val="2321959454"/>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4ECAF-575F-4BF2-B913-7B03E5FD8C49}"/>
              </a:ext>
            </a:extLst>
          </p:cNvPr>
          <p:cNvSpPr>
            <a:spLocks noGrp="1"/>
          </p:cNvSpPr>
          <p:nvPr>
            <p:ph type="title"/>
          </p:nvPr>
        </p:nvSpPr>
        <p:spPr/>
        <p:txBody>
          <a:bodyPr/>
          <a:lstStyle/>
          <a:p>
            <a:r>
              <a:rPr lang="en-US" sz="1600" dirty="0">
                <a:solidFill>
                  <a:srgbClr val="001D35"/>
                </a:solidFill>
                <a:latin typeface="Google Sans"/>
              </a:rPr>
              <a:t>A</a:t>
            </a:r>
            <a:r>
              <a:rPr lang="en-US" sz="1600" b="0" i="0" dirty="0">
                <a:solidFill>
                  <a:srgbClr val="001D35"/>
                </a:solidFill>
                <a:effectLst/>
                <a:latin typeface="Google Sans"/>
              </a:rPr>
              <a:t>rchitectural differences between a </a:t>
            </a:r>
            <a:r>
              <a:rPr lang="en-US" sz="1600" b="0" i="0" dirty="0" err="1">
                <a:solidFill>
                  <a:srgbClr val="001D35"/>
                </a:solidFill>
                <a:effectLst/>
                <a:latin typeface="Google Sans"/>
              </a:rPr>
              <a:t>ResNet</a:t>
            </a:r>
            <a:r>
              <a:rPr lang="en-US" sz="1600" b="0" i="0" dirty="0">
                <a:solidFill>
                  <a:srgbClr val="001D35"/>
                </a:solidFill>
                <a:effectLst/>
                <a:latin typeface="Google Sans"/>
              </a:rPr>
              <a:t> block and a standard neural network (NN) block</a:t>
            </a:r>
            <a:endParaRPr lang="en-IN" sz="1600" dirty="0"/>
          </a:p>
        </p:txBody>
      </p:sp>
      <p:sp>
        <p:nvSpPr>
          <p:cNvPr id="3" name="Content Placeholder 2">
            <a:extLst>
              <a:ext uri="{FF2B5EF4-FFF2-40B4-BE49-F238E27FC236}">
                <a16:creationId xmlns:a16="http://schemas.microsoft.com/office/drawing/2014/main" id="{E2114CA2-64AC-4F9D-B9F2-B69D228DBE6B}"/>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0001F7A3-57DF-480C-957D-428C909664A9}"/>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7CA38874-D3F6-4793-9D17-08D308570DE1}"/>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03AD18F4-FBEC-45F9-AE25-5C3AF6DB27E4}"/>
              </a:ext>
            </a:extLst>
          </p:cNvPr>
          <p:cNvSpPr>
            <a:spLocks noGrp="1"/>
          </p:cNvSpPr>
          <p:nvPr>
            <p:ph type="sldNum" sz="quarter" idx="12"/>
          </p:nvPr>
        </p:nvSpPr>
        <p:spPr/>
        <p:txBody>
          <a:bodyPr/>
          <a:lstStyle/>
          <a:p>
            <a:fld id="{BB2CE0DE-867F-455F-B20B-96D381B4AB71}" type="slidenum">
              <a:rPr lang="en-US" smtClean="0"/>
              <a:t>135</a:t>
            </a:fld>
            <a:endParaRPr lang="en-US"/>
          </a:p>
        </p:txBody>
      </p:sp>
      <p:pic>
        <p:nvPicPr>
          <p:cNvPr id="8" name="Picture 7">
            <a:extLst>
              <a:ext uri="{FF2B5EF4-FFF2-40B4-BE49-F238E27FC236}">
                <a16:creationId xmlns:a16="http://schemas.microsoft.com/office/drawing/2014/main" id="{4B7E2130-1337-4D2E-A1D3-DE420419BFA1}"/>
              </a:ext>
            </a:extLst>
          </p:cNvPr>
          <p:cNvPicPr>
            <a:picLocks noChangeAspect="1"/>
          </p:cNvPicPr>
          <p:nvPr/>
        </p:nvPicPr>
        <p:blipFill>
          <a:blip r:embed="rId2"/>
          <a:stretch>
            <a:fillRect/>
          </a:stretch>
        </p:blipFill>
        <p:spPr>
          <a:xfrm>
            <a:off x="627580" y="1371004"/>
            <a:ext cx="6763694" cy="4267796"/>
          </a:xfrm>
          <a:prstGeom prst="rect">
            <a:avLst/>
          </a:prstGeom>
        </p:spPr>
      </p:pic>
    </p:spTree>
    <p:extLst>
      <p:ext uri="{BB962C8B-B14F-4D97-AF65-F5344CB8AC3E}">
        <p14:creationId xmlns:p14="http://schemas.microsoft.com/office/powerpoint/2010/main" val="2497491693"/>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9A02D-81A2-4396-8C05-D2B51166D8BD}"/>
              </a:ext>
            </a:extLst>
          </p:cNvPr>
          <p:cNvSpPr>
            <a:spLocks noGrp="1"/>
          </p:cNvSpPr>
          <p:nvPr>
            <p:ph type="title"/>
          </p:nvPr>
        </p:nvSpPr>
        <p:spPr/>
        <p:txBody>
          <a:bodyPr/>
          <a:lstStyle/>
          <a:p>
            <a:r>
              <a:rPr lang="en-US" sz="1600" dirty="0">
                <a:solidFill>
                  <a:srgbClr val="001D35"/>
                </a:solidFill>
                <a:latin typeface="Google Sans"/>
              </a:rPr>
              <a:t>A</a:t>
            </a:r>
            <a:r>
              <a:rPr lang="en-US" sz="1600" b="0" i="0" dirty="0">
                <a:solidFill>
                  <a:srgbClr val="001D35"/>
                </a:solidFill>
                <a:effectLst/>
                <a:latin typeface="Google Sans"/>
              </a:rPr>
              <a:t>rchitectural differences between a </a:t>
            </a:r>
            <a:r>
              <a:rPr lang="en-US" sz="1600" b="0" i="0" dirty="0" err="1">
                <a:solidFill>
                  <a:srgbClr val="001D35"/>
                </a:solidFill>
                <a:effectLst/>
                <a:latin typeface="Google Sans"/>
              </a:rPr>
              <a:t>ResNet</a:t>
            </a:r>
            <a:r>
              <a:rPr lang="en-US" sz="1600" b="0" i="0" dirty="0">
                <a:solidFill>
                  <a:srgbClr val="001D35"/>
                </a:solidFill>
                <a:effectLst/>
                <a:latin typeface="Google Sans"/>
              </a:rPr>
              <a:t> block and a standard neural network (NN) block</a:t>
            </a:r>
            <a:endParaRPr lang="en-IN" sz="1600" dirty="0"/>
          </a:p>
        </p:txBody>
      </p:sp>
      <p:sp>
        <p:nvSpPr>
          <p:cNvPr id="3" name="Content Placeholder 2">
            <a:extLst>
              <a:ext uri="{FF2B5EF4-FFF2-40B4-BE49-F238E27FC236}">
                <a16:creationId xmlns:a16="http://schemas.microsoft.com/office/drawing/2014/main" id="{4A5B1BA0-8BBB-4FD9-AE9E-EC92866D0B26}"/>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C2EB39E4-3D23-46B6-8E37-E6522272478F}"/>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9B19BBA8-0FFC-47D1-9711-53CB794B4DA7}"/>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A183CEE5-3E3E-4A57-B8CA-05692ADF6103}"/>
              </a:ext>
            </a:extLst>
          </p:cNvPr>
          <p:cNvSpPr>
            <a:spLocks noGrp="1"/>
          </p:cNvSpPr>
          <p:nvPr>
            <p:ph type="sldNum" sz="quarter" idx="12"/>
          </p:nvPr>
        </p:nvSpPr>
        <p:spPr/>
        <p:txBody>
          <a:bodyPr/>
          <a:lstStyle/>
          <a:p>
            <a:fld id="{BB2CE0DE-867F-455F-B20B-96D381B4AB71}" type="slidenum">
              <a:rPr lang="en-US" smtClean="0"/>
              <a:t>136</a:t>
            </a:fld>
            <a:endParaRPr lang="en-US"/>
          </a:p>
        </p:txBody>
      </p:sp>
      <p:pic>
        <p:nvPicPr>
          <p:cNvPr id="8" name="Picture 7">
            <a:extLst>
              <a:ext uri="{FF2B5EF4-FFF2-40B4-BE49-F238E27FC236}">
                <a16:creationId xmlns:a16="http://schemas.microsoft.com/office/drawing/2014/main" id="{49CD351F-FCF2-4D3A-8E4C-DC932859692D}"/>
              </a:ext>
            </a:extLst>
          </p:cNvPr>
          <p:cNvPicPr>
            <a:picLocks noChangeAspect="1"/>
          </p:cNvPicPr>
          <p:nvPr/>
        </p:nvPicPr>
        <p:blipFill>
          <a:blip r:embed="rId2"/>
          <a:stretch>
            <a:fillRect/>
          </a:stretch>
        </p:blipFill>
        <p:spPr>
          <a:xfrm>
            <a:off x="152400" y="1065212"/>
            <a:ext cx="5667733" cy="3827448"/>
          </a:xfrm>
          <a:prstGeom prst="rect">
            <a:avLst/>
          </a:prstGeom>
        </p:spPr>
      </p:pic>
      <p:pic>
        <p:nvPicPr>
          <p:cNvPr id="9" name="Picture 8">
            <a:extLst>
              <a:ext uri="{FF2B5EF4-FFF2-40B4-BE49-F238E27FC236}">
                <a16:creationId xmlns:a16="http://schemas.microsoft.com/office/drawing/2014/main" id="{C7AF7DCE-7C4D-4715-98F2-4127D2BAC849}"/>
              </a:ext>
            </a:extLst>
          </p:cNvPr>
          <p:cNvPicPr>
            <a:picLocks noChangeAspect="1"/>
          </p:cNvPicPr>
          <p:nvPr/>
        </p:nvPicPr>
        <p:blipFill>
          <a:blip r:embed="rId3"/>
          <a:stretch>
            <a:fillRect/>
          </a:stretch>
        </p:blipFill>
        <p:spPr>
          <a:xfrm>
            <a:off x="5374126" y="4581143"/>
            <a:ext cx="3639620" cy="2296549"/>
          </a:xfrm>
          <a:prstGeom prst="rect">
            <a:avLst/>
          </a:prstGeom>
        </p:spPr>
      </p:pic>
    </p:spTree>
    <p:extLst>
      <p:ext uri="{BB962C8B-B14F-4D97-AF65-F5344CB8AC3E}">
        <p14:creationId xmlns:p14="http://schemas.microsoft.com/office/powerpoint/2010/main" val="1267162846"/>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3740D-1E42-44C8-8C8C-420694B696CB}"/>
              </a:ext>
            </a:extLst>
          </p:cNvPr>
          <p:cNvSpPr>
            <a:spLocks noGrp="1"/>
          </p:cNvSpPr>
          <p:nvPr>
            <p:ph type="title"/>
          </p:nvPr>
        </p:nvSpPr>
        <p:spPr/>
        <p:txBody>
          <a:bodyPr/>
          <a:lstStyle/>
          <a:p>
            <a:r>
              <a:rPr lang="en-US" dirty="0"/>
              <a:t>Example </a:t>
            </a:r>
            <a:endParaRPr lang="en-IN" dirty="0"/>
          </a:p>
        </p:txBody>
      </p:sp>
      <p:sp>
        <p:nvSpPr>
          <p:cNvPr id="3" name="Content Placeholder 2">
            <a:extLst>
              <a:ext uri="{FF2B5EF4-FFF2-40B4-BE49-F238E27FC236}">
                <a16:creationId xmlns:a16="http://schemas.microsoft.com/office/drawing/2014/main" id="{F24D44A6-C37B-4480-95E0-335D4A76F9D5}"/>
              </a:ext>
            </a:extLst>
          </p:cNvPr>
          <p:cNvSpPr>
            <a:spLocks noGrp="1"/>
          </p:cNvSpPr>
          <p:nvPr>
            <p:ph idx="1"/>
          </p:nvPr>
        </p:nvSpPr>
        <p:spPr/>
        <p:txBody>
          <a:bodyPr/>
          <a:lstStyle/>
          <a:p>
            <a:pPr marL="0" indent="0">
              <a:buNone/>
            </a:pPr>
            <a:r>
              <a:rPr lang="en-US" dirty="0"/>
              <a:t>Transforming low resolution image to High Resolution Image</a:t>
            </a:r>
            <a:endParaRPr lang="en-IN" dirty="0"/>
          </a:p>
        </p:txBody>
      </p:sp>
      <p:sp>
        <p:nvSpPr>
          <p:cNvPr id="4" name="Date Placeholder 3">
            <a:extLst>
              <a:ext uri="{FF2B5EF4-FFF2-40B4-BE49-F238E27FC236}">
                <a16:creationId xmlns:a16="http://schemas.microsoft.com/office/drawing/2014/main" id="{5CF15FD0-A0BA-407B-A446-48861DE0F33F}"/>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A23FF6AA-65C8-406C-9D28-4FC7BEE24552}"/>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2EBCE113-BF81-4B13-82FA-9E484F654A88}"/>
              </a:ext>
            </a:extLst>
          </p:cNvPr>
          <p:cNvSpPr>
            <a:spLocks noGrp="1"/>
          </p:cNvSpPr>
          <p:nvPr>
            <p:ph type="sldNum" sz="quarter" idx="12"/>
          </p:nvPr>
        </p:nvSpPr>
        <p:spPr/>
        <p:txBody>
          <a:bodyPr/>
          <a:lstStyle/>
          <a:p>
            <a:fld id="{BB2CE0DE-867F-455F-B20B-96D381B4AB71}" type="slidenum">
              <a:rPr lang="en-US" smtClean="0"/>
              <a:t>137</a:t>
            </a:fld>
            <a:endParaRPr lang="en-US"/>
          </a:p>
        </p:txBody>
      </p:sp>
      <p:pic>
        <p:nvPicPr>
          <p:cNvPr id="8" name="Picture 7">
            <a:extLst>
              <a:ext uri="{FF2B5EF4-FFF2-40B4-BE49-F238E27FC236}">
                <a16:creationId xmlns:a16="http://schemas.microsoft.com/office/drawing/2014/main" id="{CECFB97F-15D6-45B9-90AE-1EDA18EFB787}"/>
              </a:ext>
            </a:extLst>
          </p:cNvPr>
          <p:cNvPicPr>
            <a:picLocks noChangeAspect="1"/>
          </p:cNvPicPr>
          <p:nvPr/>
        </p:nvPicPr>
        <p:blipFill>
          <a:blip r:embed="rId2"/>
          <a:stretch>
            <a:fillRect/>
          </a:stretch>
        </p:blipFill>
        <p:spPr>
          <a:xfrm>
            <a:off x="1066800" y="2209800"/>
            <a:ext cx="6400800" cy="1632510"/>
          </a:xfrm>
          <a:prstGeom prst="rect">
            <a:avLst/>
          </a:prstGeom>
        </p:spPr>
      </p:pic>
      <p:sp>
        <p:nvSpPr>
          <p:cNvPr id="11" name="TextBox 10">
            <a:extLst>
              <a:ext uri="{FF2B5EF4-FFF2-40B4-BE49-F238E27FC236}">
                <a16:creationId xmlns:a16="http://schemas.microsoft.com/office/drawing/2014/main" id="{1343704F-7669-4247-9CE9-C2FE96CB55AC}"/>
              </a:ext>
            </a:extLst>
          </p:cNvPr>
          <p:cNvSpPr txBox="1"/>
          <p:nvPr/>
        </p:nvSpPr>
        <p:spPr>
          <a:xfrm>
            <a:off x="3690375" y="5502717"/>
            <a:ext cx="1153649" cy="369332"/>
          </a:xfrm>
          <a:prstGeom prst="rect">
            <a:avLst/>
          </a:prstGeom>
          <a:noFill/>
        </p:spPr>
        <p:txBody>
          <a:bodyPr wrap="none" rtlCol="0">
            <a:spAutoFit/>
          </a:bodyPr>
          <a:lstStyle/>
          <a:p>
            <a:r>
              <a:rPr lang="en-US" dirty="0"/>
              <a:t>Residual</a:t>
            </a:r>
            <a:endParaRPr lang="en-IN" dirty="0"/>
          </a:p>
        </p:txBody>
      </p:sp>
      <p:pic>
        <p:nvPicPr>
          <p:cNvPr id="13" name="Picture 12">
            <a:extLst>
              <a:ext uri="{FF2B5EF4-FFF2-40B4-BE49-F238E27FC236}">
                <a16:creationId xmlns:a16="http://schemas.microsoft.com/office/drawing/2014/main" id="{F9EC23D0-97EF-4192-8F0D-78CA9C1F96D2}"/>
              </a:ext>
            </a:extLst>
          </p:cNvPr>
          <p:cNvPicPr>
            <a:picLocks noChangeAspect="1"/>
          </p:cNvPicPr>
          <p:nvPr/>
        </p:nvPicPr>
        <p:blipFill>
          <a:blip r:embed="rId3"/>
          <a:stretch>
            <a:fillRect/>
          </a:stretch>
        </p:blipFill>
        <p:spPr>
          <a:xfrm>
            <a:off x="1362326" y="3975018"/>
            <a:ext cx="5591796" cy="1520681"/>
          </a:xfrm>
          <a:prstGeom prst="rect">
            <a:avLst/>
          </a:prstGeom>
        </p:spPr>
      </p:pic>
    </p:spTree>
    <p:extLst>
      <p:ext uri="{BB962C8B-B14F-4D97-AF65-F5344CB8AC3E}">
        <p14:creationId xmlns:p14="http://schemas.microsoft.com/office/powerpoint/2010/main" val="2723225564"/>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927CB0-4D32-4361-BDD2-8B59F38DDB14}"/>
              </a:ext>
            </a:extLst>
          </p:cNvPr>
          <p:cNvSpPr>
            <a:spLocks noGrp="1"/>
          </p:cNvSpPr>
          <p:nvPr>
            <p:ph type="title"/>
          </p:nvPr>
        </p:nvSpPr>
        <p:spPr/>
        <p:txBody>
          <a:bodyPr/>
          <a:lstStyle/>
          <a:p>
            <a:r>
              <a:rPr lang="en-US" sz="2400" dirty="0"/>
              <a:t>Illustration of Residual Block with Skip Connection</a:t>
            </a:r>
            <a:endParaRPr lang="en-IN" sz="2400" dirty="0"/>
          </a:p>
        </p:txBody>
      </p:sp>
      <p:sp>
        <p:nvSpPr>
          <p:cNvPr id="3" name="Content Placeholder 2">
            <a:extLst>
              <a:ext uri="{FF2B5EF4-FFF2-40B4-BE49-F238E27FC236}">
                <a16:creationId xmlns:a16="http://schemas.microsoft.com/office/drawing/2014/main" id="{B8892725-789E-41FB-B255-7830CE875955}"/>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3D23A392-1BB4-4ED4-89A3-D70C89EC524D}"/>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7A0A8760-BD15-4F85-ADCB-48FDB629DBBE}"/>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92E0B960-1C52-448A-8A52-35DC3997CE9E}"/>
              </a:ext>
            </a:extLst>
          </p:cNvPr>
          <p:cNvSpPr>
            <a:spLocks noGrp="1"/>
          </p:cNvSpPr>
          <p:nvPr>
            <p:ph type="sldNum" sz="quarter" idx="12"/>
          </p:nvPr>
        </p:nvSpPr>
        <p:spPr/>
        <p:txBody>
          <a:bodyPr/>
          <a:lstStyle/>
          <a:p>
            <a:fld id="{BB2CE0DE-867F-455F-B20B-96D381B4AB71}" type="slidenum">
              <a:rPr lang="en-US" smtClean="0"/>
              <a:t>138</a:t>
            </a:fld>
            <a:endParaRPr lang="en-US"/>
          </a:p>
        </p:txBody>
      </p:sp>
      <p:pic>
        <p:nvPicPr>
          <p:cNvPr id="8" name="Picture 7">
            <a:extLst>
              <a:ext uri="{FF2B5EF4-FFF2-40B4-BE49-F238E27FC236}">
                <a16:creationId xmlns:a16="http://schemas.microsoft.com/office/drawing/2014/main" id="{DEFCC08C-C254-4540-8AEB-5F66522F69E5}"/>
              </a:ext>
            </a:extLst>
          </p:cNvPr>
          <p:cNvPicPr>
            <a:picLocks noChangeAspect="1"/>
          </p:cNvPicPr>
          <p:nvPr/>
        </p:nvPicPr>
        <p:blipFill>
          <a:blip r:embed="rId2"/>
          <a:stretch>
            <a:fillRect/>
          </a:stretch>
        </p:blipFill>
        <p:spPr>
          <a:xfrm>
            <a:off x="566738" y="1371600"/>
            <a:ext cx="7772400" cy="4647563"/>
          </a:xfrm>
          <a:prstGeom prst="rect">
            <a:avLst/>
          </a:prstGeom>
        </p:spPr>
      </p:pic>
    </p:spTree>
    <p:extLst>
      <p:ext uri="{BB962C8B-B14F-4D97-AF65-F5344CB8AC3E}">
        <p14:creationId xmlns:p14="http://schemas.microsoft.com/office/powerpoint/2010/main" val="3133331389"/>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ED58B1-0642-4474-BD32-EED826E6A129}"/>
              </a:ext>
            </a:extLst>
          </p:cNvPr>
          <p:cNvSpPr>
            <a:spLocks noGrp="1"/>
          </p:cNvSpPr>
          <p:nvPr>
            <p:ph type="title"/>
          </p:nvPr>
        </p:nvSpPr>
        <p:spPr/>
        <p:txBody>
          <a:bodyPr/>
          <a:lstStyle/>
          <a:p>
            <a:r>
              <a:rPr lang="en-US" sz="1600" dirty="0"/>
              <a:t>Illustration example to show the difference between a standard neural network and a residual block with simple numerical values.</a:t>
            </a:r>
            <a:endParaRPr lang="en-IN" sz="1600" dirty="0"/>
          </a:p>
        </p:txBody>
      </p:sp>
      <p:sp>
        <p:nvSpPr>
          <p:cNvPr id="3" name="Content Placeholder 2">
            <a:extLst>
              <a:ext uri="{FF2B5EF4-FFF2-40B4-BE49-F238E27FC236}">
                <a16:creationId xmlns:a16="http://schemas.microsoft.com/office/drawing/2014/main" id="{9819C5B2-C546-4236-AD41-03D82B9858E9}"/>
              </a:ext>
            </a:extLst>
          </p:cNvPr>
          <p:cNvSpPr>
            <a:spLocks noGrp="1"/>
          </p:cNvSpPr>
          <p:nvPr>
            <p:ph idx="1"/>
          </p:nvPr>
        </p:nvSpPr>
        <p:spPr/>
        <p:txBody>
          <a:bodyPr/>
          <a:lstStyle/>
          <a:p>
            <a:endParaRPr lang="en-IN" dirty="0"/>
          </a:p>
        </p:txBody>
      </p:sp>
      <p:sp>
        <p:nvSpPr>
          <p:cNvPr id="4" name="Date Placeholder 3">
            <a:extLst>
              <a:ext uri="{FF2B5EF4-FFF2-40B4-BE49-F238E27FC236}">
                <a16:creationId xmlns:a16="http://schemas.microsoft.com/office/drawing/2014/main" id="{BB080E73-93C1-44E7-8525-AB1F8CC5764E}"/>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C15ADA82-C418-40CE-B31E-108028138670}"/>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4F595B2-CE85-4B9C-A6E9-A17D98B6F77E}"/>
              </a:ext>
            </a:extLst>
          </p:cNvPr>
          <p:cNvSpPr>
            <a:spLocks noGrp="1"/>
          </p:cNvSpPr>
          <p:nvPr>
            <p:ph type="sldNum" sz="quarter" idx="12"/>
          </p:nvPr>
        </p:nvSpPr>
        <p:spPr/>
        <p:txBody>
          <a:bodyPr/>
          <a:lstStyle/>
          <a:p>
            <a:fld id="{BB2CE0DE-867F-455F-B20B-96D381B4AB71}" type="slidenum">
              <a:rPr lang="en-US" smtClean="0"/>
              <a:t>139</a:t>
            </a:fld>
            <a:endParaRPr lang="en-US"/>
          </a:p>
        </p:txBody>
      </p:sp>
      <p:pic>
        <p:nvPicPr>
          <p:cNvPr id="7" name="Picture 6">
            <a:extLst>
              <a:ext uri="{FF2B5EF4-FFF2-40B4-BE49-F238E27FC236}">
                <a16:creationId xmlns:a16="http://schemas.microsoft.com/office/drawing/2014/main" id="{2053802E-0CB6-4EB7-BDB5-72D56FD333DA}"/>
              </a:ext>
            </a:extLst>
          </p:cNvPr>
          <p:cNvPicPr>
            <a:picLocks noChangeAspect="1"/>
          </p:cNvPicPr>
          <p:nvPr/>
        </p:nvPicPr>
        <p:blipFill>
          <a:blip r:embed="rId2"/>
          <a:stretch>
            <a:fillRect/>
          </a:stretch>
        </p:blipFill>
        <p:spPr>
          <a:xfrm>
            <a:off x="574674" y="1219200"/>
            <a:ext cx="4606925" cy="2906905"/>
          </a:xfrm>
          <a:prstGeom prst="rect">
            <a:avLst/>
          </a:prstGeom>
        </p:spPr>
      </p:pic>
    </p:spTree>
    <p:extLst>
      <p:ext uri="{BB962C8B-B14F-4D97-AF65-F5344CB8AC3E}">
        <p14:creationId xmlns:p14="http://schemas.microsoft.com/office/powerpoint/2010/main" val="3549490797"/>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E4220-8773-4F51-AC04-5F0DB3ED390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765B9DE-4399-4E35-B9D8-3E6191BD1430}"/>
              </a:ext>
            </a:extLst>
          </p:cNvPr>
          <p:cNvSpPr>
            <a:spLocks noGrp="1"/>
          </p:cNvSpPr>
          <p:nvPr>
            <p:ph idx="1"/>
          </p:nvPr>
        </p:nvSpPr>
        <p:spPr/>
        <p:txBody>
          <a:bodyPr/>
          <a:lstStyle/>
          <a:p>
            <a:pPr marL="0" indent="0">
              <a:buNone/>
            </a:pPr>
            <a:r>
              <a:rPr lang="en-US" sz="1800" dirty="0"/>
              <a:t>Given the same input 𝑥x, show how a Residual Block (</a:t>
            </a:r>
            <a:r>
              <a:rPr lang="en-US" sz="1800" dirty="0" err="1"/>
              <a:t>ResNet</a:t>
            </a:r>
            <a:r>
              <a:rPr lang="en-US" sz="1800" dirty="0"/>
              <a:t>) and a Standard NN Block process the data and produce different outputs. This will highlight how the shortcut/identity connection in </a:t>
            </a:r>
            <a:r>
              <a:rPr lang="en-US" sz="1800" dirty="0" err="1"/>
              <a:t>ResNet</a:t>
            </a:r>
            <a:r>
              <a:rPr lang="en-US" sz="1800" dirty="0"/>
              <a:t> makes a difference.</a:t>
            </a:r>
            <a:endParaRPr lang="en-IN" sz="1800" dirty="0"/>
          </a:p>
        </p:txBody>
      </p:sp>
      <p:sp>
        <p:nvSpPr>
          <p:cNvPr id="4" name="Date Placeholder 3">
            <a:extLst>
              <a:ext uri="{FF2B5EF4-FFF2-40B4-BE49-F238E27FC236}">
                <a16:creationId xmlns:a16="http://schemas.microsoft.com/office/drawing/2014/main" id="{F2FF3D0A-AE51-4866-9854-65EA3D8E2B79}"/>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7F20A069-DD7A-4AF5-A3E7-663F6C29BE7B}"/>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21D0742-EB68-4631-A948-E6EEE922E369}"/>
              </a:ext>
            </a:extLst>
          </p:cNvPr>
          <p:cNvSpPr>
            <a:spLocks noGrp="1"/>
          </p:cNvSpPr>
          <p:nvPr>
            <p:ph type="sldNum" sz="quarter" idx="12"/>
          </p:nvPr>
        </p:nvSpPr>
        <p:spPr/>
        <p:txBody>
          <a:bodyPr/>
          <a:lstStyle/>
          <a:p>
            <a:fld id="{BB2CE0DE-867F-455F-B20B-96D381B4AB71}" type="slidenum">
              <a:rPr lang="en-US" smtClean="0"/>
              <a:t>140</a:t>
            </a:fld>
            <a:endParaRPr lang="en-US"/>
          </a:p>
        </p:txBody>
      </p:sp>
      <p:pic>
        <p:nvPicPr>
          <p:cNvPr id="7" name="Picture 6">
            <a:extLst>
              <a:ext uri="{FF2B5EF4-FFF2-40B4-BE49-F238E27FC236}">
                <a16:creationId xmlns:a16="http://schemas.microsoft.com/office/drawing/2014/main" id="{367E0E92-7D27-4651-9DB6-3BB6CC0982EA}"/>
              </a:ext>
            </a:extLst>
          </p:cNvPr>
          <p:cNvPicPr>
            <a:picLocks noChangeAspect="1"/>
          </p:cNvPicPr>
          <p:nvPr/>
        </p:nvPicPr>
        <p:blipFill>
          <a:blip r:embed="rId2"/>
          <a:stretch>
            <a:fillRect/>
          </a:stretch>
        </p:blipFill>
        <p:spPr>
          <a:xfrm>
            <a:off x="5332314" y="4479925"/>
            <a:ext cx="3768824" cy="2378075"/>
          </a:xfrm>
          <a:prstGeom prst="rect">
            <a:avLst/>
          </a:prstGeom>
        </p:spPr>
      </p:pic>
      <p:pic>
        <p:nvPicPr>
          <p:cNvPr id="9" name="Picture 8">
            <a:extLst>
              <a:ext uri="{FF2B5EF4-FFF2-40B4-BE49-F238E27FC236}">
                <a16:creationId xmlns:a16="http://schemas.microsoft.com/office/drawing/2014/main" id="{AA8A709F-31BC-4067-AC67-E397F8ADAEAE}"/>
              </a:ext>
            </a:extLst>
          </p:cNvPr>
          <p:cNvPicPr>
            <a:picLocks noChangeAspect="1"/>
          </p:cNvPicPr>
          <p:nvPr/>
        </p:nvPicPr>
        <p:blipFill>
          <a:blip r:embed="rId3"/>
          <a:stretch>
            <a:fillRect/>
          </a:stretch>
        </p:blipFill>
        <p:spPr>
          <a:xfrm>
            <a:off x="566738" y="3343219"/>
            <a:ext cx="876422" cy="781159"/>
          </a:xfrm>
          <a:prstGeom prst="rect">
            <a:avLst/>
          </a:prstGeom>
        </p:spPr>
      </p:pic>
      <p:pic>
        <p:nvPicPr>
          <p:cNvPr id="11" name="Picture 10">
            <a:extLst>
              <a:ext uri="{FF2B5EF4-FFF2-40B4-BE49-F238E27FC236}">
                <a16:creationId xmlns:a16="http://schemas.microsoft.com/office/drawing/2014/main" id="{DBCE646E-3BFE-491C-A333-77F386E2320B}"/>
              </a:ext>
            </a:extLst>
          </p:cNvPr>
          <p:cNvPicPr>
            <a:picLocks noChangeAspect="1"/>
          </p:cNvPicPr>
          <p:nvPr/>
        </p:nvPicPr>
        <p:blipFill>
          <a:blip r:embed="rId4"/>
          <a:stretch>
            <a:fillRect/>
          </a:stretch>
        </p:blipFill>
        <p:spPr>
          <a:xfrm>
            <a:off x="1864285" y="2827498"/>
            <a:ext cx="3448361" cy="1812600"/>
          </a:xfrm>
          <a:prstGeom prst="rect">
            <a:avLst/>
          </a:prstGeom>
        </p:spPr>
      </p:pic>
      <p:sp>
        <p:nvSpPr>
          <p:cNvPr id="12" name="TextBox 11">
            <a:extLst>
              <a:ext uri="{FF2B5EF4-FFF2-40B4-BE49-F238E27FC236}">
                <a16:creationId xmlns:a16="http://schemas.microsoft.com/office/drawing/2014/main" id="{BC88D805-BCBB-4EEE-BDD6-E064BE28B1F8}"/>
              </a:ext>
            </a:extLst>
          </p:cNvPr>
          <p:cNvSpPr txBox="1"/>
          <p:nvPr/>
        </p:nvSpPr>
        <p:spPr>
          <a:xfrm>
            <a:off x="352751" y="3035342"/>
            <a:ext cx="1304396" cy="307777"/>
          </a:xfrm>
          <a:prstGeom prst="rect">
            <a:avLst/>
          </a:prstGeom>
          <a:noFill/>
        </p:spPr>
        <p:txBody>
          <a:bodyPr wrap="none" rtlCol="0">
            <a:spAutoFit/>
          </a:bodyPr>
          <a:lstStyle/>
          <a:p>
            <a:r>
              <a:rPr lang="en-US" sz="1400" dirty="0">
                <a:solidFill>
                  <a:srgbClr val="0000FF"/>
                </a:solidFill>
              </a:rPr>
              <a:t>Input Vector</a:t>
            </a:r>
            <a:endParaRPr lang="en-IN" sz="1400" dirty="0">
              <a:solidFill>
                <a:srgbClr val="0000FF"/>
              </a:solidFill>
            </a:endParaRPr>
          </a:p>
        </p:txBody>
      </p:sp>
      <p:sp>
        <p:nvSpPr>
          <p:cNvPr id="13" name="TextBox 12">
            <a:extLst>
              <a:ext uri="{FF2B5EF4-FFF2-40B4-BE49-F238E27FC236}">
                <a16:creationId xmlns:a16="http://schemas.microsoft.com/office/drawing/2014/main" id="{3A9DB30C-E3C1-4187-85A0-5EF4A9107CD6}"/>
              </a:ext>
            </a:extLst>
          </p:cNvPr>
          <p:cNvSpPr txBox="1"/>
          <p:nvPr/>
        </p:nvSpPr>
        <p:spPr>
          <a:xfrm>
            <a:off x="2435838" y="2519621"/>
            <a:ext cx="1376724" cy="307777"/>
          </a:xfrm>
          <a:prstGeom prst="rect">
            <a:avLst/>
          </a:prstGeom>
          <a:noFill/>
        </p:spPr>
        <p:txBody>
          <a:bodyPr wrap="none" rtlCol="0">
            <a:spAutoFit/>
          </a:bodyPr>
          <a:lstStyle/>
          <a:p>
            <a:r>
              <a:rPr lang="en-US" sz="1400" dirty="0">
                <a:solidFill>
                  <a:srgbClr val="0000FF"/>
                </a:solidFill>
              </a:rPr>
              <a:t>Weight layer </a:t>
            </a:r>
            <a:endParaRPr lang="en-IN" sz="1400" dirty="0">
              <a:solidFill>
                <a:srgbClr val="0000FF"/>
              </a:solidFill>
            </a:endParaRPr>
          </a:p>
        </p:txBody>
      </p:sp>
    </p:spTree>
    <p:extLst>
      <p:ext uri="{BB962C8B-B14F-4D97-AF65-F5344CB8AC3E}">
        <p14:creationId xmlns:p14="http://schemas.microsoft.com/office/powerpoint/2010/main" val="2503497229"/>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51416-B3F3-48F9-86A9-682A5D0ECD36}"/>
              </a:ext>
            </a:extLst>
          </p:cNvPr>
          <p:cNvSpPr>
            <a:spLocks noGrp="1"/>
          </p:cNvSpPr>
          <p:nvPr>
            <p:ph type="title"/>
          </p:nvPr>
        </p:nvSpPr>
        <p:spPr/>
        <p:txBody>
          <a:bodyPr/>
          <a:lstStyle/>
          <a:p>
            <a:r>
              <a:rPr lang="en-US" dirty="0"/>
              <a:t>Standard neural Network Process</a:t>
            </a:r>
            <a:endParaRPr lang="en-IN" dirty="0"/>
          </a:p>
        </p:txBody>
      </p:sp>
      <p:sp>
        <p:nvSpPr>
          <p:cNvPr id="3" name="Content Placeholder 2">
            <a:extLst>
              <a:ext uri="{FF2B5EF4-FFF2-40B4-BE49-F238E27FC236}">
                <a16:creationId xmlns:a16="http://schemas.microsoft.com/office/drawing/2014/main" id="{A36B41E4-6CE7-42EE-B361-9969D6113C3E}"/>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94952973-F6A5-48BA-8348-8F1093DE2491}"/>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43D84C13-257B-42C8-BAFE-3B7C13CE2F0B}"/>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0C9E47F3-3979-42D7-88BA-382804A5972F}"/>
              </a:ext>
            </a:extLst>
          </p:cNvPr>
          <p:cNvSpPr>
            <a:spLocks noGrp="1"/>
          </p:cNvSpPr>
          <p:nvPr>
            <p:ph type="sldNum" sz="quarter" idx="12"/>
          </p:nvPr>
        </p:nvSpPr>
        <p:spPr/>
        <p:txBody>
          <a:bodyPr/>
          <a:lstStyle/>
          <a:p>
            <a:fld id="{BB2CE0DE-867F-455F-B20B-96D381B4AB71}" type="slidenum">
              <a:rPr lang="en-US" smtClean="0"/>
              <a:t>141</a:t>
            </a:fld>
            <a:endParaRPr lang="en-US"/>
          </a:p>
        </p:txBody>
      </p:sp>
      <p:pic>
        <p:nvPicPr>
          <p:cNvPr id="8" name="Picture 7">
            <a:extLst>
              <a:ext uri="{FF2B5EF4-FFF2-40B4-BE49-F238E27FC236}">
                <a16:creationId xmlns:a16="http://schemas.microsoft.com/office/drawing/2014/main" id="{4C59E494-6843-4F65-A173-03B6B15D45D6}"/>
              </a:ext>
            </a:extLst>
          </p:cNvPr>
          <p:cNvPicPr>
            <a:picLocks noChangeAspect="1"/>
          </p:cNvPicPr>
          <p:nvPr/>
        </p:nvPicPr>
        <p:blipFill>
          <a:blip r:embed="rId2"/>
          <a:stretch>
            <a:fillRect/>
          </a:stretch>
        </p:blipFill>
        <p:spPr>
          <a:xfrm>
            <a:off x="609601" y="1211494"/>
            <a:ext cx="4953000" cy="3799684"/>
          </a:xfrm>
          <a:prstGeom prst="rect">
            <a:avLst/>
          </a:prstGeom>
        </p:spPr>
      </p:pic>
      <p:pic>
        <p:nvPicPr>
          <p:cNvPr id="9" name="Picture 8">
            <a:extLst>
              <a:ext uri="{FF2B5EF4-FFF2-40B4-BE49-F238E27FC236}">
                <a16:creationId xmlns:a16="http://schemas.microsoft.com/office/drawing/2014/main" id="{8EEAD5DA-364A-41F1-829D-1BF1C0E6DAAF}"/>
              </a:ext>
            </a:extLst>
          </p:cNvPr>
          <p:cNvPicPr>
            <a:picLocks noChangeAspect="1"/>
          </p:cNvPicPr>
          <p:nvPr/>
        </p:nvPicPr>
        <p:blipFill>
          <a:blip r:embed="rId3"/>
          <a:stretch>
            <a:fillRect/>
          </a:stretch>
        </p:blipFill>
        <p:spPr>
          <a:xfrm>
            <a:off x="5375176" y="4440752"/>
            <a:ext cx="3768824" cy="2378075"/>
          </a:xfrm>
          <a:prstGeom prst="rect">
            <a:avLst/>
          </a:prstGeom>
        </p:spPr>
      </p:pic>
    </p:spTree>
    <p:extLst>
      <p:ext uri="{BB962C8B-B14F-4D97-AF65-F5344CB8AC3E}">
        <p14:creationId xmlns:p14="http://schemas.microsoft.com/office/powerpoint/2010/main" val="1029379924"/>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51416-B3F3-48F9-86A9-682A5D0ECD36}"/>
              </a:ext>
            </a:extLst>
          </p:cNvPr>
          <p:cNvSpPr>
            <a:spLocks noGrp="1"/>
          </p:cNvSpPr>
          <p:nvPr>
            <p:ph type="title"/>
          </p:nvPr>
        </p:nvSpPr>
        <p:spPr/>
        <p:txBody>
          <a:bodyPr/>
          <a:lstStyle/>
          <a:p>
            <a:r>
              <a:rPr lang="en-US" dirty="0"/>
              <a:t>Residual Block Process</a:t>
            </a:r>
            <a:endParaRPr lang="en-IN" dirty="0"/>
          </a:p>
        </p:txBody>
      </p:sp>
      <p:sp>
        <p:nvSpPr>
          <p:cNvPr id="3" name="Content Placeholder 2">
            <a:extLst>
              <a:ext uri="{FF2B5EF4-FFF2-40B4-BE49-F238E27FC236}">
                <a16:creationId xmlns:a16="http://schemas.microsoft.com/office/drawing/2014/main" id="{A36B41E4-6CE7-42EE-B361-9969D6113C3E}"/>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94952973-F6A5-48BA-8348-8F1093DE2491}"/>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43D84C13-257B-42C8-BAFE-3B7C13CE2F0B}"/>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0C9E47F3-3979-42D7-88BA-382804A5972F}"/>
              </a:ext>
            </a:extLst>
          </p:cNvPr>
          <p:cNvSpPr>
            <a:spLocks noGrp="1"/>
          </p:cNvSpPr>
          <p:nvPr>
            <p:ph type="sldNum" sz="quarter" idx="12"/>
          </p:nvPr>
        </p:nvSpPr>
        <p:spPr/>
        <p:txBody>
          <a:bodyPr/>
          <a:lstStyle/>
          <a:p>
            <a:fld id="{BB2CE0DE-867F-455F-B20B-96D381B4AB71}" type="slidenum">
              <a:rPr lang="en-US" smtClean="0"/>
              <a:t>142</a:t>
            </a:fld>
            <a:endParaRPr lang="en-US"/>
          </a:p>
        </p:txBody>
      </p:sp>
      <p:pic>
        <p:nvPicPr>
          <p:cNvPr id="9" name="Picture 8">
            <a:extLst>
              <a:ext uri="{FF2B5EF4-FFF2-40B4-BE49-F238E27FC236}">
                <a16:creationId xmlns:a16="http://schemas.microsoft.com/office/drawing/2014/main" id="{8EEAD5DA-364A-41F1-829D-1BF1C0E6DAAF}"/>
              </a:ext>
            </a:extLst>
          </p:cNvPr>
          <p:cNvPicPr>
            <a:picLocks noChangeAspect="1"/>
          </p:cNvPicPr>
          <p:nvPr/>
        </p:nvPicPr>
        <p:blipFill>
          <a:blip r:embed="rId2"/>
          <a:stretch>
            <a:fillRect/>
          </a:stretch>
        </p:blipFill>
        <p:spPr>
          <a:xfrm>
            <a:off x="5332314" y="4449762"/>
            <a:ext cx="3768824" cy="2378075"/>
          </a:xfrm>
          <a:prstGeom prst="rect">
            <a:avLst/>
          </a:prstGeom>
        </p:spPr>
      </p:pic>
      <p:pic>
        <p:nvPicPr>
          <p:cNvPr id="10" name="Picture 9">
            <a:extLst>
              <a:ext uri="{FF2B5EF4-FFF2-40B4-BE49-F238E27FC236}">
                <a16:creationId xmlns:a16="http://schemas.microsoft.com/office/drawing/2014/main" id="{1FD5CFD3-6C4E-4DCF-A89F-1B4011BB204A}"/>
              </a:ext>
            </a:extLst>
          </p:cNvPr>
          <p:cNvPicPr>
            <a:picLocks noChangeAspect="1"/>
          </p:cNvPicPr>
          <p:nvPr/>
        </p:nvPicPr>
        <p:blipFill>
          <a:blip r:embed="rId3"/>
          <a:stretch>
            <a:fillRect/>
          </a:stretch>
        </p:blipFill>
        <p:spPr>
          <a:xfrm>
            <a:off x="0" y="914400"/>
            <a:ext cx="5439534" cy="4829849"/>
          </a:xfrm>
          <a:prstGeom prst="rect">
            <a:avLst/>
          </a:prstGeom>
        </p:spPr>
      </p:pic>
    </p:spTree>
    <p:extLst>
      <p:ext uri="{BB962C8B-B14F-4D97-AF65-F5344CB8AC3E}">
        <p14:creationId xmlns:p14="http://schemas.microsoft.com/office/powerpoint/2010/main" val="683772444"/>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DBF62-4EBF-4EDB-B27A-63FDD93C1DFF}"/>
              </a:ext>
            </a:extLst>
          </p:cNvPr>
          <p:cNvSpPr>
            <a:spLocks noGrp="1"/>
          </p:cNvSpPr>
          <p:nvPr>
            <p:ph type="title"/>
          </p:nvPr>
        </p:nvSpPr>
        <p:spPr/>
        <p:txBody>
          <a:bodyPr/>
          <a:lstStyle/>
          <a:p>
            <a:r>
              <a:rPr lang="en-IN" dirty="0"/>
              <a:t>Final Outputs Comparison</a:t>
            </a:r>
          </a:p>
        </p:txBody>
      </p:sp>
      <p:sp>
        <p:nvSpPr>
          <p:cNvPr id="3" name="Content Placeholder 2">
            <a:extLst>
              <a:ext uri="{FF2B5EF4-FFF2-40B4-BE49-F238E27FC236}">
                <a16:creationId xmlns:a16="http://schemas.microsoft.com/office/drawing/2014/main" id="{A8D7001F-C99C-48C6-AED7-6236075A8483}"/>
              </a:ext>
            </a:extLst>
          </p:cNvPr>
          <p:cNvSpPr>
            <a:spLocks noGrp="1"/>
          </p:cNvSpPr>
          <p:nvPr>
            <p:ph idx="1"/>
          </p:nvPr>
        </p:nvSpPr>
        <p:spPr/>
        <p:txBody>
          <a:bodyPr/>
          <a:lstStyle/>
          <a:p>
            <a:endParaRPr lang="en-US" dirty="0"/>
          </a:p>
          <a:p>
            <a:endParaRPr lang="en-IN" dirty="0"/>
          </a:p>
          <a:p>
            <a:endParaRPr lang="en-IN" dirty="0"/>
          </a:p>
          <a:p>
            <a:endParaRPr lang="en-IN" dirty="0"/>
          </a:p>
          <a:p>
            <a:pPr algn="just"/>
            <a:r>
              <a:rPr lang="en-US" sz="2000" b="1" dirty="0"/>
              <a:t>Residual = F(x) + x</a:t>
            </a:r>
            <a:r>
              <a:rPr lang="en-US" sz="2000" dirty="0"/>
              <a:t> makes the model learn corrections, not complete transformations.</a:t>
            </a:r>
          </a:p>
          <a:p>
            <a:pPr algn="just"/>
            <a:r>
              <a:rPr lang="en-US" sz="2000" dirty="0"/>
              <a:t>Identity skip connection helps preserve original information, useful for </a:t>
            </a:r>
            <a:r>
              <a:rPr lang="en-US" sz="2000" b="1" dirty="0"/>
              <a:t>training very deep networks</a:t>
            </a:r>
            <a:r>
              <a:rPr lang="en-US" sz="2000" dirty="0"/>
              <a:t>.</a:t>
            </a:r>
          </a:p>
          <a:p>
            <a:pPr algn="just"/>
            <a:r>
              <a:rPr lang="en-US" sz="2000" dirty="0"/>
              <a:t>Notice how </a:t>
            </a:r>
            <a:r>
              <a:rPr lang="en-US" sz="2000" dirty="0" err="1"/>
              <a:t>ResNet</a:t>
            </a:r>
            <a:r>
              <a:rPr lang="en-US" sz="2000" dirty="0"/>
              <a:t> allows larger output activation even with same weights, due to skip path.</a:t>
            </a:r>
          </a:p>
          <a:p>
            <a:endParaRPr lang="en-IN" dirty="0"/>
          </a:p>
          <a:p>
            <a:endParaRPr lang="en-IN" dirty="0"/>
          </a:p>
          <a:p>
            <a:endParaRPr lang="en-IN" dirty="0"/>
          </a:p>
        </p:txBody>
      </p:sp>
      <p:sp>
        <p:nvSpPr>
          <p:cNvPr id="4" name="Date Placeholder 3">
            <a:extLst>
              <a:ext uri="{FF2B5EF4-FFF2-40B4-BE49-F238E27FC236}">
                <a16:creationId xmlns:a16="http://schemas.microsoft.com/office/drawing/2014/main" id="{63FD1305-C9F4-4900-9446-3730D8F612B7}"/>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3E1DDBF0-D2D9-481C-8D55-45D5AB23E5DB}"/>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B98CF32A-B143-4714-9AED-A78E4EF57E18}"/>
              </a:ext>
            </a:extLst>
          </p:cNvPr>
          <p:cNvSpPr>
            <a:spLocks noGrp="1"/>
          </p:cNvSpPr>
          <p:nvPr>
            <p:ph type="sldNum" sz="quarter" idx="12"/>
          </p:nvPr>
        </p:nvSpPr>
        <p:spPr/>
        <p:txBody>
          <a:bodyPr/>
          <a:lstStyle/>
          <a:p>
            <a:fld id="{BB2CE0DE-867F-455F-B20B-96D381B4AB71}" type="slidenum">
              <a:rPr lang="en-US" smtClean="0"/>
              <a:t>143</a:t>
            </a:fld>
            <a:endParaRPr lang="en-US"/>
          </a:p>
        </p:txBody>
      </p:sp>
      <p:pic>
        <p:nvPicPr>
          <p:cNvPr id="8" name="Picture 7">
            <a:extLst>
              <a:ext uri="{FF2B5EF4-FFF2-40B4-BE49-F238E27FC236}">
                <a16:creationId xmlns:a16="http://schemas.microsoft.com/office/drawing/2014/main" id="{BC7C7902-DB60-4DE8-8E94-51054CFAACAE}"/>
              </a:ext>
            </a:extLst>
          </p:cNvPr>
          <p:cNvPicPr>
            <a:picLocks noChangeAspect="1"/>
          </p:cNvPicPr>
          <p:nvPr/>
        </p:nvPicPr>
        <p:blipFill>
          <a:blip r:embed="rId3"/>
          <a:stretch>
            <a:fillRect/>
          </a:stretch>
        </p:blipFill>
        <p:spPr>
          <a:xfrm>
            <a:off x="1066800" y="1295400"/>
            <a:ext cx="6288000" cy="1524000"/>
          </a:xfrm>
          <a:prstGeom prst="rect">
            <a:avLst/>
          </a:prstGeom>
        </p:spPr>
      </p:pic>
    </p:spTree>
    <p:extLst>
      <p:ext uri="{BB962C8B-B14F-4D97-AF65-F5344CB8AC3E}">
        <p14:creationId xmlns:p14="http://schemas.microsoft.com/office/powerpoint/2010/main" val="2506543189"/>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C3B4D-0DF5-4102-90BD-9BAAE0DC449F}"/>
              </a:ext>
            </a:extLst>
          </p:cNvPr>
          <p:cNvSpPr>
            <a:spLocks noGrp="1"/>
          </p:cNvSpPr>
          <p:nvPr>
            <p:ph type="title"/>
          </p:nvPr>
        </p:nvSpPr>
        <p:spPr/>
        <p:txBody>
          <a:bodyPr/>
          <a:lstStyle/>
          <a:p>
            <a:r>
              <a:rPr lang="en-US" dirty="0" err="1"/>
              <a:t>ResNet</a:t>
            </a:r>
            <a:r>
              <a:rPr lang="en-US" dirty="0"/>
              <a:t> Architecture </a:t>
            </a:r>
            <a:endParaRPr lang="en-IN" dirty="0"/>
          </a:p>
        </p:txBody>
      </p:sp>
      <p:sp>
        <p:nvSpPr>
          <p:cNvPr id="3" name="Content Placeholder 2">
            <a:extLst>
              <a:ext uri="{FF2B5EF4-FFF2-40B4-BE49-F238E27FC236}">
                <a16:creationId xmlns:a16="http://schemas.microsoft.com/office/drawing/2014/main" id="{A83372E7-F76E-4CA1-8E50-DC0D475B4853}"/>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905F3B2E-465F-4967-8C56-91D11D6332E7}"/>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2597EA83-AE2A-47EA-A8AF-5E6649EEE171}"/>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03C0E222-71ED-483E-B74F-863B37A4E7F2}"/>
              </a:ext>
            </a:extLst>
          </p:cNvPr>
          <p:cNvSpPr>
            <a:spLocks noGrp="1"/>
          </p:cNvSpPr>
          <p:nvPr>
            <p:ph type="sldNum" sz="quarter" idx="12"/>
          </p:nvPr>
        </p:nvSpPr>
        <p:spPr/>
        <p:txBody>
          <a:bodyPr/>
          <a:lstStyle/>
          <a:p>
            <a:fld id="{BB2CE0DE-867F-455F-B20B-96D381B4AB71}" type="slidenum">
              <a:rPr lang="en-US" smtClean="0"/>
              <a:t>144</a:t>
            </a:fld>
            <a:endParaRPr lang="en-US"/>
          </a:p>
        </p:txBody>
      </p:sp>
      <p:pic>
        <p:nvPicPr>
          <p:cNvPr id="8" name="Picture 7">
            <a:extLst>
              <a:ext uri="{FF2B5EF4-FFF2-40B4-BE49-F238E27FC236}">
                <a16:creationId xmlns:a16="http://schemas.microsoft.com/office/drawing/2014/main" id="{051761CE-3620-4390-9071-C07E7FF0673A}"/>
              </a:ext>
            </a:extLst>
          </p:cNvPr>
          <p:cNvPicPr>
            <a:picLocks noChangeAspect="1"/>
          </p:cNvPicPr>
          <p:nvPr/>
        </p:nvPicPr>
        <p:blipFill>
          <a:blip r:embed="rId2"/>
          <a:stretch>
            <a:fillRect/>
          </a:stretch>
        </p:blipFill>
        <p:spPr>
          <a:xfrm>
            <a:off x="1126080" y="1143000"/>
            <a:ext cx="6882315" cy="6408928"/>
          </a:xfrm>
          <a:prstGeom prst="rect">
            <a:avLst/>
          </a:prstGeom>
        </p:spPr>
      </p:pic>
    </p:spTree>
    <p:extLst>
      <p:ext uri="{BB962C8B-B14F-4D97-AF65-F5344CB8AC3E}">
        <p14:creationId xmlns:p14="http://schemas.microsoft.com/office/powerpoint/2010/main" val="3151002952"/>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8A2D4-E0F2-4FC3-B701-A1F35CC9C55F}"/>
              </a:ext>
            </a:extLst>
          </p:cNvPr>
          <p:cNvSpPr>
            <a:spLocks noGrp="1"/>
          </p:cNvSpPr>
          <p:nvPr>
            <p:ph type="title"/>
          </p:nvPr>
        </p:nvSpPr>
        <p:spPr/>
        <p:txBody>
          <a:bodyPr/>
          <a:lstStyle/>
          <a:p>
            <a:r>
              <a:rPr lang="en-IN" dirty="0"/>
              <a:t>Key Features of </a:t>
            </a:r>
            <a:r>
              <a:rPr lang="en-IN" dirty="0" err="1"/>
              <a:t>ResNet</a:t>
            </a:r>
            <a:r>
              <a:rPr lang="en-IN" dirty="0"/>
              <a:t>:</a:t>
            </a:r>
          </a:p>
        </p:txBody>
      </p:sp>
      <p:sp>
        <p:nvSpPr>
          <p:cNvPr id="3" name="Content Placeholder 2">
            <a:extLst>
              <a:ext uri="{FF2B5EF4-FFF2-40B4-BE49-F238E27FC236}">
                <a16:creationId xmlns:a16="http://schemas.microsoft.com/office/drawing/2014/main" id="{36E272AD-F48D-4F37-B3B6-9E455A305DF8}"/>
              </a:ext>
            </a:extLst>
          </p:cNvPr>
          <p:cNvSpPr>
            <a:spLocks noGrp="1"/>
          </p:cNvSpPr>
          <p:nvPr>
            <p:ph idx="1"/>
          </p:nvPr>
        </p:nvSpPr>
        <p:spPr/>
        <p:txBody>
          <a:bodyPr/>
          <a:lstStyle/>
          <a:p>
            <a:pPr algn="just">
              <a:buFont typeface="+mj-lt"/>
              <a:buAutoNum type="arabicPeriod"/>
            </a:pPr>
            <a:r>
              <a:rPr lang="en-US" sz="1800" b="0" i="0" dirty="0" err="1">
                <a:solidFill>
                  <a:srgbClr val="000000"/>
                </a:solidFill>
                <a:effectLst/>
                <a:latin typeface="Roboto" panose="02000000000000000000" pitchFamily="2" charset="0"/>
              </a:rPr>
              <a:t>ResNet</a:t>
            </a:r>
            <a:r>
              <a:rPr lang="en-US" sz="1800" b="0" i="0" dirty="0">
                <a:solidFill>
                  <a:srgbClr val="000000"/>
                </a:solidFill>
                <a:effectLst/>
                <a:latin typeface="Roboto" panose="02000000000000000000" pitchFamily="2" charset="0"/>
              </a:rPr>
              <a:t> uses Batch Normalization at its core. The Batch Normalization adjusts the input layer to increase the performance of the network. The problem of covariate shift is mitigated.</a:t>
            </a:r>
          </a:p>
          <a:p>
            <a:pPr algn="just">
              <a:buFont typeface="+mj-lt"/>
              <a:buAutoNum type="arabicPeriod"/>
            </a:pPr>
            <a:r>
              <a:rPr lang="en-US" sz="1800" b="0" i="0" dirty="0" err="1">
                <a:solidFill>
                  <a:srgbClr val="000000"/>
                </a:solidFill>
                <a:effectLst/>
                <a:latin typeface="Roboto" panose="02000000000000000000" pitchFamily="2" charset="0"/>
              </a:rPr>
              <a:t>ResNet</a:t>
            </a:r>
            <a:r>
              <a:rPr lang="en-US" sz="1800" b="0" i="0" dirty="0">
                <a:solidFill>
                  <a:srgbClr val="000000"/>
                </a:solidFill>
                <a:effectLst/>
                <a:latin typeface="Roboto" panose="02000000000000000000" pitchFamily="2" charset="0"/>
              </a:rPr>
              <a:t> makes use of the Identity Connection, which helps to protect the network from vanishing gradient problem.</a:t>
            </a:r>
          </a:p>
          <a:p>
            <a:pPr algn="just">
              <a:buFont typeface="+mj-lt"/>
              <a:buAutoNum type="arabicPeriod"/>
            </a:pPr>
            <a:r>
              <a:rPr lang="en-US" sz="1800" b="0" i="0" dirty="0">
                <a:solidFill>
                  <a:srgbClr val="000000"/>
                </a:solidFill>
                <a:effectLst/>
                <a:latin typeface="Roboto" panose="02000000000000000000" pitchFamily="2" charset="0"/>
              </a:rPr>
              <a:t>Deep Residual Network uses bottleneck residual block design to increase the performance of the network</a:t>
            </a:r>
          </a:p>
          <a:p>
            <a:pPr marL="0" indent="0" algn="just">
              <a:buNone/>
            </a:pPr>
            <a:endParaRPr lang="en-IN" sz="1800" dirty="0"/>
          </a:p>
        </p:txBody>
      </p:sp>
      <p:sp>
        <p:nvSpPr>
          <p:cNvPr id="4" name="Date Placeholder 3">
            <a:extLst>
              <a:ext uri="{FF2B5EF4-FFF2-40B4-BE49-F238E27FC236}">
                <a16:creationId xmlns:a16="http://schemas.microsoft.com/office/drawing/2014/main" id="{76B256AA-40C8-45B7-B6DC-ED2EF11842DD}"/>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17B0C88F-97B2-4373-9C24-B3485E6AF908}"/>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01A31602-30F4-4CA0-94AF-F1AB3E7113F9}"/>
              </a:ext>
            </a:extLst>
          </p:cNvPr>
          <p:cNvSpPr>
            <a:spLocks noGrp="1"/>
          </p:cNvSpPr>
          <p:nvPr>
            <p:ph type="sldNum" sz="quarter" idx="12"/>
          </p:nvPr>
        </p:nvSpPr>
        <p:spPr/>
        <p:txBody>
          <a:bodyPr/>
          <a:lstStyle/>
          <a:p>
            <a:fld id="{BB2CE0DE-867F-455F-B20B-96D381B4AB71}" type="slidenum">
              <a:rPr lang="en-US" smtClean="0"/>
              <a:t>145</a:t>
            </a:fld>
            <a:endParaRPr lang="en-US"/>
          </a:p>
        </p:txBody>
      </p:sp>
    </p:spTree>
    <p:extLst>
      <p:ext uri="{BB962C8B-B14F-4D97-AF65-F5344CB8AC3E}">
        <p14:creationId xmlns:p14="http://schemas.microsoft.com/office/powerpoint/2010/main" val="593624724"/>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0153D-0CA6-4737-ACD2-C2ADD65B2D05}"/>
              </a:ext>
            </a:extLst>
          </p:cNvPr>
          <p:cNvSpPr>
            <a:spLocks noGrp="1"/>
          </p:cNvSpPr>
          <p:nvPr>
            <p:ph type="title"/>
          </p:nvPr>
        </p:nvSpPr>
        <p:spPr/>
        <p:txBody>
          <a:bodyPr/>
          <a:lstStyle/>
          <a:p>
            <a:r>
              <a:rPr lang="en-IN" b="0" i="0" dirty="0">
                <a:solidFill>
                  <a:srgbClr val="000000"/>
                </a:solidFill>
                <a:effectLst/>
                <a:latin typeface="Roboto" panose="02000000000000000000" pitchFamily="2" charset="0"/>
              </a:rPr>
              <a:t>Variants of </a:t>
            </a:r>
            <a:r>
              <a:rPr lang="en-IN" b="0" i="0" dirty="0" err="1">
                <a:solidFill>
                  <a:srgbClr val="000000"/>
                </a:solidFill>
                <a:effectLst/>
                <a:latin typeface="Roboto" panose="02000000000000000000" pitchFamily="2" charset="0"/>
              </a:rPr>
              <a:t>ResNet</a:t>
            </a:r>
            <a:r>
              <a:rPr lang="en-IN" b="0" i="0" dirty="0">
                <a:solidFill>
                  <a:srgbClr val="000000"/>
                </a:solidFill>
                <a:effectLst/>
                <a:latin typeface="Roboto" panose="02000000000000000000" pitchFamily="2" charset="0"/>
              </a:rPr>
              <a:t> architecture</a:t>
            </a:r>
            <a:endParaRPr lang="en-IN" dirty="0"/>
          </a:p>
        </p:txBody>
      </p:sp>
      <p:sp>
        <p:nvSpPr>
          <p:cNvPr id="3" name="Content Placeholder 2">
            <a:extLst>
              <a:ext uri="{FF2B5EF4-FFF2-40B4-BE49-F238E27FC236}">
                <a16:creationId xmlns:a16="http://schemas.microsoft.com/office/drawing/2014/main" id="{CFEEAC22-3996-4A63-9E8A-00F0C0AEDE22}"/>
              </a:ext>
            </a:extLst>
          </p:cNvPr>
          <p:cNvSpPr>
            <a:spLocks noGrp="1"/>
          </p:cNvSpPr>
          <p:nvPr>
            <p:ph idx="1"/>
          </p:nvPr>
        </p:nvSpPr>
        <p:spPr/>
        <p:txBody>
          <a:bodyPr/>
          <a:lstStyle/>
          <a:p>
            <a:pPr algn="l">
              <a:buFont typeface="Arial" panose="020B0604020202020204" pitchFamily="34" charset="0"/>
              <a:buChar char="•"/>
            </a:pPr>
            <a:r>
              <a:rPr lang="en-US" b="1" i="0" dirty="0">
                <a:solidFill>
                  <a:srgbClr val="001D35"/>
                </a:solidFill>
                <a:effectLst/>
                <a:latin typeface="Google Sans"/>
              </a:rPr>
              <a:t>ResNet-18:</a:t>
            </a:r>
            <a:r>
              <a:rPr lang="en-US" b="0" i="0" dirty="0">
                <a:solidFill>
                  <a:srgbClr val="001D35"/>
                </a:solidFill>
                <a:effectLst/>
                <a:latin typeface="Google Sans"/>
              </a:rPr>
              <a:t> 18 layers</a:t>
            </a:r>
          </a:p>
          <a:p>
            <a:pPr algn="l">
              <a:buFont typeface="Arial" panose="020B0604020202020204" pitchFamily="34" charset="0"/>
              <a:buChar char="•"/>
            </a:pPr>
            <a:r>
              <a:rPr lang="en-US" b="1" i="0" dirty="0">
                <a:solidFill>
                  <a:srgbClr val="001D35"/>
                </a:solidFill>
                <a:effectLst/>
                <a:latin typeface="Google Sans"/>
              </a:rPr>
              <a:t>ResNet-34:</a:t>
            </a:r>
            <a:r>
              <a:rPr lang="en-US" b="0" i="0" dirty="0">
                <a:solidFill>
                  <a:srgbClr val="001D35"/>
                </a:solidFill>
                <a:effectLst/>
                <a:latin typeface="Google Sans"/>
              </a:rPr>
              <a:t> 34 layers</a:t>
            </a:r>
          </a:p>
          <a:p>
            <a:pPr algn="l">
              <a:buFont typeface="Arial" panose="020B0604020202020204" pitchFamily="34" charset="0"/>
              <a:buChar char="•"/>
            </a:pPr>
            <a:r>
              <a:rPr lang="en-US" b="1" i="0" dirty="0">
                <a:solidFill>
                  <a:srgbClr val="001D35"/>
                </a:solidFill>
                <a:effectLst/>
                <a:latin typeface="Google Sans"/>
              </a:rPr>
              <a:t>ResNet-50:</a:t>
            </a:r>
            <a:r>
              <a:rPr lang="en-US" b="0" i="0" dirty="0">
                <a:solidFill>
                  <a:srgbClr val="001D35"/>
                </a:solidFill>
                <a:effectLst/>
                <a:latin typeface="Google Sans"/>
              </a:rPr>
              <a:t> 50 layers</a:t>
            </a:r>
          </a:p>
          <a:p>
            <a:pPr algn="l">
              <a:buFont typeface="Arial" panose="020B0604020202020204" pitchFamily="34" charset="0"/>
              <a:buChar char="•"/>
            </a:pPr>
            <a:r>
              <a:rPr lang="en-US" b="1" i="0" dirty="0">
                <a:solidFill>
                  <a:srgbClr val="001D35"/>
                </a:solidFill>
                <a:effectLst/>
                <a:latin typeface="Google Sans"/>
              </a:rPr>
              <a:t>ResNet-101:</a:t>
            </a:r>
            <a:r>
              <a:rPr lang="en-US" b="0" i="0" dirty="0">
                <a:solidFill>
                  <a:srgbClr val="001D35"/>
                </a:solidFill>
                <a:effectLst/>
                <a:latin typeface="Google Sans"/>
              </a:rPr>
              <a:t> 101 layers</a:t>
            </a:r>
          </a:p>
          <a:p>
            <a:pPr algn="l">
              <a:buFont typeface="Arial" panose="020B0604020202020204" pitchFamily="34" charset="0"/>
              <a:buChar char="•"/>
            </a:pPr>
            <a:r>
              <a:rPr lang="en-US" b="1" i="0" dirty="0">
                <a:solidFill>
                  <a:srgbClr val="001D35"/>
                </a:solidFill>
                <a:effectLst/>
                <a:latin typeface="Google Sans"/>
              </a:rPr>
              <a:t>ResNet-152:</a:t>
            </a:r>
            <a:r>
              <a:rPr lang="en-US" b="0" i="0" dirty="0">
                <a:solidFill>
                  <a:srgbClr val="001D35"/>
                </a:solidFill>
                <a:effectLst/>
                <a:latin typeface="Google Sans"/>
              </a:rPr>
              <a:t> 152 layers</a:t>
            </a:r>
          </a:p>
        </p:txBody>
      </p:sp>
      <p:sp>
        <p:nvSpPr>
          <p:cNvPr id="4" name="Date Placeholder 3">
            <a:extLst>
              <a:ext uri="{FF2B5EF4-FFF2-40B4-BE49-F238E27FC236}">
                <a16:creationId xmlns:a16="http://schemas.microsoft.com/office/drawing/2014/main" id="{028C41F0-D7C2-4BA4-A24C-35820E75DCF3}"/>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A4B892C2-DA78-4639-993B-FC15506A8CD4}"/>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A9EF70A3-5786-422A-8995-066410623E9C}"/>
              </a:ext>
            </a:extLst>
          </p:cNvPr>
          <p:cNvSpPr>
            <a:spLocks noGrp="1"/>
          </p:cNvSpPr>
          <p:nvPr>
            <p:ph type="sldNum" sz="quarter" idx="12"/>
          </p:nvPr>
        </p:nvSpPr>
        <p:spPr/>
        <p:txBody>
          <a:bodyPr/>
          <a:lstStyle/>
          <a:p>
            <a:fld id="{BB2CE0DE-867F-455F-B20B-96D381B4AB71}" type="slidenum">
              <a:rPr lang="en-US" smtClean="0"/>
              <a:t>146</a:t>
            </a:fld>
            <a:endParaRPr lang="en-US"/>
          </a:p>
        </p:txBody>
      </p:sp>
    </p:spTree>
    <p:extLst>
      <p:ext uri="{BB962C8B-B14F-4D97-AF65-F5344CB8AC3E}">
        <p14:creationId xmlns:p14="http://schemas.microsoft.com/office/powerpoint/2010/main" val="2799747025"/>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8A8E5-6F88-45CB-9F26-161B42B5D039}"/>
              </a:ext>
            </a:extLst>
          </p:cNvPr>
          <p:cNvSpPr>
            <a:spLocks noGrp="1"/>
          </p:cNvSpPr>
          <p:nvPr>
            <p:ph type="title"/>
          </p:nvPr>
        </p:nvSpPr>
        <p:spPr/>
        <p:txBody>
          <a:bodyPr/>
          <a:lstStyle/>
          <a:p>
            <a:r>
              <a:rPr lang="en-IN" dirty="0" err="1"/>
              <a:t>ResNet</a:t>
            </a:r>
            <a:r>
              <a:rPr lang="en-IN" dirty="0"/>
              <a:t> Architecture</a:t>
            </a:r>
          </a:p>
        </p:txBody>
      </p:sp>
      <p:sp>
        <p:nvSpPr>
          <p:cNvPr id="3" name="Content Placeholder 2">
            <a:extLst>
              <a:ext uri="{FF2B5EF4-FFF2-40B4-BE49-F238E27FC236}">
                <a16:creationId xmlns:a16="http://schemas.microsoft.com/office/drawing/2014/main" id="{369C48E7-E508-433D-AA7C-BE138732B7C7}"/>
              </a:ext>
            </a:extLst>
          </p:cNvPr>
          <p:cNvSpPr>
            <a:spLocks noGrp="1"/>
          </p:cNvSpPr>
          <p:nvPr>
            <p:ph idx="1"/>
          </p:nvPr>
        </p:nvSpPr>
        <p:spPr/>
        <p:txBody>
          <a:bodyPr/>
          <a:lstStyle/>
          <a:p>
            <a:pPr marL="0" indent="0" algn="just">
              <a:buNone/>
            </a:pPr>
            <a:r>
              <a:rPr lang="en-US" sz="1600" b="0" i="0" dirty="0">
                <a:solidFill>
                  <a:srgbClr val="242424"/>
                </a:solidFill>
                <a:effectLst/>
                <a:latin typeface="source-serif-pro"/>
              </a:rPr>
              <a:t>The VGG-19-inspired 34-layer plain network architecture used by </a:t>
            </a:r>
            <a:r>
              <a:rPr lang="en-US" sz="1600" b="0" i="0" dirty="0" err="1">
                <a:solidFill>
                  <a:srgbClr val="242424"/>
                </a:solidFill>
                <a:effectLst/>
                <a:latin typeface="source-serif-pro"/>
              </a:rPr>
              <a:t>ResNet</a:t>
            </a:r>
            <a:r>
              <a:rPr lang="en-US" sz="1600" b="0" i="0" dirty="0">
                <a:solidFill>
                  <a:srgbClr val="242424"/>
                </a:solidFill>
                <a:effectLst/>
                <a:latin typeface="source-serif-pro"/>
              </a:rPr>
              <a:t> is followed by the addition of the shortcut connection. The architecture is subsequently transformed into the residual network by these short-cut connections, as depicted in the following figure:</a:t>
            </a:r>
          </a:p>
          <a:p>
            <a:pPr marL="0" indent="0">
              <a:buNone/>
            </a:pPr>
            <a:br>
              <a:rPr lang="en-US" dirty="0"/>
            </a:br>
            <a:endParaRPr lang="en-IN" dirty="0"/>
          </a:p>
        </p:txBody>
      </p:sp>
      <p:sp>
        <p:nvSpPr>
          <p:cNvPr id="4" name="Date Placeholder 3">
            <a:extLst>
              <a:ext uri="{FF2B5EF4-FFF2-40B4-BE49-F238E27FC236}">
                <a16:creationId xmlns:a16="http://schemas.microsoft.com/office/drawing/2014/main" id="{F704B220-0A5A-4347-A941-E636AAC9B962}"/>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F7BED6BC-944D-464B-B1CB-6313EF3312A4}"/>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4138FB2B-9BEA-40EA-91AD-33C9F929725B}"/>
              </a:ext>
            </a:extLst>
          </p:cNvPr>
          <p:cNvSpPr>
            <a:spLocks noGrp="1"/>
          </p:cNvSpPr>
          <p:nvPr>
            <p:ph type="sldNum" sz="quarter" idx="12"/>
          </p:nvPr>
        </p:nvSpPr>
        <p:spPr/>
        <p:txBody>
          <a:bodyPr/>
          <a:lstStyle/>
          <a:p>
            <a:fld id="{BB2CE0DE-867F-455F-B20B-96D381B4AB71}" type="slidenum">
              <a:rPr lang="en-US" smtClean="0"/>
              <a:t>147</a:t>
            </a:fld>
            <a:endParaRPr lang="en-US"/>
          </a:p>
        </p:txBody>
      </p:sp>
      <p:pic>
        <p:nvPicPr>
          <p:cNvPr id="7" name="Picture 6">
            <a:extLst>
              <a:ext uri="{FF2B5EF4-FFF2-40B4-BE49-F238E27FC236}">
                <a16:creationId xmlns:a16="http://schemas.microsoft.com/office/drawing/2014/main" id="{E9ED1815-4481-47DE-88D9-0AACF63F7DE9}"/>
              </a:ext>
            </a:extLst>
          </p:cNvPr>
          <p:cNvPicPr>
            <a:picLocks noChangeAspect="1"/>
          </p:cNvPicPr>
          <p:nvPr/>
        </p:nvPicPr>
        <p:blipFill>
          <a:blip r:embed="rId2"/>
          <a:stretch>
            <a:fillRect/>
          </a:stretch>
        </p:blipFill>
        <p:spPr>
          <a:xfrm>
            <a:off x="1371600" y="2084808"/>
            <a:ext cx="5562600" cy="4350239"/>
          </a:xfrm>
          <a:prstGeom prst="rect">
            <a:avLst/>
          </a:prstGeom>
        </p:spPr>
      </p:pic>
    </p:spTree>
    <p:extLst>
      <p:ext uri="{BB962C8B-B14F-4D97-AF65-F5344CB8AC3E}">
        <p14:creationId xmlns:p14="http://schemas.microsoft.com/office/powerpoint/2010/main" val="4292511298"/>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65641-81C4-4615-8E34-67BA663092CB}"/>
              </a:ext>
            </a:extLst>
          </p:cNvPr>
          <p:cNvSpPr>
            <a:spLocks noGrp="1"/>
          </p:cNvSpPr>
          <p:nvPr>
            <p:ph type="title"/>
          </p:nvPr>
        </p:nvSpPr>
        <p:spPr/>
        <p:txBody>
          <a:bodyPr/>
          <a:lstStyle/>
          <a:p>
            <a:r>
              <a:rPr lang="en-IN" dirty="0" err="1"/>
              <a:t>ResNet</a:t>
            </a:r>
            <a:r>
              <a:rPr lang="en-IN" dirty="0"/>
              <a:t> Architecture</a:t>
            </a:r>
          </a:p>
        </p:txBody>
      </p:sp>
      <p:sp>
        <p:nvSpPr>
          <p:cNvPr id="3" name="Content Placeholder 2">
            <a:extLst>
              <a:ext uri="{FF2B5EF4-FFF2-40B4-BE49-F238E27FC236}">
                <a16:creationId xmlns:a16="http://schemas.microsoft.com/office/drawing/2014/main" id="{078EA1DD-099E-4AA9-87A5-3344CD9AB205}"/>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177315F4-7312-4439-9F42-21A5F7B0BB21}"/>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256C1597-8049-4A66-9496-959F558D50BF}"/>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E9581119-6801-45C5-BD06-87F0FA688C5E}"/>
              </a:ext>
            </a:extLst>
          </p:cNvPr>
          <p:cNvSpPr>
            <a:spLocks noGrp="1"/>
          </p:cNvSpPr>
          <p:nvPr>
            <p:ph type="sldNum" sz="quarter" idx="12"/>
          </p:nvPr>
        </p:nvSpPr>
        <p:spPr/>
        <p:txBody>
          <a:bodyPr/>
          <a:lstStyle/>
          <a:p>
            <a:fld id="{BB2CE0DE-867F-455F-B20B-96D381B4AB71}" type="slidenum">
              <a:rPr lang="en-US" smtClean="0"/>
              <a:t>148</a:t>
            </a:fld>
            <a:endParaRPr lang="en-US"/>
          </a:p>
        </p:txBody>
      </p:sp>
      <p:pic>
        <p:nvPicPr>
          <p:cNvPr id="8" name="Picture 7">
            <a:extLst>
              <a:ext uri="{FF2B5EF4-FFF2-40B4-BE49-F238E27FC236}">
                <a16:creationId xmlns:a16="http://schemas.microsoft.com/office/drawing/2014/main" id="{E85A317E-BCF8-4A99-84A9-B4D7666AC09D}"/>
              </a:ext>
            </a:extLst>
          </p:cNvPr>
          <p:cNvPicPr>
            <a:picLocks noChangeAspect="1"/>
          </p:cNvPicPr>
          <p:nvPr/>
        </p:nvPicPr>
        <p:blipFill>
          <a:blip r:embed="rId2"/>
          <a:stretch>
            <a:fillRect/>
          </a:stretch>
        </p:blipFill>
        <p:spPr>
          <a:xfrm>
            <a:off x="185738" y="1262708"/>
            <a:ext cx="8763000" cy="4332584"/>
          </a:xfrm>
          <a:prstGeom prst="rect">
            <a:avLst/>
          </a:prstGeom>
        </p:spPr>
      </p:pic>
    </p:spTree>
    <p:extLst>
      <p:ext uri="{BB962C8B-B14F-4D97-AF65-F5344CB8AC3E}">
        <p14:creationId xmlns:p14="http://schemas.microsoft.com/office/powerpoint/2010/main" val="1983908698"/>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27692-08A8-07EE-3A5C-5648CA2691F5}"/>
              </a:ext>
            </a:extLst>
          </p:cNvPr>
          <p:cNvSpPr>
            <a:spLocks noGrp="1"/>
          </p:cNvSpPr>
          <p:nvPr>
            <p:ph type="title"/>
          </p:nvPr>
        </p:nvSpPr>
        <p:spPr/>
        <p:txBody>
          <a:bodyPr/>
          <a:lstStyle/>
          <a:p>
            <a:r>
              <a:rPr lang="en-IN" dirty="0"/>
              <a:t>Batch Normalization in CNN</a:t>
            </a:r>
          </a:p>
        </p:txBody>
      </p:sp>
      <p:sp>
        <p:nvSpPr>
          <p:cNvPr id="3" name="Content Placeholder 2">
            <a:extLst>
              <a:ext uri="{FF2B5EF4-FFF2-40B4-BE49-F238E27FC236}">
                <a16:creationId xmlns:a16="http://schemas.microsoft.com/office/drawing/2014/main" id="{A4A070AC-4C26-A32A-ACBA-8B2E199956B0}"/>
              </a:ext>
            </a:extLst>
          </p:cNvPr>
          <p:cNvSpPr>
            <a:spLocks noGrp="1"/>
          </p:cNvSpPr>
          <p:nvPr>
            <p:ph idx="1"/>
          </p:nvPr>
        </p:nvSpPr>
        <p:spPr/>
        <p:txBody>
          <a:bodyPr/>
          <a:lstStyle/>
          <a:p>
            <a:pPr algn="just"/>
            <a:r>
              <a:rPr lang="en-US" sz="2400" b="0" i="0" dirty="0">
                <a:solidFill>
                  <a:schemeClr val="tx1"/>
                </a:solidFill>
                <a:effectLst/>
                <a:latin typeface="+mj-lt"/>
              </a:rPr>
              <a:t>Batch Normalization is a technique used to improve the training and performance of neural networks, particularly CNNs. </a:t>
            </a:r>
          </a:p>
          <a:p>
            <a:pPr algn="just"/>
            <a:r>
              <a:rPr lang="en-US" sz="2400" dirty="0">
                <a:solidFill>
                  <a:schemeClr val="tx1"/>
                </a:solidFill>
                <a:latin typeface="+mj-lt"/>
              </a:rPr>
              <a:t>Introduced by Sergey Ioffe and Christian Szegedy in 2015, it addresses the issue known as "internal covariate shift" where the distribution of each layer's inputs changes during training, as the parameters of the previous layers change.</a:t>
            </a:r>
            <a:endParaRPr lang="en-IN" sz="2400" dirty="0">
              <a:solidFill>
                <a:schemeClr val="tx1"/>
              </a:solidFill>
              <a:latin typeface="+mj-lt"/>
            </a:endParaRPr>
          </a:p>
        </p:txBody>
      </p:sp>
      <p:sp>
        <p:nvSpPr>
          <p:cNvPr id="4" name="Date Placeholder 3">
            <a:extLst>
              <a:ext uri="{FF2B5EF4-FFF2-40B4-BE49-F238E27FC236}">
                <a16:creationId xmlns:a16="http://schemas.microsoft.com/office/drawing/2014/main" id="{07029CB5-7554-4D47-70E2-7794934F3C45}"/>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E7FFBB7F-8AA4-F7B1-2C43-E12B05F319A7}"/>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BE661258-4CC7-2661-635D-FC67F885A249}"/>
              </a:ext>
            </a:extLst>
          </p:cNvPr>
          <p:cNvSpPr>
            <a:spLocks noGrp="1"/>
          </p:cNvSpPr>
          <p:nvPr>
            <p:ph type="sldNum" sz="quarter" idx="12"/>
          </p:nvPr>
        </p:nvSpPr>
        <p:spPr/>
        <p:txBody>
          <a:bodyPr/>
          <a:lstStyle/>
          <a:p>
            <a:fld id="{BB2CE0DE-867F-455F-B20B-96D381B4AB71}" type="slidenum">
              <a:rPr lang="en-US" smtClean="0"/>
              <a:t>149</a:t>
            </a:fld>
            <a:endParaRPr lang="en-US"/>
          </a:p>
        </p:txBody>
      </p:sp>
    </p:spTree>
    <p:extLst>
      <p:ext uri="{BB962C8B-B14F-4D97-AF65-F5344CB8AC3E}">
        <p14:creationId xmlns:p14="http://schemas.microsoft.com/office/powerpoint/2010/main" val="3729650738"/>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B5EB7-CADB-23C4-F002-9C4C052F3011}"/>
              </a:ext>
            </a:extLst>
          </p:cNvPr>
          <p:cNvSpPr>
            <a:spLocks noGrp="1"/>
          </p:cNvSpPr>
          <p:nvPr>
            <p:ph type="title"/>
          </p:nvPr>
        </p:nvSpPr>
        <p:spPr/>
        <p:txBody>
          <a:bodyPr/>
          <a:lstStyle/>
          <a:p>
            <a:r>
              <a:rPr lang="en-US" sz="2400" dirty="0"/>
              <a:t>Need for Batch Normalization in CNN model</a:t>
            </a:r>
            <a:endParaRPr lang="en-IN" sz="2400" dirty="0"/>
          </a:p>
        </p:txBody>
      </p:sp>
      <p:sp>
        <p:nvSpPr>
          <p:cNvPr id="3" name="Content Placeholder 2">
            <a:extLst>
              <a:ext uri="{FF2B5EF4-FFF2-40B4-BE49-F238E27FC236}">
                <a16:creationId xmlns:a16="http://schemas.microsoft.com/office/drawing/2014/main" id="{6DEEAD37-4332-0B65-589B-66FEEF351A5E}"/>
              </a:ext>
            </a:extLst>
          </p:cNvPr>
          <p:cNvSpPr>
            <a:spLocks noGrp="1"/>
          </p:cNvSpPr>
          <p:nvPr>
            <p:ph idx="1"/>
          </p:nvPr>
        </p:nvSpPr>
        <p:spPr/>
        <p:txBody>
          <a:bodyPr/>
          <a:lstStyle/>
          <a:p>
            <a:pPr algn="just" rtl="0" fontAlgn="base">
              <a:spcAft>
                <a:spcPts val="750"/>
              </a:spcAft>
              <a:buNone/>
            </a:pPr>
            <a:r>
              <a:rPr lang="en-US" sz="1600" b="0" i="0" dirty="0">
                <a:solidFill>
                  <a:srgbClr val="273239"/>
                </a:solidFill>
                <a:effectLst/>
                <a:latin typeface="Nunito" pitchFamily="2" charset="0"/>
              </a:rPr>
              <a:t>Batch Normalization in CNN addresses several challenges encountered during training. There are following reasons highlight the need for batch normalization in CNN:</a:t>
            </a:r>
          </a:p>
          <a:p>
            <a:pPr algn="just" fontAlgn="base">
              <a:spcAft>
                <a:spcPts val="1800"/>
              </a:spcAft>
              <a:buFont typeface="+mj-lt"/>
              <a:buAutoNum type="arabicPeriod"/>
            </a:pPr>
            <a:r>
              <a:rPr lang="en-US" sz="1600" b="1" i="0" dirty="0">
                <a:solidFill>
                  <a:srgbClr val="273239"/>
                </a:solidFill>
                <a:effectLst/>
                <a:latin typeface="Nunito" pitchFamily="2" charset="0"/>
              </a:rPr>
              <a:t>Addressing Internal Covariate Shift: </a:t>
            </a:r>
            <a:r>
              <a:rPr lang="en-US" sz="1600" b="0" i="0" dirty="0">
                <a:solidFill>
                  <a:srgbClr val="273239"/>
                </a:solidFill>
                <a:effectLst/>
                <a:latin typeface="Nunito" pitchFamily="2" charset="0"/>
              </a:rPr>
              <a:t>Internal covariate shift occurs when the distribution of network activations changes as parameters are updated during training. Batch normalization addresses this by normalizing the activations in each layer, maintaining consistent mean and variance across inputs throughout training. This stabilizes training and speeds up convergence.</a:t>
            </a:r>
          </a:p>
          <a:p>
            <a:pPr algn="just" fontAlgn="base">
              <a:spcAft>
                <a:spcPts val="1800"/>
              </a:spcAft>
              <a:buFont typeface="+mj-lt"/>
              <a:buAutoNum type="arabicPeriod" startAt="2"/>
            </a:pPr>
            <a:r>
              <a:rPr lang="en-US" sz="1600" b="1" i="0" dirty="0">
                <a:solidFill>
                  <a:srgbClr val="273239"/>
                </a:solidFill>
                <a:effectLst/>
                <a:latin typeface="Nunito" pitchFamily="2" charset="0"/>
              </a:rPr>
              <a:t>Improving Gradient Flow: </a:t>
            </a:r>
            <a:r>
              <a:rPr lang="en-US" sz="1600" b="0" i="0" dirty="0">
                <a:solidFill>
                  <a:srgbClr val="273239"/>
                </a:solidFill>
                <a:effectLst/>
                <a:latin typeface="Nunito" pitchFamily="2" charset="0"/>
              </a:rPr>
              <a:t>Batch normalization contributes to stabilizing the gradient flow during backpropagation by reducing the reliance of gradients on parameter scales. As a result, training becomes faster and more stable, enabling effective training of deeper networks without facing issues like vanishing or exploding gradients.</a:t>
            </a:r>
          </a:p>
          <a:p>
            <a:pPr algn="just" fontAlgn="base">
              <a:spcAft>
                <a:spcPts val="1800"/>
              </a:spcAft>
              <a:buFont typeface="+mj-lt"/>
              <a:buAutoNum type="arabicPeriod" startAt="3"/>
            </a:pPr>
            <a:r>
              <a:rPr lang="en-US" sz="1600" b="1" i="0" dirty="0">
                <a:solidFill>
                  <a:srgbClr val="273239"/>
                </a:solidFill>
                <a:effectLst/>
                <a:latin typeface="Nunito" pitchFamily="2" charset="0"/>
              </a:rPr>
              <a:t>Regularization Effect:</a:t>
            </a:r>
            <a:r>
              <a:rPr lang="en-US" sz="1600" b="0" i="0" dirty="0">
                <a:solidFill>
                  <a:srgbClr val="273239"/>
                </a:solidFill>
                <a:effectLst/>
                <a:latin typeface="Nunito" pitchFamily="2" charset="0"/>
              </a:rPr>
              <a:t> During training, batch normalization introduces noise to the network activations, serving as a regularization technique. This noise aids in averting overfitting by injecting randomness and decreasing the network's sensitivity to minor fluctuations in the input data.</a:t>
            </a:r>
          </a:p>
          <a:p>
            <a:endParaRPr lang="en-IN" sz="1600" dirty="0"/>
          </a:p>
          <a:p>
            <a:pPr marL="0" indent="0">
              <a:buNone/>
            </a:pPr>
            <a:endParaRPr lang="en-IN" sz="1600" dirty="0"/>
          </a:p>
        </p:txBody>
      </p:sp>
      <p:sp>
        <p:nvSpPr>
          <p:cNvPr id="4" name="Date Placeholder 3">
            <a:extLst>
              <a:ext uri="{FF2B5EF4-FFF2-40B4-BE49-F238E27FC236}">
                <a16:creationId xmlns:a16="http://schemas.microsoft.com/office/drawing/2014/main" id="{00C7366C-7F4B-2044-5DB5-DD5BD3205E96}"/>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47DC5CF7-AB48-7AAF-5B7D-8E62D47A7C12}"/>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F8075E55-A194-EC1D-181B-8F908D83F32D}"/>
              </a:ext>
            </a:extLst>
          </p:cNvPr>
          <p:cNvSpPr>
            <a:spLocks noGrp="1"/>
          </p:cNvSpPr>
          <p:nvPr>
            <p:ph type="sldNum" sz="quarter" idx="12"/>
          </p:nvPr>
        </p:nvSpPr>
        <p:spPr/>
        <p:txBody>
          <a:bodyPr/>
          <a:lstStyle/>
          <a:p>
            <a:fld id="{BB2CE0DE-867F-455F-B20B-96D381B4AB71}" type="slidenum">
              <a:rPr lang="en-US" smtClean="0"/>
              <a:t>150</a:t>
            </a:fld>
            <a:endParaRPr lang="en-US"/>
          </a:p>
        </p:txBody>
      </p:sp>
    </p:spTree>
    <p:extLst>
      <p:ext uri="{BB962C8B-B14F-4D97-AF65-F5344CB8AC3E}">
        <p14:creationId xmlns:p14="http://schemas.microsoft.com/office/powerpoint/2010/main" val="2637372054"/>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6BB28-ABBC-AE52-7B2E-7AF688592B3A}"/>
              </a:ext>
            </a:extLst>
          </p:cNvPr>
          <p:cNvSpPr>
            <a:spLocks noGrp="1"/>
          </p:cNvSpPr>
          <p:nvPr>
            <p:ph type="title"/>
          </p:nvPr>
        </p:nvSpPr>
        <p:spPr/>
        <p:txBody>
          <a:bodyPr/>
          <a:lstStyle/>
          <a:p>
            <a:r>
              <a:rPr lang="en-US" sz="2400" dirty="0"/>
              <a:t>How Does Batch Normalization Work in CNN?</a:t>
            </a:r>
            <a:endParaRPr lang="en-IN" sz="2400" dirty="0"/>
          </a:p>
        </p:txBody>
      </p:sp>
      <p:sp>
        <p:nvSpPr>
          <p:cNvPr id="3" name="Content Placeholder 2">
            <a:extLst>
              <a:ext uri="{FF2B5EF4-FFF2-40B4-BE49-F238E27FC236}">
                <a16:creationId xmlns:a16="http://schemas.microsoft.com/office/drawing/2014/main" id="{1F214312-793B-07EA-217E-047D99AE2196}"/>
              </a:ext>
            </a:extLst>
          </p:cNvPr>
          <p:cNvSpPr>
            <a:spLocks noGrp="1"/>
          </p:cNvSpPr>
          <p:nvPr>
            <p:ph idx="1"/>
          </p:nvPr>
        </p:nvSpPr>
        <p:spPr/>
        <p:txBody>
          <a:bodyPr/>
          <a:lstStyle/>
          <a:p>
            <a:pPr algn="l" rtl="0" fontAlgn="base">
              <a:spcAft>
                <a:spcPts val="750"/>
              </a:spcAft>
              <a:buNone/>
            </a:pPr>
            <a:r>
              <a:rPr lang="en-US" sz="1800" b="0" i="0" dirty="0">
                <a:solidFill>
                  <a:srgbClr val="273239"/>
                </a:solidFill>
                <a:effectLst/>
                <a:latin typeface="Nunito" pitchFamily="2" charset="0"/>
              </a:rPr>
              <a:t>Batch normalization works in</a:t>
            </a:r>
            <a:r>
              <a:rPr lang="en-US" sz="1800" b="0" i="0" u="sng" dirty="0">
                <a:solidFill>
                  <a:srgbClr val="357960"/>
                </a:solidFill>
                <a:effectLst/>
                <a:latin typeface="Nunito" pitchFamily="2" charset="0"/>
              </a:rPr>
              <a:t> convolutional neural networks (CNNs)</a:t>
            </a:r>
            <a:r>
              <a:rPr lang="en-US" sz="1800" b="0" i="0" u="sng" dirty="0">
                <a:solidFill>
                  <a:srgbClr val="273239"/>
                </a:solidFill>
                <a:effectLst/>
                <a:latin typeface="Nunito" pitchFamily="2" charset="0"/>
              </a:rPr>
              <a:t> </a:t>
            </a:r>
            <a:r>
              <a:rPr lang="en-US" sz="1800" b="0" i="0" dirty="0">
                <a:solidFill>
                  <a:srgbClr val="273239"/>
                </a:solidFill>
                <a:effectLst/>
                <a:latin typeface="Nunito" pitchFamily="2" charset="0"/>
              </a:rPr>
              <a:t>by normalizing the activations of each layer across mini-batch during training. The working is discussed below:</a:t>
            </a:r>
          </a:p>
          <a:p>
            <a:pPr algn="l" fontAlgn="base">
              <a:spcBef>
                <a:spcPts val="0"/>
              </a:spcBef>
              <a:spcAft>
                <a:spcPts val="0"/>
              </a:spcAft>
              <a:buNone/>
            </a:pPr>
            <a:r>
              <a:rPr lang="en-US" sz="1800" b="1" i="0" dirty="0">
                <a:solidFill>
                  <a:srgbClr val="273239"/>
                </a:solidFill>
                <a:effectLst/>
                <a:latin typeface="Nunito" pitchFamily="2" charset="0"/>
              </a:rPr>
              <a:t>1. Normalization within Mini-Batch</a:t>
            </a:r>
          </a:p>
          <a:p>
            <a:pPr algn="l" rtl="0" fontAlgn="base">
              <a:spcAft>
                <a:spcPts val="750"/>
              </a:spcAft>
              <a:buNone/>
            </a:pPr>
            <a:r>
              <a:rPr lang="en-US" sz="1800" b="0" i="0" dirty="0">
                <a:solidFill>
                  <a:srgbClr val="273239"/>
                </a:solidFill>
                <a:effectLst/>
                <a:latin typeface="Nunito" pitchFamily="2" charset="0"/>
              </a:rPr>
              <a:t>In a CNN, each layer receives inputs from multiple channels (feature maps) and processes them through convolutional filters. Batch Normalization operates on each feature map separately, normalizing the activations across the mini-batch.</a:t>
            </a:r>
          </a:p>
          <a:p>
            <a:pPr marL="0" indent="0" algn="l" rtl="0" fontAlgn="base">
              <a:spcAft>
                <a:spcPts val="750"/>
              </a:spcAft>
              <a:buNone/>
            </a:pPr>
            <a:r>
              <a:rPr lang="en-US" sz="1800" b="0" i="0" dirty="0">
                <a:solidFill>
                  <a:srgbClr val="273239"/>
                </a:solidFill>
                <a:effectLst/>
                <a:latin typeface="Nunito" pitchFamily="2" charset="0"/>
              </a:rPr>
              <a:t>During training, batch normalization (BN) standardizes the activations of each layer by subtracting the mean and dividing by the standard deviation of each mini-batch.</a:t>
            </a:r>
          </a:p>
          <a:p>
            <a:endParaRPr lang="en-IN" sz="1800" dirty="0"/>
          </a:p>
          <a:p>
            <a:pPr marL="0" indent="0">
              <a:buNone/>
            </a:pPr>
            <a:endParaRPr lang="en-IN" sz="1800" dirty="0"/>
          </a:p>
        </p:txBody>
      </p:sp>
      <p:sp>
        <p:nvSpPr>
          <p:cNvPr id="4" name="Date Placeholder 3">
            <a:extLst>
              <a:ext uri="{FF2B5EF4-FFF2-40B4-BE49-F238E27FC236}">
                <a16:creationId xmlns:a16="http://schemas.microsoft.com/office/drawing/2014/main" id="{52BAE601-302E-FAEF-65A5-4B9B4B826EE0}"/>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360461A5-EA35-C0FA-E3C2-EBC17C32D56E}"/>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49E667BC-1389-EF8F-BAED-06780847E0BA}"/>
              </a:ext>
            </a:extLst>
          </p:cNvPr>
          <p:cNvSpPr>
            <a:spLocks noGrp="1"/>
          </p:cNvSpPr>
          <p:nvPr>
            <p:ph type="sldNum" sz="quarter" idx="12"/>
          </p:nvPr>
        </p:nvSpPr>
        <p:spPr/>
        <p:txBody>
          <a:bodyPr/>
          <a:lstStyle/>
          <a:p>
            <a:fld id="{BB2CE0DE-867F-455F-B20B-96D381B4AB71}" type="slidenum">
              <a:rPr lang="en-US" smtClean="0"/>
              <a:t>151</a:t>
            </a:fld>
            <a:endParaRPr lang="en-US"/>
          </a:p>
        </p:txBody>
      </p:sp>
      <p:pic>
        <p:nvPicPr>
          <p:cNvPr id="8" name="Picture 7">
            <a:extLst>
              <a:ext uri="{FF2B5EF4-FFF2-40B4-BE49-F238E27FC236}">
                <a16:creationId xmlns:a16="http://schemas.microsoft.com/office/drawing/2014/main" id="{6FB26A62-84AF-DC6F-69D9-509CD9541694}"/>
              </a:ext>
            </a:extLst>
          </p:cNvPr>
          <p:cNvPicPr>
            <a:picLocks noChangeAspect="1"/>
          </p:cNvPicPr>
          <p:nvPr/>
        </p:nvPicPr>
        <p:blipFill>
          <a:blip r:embed="rId3"/>
          <a:stretch>
            <a:fillRect/>
          </a:stretch>
        </p:blipFill>
        <p:spPr>
          <a:xfrm>
            <a:off x="566738" y="4713856"/>
            <a:ext cx="5687219" cy="1609950"/>
          </a:xfrm>
          <a:prstGeom prst="rect">
            <a:avLst/>
          </a:prstGeom>
        </p:spPr>
      </p:pic>
    </p:spTree>
    <p:extLst>
      <p:ext uri="{BB962C8B-B14F-4D97-AF65-F5344CB8AC3E}">
        <p14:creationId xmlns:p14="http://schemas.microsoft.com/office/powerpoint/2010/main" val="17693913"/>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44EDFB-1766-865F-210C-A1F00D4F8AA7}"/>
              </a:ext>
            </a:extLst>
          </p:cNvPr>
          <p:cNvSpPr>
            <a:spLocks noGrp="1"/>
          </p:cNvSpPr>
          <p:nvPr>
            <p:ph type="title"/>
          </p:nvPr>
        </p:nvSpPr>
        <p:spPr/>
        <p:txBody>
          <a:bodyPr/>
          <a:lstStyle/>
          <a:p>
            <a:r>
              <a:rPr lang="en-US" sz="2400" dirty="0"/>
              <a:t>How Does Batch Normalization Work in CNN?</a:t>
            </a:r>
            <a:endParaRPr lang="en-IN" sz="2400" dirty="0"/>
          </a:p>
        </p:txBody>
      </p:sp>
      <p:sp>
        <p:nvSpPr>
          <p:cNvPr id="3" name="Content Placeholder 2">
            <a:extLst>
              <a:ext uri="{FF2B5EF4-FFF2-40B4-BE49-F238E27FC236}">
                <a16:creationId xmlns:a16="http://schemas.microsoft.com/office/drawing/2014/main" id="{2739D909-0B5D-2CFD-0806-45444DF0B61A}"/>
              </a:ext>
            </a:extLst>
          </p:cNvPr>
          <p:cNvSpPr>
            <a:spLocks noGrp="1"/>
          </p:cNvSpPr>
          <p:nvPr>
            <p:ph idx="1"/>
          </p:nvPr>
        </p:nvSpPr>
        <p:spPr/>
        <p:txBody>
          <a:bodyPr/>
          <a:lstStyle/>
          <a:p>
            <a:pPr marL="0" algn="l" fontAlgn="base">
              <a:spcBef>
                <a:spcPts val="1800"/>
              </a:spcBef>
              <a:spcAft>
                <a:spcPts val="1800"/>
              </a:spcAft>
              <a:buNone/>
            </a:pPr>
            <a:r>
              <a:rPr lang="en-US" sz="1400" b="1" i="0" dirty="0">
                <a:solidFill>
                  <a:srgbClr val="273239"/>
                </a:solidFill>
                <a:effectLst/>
                <a:latin typeface="Nunito" pitchFamily="2" charset="0"/>
              </a:rPr>
              <a:t>2. Scaling and Shifting: </a:t>
            </a:r>
            <a:r>
              <a:rPr lang="en-US" sz="1400" b="0" i="0" dirty="0">
                <a:solidFill>
                  <a:srgbClr val="273239"/>
                </a:solidFill>
                <a:effectLst/>
                <a:latin typeface="Nunito" pitchFamily="2" charset="0"/>
              </a:rPr>
              <a:t>After normalization, BN adjusts the normalized activations using learned scaling and shifting parameters. These parameters enable the network to adaptively scale and shift the activations, thereby maintaining the network's ability to represent complex patterns in the data.</a:t>
            </a:r>
          </a:p>
          <a:p>
            <a:pPr marL="0" algn="l" fontAlgn="base">
              <a:spcBef>
                <a:spcPts val="1800"/>
              </a:spcBef>
              <a:spcAft>
                <a:spcPts val="1800"/>
              </a:spcAft>
              <a:buNone/>
            </a:pPr>
            <a:endParaRPr lang="en-US" sz="1400" dirty="0">
              <a:solidFill>
                <a:srgbClr val="273239"/>
              </a:solidFill>
              <a:latin typeface="Nunito" pitchFamily="2" charset="0"/>
            </a:endParaRPr>
          </a:p>
          <a:p>
            <a:pPr marL="0" algn="just" fontAlgn="base">
              <a:spcBef>
                <a:spcPts val="0"/>
              </a:spcBef>
              <a:spcAft>
                <a:spcPts val="0"/>
              </a:spcAft>
              <a:buNone/>
            </a:pPr>
            <a:endParaRPr lang="en-US" sz="1400" i="0" dirty="0">
              <a:solidFill>
                <a:srgbClr val="273239"/>
              </a:solidFill>
              <a:effectLst/>
              <a:latin typeface="Nunito" pitchFamily="2" charset="0"/>
            </a:endParaRPr>
          </a:p>
          <a:p>
            <a:pPr marL="0" algn="just" fontAlgn="base">
              <a:spcBef>
                <a:spcPts val="0"/>
              </a:spcBef>
              <a:spcAft>
                <a:spcPts val="0"/>
              </a:spcAft>
              <a:buNone/>
            </a:pPr>
            <a:r>
              <a:rPr lang="en-US" sz="1400" b="1" dirty="0">
                <a:solidFill>
                  <a:srgbClr val="273239"/>
                </a:solidFill>
                <a:latin typeface="Nunito" pitchFamily="2" charset="0"/>
              </a:rPr>
              <a:t> </a:t>
            </a:r>
          </a:p>
          <a:p>
            <a:pPr marL="0" algn="just" fontAlgn="base">
              <a:spcBef>
                <a:spcPts val="0"/>
              </a:spcBef>
              <a:spcAft>
                <a:spcPts val="0"/>
              </a:spcAft>
              <a:buNone/>
            </a:pPr>
            <a:r>
              <a:rPr lang="en-US" sz="1400" b="1" dirty="0">
                <a:solidFill>
                  <a:srgbClr val="273239"/>
                </a:solidFill>
                <a:latin typeface="Nunito" pitchFamily="2" charset="0"/>
              </a:rPr>
              <a:t>3. Learnable Parameters: </a:t>
            </a:r>
            <a:r>
              <a:rPr lang="en-US" sz="1400" dirty="0">
                <a:solidFill>
                  <a:srgbClr val="273239"/>
                </a:solidFill>
                <a:latin typeface="Nunito" pitchFamily="2" charset="0"/>
              </a:rPr>
              <a:t>The parameters γ and β are learned during training through backpropagation. This allows the network to adaptively adjust the normalization and ensure that the activations are in the appropriate range for learning.</a:t>
            </a:r>
          </a:p>
          <a:p>
            <a:pPr marL="0" algn="just" fontAlgn="base">
              <a:spcBef>
                <a:spcPts val="0"/>
              </a:spcBef>
              <a:spcAft>
                <a:spcPts val="0"/>
              </a:spcAft>
              <a:buNone/>
            </a:pPr>
            <a:endParaRPr lang="en-US" sz="1400" b="1" dirty="0">
              <a:solidFill>
                <a:srgbClr val="273239"/>
              </a:solidFill>
              <a:latin typeface="Nunito" pitchFamily="2" charset="0"/>
            </a:endParaRPr>
          </a:p>
          <a:p>
            <a:pPr marL="0" algn="just" fontAlgn="base">
              <a:spcBef>
                <a:spcPts val="0"/>
              </a:spcBef>
              <a:spcAft>
                <a:spcPts val="0"/>
              </a:spcAft>
              <a:buNone/>
            </a:pPr>
            <a:r>
              <a:rPr lang="en-US" sz="1400" b="1" i="0" dirty="0">
                <a:solidFill>
                  <a:srgbClr val="273239"/>
                </a:solidFill>
                <a:effectLst/>
                <a:latin typeface="Nunito" pitchFamily="2" charset="0"/>
              </a:rPr>
              <a:t>4. Applying Batch Normalization: </a:t>
            </a:r>
            <a:r>
              <a:rPr lang="en-US" sz="1400" b="0" i="0" dirty="0">
                <a:solidFill>
                  <a:srgbClr val="273239"/>
                </a:solidFill>
                <a:effectLst/>
                <a:latin typeface="Nunito" pitchFamily="2" charset="0"/>
              </a:rPr>
              <a:t>Batch Normalization is typically applied after the convolutional and activation layers in a CNN, before passing the outputs to the next layer. It can also be applied before or after the activation function, depending on the network architecture.</a:t>
            </a:r>
          </a:p>
          <a:p>
            <a:pPr marL="0" algn="just" fontAlgn="base">
              <a:spcBef>
                <a:spcPts val="0"/>
              </a:spcBef>
              <a:spcAft>
                <a:spcPts val="0"/>
              </a:spcAft>
              <a:buNone/>
            </a:pPr>
            <a:r>
              <a:rPr lang="en-US" sz="1400" b="1" i="0" dirty="0">
                <a:solidFill>
                  <a:srgbClr val="273239"/>
                </a:solidFill>
                <a:effectLst/>
                <a:latin typeface="Nunito" pitchFamily="2" charset="0"/>
              </a:rPr>
              <a:t>5. Training and Inference </a:t>
            </a:r>
            <a:r>
              <a:rPr lang="en-US" sz="1400" b="0" i="0" dirty="0">
                <a:solidFill>
                  <a:srgbClr val="273239"/>
                </a:solidFill>
                <a:effectLst/>
                <a:latin typeface="Nunito" pitchFamily="2" charset="0"/>
              </a:rPr>
              <a:t>During training, Batch Normalization calculates the mean and variance of each mini-batch. During inference (testing), it uses the aggregated mean and variance calculated during training to normalize the activations. This ensures consistent normalization between training and inference.</a:t>
            </a:r>
          </a:p>
          <a:p>
            <a:endParaRPr lang="en-IN" sz="800" dirty="0"/>
          </a:p>
          <a:p>
            <a:pPr marL="0" algn="l" fontAlgn="base">
              <a:spcBef>
                <a:spcPts val="1800"/>
              </a:spcBef>
              <a:spcAft>
                <a:spcPts val="1800"/>
              </a:spcAft>
              <a:buNone/>
            </a:pPr>
            <a:endParaRPr lang="en-US" sz="1400" b="0" i="0" dirty="0">
              <a:solidFill>
                <a:srgbClr val="273239"/>
              </a:solidFill>
              <a:effectLst/>
              <a:latin typeface="Nunito" pitchFamily="2" charset="0"/>
            </a:endParaRPr>
          </a:p>
          <a:p>
            <a:pPr marL="0" algn="l" fontAlgn="base">
              <a:spcBef>
                <a:spcPts val="1800"/>
              </a:spcBef>
              <a:spcAft>
                <a:spcPts val="1800"/>
              </a:spcAft>
              <a:buNone/>
            </a:pPr>
            <a:endParaRPr lang="en-US" sz="1400" b="0" i="0" dirty="0">
              <a:solidFill>
                <a:srgbClr val="273239"/>
              </a:solidFill>
              <a:effectLst/>
              <a:latin typeface="Nunito" pitchFamily="2" charset="0"/>
            </a:endParaRPr>
          </a:p>
          <a:p>
            <a:pPr marL="0"/>
            <a:endParaRPr lang="en-IN" sz="1400" dirty="0"/>
          </a:p>
          <a:p>
            <a:pPr marL="0" indent="0">
              <a:buNone/>
            </a:pPr>
            <a:endParaRPr lang="en-IN" sz="1400" dirty="0"/>
          </a:p>
        </p:txBody>
      </p:sp>
      <p:sp>
        <p:nvSpPr>
          <p:cNvPr id="4" name="Date Placeholder 3">
            <a:extLst>
              <a:ext uri="{FF2B5EF4-FFF2-40B4-BE49-F238E27FC236}">
                <a16:creationId xmlns:a16="http://schemas.microsoft.com/office/drawing/2014/main" id="{D441A6B3-4A61-D68A-3627-1EA3F9F298C5}"/>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A19585F0-68DD-CAFA-0787-C8192C15C91A}"/>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D668B87-ABC7-0CC3-C1D9-395CBCDB1DB6}"/>
              </a:ext>
            </a:extLst>
          </p:cNvPr>
          <p:cNvSpPr>
            <a:spLocks noGrp="1"/>
          </p:cNvSpPr>
          <p:nvPr>
            <p:ph type="sldNum" sz="quarter" idx="12"/>
          </p:nvPr>
        </p:nvSpPr>
        <p:spPr/>
        <p:txBody>
          <a:bodyPr/>
          <a:lstStyle/>
          <a:p>
            <a:fld id="{BB2CE0DE-867F-455F-B20B-96D381B4AB71}" type="slidenum">
              <a:rPr lang="en-US" smtClean="0"/>
              <a:t>152</a:t>
            </a:fld>
            <a:endParaRPr lang="en-US"/>
          </a:p>
        </p:txBody>
      </p:sp>
      <p:pic>
        <p:nvPicPr>
          <p:cNvPr id="8" name="Picture 7">
            <a:extLst>
              <a:ext uri="{FF2B5EF4-FFF2-40B4-BE49-F238E27FC236}">
                <a16:creationId xmlns:a16="http://schemas.microsoft.com/office/drawing/2014/main" id="{43F41CF4-A83F-642B-EC7B-47B84EB6D667}"/>
              </a:ext>
            </a:extLst>
          </p:cNvPr>
          <p:cNvPicPr>
            <a:picLocks noChangeAspect="1"/>
          </p:cNvPicPr>
          <p:nvPr/>
        </p:nvPicPr>
        <p:blipFill>
          <a:blip r:embed="rId3"/>
          <a:stretch>
            <a:fillRect/>
          </a:stretch>
        </p:blipFill>
        <p:spPr>
          <a:xfrm>
            <a:off x="1409700" y="2209800"/>
            <a:ext cx="2362200" cy="834203"/>
          </a:xfrm>
          <a:prstGeom prst="rect">
            <a:avLst/>
          </a:prstGeom>
        </p:spPr>
      </p:pic>
    </p:spTree>
    <p:extLst>
      <p:ext uri="{BB962C8B-B14F-4D97-AF65-F5344CB8AC3E}">
        <p14:creationId xmlns:p14="http://schemas.microsoft.com/office/powerpoint/2010/main" val="2358225858"/>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45100-536D-DEFF-C3F4-9EE23B15FF86}"/>
              </a:ext>
            </a:extLst>
          </p:cNvPr>
          <p:cNvSpPr>
            <a:spLocks noGrp="1"/>
          </p:cNvSpPr>
          <p:nvPr>
            <p:ph type="title"/>
          </p:nvPr>
        </p:nvSpPr>
        <p:spPr/>
        <p:txBody>
          <a:bodyPr/>
          <a:lstStyle/>
          <a:p>
            <a:r>
              <a:rPr lang="en-IN" sz="2000" dirty="0"/>
              <a:t>Group Normalization for Memory Constrained Learning Tasks</a:t>
            </a:r>
          </a:p>
        </p:txBody>
      </p:sp>
      <p:sp>
        <p:nvSpPr>
          <p:cNvPr id="3" name="Content Placeholder 2">
            <a:extLst>
              <a:ext uri="{FF2B5EF4-FFF2-40B4-BE49-F238E27FC236}">
                <a16:creationId xmlns:a16="http://schemas.microsoft.com/office/drawing/2014/main" id="{C92C3D9D-F3EF-5163-610F-E5AD251C027A}"/>
              </a:ext>
            </a:extLst>
          </p:cNvPr>
          <p:cNvSpPr>
            <a:spLocks noGrp="1"/>
          </p:cNvSpPr>
          <p:nvPr>
            <p:ph idx="1"/>
          </p:nvPr>
        </p:nvSpPr>
        <p:spPr/>
        <p:txBody>
          <a:bodyPr/>
          <a:lstStyle/>
          <a:p>
            <a:pPr marL="0" algn="just" rtl="0" fontAlgn="base">
              <a:spcBef>
                <a:spcPts val="0"/>
              </a:spcBef>
              <a:spcAft>
                <a:spcPts val="750"/>
              </a:spcAft>
              <a:buNone/>
            </a:pPr>
            <a:r>
              <a:rPr lang="en-US" sz="1800" b="1" i="0" dirty="0">
                <a:solidFill>
                  <a:srgbClr val="273239"/>
                </a:solidFill>
                <a:effectLst/>
                <a:latin typeface="Nunito" pitchFamily="2" charset="0"/>
              </a:rPr>
              <a:t>Group Normalization (GN)</a:t>
            </a:r>
            <a:r>
              <a:rPr lang="en-US" sz="1800" b="0" i="0" dirty="0">
                <a:solidFill>
                  <a:srgbClr val="273239"/>
                </a:solidFill>
                <a:effectLst/>
                <a:latin typeface="Nunito" pitchFamily="2" charset="0"/>
              </a:rPr>
              <a:t> is a technique introduced by Yuxin Wu and Kaiming He in 2018. It addresses some of the limitations posed by Batch Normalization, especially when dealing with small batch sizes that are common in high-resolution images or video processing tasks.</a:t>
            </a:r>
          </a:p>
          <a:p>
            <a:pPr marL="0" algn="just" rtl="0" fontAlgn="base">
              <a:spcBef>
                <a:spcPts val="0"/>
              </a:spcBef>
              <a:spcAft>
                <a:spcPts val="750"/>
              </a:spcAft>
              <a:buNone/>
            </a:pPr>
            <a:r>
              <a:rPr lang="en-US" sz="1800" b="0" i="0" dirty="0">
                <a:solidFill>
                  <a:srgbClr val="273239"/>
                </a:solidFill>
                <a:effectLst/>
                <a:latin typeface="Nunito" pitchFamily="2" charset="0"/>
              </a:rPr>
              <a:t>Unlike </a:t>
            </a:r>
            <a:r>
              <a:rPr lang="en-US" sz="1800" b="0" i="0" dirty="0">
                <a:solidFill>
                  <a:schemeClr val="tx1"/>
                </a:solidFill>
                <a:effectLst/>
                <a:latin typeface="Nunito" pitchFamily="2" charset="0"/>
              </a:rPr>
              <a:t>Batch Normalization</a:t>
            </a:r>
            <a:r>
              <a:rPr lang="en-US" sz="1800" b="0" i="0" dirty="0">
                <a:solidFill>
                  <a:srgbClr val="273239"/>
                </a:solidFill>
                <a:effectLst/>
                <a:latin typeface="Nunito" pitchFamily="2" charset="0"/>
              </a:rPr>
              <a:t>, which normalizes features across the batch dimension, GN divides the input channels into smaller groups and computes the mean and variance for each group independently. This method ensures consistent normalization regardless of batch size, making it especially effective for tasks like high-resolution image processing or object detection, where small batches are common.</a:t>
            </a:r>
          </a:p>
          <a:p>
            <a:pPr marL="0" indent="0" algn="just" rtl="0" fontAlgn="base">
              <a:spcBef>
                <a:spcPts val="0"/>
              </a:spcBef>
              <a:spcAft>
                <a:spcPts val="750"/>
              </a:spcAft>
              <a:buNone/>
            </a:pPr>
            <a:r>
              <a:rPr lang="en-US" sz="1800" b="0" i="0" dirty="0">
                <a:solidFill>
                  <a:srgbClr val="273239"/>
                </a:solidFill>
                <a:effectLst/>
                <a:latin typeface="Nunito" pitchFamily="2" charset="0"/>
              </a:rPr>
              <a:t>By normalizing within groups, GN enhances the training of neural networks, even in cases where batch sizes are inconsistent or small. It adjusts each group's features, computes their mean and variance, and refines the results using learnable parameters, enabling the network to learn more effectively and perform better.</a:t>
            </a:r>
          </a:p>
          <a:p>
            <a:pPr marL="0" algn="just">
              <a:spcBef>
                <a:spcPts val="0"/>
              </a:spcBef>
            </a:pPr>
            <a:endParaRPr lang="en-IN" sz="1800" dirty="0"/>
          </a:p>
          <a:p>
            <a:pPr marL="0" indent="0" algn="just">
              <a:spcBef>
                <a:spcPts val="0"/>
              </a:spcBef>
              <a:buNone/>
            </a:pPr>
            <a:endParaRPr lang="en-IN" sz="1800" dirty="0"/>
          </a:p>
        </p:txBody>
      </p:sp>
      <p:sp>
        <p:nvSpPr>
          <p:cNvPr id="4" name="Date Placeholder 3">
            <a:extLst>
              <a:ext uri="{FF2B5EF4-FFF2-40B4-BE49-F238E27FC236}">
                <a16:creationId xmlns:a16="http://schemas.microsoft.com/office/drawing/2014/main" id="{0A0A003D-C7F1-4E9B-6EF4-774775A1A5B7}"/>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032D1AF1-5FE3-B8D2-1A16-E59A6E8D55C7}"/>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7261F5FF-F359-6F79-0A2E-250CAA4EBFDC}"/>
              </a:ext>
            </a:extLst>
          </p:cNvPr>
          <p:cNvSpPr>
            <a:spLocks noGrp="1"/>
          </p:cNvSpPr>
          <p:nvPr>
            <p:ph type="sldNum" sz="quarter" idx="12"/>
          </p:nvPr>
        </p:nvSpPr>
        <p:spPr/>
        <p:txBody>
          <a:bodyPr/>
          <a:lstStyle/>
          <a:p>
            <a:fld id="{BB2CE0DE-867F-455F-B20B-96D381B4AB71}" type="slidenum">
              <a:rPr lang="en-US" smtClean="0"/>
              <a:t>153</a:t>
            </a:fld>
            <a:endParaRPr lang="en-US"/>
          </a:p>
        </p:txBody>
      </p:sp>
    </p:spTree>
    <p:extLst>
      <p:ext uri="{BB962C8B-B14F-4D97-AF65-F5344CB8AC3E}">
        <p14:creationId xmlns:p14="http://schemas.microsoft.com/office/powerpoint/2010/main" val="877381198"/>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92A27-E55B-3925-9DD1-15C6EA50209B}"/>
              </a:ext>
            </a:extLst>
          </p:cNvPr>
          <p:cNvSpPr>
            <a:spLocks noGrp="1"/>
          </p:cNvSpPr>
          <p:nvPr>
            <p:ph type="title"/>
          </p:nvPr>
        </p:nvSpPr>
        <p:spPr/>
        <p:txBody>
          <a:bodyPr/>
          <a:lstStyle/>
          <a:p>
            <a:r>
              <a:rPr lang="en-US" sz="2000" dirty="0"/>
              <a:t>How Does Group Normalization Work?</a:t>
            </a:r>
            <a:endParaRPr lang="en-IN" sz="2000" dirty="0"/>
          </a:p>
        </p:txBody>
      </p:sp>
      <p:sp>
        <p:nvSpPr>
          <p:cNvPr id="3" name="Content Placeholder 2">
            <a:extLst>
              <a:ext uri="{FF2B5EF4-FFF2-40B4-BE49-F238E27FC236}">
                <a16:creationId xmlns:a16="http://schemas.microsoft.com/office/drawing/2014/main" id="{F6B24B1F-69C1-EC17-355D-2A4E11B32671}"/>
              </a:ext>
            </a:extLst>
          </p:cNvPr>
          <p:cNvSpPr>
            <a:spLocks noGrp="1"/>
          </p:cNvSpPr>
          <p:nvPr>
            <p:ph idx="1"/>
          </p:nvPr>
        </p:nvSpPr>
        <p:spPr/>
        <p:txBody>
          <a:bodyPr/>
          <a:lstStyle/>
          <a:p>
            <a:pPr marL="0" algn="l" rtl="0" fontAlgn="base">
              <a:spcBef>
                <a:spcPts val="0"/>
              </a:spcBef>
              <a:spcAft>
                <a:spcPts val="0"/>
              </a:spcAft>
              <a:buNone/>
            </a:pPr>
            <a:r>
              <a:rPr lang="en-US" sz="1600" b="0" i="0" dirty="0">
                <a:solidFill>
                  <a:srgbClr val="273239"/>
                </a:solidFill>
                <a:effectLst/>
                <a:latin typeface="Nunito" pitchFamily="2" charset="0"/>
              </a:rPr>
              <a:t>Group Normalization divides the feature channels into </a:t>
            </a:r>
            <a:r>
              <a:rPr lang="en-US" sz="1600" b="0" i="0" dirty="0">
                <a:solidFill>
                  <a:srgbClr val="273239"/>
                </a:solidFill>
                <a:effectLst/>
                <a:latin typeface="KaTeX_Main"/>
              </a:rPr>
              <a:t>G</a:t>
            </a:r>
            <a:r>
              <a:rPr lang="en-US" sz="1600" b="0" i="1" dirty="0">
                <a:solidFill>
                  <a:srgbClr val="273239"/>
                </a:solidFill>
                <a:effectLst/>
                <a:latin typeface="KaTeX_Math"/>
              </a:rPr>
              <a:t>G</a:t>
            </a:r>
            <a:r>
              <a:rPr lang="en-US" sz="1600" b="0" i="0" dirty="0">
                <a:solidFill>
                  <a:srgbClr val="273239"/>
                </a:solidFill>
                <a:effectLst/>
                <a:latin typeface="Nunito" pitchFamily="2" charset="0"/>
              </a:rPr>
              <a:t> groups and computes the mean and variance for normalization separately within each group. This approach ensures that the normalization is independent of the batch size and focuses on the structure of the feature channels.</a:t>
            </a:r>
          </a:p>
          <a:p>
            <a:pPr marL="0" indent="0" algn="l" rtl="0" fontAlgn="base">
              <a:spcBef>
                <a:spcPts val="0"/>
              </a:spcBef>
              <a:spcAft>
                <a:spcPts val="0"/>
              </a:spcAft>
              <a:buNone/>
            </a:pPr>
            <a:r>
              <a:rPr lang="en-US" sz="1600" b="0" i="0" dirty="0">
                <a:solidFill>
                  <a:srgbClr val="273239"/>
                </a:solidFill>
                <a:effectLst/>
                <a:latin typeface="Nunito" pitchFamily="2" charset="0"/>
              </a:rPr>
              <a:t>Let the input feature map of a neural network layer be represented as:</a:t>
            </a:r>
          </a:p>
          <a:p>
            <a:pPr marL="0" indent="0" algn="l" rtl="0" fontAlgn="base">
              <a:spcBef>
                <a:spcPts val="0"/>
              </a:spcBef>
              <a:spcAft>
                <a:spcPts val="0"/>
              </a:spcAft>
              <a:buNone/>
            </a:pPr>
            <a:endParaRPr lang="en-US" sz="1600" dirty="0">
              <a:solidFill>
                <a:srgbClr val="273239"/>
              </a:solidFill>
              <a:latin typeface="Nunito" pitchFamily="2" charset="0"/>
            </a:endParaRPr>
          </a:p>
          <a:p>
            <a:pPr marL="0" indent="0" algn="l" rtl="0" fontAlgn="base">
              <a:spcBef>
                <a:spcPts val="0"/>
              </a:spcBef>
              <a:spcAft>
                <a:spcPts val="0"/>
              </a:spcAft>
              <a:buNone/>
            </a:pPr>
            <a:endParaRPr lang="en-US" sz="1600" b="0" i="0" dirty="0">
              <a:solidFill>
                <a:srgbClr val="273239"/>
              </a:solidFill>
              <a:effectLst/>
              <a:latin typeface="Nunito" pitchFamily="2" charset="0"/>
            </a:endParaRPr>
          </a:p>
          <a:p>
            <a:pPr marL="0" indent="0" algn="l" rtl="0" fontAlgn="base">
              <a:spcBef>
                <a:spcPts val="0"/>
              </a:spcBef>
              <a:spcAft>
                <a:spcPts val="0"/>
              </a:spcAft>
              <a:buNone/>
            </a:pPr>
            <a:endParaRPr lang="en-US" sz="1600" dirty="0">
              <a:solidFill>
                <a:srgbClr val="273239"/>
              </a:solidFill>
              <a:latin typeface="Nunito" pitchFamily="2" charset="0"/>
            </a:endParaRPr>
          </a:p>
          <a:p>
            <a:pPr marL="0" indent="0" algn="l" rtl="0" fontAlgn="base">
              <a:spcBef>
                <a:spcPts val="0"/>
              </a:spcBef>
              <a:spcAft>
                <a:spcPts val="0"/>
              </a:spcAft>
              <a:buNone/>
            </a:pPr>
            <a:endParaRPr lang="en-US" sz="1600" b="0" i="0" dirty="0">
              <a:solidFill>
                <a:srgbClr val="273239"/>
              </a:solidFill>
              <a:effectLst/>
              <a:latin typeface="Nunito" pitchFamily="2" charset="0"/>
            </a:endParaRPr>
          </a:p>
          <a:p>
            <a:pPr algn="l" rtl="0" fontAlgn="base">
              <a:spcAft>
                <a:spcPts val="750"/>
              </a:spcAft>
              <a:buNone/>
            </a:pPr>
            <a:r>
              <a:rPr lang="en-US" sz="1600" b="0" i="0" dirty="0">
                <a:solidFill>
                  <a:srgbClr val="273239"/>
                </a:solidFill>
                <a:effectLst/>
                <a:latin typeface="Nunito" pitchFamily="2" charset="0"/>
              </a:rPr>
              <a:t>where:</a:t>
            </a:r>
          </a:p>
          <a:p>
            <a:pPr algn="l" fontAlgn="base">
              <a:spcAft>
                <a:spcPts val="1800"/>
              </a:spcAft>
              <a:buFont typeface="Arial" panose="020B0604020202020204" pitchFamily="34" charset="0"/>
              <a:buChar char="•"/>
            </a:pPr>
            <a:r>
              <a:rPr lang="en-US" sz="1600" b="0" i="0" dirty="0">
                <a:solidFill>
                  <a:srgbClr val="273239"/>
                </a:solidFill>
                <a:effectLst/>
                <a:latin typeface="KaTeX_Main"/>
              </a:rPr>
              <a:t>N</a:t>
            </a:r>
            <a:r>
              <a:rPr lang="en-US" sz="1600" b="0" i="0" dirty="0">
                <a:solidFill>
                  <a:srgbClr val="273239"/>
                </a:solidFill>
                <a:effectLst/>
                <a:latin typeface="Nunito" pitchFamily="2" charset="0"/>
              </a:rPr>
              <a:t> is the batch size.</a:t>
            </a:r>
          </a:p>
          <a:p>
            <a:pPr algn="l" fontAlgn="base">
              <a:spcAft>
                <a:spcPts val="1800"/>
              </a:spcAft>
              <a:buFont typeface="Arial" panose="020B0604020202020204" pitchFamily="34" charset="0"/>
              <a:buChar char="•"/>
            </a:pPr>
            <a:r>
              <a:rPr lang="en-US" sz="1600" b="0" i="0" dirty="0">
                <a:solidFill>
                  <a:srgbClr val="273239"/>
                </a:solidFill>
                <a:effectLst/>
                <a:latin typeface="KaTeX_Main"/>
              </a:rPr>
              <a:t>C</a:t>
            </a:r>
            <a:r>
              <a:rPr lang="en-US" sz="1600" b="0" i="0" dirty="0">
                <a:solidFill>
                  <a:srgbClr val="273239"/>
                </a:solidFill>
                <a:effectLst/>
                <a:latin typeface="Nunito" pitchFamily="2" charset="0"/>
              </a:rPr>
              <a:t> is the number of channels.</a:t>
            </a:r>
          </a:p>
          <a:p>
            <a:pPr algn="l" fontAlgn="base">
              <a:spcAft>
                <a:spcPts val="1800"/>
              </a:spcAft>
              <a:buFont typeface="Arial" panose="020B0604020202020204" pitchFamily="34" charset="0"/>
              <a:buChar char="•"/>
            </a:pPr>
            <a:r>
              <a:rPr lang="en-US" sz="1600" b="0" i="0" dirty="0">
                <a:solidFill>
                  <a:srgbClr val="273239"/>
                </a:solidFill>
                <a:effectLst/>
                <a:latin typeface="KaTeX_Main"/>
              </a:rPr>
              <a:t>H</a:t>
            </a:r>
            <a:r>
              <a:rPr lang="en-US" sz="1600" b="0" i="0" dirty="0">
                <a:solidFill>
                  <a:srgbClr val="273239"/>
                </a:solidFill>
                <a:effectLst/>
                <a:latin typeface="Nunito" pitchFamily="2" charset="0"/>
              </a:rPr>
              <a:t> and </a:t>
            </a:r>
            <a:r>
              <a:rPr lang="en-US" sz="1600" b="0" i="0" dirty="0">
                <a:solidFill>
                  <a:srgbClr val="273239"/>
                </a:solidFill>
                <a:effectLst/>
                <a:latin typeface="KaTeX_Main"/>
              </a:rPr>
              <a:t>W</a:t>
            </a:r>
            <a:r>
              <a:rPr lang="en-US" sz="1600" i="1" dirty="0">
                <a:solidFill>
                  <a:srgbClr val="273239"/>
                </a:solidFill>
                <a:latin typeface="KaTeX_Math"/>
              </a:rPr>
              <a:t> </a:t>
            </a:r>
            <a:r>
              <a:rPr lang="en-US" sz="1600" b="0" i="0" dirty="0">
                <a:solidFill>
                  <a:srgbClr val="273239"/>
                </a:solidFill>
                <a:effectLst/>
                <a:latin typeface="Nunito" pitchFamily="2" charset="0"/>
              </a:rPr>
              <a:t>are the spatial dimensions (height and width).</a:t>
            </a:r>
          </a:p>
          <a:p>
            <a:pPr marL="0" indent="0" algn="l" rtl="0" fontAlgn="base">
              <a:spcBef>
                <a:spcPts val="0"/>
              </a:spcBef>
              <a:spcAft>
                <a:spcPts val="0"/>
              </a:spcAft>
              <a:buNone/>
            </a:pPr>
            <a:endParaRPr lang="en-US" sz="1600" b="0" i="0" dirty="0">
              <a:solidFill>
                <a:srgbClr val="273239"/>
              </a:solidFill>
              <a:effectLst/>
              <a:latin typeface="Nunito" pitchFamily="2" charset="0"/>
            </a:endParaRPr>
          </a:p>
          <a:p>
            <a:pPr marL="0" indent="0">
              <a:spcBef>
                <a:spcPts val="0"/>
              </a:spcBef>
              <a:spcAft>
                <a:spcPts val="0"/>
              </a:spcAft>
              <a:buNone/>
            </a:pPr>
            <a:endParaRPr lang="en-IN" sz="1600" dirty="0"/>
          </a:p>
        </p:txBody>
      </p:sp>
      <p:sp>
        <p:nvSpPr>
          <p:cNvPr id="4" name="Date Placeholder 3">
            <a:extLst>
              <a:ext uri="{FF2B5EF4-FFF2-40B4-BE49-F238E27FC236}">
                <a16:creationId xmlns:a16="http://schemas.microsoft.com/office/drawing/2014/main" id="{78528E5B-5AB0-0550-F8C9-AF5CE6D37A45}"/>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1158F1D2-E7E6-E750-DFAE-EC42D5EEFA80}"/>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2F278FA3-816B-660D-E19E-6DAF24BD55F9}"/>
              </a:ext>
            </a:extLst>
          </p:cNvPr>
          <p:cNvSpPr>
            <a:spLocks noGrp="1"/>
          </p:cNvSpPr>
          <p:nvPr>
            <p:ph type="sldNum" sz="quarter" idx="12"/>
          </p:nvPr>
        </p:nvSpPr>
        <p:spPr/>
        <p:txBody>
          <a:bodyPr/>
          <a:lstStyle/>
          <a:p>
            <a:fld id="{BB2CE0DE-867F-455F-B20B-96D381B4AB71}" type="slidenum">
              <a:rPr lang="en-US" smtClean="0"/>
              <a:t>154</a:t>
            </a:fld>
            <a:endParaRPr lang="en-US"/>
          </a:p>
        </p:txBody>
      </p:sp>
      <p:pic>
        <p:nvPicPr>
          <p:cNvPr id="8" name="Picture 7">
            <a:extLst>
              <a:ext uri="{FF2B5EF4-FFF2-40B4-BE49-F238E27FC236}">
                <a16:creationId xmlns:a16="http://schemas.microsoft.com/office/drawing/2014/main" id="{4ED50EB8-F639-34D4-110D-5B4AD1BA154F}"/>
              </a:ext>
            </a:extLst>
          </p:cNvPr>
          <p:cNvPicPr>
            <a:picLocks noChangeAspect="1"/>
          </p:cNvPicPr>
          <p:nvPr/>
        </p:nvPicPr>
        <p:blipFill>
          <a:blip r:embed="rId2"/>
          <a:stretch>
            <a:fillRect/>
          </a:stretch>
        </p:blipFill>
        <p:spPr>
          <a:xfrm>
            <a:off x="585561" y="2590800"/>
            <a:ext cx="1952898" cy="581106"/>
          </a:xfrm>
          <a:prstGeom prst="rect">
            <a:avLst/>
          </a:prstGeom>
        </p:spPr>
      </p:pic>
    </p:spTree>
    <p:extLst>
      <p:ext uri="{BB962C8B-B14F-4D97-AF65-F5344CB8AC3E}">
        <p14:creationId xmlns:p14="http://schemas.microsoft.com/office/powerpoint/2010/main" val="3650013139"/>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5153F-1A14-315D-8729-8223703CAD51}"/>
              </a:ext>
            </a:extLst>
          </p:cNvPr>
          <p:cNvSpPr>
            <a:spLocks noGrp="1"/>
          </p:cNvSpPr>
          <p:nvPr>
            <p:ph type="title"/>
          </p:nvPr>
        </p:nvSpPr>
        <p:spPr/>
        <p:txBody>
          <a:bodyPr/>
          <a:lstStyle/>
          <a:p>
            <a:r>
              <a:rPr lang="en-US" sz="2400" dirty="0"/>
              <a:t>How Does Group Normalization Work?</a:t>
            </a:r>
            <a:endParaRPr lang="en-IN" sz="2400" dirty="0"/>
          </a:p>
        </p:txBody>
      </p:sp>
      <p:sp>
        <p:nvSpPr>
          <p:cNvPr id="3" name="Content Placeholder 2">
            <a:extLst>
              <a:ext uri="{FF2B5EF4-FFF2-40B4-BE49-F238E27FC236}">
                <a16:creationId xmlns:a16="http://schemas.microsoft.com/office/drawing/2014/main" id="{72889383-AE53-296F-A73F-913C2CA5BCF8}"/>
              </a:ext>
            </a:extLst>
          </p:cNvPr>
          <p:cNvSpPr>
            <a:spLocks noGrp="1"/>
          </p:cNvSpPr>
          <p:nvPr>
            <p:ph idx="1"/>
          </p:nvPr>
        </p:nvSpPr>
        <p:spPr/>
        <p:txBody>
          <a:bodyPr/>
          <a:lstStyle/>
          <a:p>
            <a:pPr marL="0" indent="0">
              <a:spcBef>
                <a:spcPts val="0"/>
              </a:spcBef>
              <a:buNone/>
            </a:pPr>
            <a:r>
              <a:rPr lang="en-US" sz="2000" b="0" i="0" dirty="0">
                <a:solidFill>
                  <a:srgbClr val="273239"/>
                </a:solidFill>
                <a:effectLst/>
                <a:latin typeface="Nunito" pitchFamily="2" charset="0"/>
              </a:rPr>
              <a:t>GN divides the </a:t>
            </a:r>
            <a:r>
              <a:rPr lang="en-US" sz="2000" dirty="0">
                <a:effectLst/>
                <a:latin typeface="KaTeX_Main"/>
              </a:rPr>
              <a:t>C</a:t>
            </a:r>
            <a:r>
              <a:rPr lang="en-US" sz="2000" b="0" i="0" dirty="0">
                <a:solidFill>
                  <a:srgbClr val="273239"/>
                </a:solidFill>
                <a:effectLst/>
                <a:latin typeface="Nunito" pitchFamily="2" charset="0"/>
              </a:rPr>
              <a:t> channels into </a:t>
            </a:r>
            <a:r>
              <a:rPr lang="en-US" sz="2000" dirty="0">
                <a:effectLst/>
                <a:latin typeface="KaTeX_Main"/>
              </a:rPr>
              <a:t>G</a:t>
            </a:r>
            <a:r>
              <a:rPr lang="en-US" sz="2000" b="0" i="0" dirty="0">
                <a:solidFill>
                  <a:srgbClr val="273239"/>
                </a:solidFill>
                <a:effectLst/>
                <a:latin typeface="Nunito" pitchFamily="2" charset="0"/>
              </a:rPr>
              <a:t> groups, each containing </a:t>
            </a:r>
            <a:r>
              <a:rPr lang="en-US" sz="2000" dirty="0">
                <a:effectLst/>
                <a:latin typeface="KaTeX_Main"/>
              </a:rPr>
              <a:t>C/G</a:t>
            </a:r>
            <a:r>
              <a:rPr lang="en-US" sz="2000" b="0" i="0" dirty="0">
                <a:solidFill>
                  <a:srgbClr val="273239"/>
                </a:solidFill>
                <a:effectLst/>
                <a:latin typeface="Nunito" pitchFamily="2" charset="0"/>
              </a:rPr>
              <a:t> channels. </a:t>
            </a:r>
          </a:p>
          <a:p>
            <a:pPr marL="0" indent="0">
              <a:spcBef>
                <a:spcPts val="0"/>
              </a:spcBef>
              <a:buNone/>
            </a:pPr>
            <a:r>
              <a:rPr lang="en-US" sz="2000" b="0" i="0" dirty="0">
                <a:solidFill>
                  <a:srgbClr val="273239"/>
                </a:solidFill>
                <a:effectLst/>
                <a:latin typeface="Nunito" pitchFamily="2" charset="0"/>
              </a:rPr>
              <a:t>Each group is normalized separately using the following steps:</a:t>
            </a:r>
            <a:endParaRPr lang="en-IN" sz="2000" dirty="0"/>
          </a:p>
        </p:txBody>
      </p:sp>
      <p:sp>
        <p:nvSpPr>
          <p:cNvPr id="4" name="Date Placeholder 3">
            <a:extLst>
              <a:ext uri="{FF2B5EF4-FFF2-40B4-BE49-F238E27FC236}">
                <a16:creationId xmlns:a16="http://schemas.microsoft.com/office/drawing/2014/main" id="{593BB90D-C6AC-7C03-B44D-34CC300F3C1C}"/>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534F5056-A3BD-D0AE-1CA7-13183A10FD7F}"/>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D9C661D7-CE51-8905-82EE-7D012DF65E2E}"/>
              </a:ext>
            </a:extLst>
          </p:cNvPr>
          <p:cNvSpPr>
            <a:spLocks noGrp="1"/>
          </p:cNvSpPr>
          <p:nvPr>
            <p:ph type="sldNum" sz="quarter" idx="12"/>
          </p:nvPr>
        </p:nvSpPr>
        <p:spPr/>
        <p:txBody>
          <a:bodyPr/>
          <a:lstStyle/>
          <a:p>
            <a:fld id="{BB2CE0DE-867F-455F-B20B-96D381B4AB71}" type="slidenum">
              <a:rPr lang="en-US" smtClean="0"/>
              <a:t>155</a:t>
            </a:fld>
            <a:endParaRPr lang="en-US"/>
          </a:p>
        </p:txBody>
      </p:sp>
      <p:pic>
        <p:nvPicPr>
          <p:cNvPr id="8" name="Picture 7">
            <a:extLst>
              <a:ext uri="{FF2B5EF4-FFF2-40B4-BE49-F238E27FC236}">
                <a16:creationId xmlns:a16="http://schemas.microsoft.com/office/drawing/2014/main" id="{9790D22F-C210-F4F8-1232-FF1F39CA6B14}"/>
              </a:ext>
            </a:extLst>
          </p:cNvPr>
          <p:cNvPicPr>
            <a:picLocks noChangeAspect="1"/>
          </p:cNvPicPr>
          <p:nvPr/>
        </p:nvPicPr>
        <p:blipFill>
          <a:blip r:embed="rId2"/>
          <a:stretch>
            <a:fillRect/>
          </a:stretch>
        </p:blipFill>
        <p:spPr>
          <a:xfrm>
            <a:off x="381000" y="2183424"/>
            <a:ext cx="7848600" cy="4538051"/>
          </a:xfrm>
          <a:prstGeom prst="rect">
            <a:avLst/>
          </a:prstGeom>
        </p:spPr>
      </p:pic>
    </p:spTree>
    <p:extLst>
      <p:ext uri="{BB962C8B-B14F-4D97-AF65-F5344CB8AC3E}">
        <p14:creationId xmlns:p14="http://schemas.microsoft.com/office/powerpoint/2010/main" val="1404810202"/>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98EBF-D19D-8F55-ABF0-77018D4A968F}"/>
              </a:ext>
            </a:extLst>
          </p:cNvPr>
          <p:cNvSpPr>
            <a:spLocks noGrp="1"/>
          </p:cNvSpPr>
          <p:nvPr>
            <p:ph type="title"/>
          </p:nvPr>
        </p:nvSpPr>
        <p:spPr/>
        <p:txBody>
          <a:bodyPr/>
          <a:lstStyle/>
          <a:p>
            <a:r>
              <a:rPr lang="en-IN" dirty="0"/>
              <a:t>Applications of CNN</a:t>
            </a:r>
          </a:p>
        </p:txBody>
      </p:sp>
      <p:sp>
        <p:nvSpPr>
          <p:cNvPr id="3" name="Content Placeholder 2">
            <a:extLst>
              <a:ext uri="{FF2B5EF4-FFF2-40B4-BE49-F238E27FC236}">
                <a16:creationId xmlns:a16="http://schemas.microsoft.com/office/drawing/2014/main" id="{22207796-7338-1C0B-38A2-CB38DCFA4E2B}"/>
              </a:ext>
            </a:extLst>
          </p:cNvPr>
          <p:cNvSpPr>
            <a:spLocks noGrp="1"/>
          </p:cNvSpPr>
          <p:nvPr>
            <p:ph idx="1"/>
          </p:nvPr>
        </p:nvSpPr>
        <p:spPr/>
        <p:txBody>
          <a:bodyPr/>
          <a:lstStyle/>
          <a:p>
            <a:pPr algn="just" fontAlgn="base">
              <a:spcAft>
                <a:spcPts val="1800"/>
              </a:spcAft>
              <a:buFont typeface="Arial" panose="020B0604020202020204" pitchFamily="34" charset="0"/>
              <a:buChar char="•"/>
            </a:pPr>
            <a:r>
              <a:rPr lang="en-US" sz="1800" b="1" i="0" dirty="0">
                <a:solidFill>
                  <a:srgbClr val="273239"/>
                </a:solidFill>
                <a:effectLst/>
                <a:latin typeface="Nunito" pitchFamily="2" charset="0"/>
              </a:rPr>
              <a:t>Image classification:</a:t>
            </a:r>
            <a:r>
              <a:rPr lang="en-US" sz="1800" b="0" i="0" dirty="0">
                <a:solidFill>
                  <a:srgbClr val="273239"/>
                </a:solidFill>
                <a:effectLst/>
                <a:latin typeface="Nunito" pitchFamily="2" charset="0"/>
              </a:rPr>
              <a:t> CNNs are the state-of-the-art models for image classification. They can be used to classify images into different categories such as cats and dogs.</a:t>
            </a:r>
          </a:p>
          <a:p>
            <a:pPr algn="just" fontAlgn="base">
              <a:spcAft>
                <a:spcPts val="1800"/>
              </a:spcAft>
              <a:buFont typeface="Arial" panose="020B0604020202020204" pitchFamily="34" charset="0"/>
              <a:buChar char="•"/>
            </a:pPr>
            <a:r>
              <a:rPr lang="en-US" sz="1800" b="1" i="0" dirty="0">
                <a:solidFill>
                  <a:srgbClr val="273239"/>
                </a:solidFill>
                <a:effectLst/>
                <a:latin typeface="Nunito" pitchFamily="2" charset="0"/>
              </a:rPr>
              <a:t>Object detection:</a:t>
            </a:r>
            <a:r>
              <a:rPr lang="en-US" sz="1800" b="0" i="0" dirty="0">
                <a:solidFill>
                  <a:srgbClr val="273239"/>
                </a:solidFill>
                <a:effectLst/>
                <a:latin typeface="Nunito" pitchFamily="2" charset="0"/>
              </a:rPr>
              <a:t> It can be used to detect objects in images such as people, cars and buildings. They can also be used to localize objects in images which means that they can identify the location of an object in an image.</a:t>
            </a:r>
          </a:p>
          <a:p>
            <a:pPr algn="just" fontAlgn="base">
              <a:spcAft>
                <a:spcPts val="1800"/>
              </a:spcAft>
              <a:buFont typeface="Arial" panose="020B0604020202020204" pitchFamily="34" charset="0"/>
              <a:buChar char="•"/>
            </a:pPr>
            <a:r>
              <a:rPr lang="en-US" sz="1800" b="1" i="0" dirty="0">
                <a:solidFill>
                  <a:srgbClr val="273239"/>
                </a:solidFill>
                <a:effectLst/>
                <a:latin typeface="Nunito" pitchFamily="2" charset="0"/>
              </a:rPr>
              <a:t>Image segmentation:</a:t>
            </a:r>
            <a:r>
              <a:rPr lang="en-US" sz="1800" b="0" i="0" dirty="0">
                <a:solidFill>
                  <a:srgbClr val="273239"/>
                </a:solidFill>
                <a:effectLst/>
                <a:latin typeface="Nunito" pitchFamily="2" charset="0"/>
              </a:rPr>
              <a:t> It can be used to segment images which means that they can identify and label different objects in an image. This is useful for applications such as medical imaging and robotics.</a:t>
            </a:r>
          </a:p>
          <a:p>
            <a:pPr algn="just" fontAlgn="base">
              <a:spcAft>
                <a:spcPts val="1800"/>
              </a:spcAft>
              <a:buFont typeface="Arial" panose="020B0604020202020204" pitchFamily="34" charset="0"/>
              <a:buChar char="•"/>
            </a:pPr>
            <a:r>
              <a:rPr lang="en-US" sz="1800" b="1" i="0" dirty="0">
                <a:solidFill>
                  <a:srgbClr val="273239"/>
                </a:solidFill>
                <a:effectLst/>
                <a:latin typeface="Nunito" pitchFamily="2" charset="0"/>
              </a:rPr>
              <a:t>Video analysis:</a:t>
            </a:r>
            <a:r>
              <a:rPr lang="en-US" sz="1800" b="0" i="0" dirty="0">
                <a:solidFill>
                  <a:srgbClr val="273239"/>
                </a:solidFill>
                <a:effectLst/>
                <a:latin typeface="Nunito" pitchFamily="2" charset="0"/>
              </a:rPr>
              <a:t> It can be used to analyze videos such as tracking objects in a video or detecting events in a video. This is useful for applications such as video surveillance and traffic monitoring.</a:t>
            </a:r>
          </a:p>
          <a:p>
            <a:pPr marL="0" indent="0" algn="just">
              <a:buNone/>
            </a:pPr>
            <a:endParaRPr lang="en-IN" sz="1800" dirty="0"/>
          </a:p>
        </p:txBody>
      </p:sp>
      <p:sp>
        <p:nvSpPr>
          <p:cNvPr id="4" name="Date Placeholder 3">
            <a:extLst>
              <a:ext uri="{FF2B5EF4-FFF2-40B4-BE49-F238E27FC236}">
                <a16:creationId xmlns:a16="http://schemas.microsoft.com/office/drawing/2014/main" id="{DDA609F1-37D5-4648-0844-F244EB366BA3}"/>
              </a:ext>
            </a:extLst>
          </p:cNvPr>
          <p:cNvSpPr>
            <a:spLocks noGrp="1"/>
          </p:cNvSpPr>
          <p:nvPr>
            <p:ph type="dt" sz="half" idx="10"/>
          </p:nvPr>
        </p:nvSpPr>
        <p:spPr/>
        <p:txBody>
          <a:bodyPr/>
          <a:lstStyle/>
          <a:p>
            <a:fld id="{59A993AC-6FC6-4FD7-BA84-6FD82A41DCAC}" type="datetime3">
              <a:rPr lang="en-US" smtClean="0"/>
              <a:t>21 April 2026</a:t>
            </a:fld>
            <a:endParaRPr lang="en-US"/>
          </a:p>
        </p:txBody>
      </p:sp>
      <p:sp>
        <p:nvSpPr>
          <p:cNvPr id="5" name="Footer Placeholder 4">
            <a:extLst>
              <a:ext uri="{FF2B5EF4-FFF2-40B4-BE49-F238E27FC236}">
                <a16:creationId xmlns:a16="http://schemas.microsoft.com/office/drawing/2014/main" id="{561C399E-91B1-FE31-396C-8599B4A5D10E}"/>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1CD780C3-55C7-A186-CDF4-EAA5A2B0DCA2}"/>
              </a:ext>
            </a:extLst>
          </p:cNvPr>
          <p:cNvSpPr>
            <a:spLocks noGrp="1"/>
          </p:cNvSpPr>
          <p:nvPr>
            <p:ph type="sldNum" sz="quarter" idx="12"/>
          </p:nvPr>
        </p:nvSpPr>
        <p:spPr/>
        <p:txBody>
          <a:bodyPr/>
          <a:lstStyle/>
          <a:p>
            <a:fld id="{BB2CE0DE-867F-455F-B20B-96D381B4AB71}" type="slidenum">
              <a:rPr lang="en-US" smtClean="0"/>
              <a:t>156</a:t>
            </a:fld>
            <a:endParaRPr lang="en-US"/>
          </a:p>
        </p:txBody>
      </p:sp>
    </p:spTree>
    <p:extLst>
      <p:ext uri="{BB962C8B-B14F-4D97-AF65-F5344CB8AC3E}">
        <p14:creationId xmlns:p14="http://schemas.microsoft.com/office/powerpoint/2010/main" val="2664504752"/>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ctrTitle"/>
          </p:nvPr>
        </p:nvSpPr>
        <p:spPr/>
        <p:txBody>
          <a:bodyPr/>
          <a:lstStyle/>
          <a:p>
            <a:pPr eaLnBrk="1" hangingPunct="1"/>
            <a:r>
              <a:rPr lang="en-US" altLang="en-US" sz="2800" dirty="0"/>
              <a:t>Thanks for Listening</a:t>
            </a:r>
          </a:p>
        </p:txBody>
      </p:sp>
      <p:sp>
        <p:nvSpPr>
          <p:cNvPr id="9219" name="Rectangle 3"/>
          <p:cNvSpPr>
            <a:spLocks noGrp="1" noChangeArrowheads="1"/>
          </p:cNvSpPr>
          <p:nvPr>
            <p:ph type="subTitle" idx="1"/>
          </p:nvPr>
        </p:nvSpPr>
        <p:spPr>
          <a:xfrm>
            <a:off x="914400" y="3200400"/>
            <a:ext cx="7010400" cy="2209800"/>
          </a:xfrm>
        </p:spPr>
        <p:txBody>
          <a:bodyPr/>
          <a:lstStyle/>
          <a:p>
            <a:pPr>
              <a:lnSpc>
                <a:spcPct val="80000"/>
              </a:lnSpc>
            </a:pPr>
            <a:endParaRPr lang="en-US" sz="2000" dirty="0">
              <a:solidFill>
                <a:schemeClr val="tx1"/>
              </a:solidFill>
            </a:endParaRPr>
          </a:p>
          <a:p>
            <a:pPr>
              <a:lnSpc>
                <a:spcPct val="80000"/>
              </a:lnSpc>
            </a:pPr>
            <a:endParaRPr lang="en-US" sz="2000" dirty="0"/>
          </a:p>
          <a:p>
            <a:pPr eaLnBrk="1" hangingPunct="1">
              <a:lnSpc>
                <a:spcPct val="80000"/>
              </a:lnSpc>
            </a:pPr>
            <a:endParaRPr lang="en-US" altLang="en-US" sz="2000" dirty="0"/>
          </a:p>
          <a:p>
            <a:pPr algn="ctr">
              <a:lnSpc>
                <a:spcPct val="80000"/>
              </a:lnSpc>
            </a:pPr>
            <a:endParaRPr lang="en-US" altLang="en-US" sz="2000" dirty="0"/>
          </a:p>
        </p:txBody>
      </p:sp>
      <p:sp>
        <p:nvSpPr>
          <p:cNvPr id="2" name="Date Placeholder 1"/>
          <p:cNvSpPr>
            <a:spLocks noGrp="1"/>
          </p:cNvSpPr>
          <p:nvPr>
            <p:ph type="dt" sz="half" idx="10"/>
          </p:nvPr>
        </p:nvSpPr>
        <p:spPr/>
        <p:txBody>
          <a:bodyPr/>
          <a:lstStyle/>
          <a:p>
            <a:fld id="{D30E5203-D257-4421-8252-8FD553B4A6C3}" type="datetime3">
              <a:rPr lang="en-US" smtClean="0"/>
              <a:t>21 April 2026</a:t>
            </a:fld>
            <a:endParaRPr lang="en-US"/>
          </a:p>
        </p:txBody>
      </p:sp>
      <p:sp>
        <p:nvSpPr>
          <p:cNvPr id="3" name="Slide Number Placeholder 2"/>
          <p:cNvSpPr>
            <a:spLocks noGrp="1"/>
          </p:cNvSpPr>
          <p:nvPr>
            <p:ph type="sldNum" sz="quarter" idx="12"/>
          </p:nvPr>
        </p:nvSpPr>
        <p:spPr/>
        <p:txBody>
          <a:bodyPr/>
          <a:lstStyle/>
          <a:p>
            <a:fld id="{5DCC653A-8BE1-4A16-A754-27859D86C4A9}" type="slidenum">
              <a:rPr lang="en-US" smtClean="0"/>
              <a:t>157</a:t>
            </a:fld>
            <a:endParaRPr lang="en-US"/>
          </a:p>
        </p:txBody>
      </p:sp>
      <p:sp>
        <p:nvSpPr>
          <p:cNvPr id="4" name="Footer Placeholder 3"/>
          <p:cNvSpPr>
            <a:spLocks noGrp="1"/>
          </p:cNvSpPr>
          <p:nvPr>
            <p:ph type="ftr" sz="quarter" idx="11"/>
          </p:nvPr>
        </p:nvSpPr>
        <p:spPr/>
        <p:txBody>
          <a:bodyPr/>
          <a:lstStyle/>
          <a:p>
            <a:r>
              <a:rPr lang="en-US"/>
              <a:t>BMSCE</a:t>
            </a:r>
          </a:p>
        </p:txBody>
      </p:sp>
    </p:spTree>
    <p:extLst>
      <p:ext uri="{BB962C8B-B14F-4D97-AF65-F5344CB8AC3E}">
        <p14:creationId xmlns:p14="http://schemas.microsoft.com/office/powerpoint/2010/main" val="347076982"/>
      </p:ext>
    </p:extLst>
  </p:cSld>
  <p:clrMapOvr>
    <a:masterClrMapping/>
  </p:clrMapOvr>
  <p:transition/>
</p:sld>
</file>

<file path=ppt/theme/theme1.xml><?xml version="1.0" encoding="utf-8"?>
<a:theme xmlns:a="http://schemas.openxmlformats.org/drawingml/2006/main" name="Theme1">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Theme1</Template>
  <TotalTime>6376</TotalTime>
  <Words>8929</Words>
  <Application>Microsoft Office PowerPoint</Application>
  <PresentationFormat>On-screen Show (4:3)</PresentationFormat>
  <Paragraphs>1134</Paragraphs>
  <Slides>157</Slides>
  <Notes>29</Notes>
  <HiddenSlides>0</HiddenSlides>
  <MMClips>0</MMClips>
  <ScaleCrop>false</ScaleCrop>
  <HeadingPairs>
    <vt:vector size="6" baseType="variant">
      <vt:variant>
        <vt:lpstr>Fonts Used</vt:lpstr>
      </vt:variant>
      <vt:variant>
        <vt:i4>20</vt:i4>
      </vt:variant>
      <vt:variant>
        <vt:lpstr>Theme</vt:lpstr>
      </vt:variant>
      <vt:variant>
        <vt:i4>1</vt:i4>
      </vt:variant>
      <vt:variant>
        <vt:lpstr>Slide Titles</vt:lpstr>
      </vt:variant>
      <vt:variant>
        <vt:i4>157</vt:i4>
      </vt:variant>
    </vt:vector>
  </HeadingPairs>
  <TitlesOfParts>
    <vt:vector size="178" baseType="lpstr">
      <vt:lpstr>__CircularFontRegular_2948a7</vt:lpstr>
      <vt:lpstr>Arial</vt:lpstr>
      <vt:lpstr>Aspira Webfont</vt:lpstr>
      <vt:lpstr>Calibri</vt:lpstr>
      <vt:lpstr>Google Sans</vt:lpstr>
      <vt:lpstr>Inter</vt:lpstr>
      <vt:lpstr>KaTeX_Main</vt:lpstr>
      <vt:lpstr>KaTeX_Math</vt:lpstr>
      <vt:lpstr>Lato</vt:lpstr>
      <vt:lpstr>MathJax_Main</vt:lpstr>
      <vt:lpstr>Nunito</vt:lpstr>
      <vt:lpstr>Open Sans</vt:lpstr>
      <vt:lpstr>Roboto</vt:lpstr>
      <vt:lpstr>sohne</vt:lpstr>
      <vt:lpstr>source-serif-pro</vt:lpstr>
      <vt:lpstr>STK Bureau Sans Book</vt:lpstr>
      <vt:lpstr>Studio-Feixen-Sans</vt:lpstr>
      <vt:lpstr>Times New Roman</vt:lpstr>
      <vt:lpstr>Verdana</vt:lpstr>
      <vt:lpstr>Wingdings</vt:lpstr>
      <vt:lpstr>Theme1</vt:lpstr>
      <vt:lpstr>Deep Learning and Generative AI MSCS202</vt:lpstr>
      <vt:lpstr>Disclaimer</vt:lpstr>
      <vt:lpstr>Unit-2</vt:lpstr>
      <vt:lpstr>Convolutional Neural Networks (CNNs)</vt:lpstr>
      <vt:lpstr>Applications of CNNs</vt:lpstr>
      <vt:lpstr>CNNs: Why they are needed ?</vt:lpstr>
      <vt:lpstr>Advantage of Image data</vt:lpstr>
      <vt:lpstr>CNNs: Why they are needed ?</vt:lpstr>
      <vt:lpstr>CNNs: Why they are needed ?</vt:lpstr>
      <vt:lpstr>What is Convolution?</vt:lpstr>
      <vt:lpstr>Convolution Operation</vt:lpstr>
      <vt:lpstr>Example of Convolution Operation</vt:lpstr>
      <vt:lpstr>Key Terms in Convolution Operation</vt:lpstr>
      <vt:lpstr>Filters or Kernels: Why do we care about them?</vt:lpstr>
      <vt:lpstr>Filters or Kernels: Why do we care about them?</vt:lpstr>
      <vt:lpstr>Filters or Kernels: Why do we care about them?</vt:lpstr>
      <vt:lpstr>Filters or Kernels: Why do we care about them?</vt:lpstr>
      <vt:lpstr>Image data: Example of Vertical Edge detection</vt:lpstr>
      <vt:lpstr>An example of vertical edge detection of dark to light transition</vt:lpstr>
      <vt:lpstr>CNN: Vertical Edge Detection</vt:lpstr>
      <vt:lpstr>What About Horizontal Edges ?</vt:lpstr>
      <vt:lpstr>What About Horizontal Edges ?</vt:lpstr>
      <vt:lpstr>PowerPoint Presentation</vt:lpstr>
      <vt:lpstr>Learning to Detect Edges</vt:lpstr>
      <vt:lpstr>How to choose weights in the filter?</vt:lpstr>
      <vt:lpstr>Question</vt:lpstr>
      <vt:lpstr>CNN: Padding</vt:lpstr>
      <vt:lpstr>CNN: Padding</vt:lpstr>
      <vt:lpstr>CNN: Padding</vt:lpstr>
      <vt:lpstr>CNN: Padding</vt:lpstr>
      <vt:lpstr>CNN: Padding</vt:lpstr>
      <vt:lpstr>Valid and Same Padding</vt:lpstr>
      <vt:lpstr>Striding</vt:lpstr>
      <vt:lpstr>Striding</vt:lpstr>
      <vt:lpstr>PowerPoint Presentation</vt:lpstr>
      <vt:lpstr>PowerPoint Presentation</vt:lpstr>
      <vt:lpstr>PowerPoint Presentation</vt:lpstr>
      <vt:lpstr>Strided Convolution</vt:lpstr>
      <vt:lpstr>Strided Convolution</vt:lpstr>
      <vt:lpstr>Question</vt:lpstr>
      <vt:lpstr>Question</vt:lpstr>
      <vt:lpstr>Convolutions Over Volume</vt:lpstr>
      <vt:lpstr>PowerPoint Presentation</vt:lpstr>
      <vt:lpstr>PowerPoint Presentation</vt:lpstr>
      <vt:lpstr>PowerPoint Presentation</vt:lpstr>
      <vt:lpstr>One Layer of CNN</vt:lpstr>
      <vt:lpstr>Forward Propagation in CNN</vt:lpstr>
      <vt:lpstr>PowerPoint Presentation</vt:lpstr>
      <vt:lpstr>PowerPoint Presentation</vt:lpstr>
      <vt:lpstr>Number of Parameter calculation</vt:lpstr>
      <vt:lpstr>Calculating Number of Parameters</vt:lpstr>
      <vt:lpstr>Calculating Number of Parameters</vt:lpstr>
      <vt:lpstr>Calculating Number of Parameters</vt:lpstr>
      <vt:lpstr>Calculating the output when an image passes through a Convolutional layer</vt:lpstr>
      <vt:lpstr>Example</vt:lpstr>
      <vt:lpstr>Number of Parameter calculation</vt:lpstr>
      <vt:lpstr>Number of Parameter calculation</vt:lpstr>
      <vt:lpstr>PowerPoint Presentation</vt:lpstr>
      <vt:lpstr>PowerPoint Presentation</vt:lpstr>
      <vt:lpstr>Types of Layers in Convolutional Network</vt:lpstr>
      <vt:lpstr>Pooling</vt:lpstr>
      <vt:lpstr>Pooling</vt:lpstr>
      <vt:lpstr>Calculating the output when an image passes through a Pooling (Max) layer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Question</vt:lpstr>
      <vt:lpstr>PowerPoint Presentation</vt:lpstr>
      <vt:lpstr>PowerPoint Presentation</vt:lpstr>
      <vt:lpstr>Question</vt:lpstr>
      <vt:lpstr>Answer</vt:lpstr>
      <vt:lpstr>Key Components of a CNN</vt:lpstr>
      <vt:lpstr>Key Components of a CNN</vt:lpstr>
      <vt:lpstr>Architecture of the CNNs applied to digit recognition</vt:lpstr>
      <vt:lpstr>Popular CNN Architectures</vt:lpstr>
      <vt:lpstr>ImageNet </vt:lpstr>
      <vt:lpstr>ILSVRC winning architectures</vt:lpstr>
      <vt:lpstr>LeNet</vt:lpstr>
      <vt:lpstr>LeNet5</vt:lpstr>
      <vt:lpstr>Features of LeNet-5</vt:lpstr>
      <vt:lpstr>Architecture</vt:lpstr>
      <vt:lpstr>LeNet Architecture: First Layer</vt:lpstr>
      <vt:lpstr>LeNet Architecture: Second Layer</vt:lpstr>
      <vt:lpstr>LeNet Architecture: Third Layer</vt:lpstr>
      <vt:lpstr>LeNet Architecture: Fourth Layer</vt:lpstr>
      <vt:lpstr>LeNet Architecture: Fifth Layer</vt:lpstr>
      <vt:lpstr>LeNet Architecture: Sixth Layer</vt:lpstr>
      <vt:lpstr>LeNet Architecture: Last Layer</vt:lpstr>
      <vt:lpstr>VGG Architecture</vt:lpstr>
      <vt:lpstr>VGG-16 Architecture </vt:lpstr>
      <vt:lpstr>Features of VGG-16</vt:lpstr>
      <vt:lpstr>VGG-16 Architecture</vt:lpstr>
      <vt:lpstr>VGG-16 Architecture</vt:lpstr>
      <vt:lpstr>VGG-16 Architecture</vt:lpstr>
      <vt:lpstr>VGG-16 Architecture</vt:lpstr>
      <vt:lpstr>VGG-16 Architecture</vt:lpstr>
      <vt:lpstr>VGG-16 Architecture</vt:lpstr>
      <vt:lpstr>VGG-16 Architecture</vt:lpstr>
      <vt:lpstr>AlexNet architecture</vt:lpstr>
      <vt:lpstr>Basic architecture of AlexNet</vt:lpstr>
      <vt:lpstr>AlexNet</vt:lpstr>
      <vt:lpstr>Transfer Learning</vt:lpstr>
      <vt:lpstr>Traditional Machine Learning vs.Transfer Learning</vt:lpstr>
      <vt:lpstr>Transfer Learning for Deep Learning</vt:lpstr>
      <vt:lpstr>Off-the-shelf pre-trained models as feature extractors</vt:lpstr>
      <vt:lpstr>Off-the-shelf pre-trained models as feature extractors</vt:lpstr>
      <vt:lpstr>Fine Tuning Off-the-shelf Pre-trained Models</vt:lpstr>
      <vt:lpstr>Transfer Learning in 6 steps</vt:lpstr>
      <vt:lpstr>Transfer Learning in 6 steps</vt:lpstr>
      <vt:lpstr>Transfer Learning in 6 steps</vt:lpstr>
      <vt:lpstr>Transfer Learning in 6 steps</vt:lpstr>
      <vt:lpstr>Deep Learning Challenges</vt:lpstr>
      <vt:lpstr>Vanishing and Exploding Gradients Problems in Deep Learning</vt:lpstr>
      <vt:lpstr>Vanishing Gradients</vt:lpstr>
      <vt:lpstr>Exploding Gradients</vt:lpstr>
      <vt:lpstr>Simple Deep Neural Network </vt:lpstr>
      <vt:lpstr>Forward Propagation: Step by Step</vt:lpstr>
      <vt:lpstr>What Does This Mean?</vt:lpstr>
      <vt:lpstr>Vanishing Gradients: Why Does It Happen?</vt:lpstr>
      <vt:lpstr>Exploding: Why Does It Happen?</vt:lpstr>
      <vt:lpstr>Solutions to Vanishing and Exploding Gradients</vt:lpstr>
      <vt:lpstr>Solutions to Vanishing and Exploding Gradients</vt:lpstr>
      <vt:lpstr>Solutions to Vanishing and Exploding Gradients</vt:lpstr>
      <vt:lpstr>Solutions to Vanishing and Exploding Gradients</vt:lpstr>
      <vt:lpstr>Solutions to Vanishing and Exploding Gradients</vt:lpstr>
      <vt:lpstr>Residual Networks (ResNet)</vt:lpstr>
      <vt:lpstr>Residual Networks (ResNet)</vt:lpstr>
      <vt:lpstr>Architectural differences between a ResNet block and a standard neural network (NN) block</vt:lpstr>
      <vt:lpstr>Architectural differences between a ResNet block and a standard neural network (NN) block</vt:lpstr>
      <vt:lpstr>Example </vt:lpstr>
      <vt:lpstr>Illustration of Residual Block with Skip Connection</vt:lpstr>
      <vt:lpstr>Illustration example to show the difference between a standard neural network and a residual block with simple numerical values.</vt:lpstr>
      <vt:lpstr>PowerPoint Presentation</vt:lpstr>
      <vt:lpstr>Standard neural Network Process</vt:lpstr>
      <vt:lpstr>Residual Block Process</vt:lpstr>
      <vt:lpstr>Final Outputs Comparison</vt:lpstr>
      <vt:lpstr>ResNet Architecture </vt:lpstr>
      <vt:lpstr>Key Features of ResNet:</vt:lpstr>
      <vt:lpstr>Variants of ResNet architecture</vt:lpstr>
      <vt:lpstr>ResNet Architecture</vt:lpstr>
      <vt:lpstr>ResNet Architecture</vt:lpstr>
      <vt:lpstr>Batch Normalization in CNN</vt:lpstr>
      <vt:lpstr>Need for Batch Normalization in CNN model</vt:lpstr>
      <vt:lpstr>How Does Batch Normalization Work in CNN?</vt:lpstr>
      <vt:lpstr>How Does Batch Normalization Work in CNN?</vt:lpstr>
      <vt:lpstr>Group Normalization for Memory Constrained Learning Tasks</vt:lpstr>
      <vt:lpstr>How Does Group Normalization Work?</vt:lpstr>
      <vt:lpstr>How Does Group Normalization Work?</vt:lpstr>
      <vt:lpstr>Applications of CNN</vt:lpstr>
      <vt:lpstr>Thanks for Listening</vt:lpstr>
    </vt:vector>
  </TitlesOfParts>
  <Company>System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System</dc:creator>
  <cp:lastModifiedBy>Umadevi</cp:lastModifiedBy>
  <cp:revision>677</cp:revision>
  <cp:lastPrinted>2014-08-07T03:39:40Z</cp:lastPrinted>
  <dcterms:created xsi:type="dcterms:W3CDTF">2014-08-06T04:28:49Z</dcterms:created>
  <dcterms:modified xsi:type="dcterms:W3CDTF">2026-04-21T05:09:01Z</dcterms:modified>
</cp:coreProperties>
</file>