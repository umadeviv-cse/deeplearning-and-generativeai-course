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8"/>
  </p:notesMasterIdLst>
  <p:handoutMasterIdLst>
    <p:handoutMasterId r:id="rId189"/>
  </p:handoutMasterIdLst>
  <p:sldIdLst>
    <p:sldId id="256" r:id="rId2"/>
    <p:sldId id="748" r:id="rId3"/>
    <p:sldId id="398" r:id="rId4"/>
    <p:sldId id="696" r:id="rId5"/>
    <p:sldId id="700" r:id="rId6"/>
    <p:sldId id="701" r:id="rId7"/>
    <p:sldId id="745" r:id="rId8"/>
    <p:sldId id="292" r:id="rId9"/>
    <p:sldId id="746" r:id="rId10"/>
    <p:sldId id="747" r:id="rId11"/>
    <p:sldId id="749" r:id="rId12"/>
    <p:sldId id="750" r:id="rId13"/>
    <p:sldId id="751" r:id="rId14"/>
    <p:sldId id="752" r:id="rId15"/>
    <p:sldId id="753" r:id="rId16"/>
    <p:sldId id="754" r:id="rId17"/>
    <p:sldId id="755" r:id="rId18"/>
    <p:sldId id="756" r:id="rId19"/>
    <p:sldId id="757" r:id="rId20"/>
    <p:sldId id="759" r:id="rId21"/>
    <p:sldId id="758" r:id="rId22"/>
    <p:sldId id="760" r:id="rId23"/>
    <p:sldId id="761" r:id="rId24"/>
    <p:sldId id="762" r:id="rId25"/>
    <p:sldId id="763" r:id="rId26"/>
    <p:sldId id="767" r:id="rId27"/>
    <p:sldId id="764" r:id="rId28"/>
    <p:sldId id="765" r:id="rId29"/>
    <p:sldId id="766" r:id="rId30"/>
    <p:sldId id="768" r:id="rId31"/>
    <p:sldId id="771" r:id="rId32"/>
    <p:sldId id="770" r:id="rId33"/>
    <p:sldId id="772" r:id="rId34"/>
    <p:sldId id="773" r:id="rId35"/>
    <p:sldId id="774" r:id="rId36"/>
    <p:sldId id="775" r:id="rId37"/>
    <p:sldId id="776" r:id="rId38"/>
    <p:sldId id="777" r:id="rId39"/>
    <p:sldId id="778" r:id="rId40"/>
    <p:sldId id="779" r:id="rId41"/>
    <p:sldId id="424" r:id="rId42"/>
    <p:sldId id="780" r:id="rId43"/>
    <p:sldId id="781" r:id="rId44"/>
    <p:sldId id="803" r:id="rId45"/>
    <p:sldId id="783" r:id="rId46"/>
    <p:sldId id="784" r:id="rId47"/>
    <p:sldId id="785" r:id="rId48"/>
    <p:sldId id="786" r:id="rId49"/>
    <p:sldId id="787" r:id="rId50"/>
    <p:sldId id="788" r:id="rId51"/>
    <p:sldId id="789" r:id="rId52"/>
    <p:sldId id="790" r:id="rId53"/>
    <p:sldId id="791" r:id="rId54"/>
    <p:sldId id="792" r:id="rId55"/>
    <p:sldId id="793" r:id="rId56"/>
    <p:sldId id="798" r:id="rId57"/>
    <p:sldId id="796" r:id="rId58"/>
    <p:sldId id="797" r:id="rId59"/>
    <p:sldId id="799" r:id="rId60"/>
    <p:sldId id="800" r:id="rId61"/>
    <p:sldId id="805" r:id="rId62"/>
    <p:sldId id="807" r:id="rId63"/>
    <p:sldId id="806" r:id="rId64"/>
    <p:sldId id="794" r:id="rId65"/>
    <p:sldId id="795" r:id="rId66"/>
    <p:sldId id="818" r:id="rId67"/>
    <p:sldId id="804" r:id="rId68"/>
    <p:sldId id="801" r:id="rId69"/>
    <p:sldId id="808" r:id="rId70"/>
    <p:sldId id="817" r:id="rId71"/>
    <p:sldId id="809" r:id="rId72"/>
    <p:sldId id="810" r:id="rId73"/>
    <p:sldId id="811" r:id="rId74"/>
    <p:sldId id="812" r:id="rId75"/>
    <p:sldId id="813" r:id="rId76"/>
    <p:sldId id="814" r:id="rId77"/>
    <p:sldId id="815" r:id="rId78"/>
    <p:sldId id="854" r:id="rId79"/>
    <p:sldId id="816" r:id="rId80"/>
    <p:sldId id="802" r:id="rId81"/>
    <p:sldId id="820" r:id="rId82"/>
    <p:sldId id="821" r:id="rId83"/>
    <p:sldId id="822" r:id="rId84"/>
    <p:sldId id="823" r:id="rId85"/>
    <p:sldId id="824" r:id="rId86"/>
    <p:sldId id="825" r:id="rId87"/>
    <p:sldId id="826" r:id="rId88"/>
    <p:sldId id="827" r:id="rId89"/>
    <p:sldId id="402" r:id="rId90"/>
    <p:sldId id="410" r:id="rId91"/>
    <p:sldId id="828" r:id="rId92"/>
    <p:sldId id="829" r:id="rId93"/>
    <p:sldId id="830" r:id="rId94"/>
    <p:sldId id="831" r:id="rId95"/>
    <p:sldId id="832" r:id="rId96"/>
    <p:sldId id="833" r:id="rId97"/>
    <p:sldId id="834" r:id="rId98"/>
    <p:sldId id="835" r:id="rId99"/>
    <p:sldId id="836" r:id="rId100"/>
    <p:sldId id="837" r:id="rId101"/>
    <p:sldId id="842" r:id="rId102"/>
    <p:sldId id="838" r:id="rId103"/>
    <p:sldId id="839" r:id="rId104"/>
    <p:sldId id="840" r:id="rId105"/>
    <p:sldId id="846" r:id="rId106"/>
    <p:sldId id="847" r:id="rId107"/>
    <p:sldId id="848" r:id="rId108"/>
    <p:sldId id="849" r:id="rId109"/>
    <p:sldId id="850" r:id="rId110"/>
    <p:sldId id="851" r:id="rId111"/>
    <p:sldId id="843" r:id="rId112"/>
    <p:sldId id="844" r:id="rId113"/>
    <p:sldId id="845" r:id="rId114"/>
    <p:sldId id="902" r:id="rId115"/>
    <p:sldId id="903" r:id="rId116"/>
    <p:sldId id="904" r:id="rId117"/>
    <p:sldId id="905" r:id="rId118"/>
    <p:sldId id="852" r:id="rId119"/>
    <p:sldId id="853" r:id="rId120"/>
    <p:sldId id="878" r:id="rId121"/>
    <p:sldId id="866" r:id="rId122"/>
    <p:sldId id="867" r:id="rId123"/>
    <p:sldId id="868" r:id="rId124"/>
    <p:sldId id="869" r:id="rId125"/>
    <p:sldId id="871" r:id="rId126"/>
    <p:sldId id="870" r:id="rId127"/>
    <p:sldId id="865" r:id="rId128"/>
    <p:sldId id="872" r:id="rId129"/>
    <p:sldId id="873" r:id="rId130"/>
    <p:sldId id="874" r:id="rId131"/>
    <p:sldId id="875" r:id="rId132"/>
    <p:sldId id="876" r:id="rId133"/>
    <p:sldId id="521" r:id="rId134"/>
    <p:sldId id="523" r:id="rId135"/>
    <p:sldId id="520" r:id="rId136"/>
    <p:sldId id="526" r:id="rId137"/>
    <p:sldId id="527" r:id="rId138"/>
    <p:sldId id="565" r:id="rId139"/>
    <p:sldId id="566" r:id="rId140"/>
    <p:sldId id="567" r:id="rId141"/>
    <p:sldId id="569" r:id="rId142"/>
    <p:sldId id="879" r:id="rId143"/>
    <p:sldId id="881" r:id="rId144"/>
    <p:sldId id="880" r:id="rId145"/>
    <p:sldId id="882" r:id="rId146"/>
    <p:sldId id="515" r:id="rId147"/>
    <p:sldId id="513" r:id="rId148"/>
    <p:sldId id="855" r:id="rId149"/>
    <p:sldId id="856" r:id="rId150"/>
    <p:sldId id="857" r:id="rId151"/>
    <p:sldId id="897" r:id="rId152"/>
    <p:sldId id="898" r:id="rId153"/>
    <p:sldId id="899" r:id="rId154"/>
    <p:sldId id="900" r:id="rId155"/>
    <p:sldId id="901" r:id="rId156"/>
    <p:sldId id="883" r:id="rId157"/>
    <p:sldId id="884" r:id="rId158"/>
    <p:sldId id="864" r:id="rId159"/>
    <p:sldId id="885" r:id="rId160"/>
    <p:sldId id="954" r:id="rId161"/>
    <p:sldId id="886" r:id="rId162"/>
    <p:sldId id="887" r:id="rId163"/>
    <p:sldId id="888" r:id="rId164"/>
    <p:sldId id="889" r:id="rId165"/>
    <p:sldId id="896" r:id="rId166"/>
    <p:sldId id="956" r:id="rId167"/>
    <p:sldId id="959" r:id="rId168"/>
    <p:sldId id="960" r:id="rId169"/>
    <p:sldId id="961" r:id="rId170"/>
    <p:sldId id="962" r:id="rId171"/>
    <p:sldId id="963" r:id="rId172"/>
    <p:sldId id="958" r:id="rId173"/>
    <p:sldId id="893" r:id="rId174"/>
    <p:sldId id="890" r:id="rId175"/>
    <p:sldId id="891" r:id="rId176"/>
    <p:sldId id="895" r:id="rId177"/>
    <p:sldId id="397" r:id="rId178"/>
    <p:sldId id="769" r:id="rId179"/>
    <p:sldId id="946" r:id="rId180"/>
    <p:sldId id="947" r:id="rId181"/>
    <p:sldId id="948" r:id="rId182"/>
    <p:sldId id="949" r:id="rId183"/>
    <p:sldId id="950" r:id="rId184"/>
    <p:sldId id="951" r:id="rId185"/>
    <p:sldId id="952" r:id="rId186"/>
    <p:sldId id="953" r:id="rId18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48"/>
            <p14:sldId id="398"/>
            <p14:sldId id="696"/>
            <p14:sldId id="700"/>
            <p14:sldId id="701"/>
            <p14:sldId id="745"/>
            <p14:sldId id="292"/>
            <p14:sldId id="746"/>
            <p14:sldId id="747"/>
            <p14:sldId id="749"/>
            <p14:sldId id="750"/>
            <p14:sldId id="751"/>
            <p14:sldId id="752"/>
            <p14:sldId id="753"/>
            <p14:sldId id="754"/>
            <p14:sldId id="755"/>
            <p14:sldId id="756"/>
            <p14:sldId id="757"/>
            <p14:sldId id="759"/>
          </p14:sldIdLst>
        </p14:section>
        <p14:section name="Untitled Section" id="{F0B178FD-1802-40F5-8200-8345810CD19E}">
          <p14:sldIdLst>
            <p14:sldId id="758"/>
            <p14:sldId id="760"/>
            <p14:sldId id="761"/>
            <p14:sldId id="762"/>
            <p14:sldId id="763"/>
            <p14:sldId id="767"/>
            <p14:sldId id="764"/>
            <p14:sldId id="765"/>
            <p14:sldId id="766"/>
            <p14:sldId id="768"/>
            <p14:sldId id="771"/>
            <p14:sldId id="770"/>
            <p14:sldId id="772"/>
            <p14:sldId id="773"/>
            <p14:sldId id="774"/>
            <p14:sldId id="775"/>
            <p14:sldId id="776"/>
            <p14:sldId id="777"/>
            <p14:sldId id="778"/>
            <p14:sldId id="779"/>
            <p14:sldId id="424"/>
            <p14:sldId id="780"/>
            <p14:sldId id="781"/>
            <p14:sldId id="803"/>
            <p14:sldId id="783"/>
            <p14:sldId id="784"/>
            <p14:sldId id="785"/>
            <p14:sldId id="786"/>
            <p14:sldId id="787"/>
            <p14:sldId id="788"/>
            <p14:sldId id="789"/>
            <p14:sldId id="790"/>
            <p14:sldId id="791"/>
            <p14:sldId id="792"/>
            <p14:sldId id="793"/>
            <p14:sldId id="798"/>
            <p14:sldId id="796"/>
            <p14:sldId id="797"/>
            <p14:sldId id="799"/>
            <p14:sldId id="800"/>
            <p14:sldId id="805"/>
            <p14:sldId id="807"/>
            <p14:sldId id="806"/>
            <p14:sldId id="794"/>
            <p14:sldId id="795"/>
            <p14:sldId id="818"/>
            <p14:sldId id="804"/>
            <p14:sldId id="801"/>
            <p14:sldId id="808"/>
            <p14:sldId id="817"/>
            <p14:sldId id="809"/>
            <p14:sldId id="810"/>
            <p14:sldId id="811"/>
            <p14:sldId id="812"/>
            <p14:sldId id="813"/>
            <p14:sldId id="814"/>
            <p14:sldId id="815"/>
            <p14:sldId id="854"/>
            <p14:sldId id="816"/>
            <p14:sldId id="802"/>
            <p14:sldId id="820"/>
            <p14:sldId id="821"/>
            <p14:sldId id="822"/>
            <p14:sldId id="823"/>
            <p14:sldId id="824"/>
            <p14:sldId id="825"/>
            <p14:sldId id="826"/>
            <p14:sldId id="827"/>
            <p14:sldId id="402"/>
            <p14:sldId id="410"/>
            <p14:sldId id="828"/>
            <p14:sldId id="829"/>
            <p14:sldId id="830"/>
            <p14:sldId id="831"/>
            <p14:sldId id="832"/>
            <p14:sldId id="833"/>
            <p14:sldId id="834"/>
            <p14:sldId id="835"/>
            <p14:sldId id="836"/>
            <p14:sldId id="837"/>
            <p14:sldId id="842"/>
            <p14:sldId id="838"/>
            <p14:sldId id="839"/>
            <p14:sldId id="840"/>
            <p14:sldId id="846"/>
            <p14:sldId id="847"/>
            <p14:sldId id="848"/>
            <p14:sldId id="849"/>
            <p14:sldId id="850"/>
            <p14:sldId id="851"/>
            <p14:sldId id="843"/>
            <p14:sldId id="844"/>
            <p14:sldId id="845"/>
            <p14:sldId id="902"/>
            <p14:sldId id="903"/>
            <p14:sldId id="904"/>
            <p14:sldId id="905"/>
            <p14:sldId id="852"/>
            <p14:sldId id="853"/>
            <p14:sldId id="878"/>
            <p14:sldId id="866"/>
            <p14:sldId id="867"/>
            <p14:sldId id="868"/>
            <p14:sldId id="869"/>
            <p14:sldId id="871"/>
            <p14:sldId id="870"/>
            <p14:sldId id="865"/>
            <p14:sldId id="872"/>
            <p14:sldId id="873"/>
            <p14:sldId id="874"/>
            <p14:sldId id="875"/>
            <p14:sldId id="876"/>
            <p14:sldId id="521"/>
            <p14:sldId id="523"/>
            <p14:sldId id="520"/>
            <p14:sldId id="526"/>
            <p14:sldId id="527"/>
            <p14:sldId id="565"/>
            <p14:sldId id="566"/>
            <p14:sldId id="567"/>
            <p14:sldId id="569"/>
            <p14:sldId id="879"/>
            <p14:sldId id="881"/>
            <p14:sldId id="880"/>
            <p14:sldId id="882"/>
            <p14:sldId id="515"/>
            <p14:sldId id="513"/>
            <p14:sldId id="855"/>
            <p14:sldId id="856"/>
            <p14:sldId id="857"/>
            <p14:sldId id="897"/>
            <p14:sldId id="898"/>
            <p14:sldId id="899"/>
            <p14:sldId id="900"/>
            <p14:sldId id="901"/>
            <p14:sldId id="883"/>
            <p14:sldId id="884"/>
            <p14:sldId id="864"/>
            <p14:sldId id="885"/>
            <p14:sldId id="954"/>
            <p14:sldId id="886"/>
            <p14:sldId id="887"/>
            <p14:sldId id="888"/>
            <p14:sldId id="889"/>
            <p14:sldId id="896"/>
            <p14:sldId id="956"/>
            <p14:sldId id="959"/>
            <p14:sldId id="960"/>
            <p14:sldId id="961"/>
            <p14:sldId id="962"/>
            <p14:sldId id="963"/>
            <p14:sldId id="958"/>
            <p14:sldId id="893"/>
            <p14:sldId id="890"/>
            <p14:sldId id="891"/>
            <p14:sldId id="895"/>
            <p14:sldId id="397"/>
            <p14:sldId id="769"/>
            <p14:sldId id="946"/>
            <p14:sldId id="947"/>
            <p14:sldId id="948"/>
            <p14:sldId id="949"/>
            <p14:sldId id="950"/>
            <p14:sldId id="951"/>
            <p14:sldId id="952"/>
            <p14:sldId id="95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000099"/>
    <a:srgbClr val="0000FF"/>
    <a:srgbClr val="003366"/>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01" autoAdjust="0"/>
  </p:normalViewPr>
  <p:slideViewPr>
    <p:cSldViewPr>
      <p:cViewPr varScale="1">
        <p:scale>
          <a:sx n="93" d="100"/>
          <a:sy n="93" d="100"/>
        </p:scale>
        <p:origin x="2124" y="78"/>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2796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5/7/2026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5/7/2026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4</a:t>
            </a:fld>
            <a:endParaRPr lang="en-US"/>
          </a:p>
        </p:txBody>
      </p:sp>
    </p:spTree>
    <p:extLst>
      <p:ext uri="{BB962C8B-B14F-4D97-AF65-F5344CB8AC3E}">
        <p14:creationId xmlns:p14="http://schemas.microsoft.com/office/powerpoint/2010/main" val="2673540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5</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http://adilmoujahid.com/posts/2016/06/introduction-deep-learning-python-caffe/</a:t>
            </a:r>
          </a:p>
        </p:txBody>
      </p:sp>
      <p:sp>
        <p:nvSpPr>
          <p:cNvPr id="4" name="Slide Number Placeholder 3"/>
          <p:cNvSpPr>
            <a:spLocks noGrp="1"/>
          </p:cNvSpPr>
          <p:nvPr>
            <p:ph type="sldNum" sz="quarter" idx="10"/>
          </p:nvPr>
        </p:nvSpPr>
        <p:spPr/>
        <p:txBody>
          <a:bodyPr/>
          <a:lstStyle/>
          <a:p>
            <a:fld id="{7238D3E4-A11F-4202-B7F2-F7B0418B84A9}" type="slidenum">
              <a:rPr lang="en-US" smtClean="0"/>
              <a:t>6</a:t>
            </a:fld>
            <a:endParaRPr lang="en-US"/>
          </a:p>
        </p:txBody>
      </p:sp>
    </p:spTree>
    <p:extLst>
      <p:ext uri="{BB962C8B-B14F-4D97-AF65-F5344CB8AC3E}">
        <p14:creationId xmlns:p14="http://schemas.microsoft.com/office/powerpoint/2010/main" val="1394935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8</a:t>
            </a:fld>
            <a:endParaRPr lang="en-US"/>
          </a:p>
        </p:txBody>
      </p:sp>
    </p:spTree>
    <p:extLst>
      <p:ext uri="{BB962C8B-B14F-4D97-AF65-F5344CB8AC3E}">
        <p14:creationId xmlns:p14="http://schemas.microsoft.com/office/powerpoint/2010/main" val="3542221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139619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1551466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2506810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41</a:t>
            </a:fld>
            <a:endParaRPr lang="en-US"/>
          </a:p>
        </p:txBody>
      </p:sp>
    </p:spTree>
    <p:extLst>
      <p:ext uri="{BB962C8B-B14F-4D97-AF65-F5344CB8AC3E}">
        <p14:creationId xmlns:p14="http://schemas.microsoft.com/office/powerpoint/2010/main" val="3802952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auto"/>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169136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auto"/>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152357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https://medium.com/technology-invention-and-more/how-to-build-a-simple-neural-network-in-9-lines-of-python-code-cc8f23647ca1</a:t>
            </a:r>
          </a:p>
        </p:txBody>
      </p:sp>
      <p:sp>
        <p:nvSpPr>
          <p:cNvPr id="4" name="Slide Number Placeholder 3"/>
          <p:cNvSpPr>
            <a:spLocks noGrp="1"/>
          </p:cNvSpPr>
          <p:nvPr>
            <p:ph type="sldNum" sz="quarter" idx="10"/>
          </p:nvPr>
        </p:nvSpPr>
        <p:spPr/>
        <p:txBody>
          <a:bodyPr/>
          <a:lstStyle/>
          <a:p>
            <a:fld id="{7238D3E4-A11F-4202-B7F2-F7B0418B84A9}" type="slidenum">
              <a:rPr lang="en-US" smtClean="0"/>
              <a:t>90</a:t>
            </a:fld>
            <a:endParaRPr lang="en-US"/>
          </a:p>
        </p:txBody>
      </p:sp>
    </p:spTree>
    <p:extLst>
      <p:ext uri="{BB962C8B-B14F-4D97-AF65-F5344CB8AC3E}">
        <p14:creationId xmlns:p14="http://schemas.microsoft.com/office/powerpoint/2010/main" val="2489889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1340491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https://medium.com/emergent-future/spam-detection-using-neural-networks-in-python-9b2b2a062272</a:t>
            </a:r>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133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https://medium.com/emergent-future/spam-detection-using-neural-networks-in-python-9b2b2a062272</a:t>
            </a:r>
          </a:p>
        </p:txBody>
      </p:sp>
      <p:sp>
        <p:nvSpPr>
          <p:cNvPr id="4" name="Slide Number Placeholder 3"/>
          <p:cNvSpPr>
            <a:spLocks noGrp="1"/>
          </p:cNvSpPr>
          <p:nvPr>
            <p:ph type="sldNum" sz="quarter" idx="10"/>
          </p:nvPr>
        </p:nvSpPr>
        <p:spPr/>
        <p:txBody>
          <a:bodyPr/>
          <a:lstStyle/>
          <a:p>
            <a:fld id="{7238D3E4-A11F-4202-B7F2-F7B0418B84A9}" type="slidenum">
              <a:rPr lang="en-US" smtClean="0"/>
              <a:t>134</a:t>
            </a:fld>
            <a:endParaRPr lang="en-US"/>
          </a:p>
        </p:txBody>
      </p:sp>
    </p:spTree>
    <p:extLst>
      <p:ext uri="{BB962C8B-B14F-4D97-AF65-F5344CB8AC3E}">
        <p14:creationId xmlns:p14="http://schemas.microsoft.com/office/powerpoint/2010/main" val="4006735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https://medium.com/emergent-future/spam-detection-using-neural-networks-in-python-9b2b2a062272</a:t>
            </a:r>
          </a:p>
        </p:txBody>
      </p:sp>
      <p:sp>
        <p:nvSpPr>
          <p:cNvPr id="4" name="Slide Number Placeholder 3"/>
          <p:cNvSpPr>
            <a:spLocks noGrp="1"/>
          </p:cNvSpPr>
          <p:nvPr>
            <p:ph type="sldNum" sz="quarter" idx="10"/>
          </p:nvPr>
        </p:nvSpPr>
        <p:spPr/>
        <p:txBody>
          <a:bodyPr/>
          <a:lstStyle/>
          <a:p>
            <a:fld id="{7238D3E4-A11F-4202-B7F2-F7B0418B84A9}" type="slidenum">
              <a:rPr lang="en-US" smtClean="0"/>
              <a:t>135</a:t>
            </a:fld>
            <a:endParaRPr lang="en-US"/>
          </a:p>
        </p:txBody>
      </p:sp>
    </p:spTree>
    <p:extLst>
      <p:ext uri="{BB962C8B-B14F-4D97-AF65-F5344CB8AC3E}">
        <p14:creationId xmlns:p14="http://schemas.microsoft.com/office/powerpoint/2010/main" val="2861993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https://medium.com/emergent-future/spam-detection-using-neural- networks-in-python-9b2b2a062272  </a:t>
            </a:r>
          </a:p>
          <a:p>
            <a:endParaRPr lang="en-US" dirty="0"/>
          </a:p>
          <a:p>
            <a:r>
              <a:rPr lang="en-US" dirty="0" err="1"/>
              <a:t>np.random.random</a:t>
            </a:r>
            <a:r>
              <a:rPr lang="en-US" dirty="0"/>
              <a:t>((dim1, dim2)) generates random values in [0,1)[0, 1)[0,1)</a:t>
            </a:r>
          </a:p>
          <a:p>
            <a:r>
              <a:rPr lang="en-US" dirty="0"/>
              <a:t>Multiplying by 2 and subtracting 1 maps them to [−1,1)[-1, 1)[−1,1)</a:t>
            </a:r>
          </a:p>
          <a:p>
            <a:r>
              <a:rPr lang="en-US" dirty="0"/>
              <a:t>So weight0 is a </a:t>
            </a:r>
            <a:r>
              <a:rPr lang="en-US" b="1" dirty="0"/>
              <a:t>(dim1 × dim2)</a:t>
            </a:r>
            <a:r>
              <a:rPr lang="en-US" dirty="0"/>
              <a:t> matrix.</a:t>
            </a:r>
          </a:p>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136</a:t>
            </a:fld>
            <a:endParaRPr lang="en-US"/>
          </a:p>
        </p:txBody>
      </p:sp>
    </p:spTree>
    <p:extLst>
      <p:ext uri="{BB962C8B-B14F-4D97-AF65-F5344CB8AC3E}">
        <p14:creationId xmlns:p14="http://schemas.microsoft.com/office/powerpoint/2010/main" val="2861993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https://medium.com/emergent-future/spam-detection-using-neural-networks-in-python-9b2b2a062272</a:t>
            </a:r>
          </a:p>
        </p:txBody>
      </p:sp>
      <p:sp>
        <p:nvSpPr>
          <p:cNvPr id="4" name="Slide Number Placeholder 3"/>
          <p:cNvSpPr>
            <a:spLocks noGrp="1"/>
          </p:cNvSpPr>
          <p:nvPr>
            <p:ph type="sldNum" sz="quarter" idx="10"/>
          </p:nvPr>
        </p:nvSpPr>
        <p:spPr/>
        <p:txBody>
          <a:bodyPr/>
          <a:lstStyle/>
          <a:p>
            <a:fld id="{7238D3E4-A11F-4202-B7F2-F7B0418B84A9}" type="slidenum">
              <a:rPr lang="en-US" smtClean="0"/>
              <a:t>137</a:t>
            </a:fld>
            <a:endParaRPr lang="en-US"/>
          </a:p>
        </p:txBody>
      </p:sp>
    </p:spTree>
    <p:extLst>
      <p:ext uri="{BB962C8B-B14F-4D97-AF65-F5344CB8AC3E}">
        <p14:creationId xmlns:p14="http://schemas.microsoft.com/office/powerpoint/2010/main" val="2861993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141</a:t>
            </a:fld>
            <a:endParaRPr lang="en-US"/>
          </a:p>
        </p:txBody>
      </p:sp>
    </p:spTree>
    <p:extLst>
      <p:ext uri="{BB962C8B-B14F-4D97-AF65-F5344CB8AC3E}">
        <p14:creationId xmlns:p14="http://schemas.microsoft.com/office/powerpoint/2010/main" val="3477421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https://codelabs.developers.google.com/codelabs/cloud-tensorflow-mnist/#3</a:t>
            </a:r>
          </a:p>
        </p:txBody>
      </p:sp>
      <p:sp>
        <p:nvSpPr>
          <p:cNvPr id="4" name="Slide Number Placeholder 3"/>
          <p:cNvSpPr>
            <a:spLocks noGrp="1"/>
          </p:cNvSpPr>
          <p:nvPr>
            <p:ph type="sldNum" sz="quarter" idx="10"/>
          </p:nvPr>
        </p:nvSpPr>
        <p:spPr/>
        <p:txBody>
          <a:bodyPr/>
          <a:lstStyle/>
          <a:p>
            <a:fld id="{7238D3E4-A11F-4202-B7F2-F7B0418B84A9}" type="slidenum">
              <a:rPr lang="en-US" smtClean="0"/>
              <a:t>146</a:t>
            </a:fld>
            <a:endParaRPr lang="en-US"/>
          </a:p>
        </p:txBody>
      </p:sp>
    </p:spTree>
    <p:extLst>
      <p:ext uri="{BB962C8B-B14F-4D97-AF65-F5344CB8AC3E}">
        <p14:creationId xmlns:p14="http://schemas.microsoft.com/office/powerpoint/2010/main" val="27038135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https://codelabs.developers.google.com/codelabs/cloud-tensorflow-mnist/#3</a:t>
            </a:r>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147</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160</a:t>
            </a:fld>
            <a:endParaRPr lang="en-US"/>
          </a:p>
        </p:txBody>
      </p:sp>
    </p:spTree>
    <p:extLst>
      <p:ext uri="{BB962C8B-B14F-4D97-AF65-F5344CB8AC3E}">
        <p14:creationId xmlns:p14="http://schemas.microsoft.com/office/powerpoint/2010/main" val="766021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https://www.comet.com/site/blog/4-techniques-to-tackle-overfitting-in-deep-neural-networks/</a:t>
            </a:r>
          </a:p>
        </p:txBody>
      </p:sp>
      <p:sp>
        <p:nvSpPr>
          <p:cNvPr id="4" name="Slide Number Placeholder 3"/>
          <p:cNvSpPr>
            <a:spLocks noGrp="1"/>
          </p:cNvSpPr>
          <p:nvPr>
            <p:ph type="sldNum" sz="quarter" idx="5"/>
          </p:nvPr>
        </p:nvSpPr>
        <p:spPr/>
        <p:txBody>
          <a:bodyPr/>
          <a:lstStyle/>
          <a:p>
            <a:fld id="{C1EDAD17-33F0-4D65-82A5-1BBB03DED615}" type="slidenum">
              <a:rPr lang="en-US" smtClean="0"/>
              <a:t>162</a:t>
            </a:fld>
            <a:endParaRPr lang="en-US"/>
          </a:p>
        </p:txBody>
      </p:sp>
    </p:spTree>
    <p:extLst>
      <p:ext uri="{BB962C8B-B14F-4D97-AF65-F5344CB8AC3E}">
        <p14:creationId xmlns:p14="http://schemas.microsoft.com/office/powerpoint/2010/main" val="33092919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modeling the data, a low bias and high variance scenario is referred to as overfitting. To handle this, regularization techniques trade more bias for less variance. Effective regularization is one that strikes the optimal balance between bias and variation, with the final result being a notable decrease in variance at the least possible cost to bias. This would imply low variation without significantly raising the bias value, to put it another way.</a:t>
            </a:r>
          </a:p>
          <a:p>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Additionally, Regularization orders possible models from weakest overfit to biggest and adds penalties to more complicated models. Regularization makes the assumption that the least weights could result in simpler models and help prevent overfitting.</a:t>
            </a:r>
          </a:p>
          <a:p>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166</a:t>
            </a:fld>
            <a:endParaRPr lang="en-US"/>
          </a:p>
        </p:txBody>
      </p:sp>
    </p:spTree>
    <p:extLst>
      <p:ext uri="{BB962C8B-B14F-4D97-AF65-F5344CB8AC3E}">
        <p14:creationId xmlns:p14="http://schemas.microsoft.com/office/powerpoint/2010/main" val="3739560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A0D6-0A5B-808C-4A3A-FD203430B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9FD6-2418-120C-B09D-53CDF82CC302}"/>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0D8DE5F4-4A6C-F5B0-8BAC-08F43E39FB1B}"/>
              </a:ext>
            </a:extLst>
          </p:cNvPr>
          <p:cNvSpPr>
            <a:spLocks noGrp="1"/>
          </p:cNvSpPr>
          <p:nvPr>
            <p:ph type="body" idx="1"/>
          </p:nvPr>
        </p:nvSpPr>
        <p:spPr/>
        <p:txBody>
          <a:bodyPr/>
          <a:lstStyle/>
          <a:p>
            <a:r>
              <a:rPr lang="en-IN" dirty="0"/>
              <a:t>https://medium.com/the-ml-intuition/l1-vs-l2-regularization-vs-weight-decay-key-differences-every-ml-engineer-must-know-5f13625301cf</a:t>
            </a:r>
          </a:p>
          <a:p>
            <a:endParaRPr lang="en-IN" dirty="0"/>
          </a:p>
        </p:txBody>
      </p:sp>
      <p:sp>
        <p:nvSpPr>
          <p:cNvPr id="4" name="Slide Number Placeholder 3">
            <a:extLst>
              <a:ext uri="{FF2B5EF4-FFF2-40B4-BE49-F238E27FC236}">
                <a16:creationId xmlns:a16="http://schemas.microsoft.com/office/drawing/2014/main" id="{42D1E1F8-CEC9-36DE-D357-F754F9E1CE91}"/>
              </a:ext>
            </a:extLst>
          </p:cNvPr>
          <p:cNvSpPr>
            <a:spLocks noGrp="1"/>
          </p:cNvSpPr>
          <p:nvPr>
            <p:ph type="sldNum" sz="quarter" idx="5"/>
          </p:nvPr>
        </p:nvSpPr>
        <p:spPr/>
        <p:txBody>
          <a:bodyPr/>
          <a:lstStyle/>
          <a:p>
            <a:fld id="{C1EDAD17-33F0-4D65-82A5-1BBB03DED615}" type="slidenum">
              <a:rPr lang="en-US" smtClean="0"/>
              <a:t>168</a:t>
            </a:fld>
            <a:endParaRPr lang="en-US"/>
          </a:p>
        </p:txBody>
      </p:sp>
    </p:spTree>
    <p:extLst>
      <p:ext uri="{BB962C8B-B14F-4D97-AF65-F5344CB8AC3E}">
        <p14:creationId xmlns:p14="http://schemas.microsoft.com/office/powerpoint/2010/main" val="2684102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a:t>https://medium.com/analytics-vidhya/regularization-understanding-l1-and-l2-regularization-for-deep-learning-a7b9e4a409bf</a:t>
            </a:r>
          </a:p>
        </p:txBody>
      </p:sp>
      <p:sp>
        <p:nvSpPr>
          <p:cNvPr id="4" name="Slide Number Placeholder 3"/>
          <p:cNvSpPr>
            <a:spLocks noGrp="1"/>
          </p:cNvSpPr>
          <p:nvPr>
            <p:ph type="sldNum" sz="quarter" idx="5"/>
          </p:nvPr>
        </p:nvSpPr>
        <p:spPr/>
        <p:txBody>
          <a:bodyPr/>
          <a:lstStyle/>
          <a:p>
            <a:fld id="{C1EDAD17-33F0-4D65-82A5-1BBB03DED615}" type="slidenum">
              <a:rPr lang="en-US" smtClean="0"/>
              <a:t>172</a:t>
            </a:fld>
            <a:endParaRPr lang="en-US"/>
          </a:p>
        </p:txBody>
      </p:sp>
    </p:spTree>
    <p:extLst>
      <p:ext uri="{BB962C8B-B14F-4D97-AF65-F5344CB8AC3E}">
        <p14:creationId xmlns:p14="http://schemas.microsoft.com/office/powerpoint/2010/main" val="722768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174</a:t>
            </a:fld>
            <a:endParaRPr lang="en-US"/>
          </a:p>
        </p:txBody>
      </p:sp>
    </p:spTree>
    <p:extLst>
      <p:ext uri="{BB962C8B-B14F-4D97-AF65-F5344CB8AC3E}">
        <p14:creationId xmlns:p14="http://schemas.microsoft.com/office/powerpoint/2010/main" val="3811558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176</a:t>
            </a:fld>
            <a:endParaRPr lang="en-US"/>
          </a:p>
        </p:txBody>
      </p:sp>
    </p:spTree>
    <p:extLst>
      <p:ext uri="{BB962C8B-B14F-4D97-AF65-F5344CB8AC3E}">
        <p14:creationId xmlns:p14="http://schemas.microsoft.com/office/powerpoint/2010/main" val="2691950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177</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58C08126-896C-40F9-87EF-CA1FCBD2C0FA}" type="datetime3">
              <a:rPr lang="en-US" smtClean="0"/>
              <a:t>7 May 2026</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endParaRPr lang="en-US"/>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63A5256C-CA61-4ACC-9EC7-2D4189564ADA}"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CDA576C3-67A2-4D78-8CE3-8ACEA7FA603F}"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8D2E5A1C-9C71-45B6-B3F2-4524E8E3EF8B}"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0D108427-7FE1-41D8-80C8-025DEE22F876}" type="datetime3">
              <a:rPr lang="en-US" smtClean="0"/>
              <a:t>7 May 2026</a:t>
            </a:fld>
            <a:endParaRPr lang="en-US"/>
          </a:p>
        </p:txBody>
      </p:sp>
      <p:sp>
        <p:nvSpPr>
          <p:cNvPr id="8" name="Rectangle 7"/>
          <p:cNvSpPr>
            <a:spLocks noGrp="1" noChangeArrowheads="1"/>
          </p:cNvSpPr>
          <p:nvPr>
            <p:ph type="ftr" sz="quarter" idx="11"/>
          </p:nvPr>
        </p:nvSpPr>
        <p:spPr>
          <a:ln/>
        </p:spPr>
        <p:txBody>
          <a:bodyPr/>
          <a:lstStyle>
            <a:lvl1pPr>
              <a:defRPr/>
            </a:lvl1pPr>
          </a:lstStyle>
          <a:p>
            <a:endParaRPr lang="en-US"/>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E1C5BD99-AA96-4E8C-9E34-EDF988A7BA87}" type="datetime3">
              <a:rPr lang="en-US" smtClean="0"/>
              <a:t>7 May 2026</a:t>
            </a:fld>
            <a:endParaRPr lang="en-US"/>
          </a:p>
        </p:txBody>
      </p:sp>
      <p:sp>
        <p:nvSpPr>
          <p:cNvPr id="4" name="Rectangle 7"/>
          <p:cNvSpPr>
            <a:spLocks noGrp="1" noChangeArrowheads="1"/>
          </p:cNvSpPr>
          <p:nvPr>
            <p:ph type="ftr" sz="quarter" idx="11"/>
          </p:nvPr>
        </p:nvSpPr>
        <p:spPr>
          <a:ln/>
        </p:spPr>
        <p:txBody>
          <a:bodyPr/>
          <a:lstStyle>
            <a:lvl1pPr>
              <a:defRPr/>
            </a:lvl1pPr>
          </a:lstStyle>
          <a:p>
            <a:endParaRPr lang="en-US"/>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E0DAFE92-E606-4CEF-BEBE-BFD89990549C}" type="datetime3">
              <a:rPr lang="en-US" smtClean="0"/>
              <a:t>7 May 2026</a:t>
            </a:fld>
            <a:endParaRPr lang="en-US"/>
          </a:p>
        </p:txBody>
      </p:sp>
      <p:sp>
        <p:nvSpPr>
          <p:cNvPr id="3" name="Rectangle 7"/>
          <p:cNvSpPr>
            <a:spLocks noGrp="1" noChangeArrowheads="1"/>
          </p:cNvSpPr>
          <p:nvPr>
            <p:ph type="ftr" sz="quarter" idx="11"/>
          </p:nvPr>
        </p:nvSpPr>
        <p:spPr>
          <a:ln/>
        </p:spPr>
        <p:txBody>
          <a:bodyPr/>
          <a:lstStyle>
            <a:lvl1pPr>
              <a:defRPr/>
            </a:lvl1pPr>
          </a:lstStyle>
          <a:p>
            <a:endParaRPr lang="en-US"/>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DC2DC653-F085-4433-8629-6F2734279ADC}"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1CC54E00-DF0B-48B8-88C1-FC2027D8A12B}" type="datetime3">
              <a:rPr lang="en-US" smtClean="0"/>
              <a:t>7 May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7AF8C0C9-87C8-44A8-9A22-CD9E615F74DF}"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3AB82E67-5360-4E4C-AAAC-CD12E42B50C1}"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CC8FFE6B-E768-41A4-A3CD-7AFA38CEC185}" type="datetime3">
              <a:rPr lang="en-US" smtClean="0"/>
              <a:t>7 May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0"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Rectangle 6"/>
          <p:cNvSpPr>
            <a:spLocks noGrp="1" noChangeArrowheads="1"/>
          </p:cNvSpPr>
          <p:nvPr>
            <p:ph type="dt" sz="half" idx="2"/>
          </p:nvPr>
        </p:nvSpPr>
        <p:spPr bwMode="auto">
          <a:xfrm>
            <a:off x="609600" y="6402388"/>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6171C427-19E0-4E3A-B11A-0B3E6C436FBF}" type="datetime3">
              <a:rPr lang="en-US" smtClean="0"/>
              <a:t>7 May 2026</a:t>
            </a:fld>
            <a:endParaRPr lang="en-US"/>
          </a:p>
        </p:txBody>
      </p:sp>
      <p:sp>
        <p:nvSpPr>
          <p:cNvPr id="63495" name="Rectangle 7"/>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endParaRPr lang="en-US"/>
          </a:p>
        </p:txBody>
      </p:sp>
      <p:sp>
        <p:nvSpPr>
          <p:cNvPr id="63496" name="Rectangle 8"/>
          <p:cNvSpPr>
            <a:spLocks noGrp="1" noChangeArrowheads="1"/>
          </p:cNvSpPr>
          <p:nvPr>
            <p:ph type="sldNum" sz="quarter" idx="4"/>
          </p:nvPr>
        </p:nvSpPr>
        <p:spPr bwMode="auto">
          <a:xfrm>
            <a:off x="6553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9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9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0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10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10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29.png"/></Relationships>
</file>

<file path=ppt/slides/_rels/slide11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11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11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0.png"/></Relationships>
</file>

<file path=ppt/slides/_rels/slide13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84.png"/></Relationships>
</file>

<file path=ppt/slides/_rels/slide169.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png"/></Relationships>
</file>

<file path=ppt/slides/_rels/slide186.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0"/>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5839-E91C-4CD0-9D33-F154BB2F70D9}"/>
              </a:ext>
            </a:extLst>
          </p:cNvPr>
          <p:cNvSpPr>
            <a:spLocks noGrp="1"/>
          </p:cNvSpPr>
          <p:nvPr>
            <p:ph type="title"/>
          </p:nvPr>
        </p:nvSpPr>
        <p:spPr/>
        <p:txBody>
          <a:bodyPr/>
          <a:lstStyle/>
          <a:p>
            <a:r>
              <a:rPr lang="en-US" dirty="0"/>
              <a:t>Disclaimer</a:t>
            </a:r>
            <a:endParaRPr lang="en-IN" dirty="0"/>
          </a:p>
        </p:txBody>
      </p:sp>
      <p:sp>
        <p:nvSpPr>
          <p:cNvPr id="3" name="Content Placeholder 2">
            <a:extLst>
              <a:ext uri="{FF2B5EF4-FFF2-40B4-BE49-F238E27FC236}">
                <a16:creationId xmlns:a16="http://schemas.microsoft.com/office/drawing/2014/main" id="{74B0D93B-6908-4D45-BB08-6A097F39843C}"/>
              </a:ext>
            </a:extLst>
          </p:cNvPr>
          <p:cNvSpPr>
            <a:spLocks noGrp="1"/>
          </p:cNvSpPr>
          <p:nvPr>
            <p:ph idx="1"/>
          </p:nvPr>
        </p:nvSpPr>
        <p:spPr/>
        <p:txBody>
          <a:bodyPr/>
          <a:lstStyle/>
          <a:p>
            <a:pPr marL="0" indent="0" algn="just">
              <a:buNone/>
            </a:pPr>
            <a:r>
              <a:rPr lang="en-US" sz="2400" dirty="0"/>
              <a:t>Contents given in PPT are brief and for reference only. Should refer to text book/relevant materials for detailed description.</a:t>
            </a:r>
            <a:endParaRPr lang="en-IN" sz="2400" dirty="0"/>
          </a:p>
          <a:p>
            <a:pPr marL="0" indent="0" algn="just">
              <a:buNone/>
            </a:pPr>
            <a:endParaRPr lang="en-IN" sz="2400" dirty="0"/>
          </a:p>
        </p:txBody>
      </p:sp>
      <p:sp>
        <p:nvSpPr>
          <p:cNvPr id="6" name="Slide Number Placeholder 5">
            <a:extLst>
              <a:ext uri="{FF2B5EF4-FFF2-40B4-BE49-F238E27FC236}">
                <a16:creationId xmlns:a16="http://schemas.microsoft.com/office/drawing/2014/main" id="{13C6967E-1F7A-4528-B234-7DD2DE603F83}"/>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68484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A208-B0EC-0856-17FC-10FFF9759B33}"/>
              </a:ext>
            </a:extLst>
          </p:cNvPr>
          <p:cNvSpPr>
            <a:spLocks noGrp="1"/>
          </p:cNvSpPr>
          <p:nvPr>
            <p:ph type="title"/>
          </p:nvPr>
        </p:nvSpPr>
        <p:spPr/>
        <p:txBody>
          <a:bodyPr/>
          <a:lstStyle/>
          <a:p>
            <a:r>
              <a:rPr lang="en-IN" dirty="0"/>
              <a:t>What Is Machine Learning? </a:t>
            </a:r>
          </a:p>
        </p:txBody>
      </p:sp>
      <p:sp>
        <p:nvSpPr>
          <p:cNvPr id="3" name="Content Placeholder 2">
            <a:extLst>
              <a:ext uri="{FF2B5EF4-FFF2-40B4-BE49-F238E27FC236}">
                <a16:creationId xmlns:a16="http://schemas.microsoft.com/office/drawing/2014/main" id="{E39A827C-700E-A340-185D-7B9EB21127CE}"/>
              </a:ext>
            </a:extLst>
          </p:cNvPr>
          <p:cNvSpPr>
            <a:spLocks noGrp="1"/>
          </p:cNvSpPr>
          <p:nvPr>
            <p:ph idx="1"/>
          </p:nvPr>
        </p:nvSpPr>
        <p:spPr/>
        <p:txBody>
          <a:bodyPr/>
          <a:lstStyle/>
          <a:p>
            <a:pPr algn="just"/>
            <a:r>
              <a:rPr lang="en-US" sz="2400" dirty="0"/>
              <a:t>Machine Learning is the science (and art) of programming computers so they can learn from data.</a:t>
            </a:r>
          </a:p>
          <a:p>
            <a:pPr algn="just"/>
            <a:r>
              <a:rPr lang="en-US" sz="2400" dirty="0"/>
              <a:t>Machine Learning is the field of study that gives computers the ability to learn without being explicitly programmed.</a:t>
            </a:r>
            <a:endParaRPr lang="en-IN" sz="2400" dirty="0"/>
          </a:p>
        </p:txBody>
      </p:sp>
      <p:sp>
        <p:nvSpPr>
          <p:cNvPr id="6" name="Slide Number Placeholder 5">
            <a:extLst>
              <a:ext uri="{FF2B5EF4-FFF2-40B4-BE49-F238E27FC236}">
                <a16:creationId xmlns:a16="http://schemas.microsoft.com/office/drawing/2014/main" id="{DD66B179-14BE-44AA-DA64-9D20F7BF2DF3}"/>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2160172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Deep Learning ?</a:t>
            </a:r>
            <a:endParaRPr lang="en-US" dirty="0"/>
          </a:p>
        </p:txBody>
      </p:sp>
      <p:sp>
        <p:nvSpPr>
          <p:cNvPr id="6" name="Slide Number Placeholder 5"/>
          <p:cNvSpPr>
            <a:spLocks noGrp="1"/>
          </p:cNvSpPr>
          <p:nvPr>
            <p:ph type="sldNum" sz="quarter" idx="12"/>
          </p:nvPr>
        </p:nvSpPr>
        <p:spPr/>
        <p:txBody>
          <a:bodyPr/>
          <a:lstStyle/>
          <a:p>
            <a:fld id="{BB2CE0DE-867F-455F-B20B-96D381B4AB71}" type="slidenum">
              <a:rPr lang="en-US" smtClean="0"/>
              <a:t>4</a:t>
            </a:fld>
            <a:endParaRPr lang="en-US"/>
          </a:p>
        </p:txBody>
      </p:sp>
      <p:pic>
        <p:nvPicPr>
          <p:cNvPr id="7" name="Image1"/>
          <p:cNvPicPr/>
          <p:nvPr/>
        </p:nvPicPr>
        <p:blipFill>
          <a:blip r:embed="rId3">
            <a:lum/>
            <a:alphaModFix/>
          </a:blip>
          <a:srcRect/>
          <a:stretch>
            <a:fillRect/>
          </a:stretch>
        </p:blipFill>
        <p:spPr>
          <a:xfrm>
            <a:off x="990600" y="1236094"/>
            <a:ext cx="6869748" cy="3699510"/>
          </a:xfrm>
          <a:prstGeom prst="rect">
            <a:avLst/>
          </a:prstGeom>
        </p:spPr>
      </p:pic>
      <p:sp>
        <p:nvSpPr>
          <p:cNvPr id="3" name="TextBox 2"/>
          <p:cNvSpPr txBox="1"/>
          <p:nvPr/>
        </p:nvSpPr>
        <p:spPr>
          <a:xfrm>
            <a:off x="685800" y="3471294"/>
            <a:ext cx="1640193" cy="646331"/>
          </a:xfrm>
          <a:prstGeom prst="rect">
            <a:avLst/>
          </a:prstGeom>
          <a:noFill/>
        </p:spPr>
        <p:txBody>
          <a:bodyPr wrap="none" rtlCol="0">
            <a:spAutoFit/>
          </a:bodyPr>
          <a:lstStyle/>
          <a:p>
            <a:r>
              <a:rPr lang="en-US" dirty="0"/>
              <a:t>(Artificial </a:t>
            </a:r>
          </a:p>
          <a:p>
            <a:r>
              <a:rPr lang="en-US" dirty="0"/>
              <a:t>Intelligence)</a:t>
            </a:r>
          </a:p>
        </p:txBody>
      </p:sp>
      <p:sp>
        <p:nvSpPr>
          <p:cNvPr id="9" name="TextBox 8"/>
          <p:cNvSpPr txBox="1"/>
          <p:nvPr/>
        </p:nvSpPr>
        <p:spPr>
          <a:xfrm>
            <a:off x="4201621" y="4944070"/>
            <a:ext cx="4942379" cy="923330"/>
          </a:xfrm>
          <a:prstGeom prst="rect">
            <a:avLst/>
          </a:prstGeom>
          <a:noFill/>
        </p:spPr>
        <p:txBody>
          <a:bodyPr wrap="none" rtlCol="0">
            <a:spAutoFit/>
          </a:bodyPr>
          <a:lstStyle/>
          <a:p>
            <a:r>
              <a:rPr lang="en-IN" b="1" dirty="0"/>
              <a:t>Deep Learning </a:t>
            </a:r>
            <a:r>
              <a:rPr lang="en-IN" dirty="0"/>
              <a:t>is a category of</a:t>
            </a:r>
          </a:p>
          <a:p>
            <a:r>
              <a:rPr lang="en-IN" dirty="0"/>
              <a:t>machine learning models (=algorithms)</a:t>
            </a:r>
          </a:p>
          <a:p>
            <a:r>
              <a:rPr lang="en-IN" dirty="0"/>
              <a:t>that use </a:t>
            </a:r>
            <a:r>
              <a:rPr lang="en-IN" b="1" dirty="0">
                <a:solidFill>
                  <a:srgbClr val="0000FF"/>
                </a:solidFill>
              </a:rPr>
              <a:t>multi-layer neural networks</a:t>
            </a:r>
            <a:r>
              <a:rPr lang="en-IN" dirty="0"/>
              <a:t>.</a:t>
            </a:r>
            <a:endParaRPr lang="en-US" dirty="0"/>
          </a:p>
        </p:txBody>
      </p:sp>
    </p:spTree>
    <p:extLst>
      <p:ext uri="{BB962C8B-B14F-4D97-AF65-F5344CB8AC3E}">
        <p14:creationId xmlns:p14="http://schemas.microsoft.com/office/powerpoint/2010/main" val="810116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Difference between</a:t>
            </a:r>
          </a:p>
        </p:txBody>
      </p:sp>
      <p:sp>
        <p:nvSpPr>
          <p:cNvPr id="9219" name="Rectangle 3"/>
          <p:cNvSpPr>
            <a:spLocks noGrp="1" noChangeArrowheads="1"/>
          </p:cNvSpPr>
          <p:nvPr>
            <p:ph type="subTitle" idx="1"/>
          </p:nvPr>
        </p:nvSpPr>
        <p:spPr>
          <a:xfrm>
            <a:off x="457200" y="3200400"/>
            <a:ext cx="8382000" cy="1600200"/>
          </a:xfrm>
        </p:spPr>
        <p:txBody>
          <a:bodyPr/>
          <a:lstStyle/>
          <a:p>
            <a:pPr algn="ctr">
              <a:lnSpc>
                <a:spcPct val="80000"/>
              </a:lnSpc>
            </a:pPr>
            <a:r>
              <a:rPr lang="en-US" altLang="en-US" dirty="0"/>
              <a:t>Traditional Machine Learning (ML)</a:t>
            </a:r>
          </a:p>
          <a:p>
            <a:pPr algn="ctr">
              <a:lnSpc>
                <a:spcPct val="80000"/>
              </a:lnSpc>
            </a:pPr>
            <a:r>
              <a:rPr lang="en-US" altLang="en-US" dirty="0"/>
              <a:t>And</a:t>
            </a:r>
          </a:p>
          <a:p>
            <a:pPr algn="ctr">
              <a:lnSpc>
                <a:spcPct val="80000"/>
              </a:lnSpc>
            </a:pPr>
            <a:r>
              <a:rPr lang="en-US" altLang="en-US" dirty="0"/>
              <a:t>Deep Learning (DL)</a:t>
            </a:r>
          </a:p>
        </p:txBody>
      </p:sp>
      <p:sp>
        <p:nvSpPr>
          <p:cNvPr id="3" name="Slide Number Placeholder 2"/>
          <p:cNvSpPr>
            <a:spLocks noGrp="1"/>
          </p:cNvSpPr>
          <p:nvPr>
            <p:ph type="sldNum" sz="quarter" idx="12"/>
          </p:nvPr>
        </p:nvSpPr>
        <p:spPr/>
        <p:txBody>
          <a:bodyPr/>
          <a:lstStyle/>
          <a:p>
            <a:fld id="{5DCC653A-8BE1-4A16-A754-27859D86C4A9}" type="slidenum">
              <a:rPr lang="en-US" smtClean="0"/>
              <a:t>5</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Machine Learning</a:t>
            </a:r>
          </a:p>
        </p:txBody>
      </p:sp>
      <p:sp>
        <p:nvSpPr>
          <p:cNvPr id="6" name="Slide Number Placeholder 5"/>
          <p:cNvSpPr>
            <a:spLocks noGrp="1"/>
          </p:cNvSpPr>
          <p:nvPr>
            <p:ph type="sldNum" sz="quarter" idx="12"/>
          </p:nvPr>
        </p:nvSpPr>
        <p:spPr/>
        <p:txBody>
          <a:bodyPr/>
          <a:lstStyle/>
          <a:p>
            <a:fld id="{BB2CE0DE-867F-455F-B20B-96D381B4AB71}" type="slidenum">
              <a:rPr lang="en-US" smtClean="0"/>
              <a:t>6</a:t>
            </a:fld>
            <a:endParaRPr lang="en-US"/>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165" r="17671"/>
          <a:stretch>
            <a:fillRect/>
          </a:stretch>
        </p:blipFill>
        <p:spPr bwMode="auto">
          <a:xfrm>
            <a:off x="533400" y="1447800"/>
            <a:ext cx="8362164"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7750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Difference between Traditional ML and DL</a:t>
            </a:r>
          </a:p>
        </p:txBody>
      </p:sp>
      <p:sp>
        <p:nvSpPr>
          <p:cNvPr id="3" name="Content Placeholder 2"/>
          <p:cNvSpPr>
            <a:spLocks noGrp="1"/>
          </p:cNvSpPr>
          <p:nvPr>
            <p:ph idx="1"/>
          </p:nvPr>
        </p:nvSpPr>
        <p:spPr/>
        <p:txBody>
          <a:bodyPr/>
          <a:lstStyle/>
          <a:p>
            <a:endParaRPr lang="en-US"/>
          </a:p>
        </p:txBody>
      </p:sp>
      <p:sp>
        <p:nvSpPr>
          <p:cNvPr id="6" name="Slide Number Placeholder 5"/>
          <p:cNvSpPr>
            <a:spLocks noGrp="1"/>
          </p:cNvSpPr>
          <p:nvPr>
            <p:ph type="sldNum" sz="quarter" idx="12"/>
          </p:nvPr>
        </p:nvSpPr>
        <p:spPr/>
        <p:txBody>
          <a:bodyPr/>
          <a:lstStyle/>
          <a:p>
            <a:fld id="{BB2CE0DE-867F-455F-B20B-96D381B4AB71}" type="slidenum">
              <a:rPr lang="en-US" smtClean="0"/>
              <a:t>7</a:t>
            </a:fld>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7957766"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Content Placeholder 6"/>
          <p:cNvGraphicFramePr>
            <a:graphicFrameLocks/>
          </p:cNvGraphicFramePr>
          <p:nvPr/>
        </p:nvGraphicFramePr>
        <p:xfrm>
          <a:off x="533400" y="4704080"/>
          <a:ext cx="8001000" cy="101092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370840">
                <a:tc>
                  <a:txBody>
                    <a:bodyPr/>
                    <a:lstStyle/>
                    <a:p>
                      <a:pPr algn="ctr"/>
                      <a:r>
                        <a:rPr lang="en-US" b="1" dirty="0">
                          <a:solidFill>
                            <a:schemeClr val="tx1"/>
                          </a:solidFill>
                        </a:rPr>
                        <a:t>Traditional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chemeClr val="tx1"/>
                          </a:solidFill>
                        </a:rPr>
                        <a:t>Deep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800" b="0" i="0" kern="1200" dirty="0">
                          <a:solidFill>
                            <a:schemeClr val="dk1"/>
                          </a:solidFill>
                          <a:effectLst/>
                          <a:latin typeface="+mn-lt"/>
                          <a:ea typeface="+mn-ea"/>
                          <a:cs typeface="+mn-cs"/>
                        </a:rPr>
                        <a:t>We</a:t>
                      </a:r>
                      <a:r>
                        <a:rPr lang="en-US" sz="1800" b="0" i="0" kern="1200" baseline="0" dirty="0">
                          <a:solidFill>
                            <a:schemeClr val="dk1"/>
                          </a:solidFill>
                          <a:effectLst/>
                          <a:latin typeface="+mn-lt"/>
                          <a:ea typeface="+mn-ea"/>
                          <a:cs typeface="+mn-cs"/>
                        </a:rPr>
                        <a:t> need to </a:t>
                      </a:r>
                      <a:r>
                        <a:rPr lang="en-US" sz="1800" b="0" i="0" kern="1200" dirty="0">
                          <a:solidFill>
                            <a:schemeClr val="dk1"/>
                          </a:solidFill>
                          <a:effectLst/>
                          <a:latin typeface="+mn-lt"/>
                          <a:ea typeface="+mn-ea"/>
                          <a:cs typeface="+mn-cs"/>
                        </a:rPr>
                        <a:t>hand-craft the features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i="0" kern="1200" dirty="0">
                          <a:solidFill>
                            <a:schemeClr val="dk1"/>
                          </a:solidFill>
                          <a:effectLst/>
                          <a:latin typeface="+mn-lt"/>
                          <a:ea typeface="+mn-ea"/>
                          <a:cs typeface="+mn-cs"/>
                        </a:rPr>
                        <a:t>Feature engineering is done automatically </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46369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Unit-1</a:t>
            </a:r>
          </a:p>
        </p:txBody>
      </p:sp>
      <p:sp>
        <p:nvSpPr>
          <p:cNvPr id="9219" name="Rectangle 3"/>
          <p:cNvSpPr>
            <a:spLocks noGrp="1" noChangeArrowheads="1"/>
          </p:cNvSpPr>
          <p:nvPr>
            <p:ph type="subTitle" idx="1"/>
          </p:nvPr>
        </p:nvSpPr>
        <p:spPr>
          <a:xfrm>
            <a:off x="914400" y="3200400"/>
            <a:ext cx="7010400" cy="1600200"/>
          </a:xfrm>
        </p:spPr>
        <p:txBody>
          <a:bodyPr/>
          <a:lstStyle/>
          <a:p>
            <a:pPr marL="0" indent="0" algn="just">
              <a:buNone/>
            </a:pPr>
            <a:r>
              <a:rPr lang="en-IN" sz="1200" dirty="0"/>
              <a:t>Unit 1: Introduction: Neural Networks: Building Intelligent Systems, Limitations of Traditional Computer Programs, Mechanics of Machine Learning, Neuron, Expressing Linear </a:t>
            </a:r>
            <a:r>
              <a:rPr lang="en-IN" sz="1200" dirty="0" err="1"/>
              <a:t>Perceptrons</a:t>
            </a:r>
            <a:r>
              <a:rPr lang="en-IN" sz="1200" dirty="0"/>
              <a:t> as Neurons, Feed-Forward Neural Networks, Linear Neurons and Limitations, Sigmoid, Tanh and </a:t>
            </a:r>
            <a:r>
              <a:rPr lang="en-IN" sz="1200" dirty="0" err="1"/>
              <a:t>ReLU</a:t>
            </a:r>
            <a:r>
              <a:rPr lang="en-IN" sz="1200" dirty="0"/>
              <a:t> Neurons, </a:t>
            </a:r>
            <a:r>
              <a:rPr lang="en-IN" sz="1200" dirty="0" err="1"/>
              <a:t>Softmax</a:t>
            </a:r>
            <a:r>
              <a:rPr lang="en-IN" sz="1200" dirty="0"/>
              <a:t> Output Layers, Training Feed-Forward Neural Networks: Gradient Descent, Delta Rule and Learning Rates, Gradient Descent with Sigmoidal Neurons, Backpropagation Algorithm, Stochastic and Minibatch Gradient Descent, Overfitting, Preventing Overfitting in Deep Neural Networks</a:t>
            </a:r>
            <a:endParaRPr lang="en-US" sz="1800" b="0" i="0" dirty="0">
              <a:solidFill>
                <a:srgbClr val="262626"/>
              </a:solidFill>
              <a:effectLst/>
              <a:latin typeface="Inter"/>
            </a:endParaRPr>
          </a:p>
        </p:txBody>
      </p:sp>
      <p:sp>
        <p:nvSpPr>
          <p:cNvPr id="3" name="Slide Number Placeholder 2"/>
          <p:cNvSpPr>
            <a:spLocks noGrp="1"/>
          </p:cNvSpPr>
          <p:nvPr>
            <p:ph type="sldNum" sz="quarter" idx="12"/>
          </p:nvPr>
        </p:nvSpPr>
        <p:spPr/>
        <p:txBody>
          <a:bodyPr/>
          <a:lstStyle/>
          <a:p>
            <a:fld id="{5DCC653A-8BE1-4A16-A754-27859D86C4A9}" type="slidenum">
              <a:rPr lang="en-US" smtClean="0"/>
              <a:t>8</a:t>
            </a:fld>
            <a:endParaRPr lang="en-US"/>
          </a:p>
        </p:txBody>
      </p:sp>
    </p:spTree>
    <p:extLst>
      <p:ext uri="{BB962C8B-B14F-4D97-AF65-F5344CB8AC3E}">
        <p14:creationId xmlns:p14="http://schemas.microsoft.com/office/powerpoint/2010/main" val="54587035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0151-4B6B-4F51-9212-50874AC89410}"/>
              </a:ext>
            </a:extLst>
          </p:cNvPr>
          <p:cNvSpPr>
            <a:spLocks noGrp="1"/>
          </p:cNvSpPr>
          <p:nvPr>
            <p:ph type="title"/>
          </p:nvPr>
        </p:nvSpPr>
        <p:spPr/>
        <p:txBody>
          <a:bodyPr/>
          <a:lstStyle/>
          <a:p>
            <a:r>
              <a:rPr lang="en-IN" dirty="0"/>
              <a:t>Building Intelligent Machines</a:t>
            </a:r>
          </a:p>
        </p:txBody>
      </p:sp>
      <p:sp>
        <p:nvSpPr>
          <p:cNvPr id="3" name="Content Placeholder 2">
            <a:extLst>
              <a:ext uri="{FF2B5EF4-FFF2-40B4-BE49-F238E27FC236}">
                <a16:creationId xmlns:a16="http://schemas.microsoft.com/office/drawing/2014/main" id="{5BFB84F2-12D0-4C68-AEB6-DC3C0F398699}"/>
              </a:ext>
            </a:extLst>
          </p:cNvPr>
          <p:cNvSpPr>
            <a:spLocks noGrp="1"/>
          </p:cNvSpPr>
          <p:nvPr>
            <p:ph idx="1"/>
          </p:nvPr>
        </p:nvSpPr>
        <p:spPr/>
        <p:txBody>
          <a:bodyPr/>
          <a:lstStyle/>
          <a:p>
            <a:pPr algn="just"/>
            <a:r>
              <a:rPr lang="en-US" sz="2000" dirty="0"/>
              <a:t>Intelligent Machines: Example - Robotic assistants to clean our homes, cars that drive themselves, microscopes that automatically detect diseases etc.</a:t>
            </a:r>
          </a:p>
          <a:p>
            <a:pPr algn="just"/>
            <a:r>
              <a:rPr lang="en-US" sz="2000" dirty="0"/>
              <a:t>Building artificially intelligent machines requires to solve the most complex computational problems.</a:t>
            </a:r>
          </a:p>
          <a:p>
            <a:pPr algn="just"/>
            <a:r>
              <a:rPr lang="en-US" sz="2000" dirty="0"/>
              <a:t>Extremely active field of artificial computer intelligence often referred to as </a:t>
            </a:r>
            <a:r>
              <a:rPr lang="en-US" sz="2000" b="1" dirty="0"/>
              <a:t>Deep Learning</a:t>
            </a:r>
            <a:r>
              <a:rPr lang="en-US" sz="2000" dirty="0"/>
              <a:t>.</a:t>
            </a:r>
          </a:p>
          <a:p>
            <a:pPr algn="just"/>
            <a:endParaRPr lang="en-IN" sz="2000" dirty="0"/>
          </a:p>
        </p:txBody>
      </p:sp>
      <p:sp>
        <p:nvSpPr>
          <p:cNvPr id="6" name="Slide Number Placeholder 5">
            <a:extLst>
              <a:ext uri="{FF2B5EF4-FFF2-40B4-BE49-F238E27FC236}">
                <a16:creationId xmlns:a16="http://schemas.microsoft.com/office/drawing/2014/main" id="{7B004CAA-6304-4498-98B8-E7553F55FA7C}"/>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2583898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76CD-C9F1-4E6F-BD23-DE82583C4C93}"/>
              </a:ext>
            </a:extLst>
          </p:cNvPr>
          <p:cNvSpPr>
            <a:spLocks noGrp="1"/>
          </p:cNvSpPr>
          <p:nvPr>
            <p:ph type="title"/>
          </p:nvPr>
        </p:nvSpPr>
        <p:spPr/>
        <p:txBody>
          <a:bodyPr/>
          <a:lstStyle/>
          <a:p>
            <a:r>
              <a:rPr lang="en-US" sz="2800" dirty="0"/>
              <a:t>Limits of Traditional Computer Programs</a:t>
            </a:r>
            <a:endParaRPr lang="en-IN" sz="2800" dirty="0"/>
          </a:p>
        </p:txBody>
      </p:sp>
      <p:sp>
        <p:nvSpPr>
          <p:cNvPr id="3" name="Content Placeholder 2">
            <a:extLst>
              <a:ext uri="{FF2B5EF4-FFF2-40B4-BE49-F238E27FC236}">
                <a16:creationId xmlns:a16="http://schemas.microsoft.com/office/drawing/2014/main" id="{F0D7B6B5-903D-42D6-94A5-551DDF7A7B90}"/>
              </a:ext>
            </a:extLst>
          </p:cNvPr>
          <p:cNvSpPr>
            <a:spLocks noGrp="1"/>
          </p:cNvSpPr>
          <p:nvPr>
            <p:ph idx="1"/>
          </p:nvPr>
        </p:nvSpPr>
        <p:spPr/>
        <p:txBody>
          <a:bodyPr/>
          <a:lstStyle/>
          <a:p>
            <a:pPr marL="0" indent="0">
              <a:buNone/>
            </a:pPr>
            <a:r>
              <a:rPr lang="en-US" dirty="0"/>
              <a:t>Traditional computer programs are designed to be very good at two things: (1) Performing arithmetic really fast </a:t>
            </a:r>
          </a:p>
          <a:p>
            <a:pPr marL="0" indent="0">
              <a:buNone/>
            </a:pPr>
            <a:r>
              <a:rPr lang="en-US" dirty="0"/>
              <a:t>(2) Explicitly following a list of instructions. </a:t>
            </a:r>
            <a:endParaRPr lang="en-IN" dirty="0"/>
          </a:p>
        </p:txBody>
      </p:sp>
      <p:sp>
        <p:nvSpPr>
          <p:cNvPr id="6" name="Slide Number Placeholder 5">
            <a:extLst>
              <a:ext uri="{FF2B5EF4-FFF2-40B4-BE49-F238E27FC236}">
                <a16:creationId xmlns:a16="http://schemas.microsoft.com/office/drawing/2014/main" id="{E2036BA4-F07D-455F-BC2F-4FBDB8A12719}"/>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3819555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A64FC-E844-4B73-B25B-D931356A262E}"/>
              </a:ext>
            </a:extLst>
          </p:cNvPr>
          <p:cNvSpPr>
            <a:spLocks noGrp="1"/>
          </p:cNvSpPr>
          <p:nvPr>
            <p:ph type="title"/>
          </p:nvPr>
        </p:nvSpPr>
        <p:spPr/>
        <p:txBody>
          <a:bodyPr/>
          <a:lstStyle/>
          <a:p>
            <a:r>
              <a:rPr lang="en-US" sz="2400" dirty="0"/>
              <a:t>Limits of Traditional Computer Programs</a:t>
            </a:r>
            <a:endParaRPr lang="en-IN" sz="2400" dirty="0"/>
          </a:p>
        </p:txBody>
      </p:sp>
      <p:sp>
        <p:nvSpPr>
          <p:cNvPr id="3" name="Content Placeholder 2">
            <a:extLst>
              <a:ext uri="{FF2B5EF4-FFF2-40B4-BE49-F238E27FC236}">
                <a16:creationId xmlns:a16="http://schemas.microsoft.com/office/drawing/2014/main" id="{FBC286E9-BE04-4B84-A0CC-AF3CB7FA01EA}"/>
              </a:ext>
            </a:extLst>
          </p:cNvPr>
          <p:cNvSpPr>
            <a:spLocks noGrp="1"/>
          </p:cNvSpPr>
          <p:nvPr>
            <p:ph idx="1"/>
          </p:nvPr>
        </p:nvSpPr>
        <p:spPr/>
        <p:txBody>
          <a:bodyPr/>
          <a:lstStyle/>
          <a:p>
            <a:pPr marL="0" indent="0">
              <a:buNone/>
            </a:pPr>
            <a:r>
              <a:rPr lang="en-US" sz="2000" dirty="0"/>
              <a:t>Write a program to automatically read someone’s handwriting ?</a:t>
            </a:r>
            <a:endParaRPr lang="en-IN" sz="2000" dirty="0"/>
          </a:p>
        </p:txBody>
      </p:sp>
      <p:sp>
        <p:nvSpPr>
          <p:cNvPr id="6" name="Slide Number Placeholder 5">
            <a:extLst>
              <a:ext uri="{FF2B5EF4-FFF2-40B4-BE49-F238E27FC236}">
                <a16:creationId xmlns:a16="http://schemas.microsoft.com/office/drawing/2014/main" id="{A5E0A388-9E43-49D9-B381-9A9A04439732}"/>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8" name="Picture 7">
            <a:extLst>
              <a:ext uri="{FF2B5EF4-FFF2-40B4-BE49-F238E27FC236}">
                <a16:creationId xmlns:a16="http://schemas.microsoft.com/office/drawing/2014/main" id="{9BE5E2D7-0BC7-48BD-BE91-1B959DAE9B0F}"/>
              </a:ext>
            </a:extLst>
          </p:cNvPr>
          <p:cNvPicPr>
            <a:picLocks noChangeAspect="1"/>
          </p:cNvPicPr>
          <p:nvPr/>
        </p:nvPicPr>
        <p:blipFill>
          <a:blip r:embed="rId2"/>
          <a:stretch>
            <a:fillRect/>
          </a:stretch>
        </p:blipFill>
        <p:spPr>
          <a:xfrm>
            <a:off x="1524000" y="1981200"/>
            <a:ext cx="5877745" cy="3791479"/>
          </a:xfrm>
          <a:prstGeom prst="rect">
            <a:avLst/>
          </a:prstGeom>
        </p:spPr>
      </p:pic>
      <p:sp>
        <p:nvSpPr>
          <p:cNvPr id="9" name="TextBox 8">
            <a:extLst>
              <a:ext uri="{FF2B5EF4-FFF2-40B4-BE49-F238E27FC236}">
                <a16:creationId xmlns:a16="http://schemas.microsoft.com/office/drawing/2014/main" id="{11D41D9F-3B0D-4F3B-8220-E793BFF31C86}"/>
              </a:ext>
            </a:extLst>
          </p:cNvPr>
          <p:cNvSpPr txBox="1"/>
          <p:nvPr/>
        </p:nvSpPr>
        <p:spPr>
          <a:xfrm>
            <a:off x="1873153" y="5822891"/>
            <a:ext cx="5404043" cy="369332"/>
          </a:xfrm>
          <a:prstGeom prst="rect">
            <a:avLst/>
          </a:prstGeom>
          <a:noFill/>
        </p:spPr>
        <p:txBody>
          <a:bodyPr wrap="none" rtlCol="0">
            <a:spAutoFit/>
          </a:bodyPr>
          <a:lstStyle/>
          <a:p>
            <a:r>
              <a:rPr lang="en-IN" dirty="0"/>
              <a:t>Image from MNIST handwritten digit dataset</a:t>
            </a:r>
          </a:p>
        </p:txBody>
      </p:sp>
    </p:spTree>
    <p:extLst>
      <p:ext uri="{BB962C8B-B14F-4D97-AF65-F5344CB8AC3E}">
        <p14:creationId xmlns:p14="http://schemas.microsoft.com/office/powerpoint/2010/main" val="198886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31E05-C672-4DEF-A124-94D07442CA9F}"/>
              </a:ext>
            </a:extLst>
          </p:cNvPr>
          <p:cNvSpPr>
            <a:spLocks noGrp="1"/>
          </p:cNvSpPr>
          <p:nvPr>
            <p:ph type="title"/>
          </p:nvPr>
        </p:nvSpPr>
        <p:spPr/>
        <p:txBody>
          <a:bodyPr/>
          <a:lstStyle/>
          <a:p>
            <a:r>
              <a:rPr lang="en-IN" dirty="0"/>
              <a:t>Mechanics of Machine Learning (ML)</a:t>
            </a:r>
          </a:p>
        </p:txBody>
      </p:sp>
      <p:sp>
        <p:nvSpPr>
          <p:cNvPr id="3" name="Content Placeholder 2">
            <a:extLst>
              <a:ext uri="{FF2B5EF4-FFF2-40B4-BE49-F238E27FC236}">
                <a16:creationId xmlns:a16="http://schemas.microsoft.com/office/drawing/2014/main" id="{8E493596-AB24-4B1E-BE32-B6DB3A30B48E}"/>
              </a:ext>
            </a:extLst>
          </p:cNvPr>
          <p:cNvSpPr>
            <a:spLocks noGrp="1"/>
          </p:cNvSpPr>
          <p:nvPr>
            <p:ph idx="1"/>
          </p:nvPr>
        </p:nvSpPr>
        <p:spPr/>
        <p:txBody>
          <a:bodyPr/>
          <a:lstStyle/>
          <a:p>
            <a:pPr algn="just"/>
            <a:r>
              <a:rPr lang="en-US" sz="1800" dirty="0"/>
              <a:t>Deep learning is a subset of a more general field of AI called machine learning, which is predicated on this idea of </a:t>
            </a:r>
            <a:r>
              <a:rPr lang="en-US" sz="1800" b="1" dirty="0"/>
              <a:t>learning from example</a:t>
            </a:r>
            <a:r>
              <a:rPr lang="en-US" sz="1800" dirty="0"/>
              <a:t>. </a:t>
            </a:r>
          </a:p>
          <a:p>
            <a:pPr algn="just"/>
            <a:r>
              <a:rPr lang="en-US" sz="1800" dirty="0"/>
              <a:t>In machine learning, </a:t>
            </a:r>
            <a:r>
              <a:rPr lang="en-US" sz="1800" b="1" dirty="0"/>
              <a:t>instead of teaching a computer a massive list of rules </a:t>
            </a:r>
            <a:r>
              <a:rPr lang="en-US" sz="1800" dirty="0"/>
              <a:t>to solve the problem, we </a:t>
            </a:r>
            <a:r>
              <a:rPr lang="en-US" sz="1800" b="1" dirty="0"/>
              <a:t>give it a </a:t>
            </a:r>
            <a:r>
              <a:rPr lang="en-US" sz="1800" b="1" dirty="0">
                <a:solidFill>
                  <a:srgbClr val="0000FF"/>
                </a:solidFill>
              </a:rPr>
              <a:t>model</a:t>
            </a:r>
            <a:r>
              <a:rPr lang="en-US" sz="1800" b="1" dirty="0"/>
              <a:t> </a:t>
            </a:r>
            <a:r>
              <a:rPr lang="en-US" sz="1800" dirty="0"/>
              <a:t>with which it can evaluate examples, and a small set of instructions to modify the model when it makes a mistake. </a:t>
            </a:r>
          </a:p>
        </p:txBody>
      </p:sp>
      <p:sp>
        <p:nvSpPr>
          <p:cNvPr id="6" name="Slide Number Placeholder 5">
            <a:extLst>
              <a:ext uri="{FF2B5EF4-FFF2-40B4-BE49-F238E27FC236}">
                <a16:creationId xmlns:a16="http://schemas.microsoft.com/office/drawing/2014/main" id="{80A18055-AFFB-48A1-99E7-497B45027FF9}"/>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4037442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0D21-10F0-479D-A72A-2ED11359EF0A}"/>
              </a:ext>
            </a:extLst>
          </p:cNvPr>
          <p:cNvSpPr>
            <a:spLocks noGrp="1"/>
          </p:cNvSpPr>
          <p:nvPr>
            <p:ph type="title"/>
          </p:nvPr>
        </p:nvSpPr>
        <p:spPr/>
        <p:txBody>
          <a:bodyPr/>
          <a:lstStyle/>
          <a:p>
            <a:r>
              <a:rPr lang="en-IN" dirty="0"/>
              <a:t>Mechanics of Machine Learning</a:t>
            </a:r>
          </a:p>
        </p:txBody>
      </p:sp>
      <p:sp>
        <p:nvSpPr>
          <p:cNvPr id="3" name="Content Placeholder 2">
            <a:extLst>
              <a:ext uri="{FF2B5EF4-FFF2-40B4-BE49-F238E27FC236}">
                <a16:creationId xmlns:a16="http://schemas.microsoft.com/office/drawing/2014/main" id="{5CDEA00E-16C5-4A9B-8BA5-AB4EE99E2A61}"/>
              </a:ext>
            </a:extLst>
          </p:cNvPr>
          <p:cNvSpPr>
            <a:spLocks noGrp="1"/>
          </p:cNvSpPr>
          <p:nvPr>
            <p:ph idx="1"/>
          </p:nvPr>
        </p:nvSpPr>
        <p:spPr/>
        <p:txBody>
          <a:bodyPr/>
          <a:lstStyle/>
          <a:p>
            <a:pPr marL="0" indent="0" algn="just">
              <a:buNone/>
            </a:pPr>
            <a:r>
              <a:rPr lang="en-US" sz="1600" dirty="0"/>
              <a:t>Model: To be a function ℎ(x, θ). The input x is an example expressed in vector form. </a:t>
            </a:r>
          </a:p>
          <a:p>
            <a:pPr marL="0" indent="0" algn="just">
              <a:buNone/>
            </a:pPr>
            <a:r>
              <a:rPr lang="en-US" sz="1600" dirty="0"/>
              <a:t>For example, if x were a grayscale image, the vector’s components would be pixel intensities at each position. </a:t>
            </a:r>
          </a:p>
          <a:p>
            <a:pPr marL="0" indent="0" algn="just">
              <a:buNone/>
            </a:pPr>
            <a:r>
              <a:rPr lang="en-US" sz="1600" dirty="0"/>
              <a:t>The input θ is a vector of the parameters that our model uses. Our machine learning program tries to perfect the values of these parameters as it is exposed to more and more examples.</a:t>
            </a:r>
            <a:endParaRPr lang="en-IN" sz="1600" dirty="0"/>
          </a:p>
        </p:txBody>
      </p:sp>
      <p:sp>
        <p:nvSpPr>
          <p:cNvPr id="6" name="Slide Number Placeholder 5">
            <a:extLst>
              <a:ext uri="{FF2B5EF4-FFF2-40B4-BE49-F238E27FC236}">
                <a16:creationId xmlns:a16="http://schemas.microsoft.com/office/drawing/2014/main" id="{29AE967E-DECF-4C96-A07D-F43B91DEA42B}"/>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11" name="Picture 10">
            <a:extLst>
              <a:ext uri="{FF2B5EF4-FFF2-40B4-BE49-F238E27FC236}">
                <a16:creationId xmlns:a16="http://schemas.microsoft.com/office/drawing/2014/main" id="{20136CA2-5980-42A5-AB78-06BD8235247F}"/>
              </a:ext>
            </a:extLst>
          </p:cNvPr>
          <p:cNvPicPr>
            <a:picLocks noChangeAspect="1"/>
          </p:cNvPicPr>
          <p:nvPr/>
        </p:nvPicPr>
        <p:blipFill>
          <a:blip r:embed="rId2"/>
          <a:stretch>
            <a:fillRect/>
          </a:stretch>
        </p:blipFill>
        <p:spPr>
          <a:xfrm>
            <a:off x="771409" y="3812768"/>
            <a:ext cx="1657581" cy="1638529"/>
          </a:xfrm>
          <a:prstGeom prst="rect">
            <a:avLst/>
          </a:prstGeom>
        </p:spPr>
      </p:pic>
    </p:spTree>
    <p:extLst>
      <p:ext uri="{BB962C8B-B14F-4D97-AF65-F5344CB8AC3E}">
        <p14:creationId xmlns:p14="http://schemas.microsoft.com/office/powerpoint/2010/main" val="1040664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70D21-10F0-479D-A72A-2ED11359EF0A}"/>
              </a:ext>
            </a:extLst>
          </p:cNvPr>
          <p:cNvSpPr>
            <a:spLocks noGrp="1"/>
          </p:cNvSpPr>
          <p:nvPr>
            <p:ph type="title"/>
          </p:nvPr>
        </p:nvSpPr>
        <p:spPr/>
        <p:txBody>
          <a:bodyPr/>
          <a:lstStyle/>
          <a:p>
            <a:r>
              <a:rPr lang="en-IN" dirty="0"/>
              <a:t>Mechanics of Machine Learning</a:t>
            </a:r>
          </a:p>
        </p:txBody>
      </p:sp>
      <p:sp>
        <p:nvSpPr>
          <p:cNvPr id="3" name="Content Placeholder 2">
            <a:extLst>
              <a:ext uri="{FF2B5EF4-FFF2-40B4-BE49-F238E27FC236}">
                <a16:creationId xmlns:a16="http://schemas.microsoft.com/office/drawing/2014/main" id="{5CDEA00E-16C5-4A9B-8BA5-AB4EE99E2A61}"/>
              </a:ext>
            </a:extLst>
          </p:cNvPr>
          <p:cNvSpPr>
            <a:spLocks noGrp="1"/>
          </p:cNvSpPr>
          <p:nvPr>
            <p:ph idx="1"/>
          </p:nvPr>
        </p:nvSpPr>
        <p:spPr/>
        <p:txBody>
          <a:bodyPr/>
          <a:lstStyle/>
          <a:p>
            <a:pPr marL="0" indent="0" algn="just">
              <a:buNone/>
            </a:pPr>
            <a:r>
              <a:rPr lang="en-US" sz="1200" dirty="0"/>
              <a:t>Model: To be a function ℎ(x, θ). The input x is an example expressed in vector form. </a:t>
            </a:r>
          </a:p>
          <a:p>
            <a:pPr marL="0" indent="0" algn="just">
              <a:buNone/>
            </a:pPr>
            <a:r>
              <a:rPr lang="en-US" sz="1200" dirty="0"/>
              <a:t>For example, if x were a grayscale image, the vector’s components would be pixel intensities at each position. </a:t>
            </a:r>
          </a:p>
          <a:p>
            <a:pPr marL="0" indent="0" algn="just">
              <a:buNone/>
            </a:pPr>
            <a:r>
              <a:rPr lang="en-US" sz="1200" dirty="0"/>
              <a:t>The input θ is a vector of the parameters that our model uses. Our machine learning program tries to perfect the values of these parameters as it is exposed to more and more examples.</a:t>
            </a:r>
            <a:endParaRPr lang="en-IN" sz="1200" dirty="0"/>
          </a:p>
        </p:txBody>
      </p:sp>
      <p:sp>
        <p:nvSpPr>
          <p:cNvPr id="6" name="Slide Number Placeholder 5">
            <a:extLst>
              <a:ext uri="{FF2B5EF4-FFF2-40B4-BE49-F238E27FC236}">
                <a16:creationId xmlns:a16="http://schemas.microsoft.com/office/drawing/2014/main" id="{29AE967E-DECF-4C96-A07D-F43B91DEA42B}"/>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8" name="Picture 7">
            <a:extLst>
              <a:ext uri="{FF2B5EF4-FFF2-40B4-BE49-F238E27FC236}">
                <a16:creationId xmlns:a16="http://schemas.microsoft.com/office/drawing/2014/main" id="{4D8A6732-1BA4-4B3A-9FDB-4EB1EAA48428}"/>
              </a:ext>
            </a:extLst>
          </p:cNvPr>
          <p:cNvPicPr>
            <a:picLocks noChangeAspect="1"/>
          </p:cNvPicPr>
          <p:nvPr/>
        </p:nvPicPr>
        <p:blipFill>
          <a:blip r:embed="rId2"/>
          <a:stretch>
            <a:fillRect/>
          </a:stretch>
        </p:blipFill>
        <p:spPr>
          <a:xfrm>
            <a:off x="1145980" y="2449077"/>
            <a:ext cx="3772723" cy="3951723"/>
          </a:xfrm>
          <a:prstGeom prst="rect">
            <a:avLst/>
          </a:prstGeom>
        </p:spPr>
      </p:pic>
      <p:sp>
        <p:nvSpPr>
          <p:cNvPr id="9" name="TextBox 8">
            <a:extLst>
              <a:ext uri="{FF2B5EF4-FFF2-40B4-BE49-F238E27FC236}">
                <a16:creationId xmlns:a16="http://schemas.microsoft.com/office/drawing/2014/main" id="{131B1AE6-9051-45D0-B01D-89B607A14525}"/>
              </a:ext>
            </a:extLst>
          </p:cNvPr>
          <p:cNvSpPr txBox="1"/>
          <p:nvPr/>
        </p:nvSpPr>
        <p:spPr>
          <a:xfrm>
            <a:off x="4970074" y="3748462"/>
            <a:ext cx="3166251" cy="523220"/>
          </a:xfrm>
          <a:prstGeom prst="rect">
            <a:avLst/>
          </a:prstGeom>
          <a:noFill/>
        </p:spPr>
        <p:txBody>
          <a:bodyPr wrap="none" rtlCol="0">
            <a:spAutoFit/>
          </a:bodyPr>
          <a:lstStyle/>
          <a:p>
            <a:r>
              <a:rPr lang="en-US" sz="1400" dirty="0"/>
              <a:t> Process of vectorizing an image </a:t>
            </a:r>
          </a:p>
          <a:p>
            <a:r>
              <a:rPr lang="en-US" sz="1400" dirty="0"/>
              <a:t>for a machine learning algorithm</a:t>
            </a:r>
            <a:endParaRPr lang="en-IN" sz="1400" dirty="0"/>
          </a:p>
        </p:txBody>
      </p:sp>
    </p:spTree>
    <p:extLst>
      <p:ext uri="{BB962C8B-B14F-4D97-AF65-F5344CB8AC3E}">
        <p14:creationId xmlns:p14="http://schemas.microsoft.com/office/powerpoint/2010/main" val="2926467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09399-0C05-4747-92A7-99B0B45C7A47}"/>
              </a:ext>
            </a:extLst>
          </p:cNvPr>
          <p:cNvSpPr>
            <a:spLocks noGrp="1"/>
          </p:cNvSpPr>
          <p:nvPr>
            <p:ph type="title"/>
          </p:nvPr>
        </p:nvSpPr>
        <p:spPr/>
        <p:txBody>
          <a:bodyPr/>
          <a:lstStyle/>
          <a:p>
            <a:r>
              <a:rPr lang="en-IN" dirty="0"/>
              <a:t>Mechanics of Machine Learning</a:t>
            </a:r>
          </a:p>
        </p:txBody>
      </p:sp>
      <p:sp>
        <p:nvSpPr>
          <p:cNvPr id="3" name="Content Placeholder 2">
            <a:extLst>
              <a:ext uri="{FF2B5EF4-FFF2-40B4-BE49-F238E27FC236}">
                <a16:creationId xmlns:a16="http://schemas.microsoft.com/office/drawing/2014/main" id="{4B17AB4F-844A-4AD3-9A20-E28D3387DD67}"/>
              </a:ext>
            </a:extLst>
          </p:cNvPr>
          <p:cNvSpPr>
            <a:spLocks noGrp="1"/>
          </p:cNvSpPr>
          <p:nvPr>
            <p:ph idx="1"/>
          </p:nvPr>
        </p:nvSpPr>
        <p:spPr/>
        <p:txBody>
          <a:bodyPr/>
          <a:lstStyle/>
          <a:p>
            <a:pPr marL="0" indent="0" algn="just">
              <a:buNone/>
            </a:pPr>
            <a:r>
              <a:rPr lang="en-US" sz="1600" dirty="0"/>
              <a:t>Example: </a:t>
            </a:r>
          </a:p>
          <a:p>
            <a:pPr marL="0" indent="0" algn="just">
              <a:buNone/>
            </a:pPr>
            <a:r>
              <a:rPr lang="en-US" sz="1600" b="1" dirty="0"/>
              <a:t>To Predict: </a:t>
            </a:r>
            <a:r>
              <a:rPr lang="en-US" sz="1600" dirty="0"/>
              <a:t>Performance of students.</a:t>
            </a:r>
          </a:p>
          <a:p>
            <a:pPr marL="0" indent="0" algn="just">
              <a:buNone/>
            </a:pPr>
            <a:r>
              <a:rPr lang="en-US" sz="1600" dirty="0"/>
              <a:t>−1 if we perform below average and </a:t>
            </a:r>
          </a:p>
          <a:p>
            <a:pPr marL="0" indent="0" algn="just">
              <a:buNone/>
            </a:pPr>
            <a:r>
              <a:rPr lang="en-US" sz="1600" dirty="0"/>
              <a:t>1 otherwise</a:t>
            </a:r>
          </a:p>
          <a:p>
            <a:pPr marL="0" indent="0" algn="just">
              <a:buNone/>
            </a:pPr>
            <a:r>
              <a:rPr lang="en-US" sz="1600" b="1" dirty="0"/>
              <a:t>Input</a:t>
            </a:r>
            <a:r>
              <a:rPr lang="en-US" sz="1600" dirty="0"/>
              <a:t>: Number of hours of sleep (</a:t>
            </a:r>
            <a:r>
              <a:rPr lang="en-IN" sz="1400" dirty="0"/>
              <a:t>x</a:t>
            </a:r>
            <a:r>
              <a:rPr lang="en-IN" sz="1400" baseline="-25000" dirty="0"/>
              <a:t>1</a:t>
            </a:r>
            <a:r>
              <a:rPr lang="en-IN" sz="1600" dirty="0"/>
              <a:t>)</a:t>
            </a:r>
            <a:r>
              <a:rPr lang="en-US" sz="1600" dirty="0"/>
              <a:t> and the number of hours of study the previous day (</a:t>
            </a:r>
            <a:r>
              <a:rPr lang="en-IN" sz="1600" dirty="0"/>
              <a:t>x</a:t>
            </a:r>
            <a:r>
              <a:rPr lang="en-IN" sz="1600" baseline="-25000" dirty="0"/>
              <a:t>2</a:t>
            </a:r>
            <a:r>
              <a:rPr lang="en-IN" sz="1600" dirty="0"/>
              <a:t>)</a:t>
            </a:r>
            <a:r>
              <a:rPr lang="en-US" sz="1600" dirty="0"/>
              <a:t> </a:t>
            </a:r>
          </a:p>
          <a:p>
            <a:pPr marL="0" indent="0" algn="just">
              <a:buNone/>
            </a:pPr>
            <a:endParaRPr lang="en-US" sz="1600" dirty="0"/>
          </a:p>
          <a:p>
            <a:pPr marL="0" indent="0" algn="just">
              <a:buNone/>
            </a:pPr>
            <a:r>
              <a:rPr lang="en-IN" sz="1600" dirty="0"/>
              <a:t>Each data point representation x = [x1 ,x2]</a:t>
            </a:r>
            <a:r>
              <a:rPr lang="en-IN" sz="1600" baseline="30000" dirty="0"/>
              <a:t>T</a:t>
            </a:r>
          </a:p>
          <a:p>
            <a:pPr marL="0" indent="0" algn="just">
              <a:buNone/>
            </a:pPr>
            <a:endParaRPr lang="en-IN" sz="1600" baseline="30000" dirty="0"/>
          </a:p>
          <a:p>
            <a:pPr marL="0" indent="0" algn="just">
              <a:buNone/>
            </a:pPr>
            <a:r>
              <a:rPr lang="en-US" sz="1600" dirty="0"/>
              <a:t>To learn a </a:t>
            </a:r>
            <a:r>
              <a:rPr lang="en-US" sz="1600" b="1" dirty="0"/>
              <a:t>model</a:t>
            </a:r>
            <a:r>
              <a:rPr lang="en-US" sz="1600" dirty="0"/>
              <a:t> </a:t>
            </a:r>
            <a:r>
              <a:rPr lang="en-US" sz="1600" dirty="0">
                <a:solidFill>
                  <a:srgbClr val="0000FF"/>
                </a:solidFill>
              </a:rPr>
              <a:t>ℎ(x, θ) </a:t>
            </a:r>
            <a:r>
              <a:rPr lang="en-US" sz="1600" dirty="0"/>
              <a:t>with parameter vector θ = [θ</a:t>
            </a:r>
            <a:r>
              <a:rPr lang="en-US" sz="1600" baseline="-25000" dirty="0"/>
              <a:t>0</a:t>
            </a:r>
            <a:r>
              <a:rPr lang="en-US" sz="1600" dirty="0"/>
              <a:t> , θ</a:t>
            </a:r>
            <a:r>
              <a:rPr lang="en-US" sz="1600" baseline="-25000" dirty="0"/>
              <a:t>1</a:t>
            </a:r>
            <a:r>
              <a:rPr lang="en-US" sz="1600" dirty="0"/>
              <a:t> ,θ</a:t>
            </a:r>
            <a:r>
              <a:rPr lang="en-US" sz="1600" baseline="-25000" dirty="0"/>
              <a:t>2</a:t>
            </a:r>
            <a:r>
              <a:rPr lang="en-US" sz="1600" dirty="0"/>
              <a:t> ]</a:t>
            </a:r>
            <a:r>
              <a:rPr lang="en-US" sz="1600" baseline="30000" dirty="0"/>
              <a:t>T</a:t>
            </a:r>
            <a:r>
              <a:rPr lang="en-US" sz="1600" dirty="0"/>
              <a:t> such that:</a:t>
            </a:r>
            <a:endParaRPr lang="en-IN" sz="2800" baseline="30000" dirty="0"/>
          </a:p>
        </p:txBody>
      </p:sp>
      <p:sp>
        <p:nvSpPr>
          <p:cNvPr id="6" name="Slide Number Placeholder 5">
            <a:extLst>
              <a:ext uri="{FF2B5EF4-FFF2-40B4-BE49-F238E27FC236}">
                <a16:creationId xmlns:a16="http://schemas.microsoft.com/office/drawing/2014/main" id="{B12FDA0A-EBD1-4DE6-95E5-5ADDF75C232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8" name="Picture 7">
            <a:extLst>
              <a:ext uri="{FF2B5EF4-FFF2-40B4-BE49-F238E27FC236}">
                <a16:creationId xmlns:a16="http://schemas.microsoft.com/office/drawing/2014/main" id="{2DA25A0F-6C8A-4829-86DC-FBC1D9657DD7}"/>
              </a:ext>
            </a:extLst>
          </p:cNvPr>
          <p:cNvPicPr>
            <a:picLocks noChangeAspect="1"/>
          </p:cNvPicPr>
          <p:nvPr/>
        </p:nvPicPr>
        <p:blipFill>
          <a:blip r:embed="rId2"/>
          <a:stretch>
            <a:fillRect/>
          </a:stretch>
        </p:blipFill>
        <p:spPr>
          <a:xfrm>
            <a:off x="694594" y="4330557"/>
            <a:ext cx="3662629" cy="1808480"/>
          </a:xfrm>
          <a:prstGeom prst="rect">
            <a:avLst/>
          </a:prstGeom>
        </p:spPr>
      </p:pic>
      <p:sp>
        <p:nvSpPr>
          <p:cNvPr id="9" name="TextBox 8">
            <a:extLst>
              <a:ext uri="{FF2B5EF4-FFF2-40B4-BE49-F238E27FC236}">
                <a16:creationId xmlns:a16="http://schemas.microsoft.com/office/drawing/2014/main" id="{E58F6354-EEC1-4517-8FE9-5C49920824CD}"/>
              </a:ext>
            </a:extLst>
          </p:cNvPr>
          <p:cNvSpPr txBox="1"/>
          <p:nvPr/>
        </p:nvSpPr>
        <p:spPr>
          <a:xfrm>
            <a:off x="4614861" y="4343733"/>
            <a:ext cx="3276731" cy="738664"/>
          </a:xfrm>
          <a:prstGeom prst="rect">
            <a:avLst/>
          </a:prstGeom>
          <a:noFill/>
        </p:spPr>
        <p:txBody>
          <a:bodyPr wrap="none" rtlCol="0">
            <a:spAutoFit/>
          </a:bodyPr>
          <a:lstStyle/>
          <a:p>
            <a:pPr algn="just"/>
            <a:r>
              <a:rPr lang="en-US" sz="1400" b="1" dirty="0"/>
              <a:t>To learn: </a:t>
            </a:r>
          </a:p>
          <a:p>
            <a:pPr algn="just"/>
            <a:r>
              <a:rPr lang="en-US" sz="1400" dirty="0"/>
              <a:t>Parameter vector θ such that the</a:t>
            </a:r>
          </a:p>
          <a:p>
            <a:pPr algn="just"/>
            <a:r>
              <a:rPr lang="en-US" sz="1400" dirty="0"/>
              <a:t>model makes the right predictions</a:t>
            </a:r>
            <a:endParaRPr lang="en-IN" sz="1400" dirty="0"/>
          </a:p>
        </p:txBody>
      </p:sp>
      <p:sp>
        <p:nvSpPr>
          <p:cNvPr id="10" name="TextBox 9">
            <a:extLst>
              <a:ext uri="{FF2B5EF4-FFF2-40B4-BE49-F238E27FC236}">
                <a16:creationId xmlns:a16="http://schemas.microsoft.com/office/drawing/2014/main" id="{D115FB23-F934-4F6B-BDF6-C14AEEDEE6B9}"/>
              </a:ext>
            </a:extLst>
          </p:cNvPr>
          <p:cNvSpPr txBox="1"/>
          <p:nvPr/>
        </p:nvSpPr>
        <p:spPr>
          <a:xfrm>
            <a:off x="4364929" y="5296066"/>
            <a:ext cx="4817344" cy="369332"/>
          </a:xfrm>
          <a:prstGeom prst="rect">
            <a:avLst/>
          </a:prstGeom>
          <a:noFill/>
        </p:spPr>
        <p:txBody>
          <a:bodyPr wrap="none" rtlCol="0">
            <a:spAutoFit/>
          </a:bodyPr>
          <a:lstStyle/>
          <a:p>
            <a:r>
              <a:rPr lang="en-US" dirty="0"/>
              <a:t>This model is called a </a:t>
            </a:r>
            <a:r>
              <a:rPr lang="en-US" dirty="0">
                <a:solidFill>
                  <a:srgbClr val="0000FF"/>
                </a:solidFill>
              </a:rPr>
              <a:t>Linear Perceptron</a:t>
            </a:r>
            <a:endParaRPr lang="en-IN" dirty="0">
              <a:solidFill>
                <a:srgbClr val="0000FF"/>
              </a:solidFill>
            </a:endParaRPr>
          </a:p>
        </p:txBody>
      </p:sp>
    </p:spTree>
    <p:extLst>
      <p:ext uri="{BB962C8B-B14F-4D97-AF65-F5344CB8AC3E}">
        <p14:creationId xmlns:p14="http://schemas.microsoft.com/office/powerpoint/2010/main" val="1093449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66F0A-9DBC-44F0-BFC4-AF061F98A5FA}"/>
              </a:ext>
            </a:extLst>
          </p:cNvPr>
          <p:cNvSpPr>
            <a:spLocks noGrp="1"/>
          </p:cNvSpPr>
          <p:nvPr>
            <p:ph type="title"/>
          </p:nvPr>
        </p:nvSpPr>
        <p:spPr/>
        <p:txBody>
          <a:bodyPr/>
          <a:lstStyle/>
          <a:p>
            <a:r>
              <a:rPr lang="en-IN" dirty="0"/>
              <a:t>Mechanics of ML: Linear Perceptron</a:t>
            </a:r>
          </a:p>
        </p:txBody>
      </p:sp>
      <p:sp>
        <p:nvSpPr>
          <p:cNvPr id="3" name="Content Placeholder 2">
            <a:extLst>
              <a:ext uri="{FF2B5EF4-FFF2-40B4-BE49-F238E27FC236}">
                <a16:creationId xmlns:a16="http://schemas.microsoft.com/office/drawing/2014/main" id="{051FB5EB-E04E-4469-9665-6795615F8BC4}"/>
              </a:ext>
            </a:extLst>
          </p:cNvPr>
          <p:cNvSpPr>
            <a:spLocks noGrp="1"/>
          </p:cNvSpPr>
          <p:nvPr>
            <p:ph idx="1"/>
          </p:nvPr>
        </p:nvSpPr>
        <p:spPr/>
        <p:txBody>
          <a:bodyPr/>
          <a:lstStyle/>
          <a:p>
            <a:pPr marL="0" indent="0">
              <a:buNone/>
            </a:pPr>
            <a:r>
              <a:rPr lang="en-US" sz="1800" dirty="0"/>
              <a:t>Sample data for our exam predictor algorithm and a potential classifier</a:t>
            </a:r>
            <a:endParaRPr lang="en-IN" sz="1800" dirty="0"/>
          </a:p>
        </p:txBody>
      </p:sp>
      <p:sp>
        <p:nvSpPr>
          <p:cNvPr id="6" name="Slide Number Placeholder 5">
            <a:extLst>
              <a:ext uri="{FF2B5EF4-FFF2-40B4-BE49-F238E27FC236}">
                <a16:creationId xmlns:a16="http://schemas.microsoft.com/office/drawing/2014/main" id="{06826A96-B8A4-493A-B7CA-B8790E096680}"/>
              </a:ext>
            </a:extLst>
          </p:cNvPr>
          <p:cNvSpPr>
            <a:spLocks noGrp="1"/>
          </p:cNvSpPr>
          <p:nvPr>
            <p:ph type="sldNum" sz="quarter" idx="12"/>
          </p:nvPr>
        </p:nvSpPr>
        <p:spPr/>
        <p:txBody>
          <a:bodyPr/>
          <a:lstStyle/>
          <a:p>
            <a:fld id="{BB2CE0DE-867F-455F-B20B-96D381B4AB71}" type="slidenum">
              <a:rPr lang="en-US" smtClean="0"/>
              <a:t>16</a:t>
            </a:fld>
            <a:endParaRPr lang="en-US"/>
          </a:p>
        </p:txBody>
      </p:sp>
      <p:grpSp>
        <p:nvGrpSpPr>
          <p:cNvPr id="11" name="Group 10">
            <a:extLst>
              <a:ext uri="{FF2B5EF4-FFF2-40B4-BE49-F238E27FC236}">
                <a16:creationId xmlns:a16="http://schemas.microsoft.com/office/drawing/2014/main" id="{642BAEC2-C56C-40DA-865F-3C22C1388E50}"/>
              </a:ext>
            </a:extLst>
          </p:cNvPr>
          <p:cNvGrpSpPr/>
          <p:nvPr/>
        </p:nvGrpSpPr>
        <p:grpSpPr>
          <a:xfrm>
            <a:off x="609600" y="2057400"/>
            <a:ext cx="4167027" cy="4083963"/>
            <a:chOff x="1219200" y="2127621"/>
            <a:chExt cx="4167027" cy="4083963"/>
          </a:xfrm>
        </p:grpSpPr>
        <p:pic>
          <p:nvPicPr>
            <p:cNvPr id="8" name="Picture 7">
              <a:extLst>
                <a:ext uri="{FF2B5EF4-FFF2-40B4-BE49-F238E27FC236}">
                  <a16:creationId xmlns:a16="http://schemas.microsoft.com/office/drawing/2014/main" id="{710F8263-F21A-4354-A34A-701AFD640138}"/>
                </a:ext>
              </a:extLst>
            </p:cNvPr>
            <p:cNvPicPr>
              <a:picLocks noChangeAspect="1"/>
            </p:cNvPicPr>
            <p:nvPr/>
          </p:nvPicPr>
          <p:blipFill>
            <a:blip r:embed="rId2"/>
            <a:stretch>
              <a:fillRect/>
            </a:stretch>
          </p:blipFill>
          <p:spPr>
            <a:xfrm>
              <a:off x="1219200" y="2127621"/>
              <a:ext cx="4167027" cy="4083963"/>
            </a:xfrm>
            <a:prstGeom prst="rect">
              <a:avLst/>
            </a:prstGeom>
          </p:spPr>
        </p:pic>
        <p:sp>
          <p:nvSpPr>
            <p:cNvPr id="9" name="TextBox 8">
              <a:extLst>
                <a:ext uri="{FF2B5EF4-FFF2-40B4-BE49-F238E27FC236}">
                  <a16:creationId xmlns:a16="http://schemas.microsoft.com/office/drawing/2014/main" id="{116055B3-4B46-4EEE-9D02-0C9BC7CDF8BA}"/>
                </a:ext>
              </a:extLst>
            </p:cNvPr>
            <p:cNvSpPr txBox="1"/>
            <p:nvPr/>
          </p:nvSpPr>
          <p:spPr>
            <a:xfrm>
              <a:off x="1905000" y="5785451"/>
              <a:ext cx="3092513" cy="307777"/>
            </a:xfrm>
            <a:prstGeom prst="rect">
              <a:avLst/>
            </a:prstGeom>
            <a:noFill/>
          </p:spPr>
          <p:txBody>
            <a:bodyPr wrap="none" rtlCol="0">
              <a:spAutoFit/>
            </a:bodyPr>
            <a:lstStyle/>
            <a:p>
              <a:r>
                <a:rPr lang="en-US" sz="1400" b="1" dirty="0">
                  <a:solidFill>
                    <a:srgbClr val="0000FF"/>
                  </a:solidFill>
                </a:rPr>
                <a:t>1     2       3      4    5      6     7</a:t>
              </a:r>
              <a:endParaRPr lang="en-IN" sz="1400" b="1" dirty="0">
                <a:solidFill>
                  <a:srgbClr val="0000FF"/>
                </a:solidFill>
              </a:endParaRPr>
            </a:p>
          </p:txBody>
        </p:sp>
        <p:sp>
          <p:nvSpPr>
            <p:cNvPr id="10" name="TextBox 9">
              <a:extLst>
                <a:ext uri="{FF2B5EF4-FFF2-40B4-BE49-F238E27FC236}">
                  <a16:creationId xmlns:a16="http://schemas.microsoft.com/office/drawing/2014/main" id="{ED8A97AC-8FAE-4E62-9E53-5E530C4A8401}"/>
                </a:ext>
              </a:extLst>
            </p:cNvPr>
            <p:cNvSpPr txBox="1"/>
            <p:nvPr/>
          </p:nvSpPr>
          <p:spPr>
            <a:xfrm>
              <a:off x="1363494" y="2489770"/>
              <a:ext cx="312906" cy="3216265"/>
            </a:xfrm>
            <a:prstGeom prst="rect">
              <a:avLst/>
            </a:prstGeom>
            <a:noFill/>
          </p:spPr>
          <p:txBody>
            <a:bodyPr wrap="none" rtlCol="0">
              <a:spAutoFit/>
            </a:bodyPr>
            <a:lstStyle/>
            <a:p>
              <a:r>
                <a:rPr lang="en-US" sz="1400" b="1" dirty="0">
                  <a:solidFill>
                    <a:srgbClr val="0000FF"/>
                  </a:solidFill>
                </a:rPr>
                <a:t>7</a:t>
              </a:r>
            </a:p>
            <a:p>
              <a:endParaRPr lang="en-US" sz="1400" b="1" dirty="0">
                <a:solidFill>
                  <a:srgbClr val="0000FF"/>
                </a:solidFill>
              </a:endParaRPr>
            </a:p>
            <a:p>
              <a:r>
                <a:rPr lang="en-US" sz="1400" b="1" dirty="0">
                  <a:solidFill>
                    <a:srgbClr val="0000FF"/>
                  </a:solidFill>
                </a:rPr>
                <a:t>6</a:t>
              </a:r>
            </a:p>
            <a:p>
              <a:endParaRPr lang="en-US" sz="1400" b="1" dirty="0">
                <a:solidFill>
                  <a:srgbClr val="0000FF"/>
                </a:solidFill>
              </a:endParaRPr>
            </a:p>
            <a:p>
              <a:r>
                <a:rPr lang="en-IN" sz="1400" b="1" dirty="0">
                  <a:solidFill>
                    <a:srgbClr val="0000FF"/>
                  </a:solidFill>
                </a:rPr>
                <a:t>5</a:t>
              </a:r>
            </a:p>
            <a:p>
              <a:endParaRPr lang="en-IN" sz="1400" b="1" dirty="0">
                <a:solidFill>
                  <a:srgbClr val="0000FF"/>
                </a:solidFill>
              </a:endParaRPr>
            </a:p>
            <a:p>
              <a:r>
                <a:rPr lang="en-IN" sz="1400" b="1" dirty="0">
                  <a:solidFill>
                    <a:srgbClr val="0000FF"/>
                  </a:solidFill>
                </a:rPr>
                <a:t>4</a:t>
              </a:r>
            </a:p>
            <a:p>
              <a:endParaRPr lang="en-IN" sz="1400" b="1" dirty="0">
                <a:solidFill>
                  <a:srgbClr val="0000FF"/>
                </a:solidFill>
              </a:endParaRPr>
            </a:p>
            <a:p>
              <a:endParaRPr lang="en-IN" sz="700" b="1" dirty="0">
                <a:solidFill>
                  <a:srgbClr val="0000FF"/>
                </a:solidFill>
              </a:endParaRPr>
            </a:p>
            <a:p>
              <a:r>
                <a:rPr lang="en-IN" sz="1400" b="1" dirty="0">
                  <a:solidFill>
                    <a:srgbClr val="0000FF"/>
                  </a:solidFill>
                </a:rPr>
                <a:t>3</a:t>
              </a:r>
            </a:p>
            <a:p>
              <a:endParaRPr lang="en-IN" sz="1400" b="1" dirty="0">
                <a:solidFill>
                  <a:srgbClr val="0000FF"/>
                </a:solidFill>
              </a:endParaRPr>
            </a:p>
            <a:p>
              <a:r>
                <a:rPr lang="en-IN" sz="1400" b="1" dirty="0">
                  <a:solidFill>
                    <a:srgbClr val="0000FF"/>
                  </a:solidFill>
                </a:rPr>
                <a:t>2</a:t>
              </a:r>
            </a:p>
            <a:p>
              <a:endParaRPr lang="en-IN" sz="1400" b="1" dirty="0">
                <a:solidFill>
                  <a:srgbClr val="0000FF"/>
                </a:solidFill>
              </a:endParaRPr>
            </a:p>
            <a:p>
              <a:r>
                <a:rPr lang="en-IN" sz="1400" b="1" dirty="0">
                  <a:solidFill>
                    <a:srgbClr val="0000FF"/>
                  </a:solidFill>
                </a:rPr>
                <a:t>1</a:t>
              </a:r>
            </a:p>
            <a:p>
              <a:endParaRPr lang="en-IN" sz="1400" b="1" dirty="0">
                <a:solidFill>
                  <a:srgbClr val="0000FF"/>
                </a:solidFill>
              </a:endParaRPr>
            </a:p>
          </p:txBody>
        </p:sp>
      </p:grpSp>
      <p:sp>
        <p:nvSpPr>
          <p:cNvPr id="12" name="TextBox 11">
            <a:extLst>
              <a:ext uri="{FF2B5EF4-FFF2-40B4-BE49-F238E27FC236}">
                <a16:creationId xmlns:a16="http://schemas.microsoft.com/office/drawing/2014/main" id="{0044C41D-C6AE-49CF-A593-50CDDE56A9E8}"/>
              </a:ext>
            </a:extLst>
          </p:cNvPr>
          <p:cNvSpPr txBox="1"/>
          <p:nvPr/>
        </p:nvSpPr>
        <p:spPr>
          <a:xfrm>
            <a:off x="4920921" y="2667000"/>
            <a:ext cx="3326103" cy="954107"/>
          </a:xfrm>
          <a:prstGeom prst="rect">
            <a:avLst/>
          </a:prstGeom>
          <a:noFill/>
        </p:spPr>
        <p:txBody>
          <a:bodyPr wrap="none" rtlCol="0">
            <a:spAutoFit/>
          </a:bodyPr>
          <a:lstStyle/>
          <a:p>
            <a:r>
              <a:rPr lang="en-US" sz="1400" dirty="0"/>
              <a:t>Then it turns out that by selecting </a:t>
            </a:r>
          </a:p>
          <a:p>
            <a:r>
              <a:rPr lang="en-US" sz="1400" dirty="0"/>
              <a:t>θ =[−24, 3, 4]</a:t>
            </a:r>
            <a:r>
              <a:rPr lang="en-US" sz="1400" baseline="30000" dirty="0"/>
              <a:t>T</a:t>
            </a:r>
            <a:r>
              <a:rPr lang="en-US" sz="1400" dirty="0"/>
              <a:t> , </a:t>
            </a:r>
          </a:p>
          <a:p>
            <a:r>
              <a:rPr lang="en-US" sz="1400" dirty="0"/>
              <a:t>our ML model makes the correct </a:t>
            </a:r>
          </a:p>
          <a:p>
            <a:r>
              <a:rPr lang="en-US" sz="1400" dirty="0"/>
              <a:t>prediction on every data point:</a:t>
            </a:r>
            <a:endParaRPr lang="en-IN" sz="1400" dirty="0"/>
          </a:p>
        </p:txBody>
      </p:sp>
      <p:pic>
        <p:nvPicPr>
          <p:cNvPr id="14" name="Picture 13">
            <a:extLst>
              <a:ext uri="{FF2B5EF4-FFF2-40B4-BE49-F238E27FC236}">
                <a16:creationId xmlns:a16="http://schemas.microsoft.com/office/drawing/2014/main" id="{09FFDDA4-231A-4FDE-B8D4-21C4F499F153}"/>
              </a:ext>
            </a:extLst>
          </p:cNvPr>
          <p:cNvPicPr>
            <a:picLocks noChangeAspect="1"/>
          </p:cNvPicPr>
          <p:nvPr/>
        </p:nvPicPr>
        <p:blipFill>
          <a:blip r:embed="rId3"/>
          <a:stretch>
            <a:fillRect/>
          </a:stretch>
        </p:blipFill>
        <p:spPr>
          <a:xfrm>
            <a:off x="5040252" y="4038600"/>
            <a:ext cx="3494148" cy="893045"/>
          </a:xfrm>
          <a:prstGeom prst="rect">
            <a:avLst/>
          </a:prstGeom>
        </p:spPr>
      </p:pic>
    </p:spTree>
    <p:extLst>
      <p:ext uri="{BB962C8B-B14F-4D97-AF65-F5344CB8AC3E}">
        <p14:creationId xmlns:p14="http://schemas.microsoft.com/office/powerpoint/2010/main" val="1892374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F81EE-A5B8-47FB-9D3F-1B9C4CB353BE}"/>
              </a:ext>
            </a:extLst>
          </p:cNvPr>
          <p:cNvSpPr>
            <a:spLocks noGrp="1"/>
          </p:cNvSpPr>
          <p:nvPr>
            <p:ph type="title"/>
          </p:nvPr>
        </p:nvSpPr>
        <p:spPr/>
        <p:txBody>
          <a:bodyPr/>
          <a:lstStyle/>
          <a:p>
            <a:r>
              <a:rPr lang="en-IN" dirty="0"/>
              <a:t>Mechanics of ML: Linear Perceptron</a:t>
            </a:r>
          </a:p>
        </p:txBody>
      </p:sp>
      <p:sp>
        <p:nvSpPr>
          <p:cNvPr id="3" name="Content Placeholder 2">
            <a:extLst>
              <a:ext uri="{FF2B5EF4-FFF2-40B4-BE49-F238E27FC236}">
                <a16:creationId xmlns:a16="http://schemas.microsoft.com/office/drawing/2014/main" id="{446C5FD0-D98A-4514-87AF-B2E67CEC20E4}"/>
              </a:ext>
            </a:extLst>
          </p:cNvPr>
          <p:cNvSpPr>
            <a:spLocks noGrp="1"/>
          </p:cNvSpPr>
          <p:nvPr>
            <p:ph idx="1"/>
          </p:nvPr>
        </p:nvSpPr>
        <p:spPr/>
        <p:txBody>
          <a:bodyPr/>
          <a:lstStyle/>
          <a:p>
            <a:pPr marL="0" indent="0">
              <a:buNone/>
            </a:pPr>
            <a:r>
              <a:rPr lang="en-US" dirty="0"/>
              <a:t>Optimization: An optimal value for the parameter vector θ</a:t>
            </a:r>
          </a:p>
          <a:p>
            <a:pPr marL="0" indent="0">
              <a:buNone/>
            </a:pPr>
            <a:endParaRPr lang="en-US" dirty="0"/>
          </a:p>
          <a:p>
            <a:pPr marL="0" indent="0" algn="just">
              <a:buNone/>
            </a:pPr>
            <a:r>
              <a:rPr lang="en-US" sz="2000" dirty="0"/>
              <a:t>An optimizer aims to maximize the performance of a machine learning model by iteratively tweaking its parameters until the </a:t>
            </a:r>
            <a:r>
              <a:rPr lang="en-US" sz="2000" b="1" dirty="0"/>
              <a:t>error</a:t>
            </a:r>
            <a:r>
              <a:rPr lang="en-US" sz="2000" dirty="0"/>
              <a:t> is </a:t>
            </a:r>
            <a:r>
              <a:rPr lang="en-US" sz="2000" b="1" dirty="0"/>
              <a:t>minimized</a:t>
            </a:r>
            <a:r>
              <a:rPr lang="en-US" sz="2000" dirty="0"/>
              <a:t>.</a:t>
            </a:r>
          </a:p>
          <a:p>
            <a:pPr marL="0" indent="0">
              <a:buNone/>
            </a:pPr>
            <a:endParaRPr lang="en-IN" dirty="0"/>
          </a:p>
        </p:txBody>
      </p:sp>
      <p:sp>
        <p:nvSpPr>
          <p:cNvPr id="6" name="Slide Number Placeholder 5">
            <a:extLst>
              <a:ext uri="{FF2B5EF4-FFF2-40B4-BE49-F238E27FC236}">
                <a16:creationId xmlns:a16="http://schemas.microsoft.com/office/drawing/2014/main" id="{EAB5F2C2-D7FD-422B-A60A-E364251A2402}"/>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603403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5FB68-2C87-4924-A357-39BFF4A10005}"/>
              </a:ext>
            </a:extLst>
          </p:cNvPr>
          <p:cNvSpPr>
            <a:spLocks noGrp="1"/>
          </p:cNvSpPr>
          <p:nvPr>
            <p:ph type="title"/>
          </p:nvPr>
        </p:nvSpPr>
        <p:spPr/>
        <p:txBody>
          <a:bodyPr/>
          <a:lstStyle/>
          <a:p>
            <a:r>
              <a:rPr lang="en-IN" dirty="0"/>
              <a:t>Mechanics of ML: Linear Perceptron</a:t>
            </a:r>
          </a:p>
        </p:txBody>
      </p:sp>
      <p:sp>
        <p:nvSpPr>
          <p:cNvPr id="3" name="Content Placeholder 2">
            <a:extLst>
              <a:ext uri="{FF2B5EF4-FFF2-40B4-BE49-F238E27FC236}">
                <a16:creationId xmlns:a16="http://schemas.microsoft.com/office/drawing/2014/main" id="{06737559-AEF5-4FED-8FD3-2A7F11300927}"/>
              </a:ext>
            </a:extLst>
          </p:cNvPr>
          <p:cNvSpPr>
            <a:spLocks noGrp="1"/>
          </p:cNvSpPr>
          <p:nvPr>
            <p:ph idx="1"/>
          </p:nvPr>
        </p:nvSpPr>
        <p:spPr/>
        <p:txBody>
          <a:bodyPr/>
          <a:lstStyle/>
          <a:p>
            <a:pPr marL="0" indent="0" algn="just">
              <a:buNone/>
            </a:pPr>
            <a:r>
              <a:rPr lang="en-US" sz="1800" dirty="0"/>
              <a:t>Linear perceptron model is quite limited in the relationships it can learn. For example, the distributions of data shown in Figure </a:t>
            </a:r>
            <a:r>
              <a:rPr lang="en-US" sz="1800" dirty="0" err="1"/>
              <a:t>belo</a:t>
            </a:r>
            <a:r>
              <a:rPr lang="en-US" sz="1800" dirty="0"/>
              <a:t> cannot be described well by a linear perceptron.</a:t>
            </a:r>
          </a:p>
          <a:p>
            <a:pPr marL="0" indent="0" algn="just">
              <a:buNone/>
            </a:pPr>
            <a:endParaRPr lang="en-IN" sz="1800" dirty="0"/>
          </a:p>
          <a:p>
            <a:pPr marL="0" indent="0" algn="just">
              <a:buNone/>
            </a:pPr>
            <a:endParaRPr lang="en-IN" sz="1800" dirty="0"/>
          </a:p>
          <a:p>
            <a:pPr marL="0" indent="0" algn="just">
              <a:buNone/>
            </a:pPr>
            <a:endParaRPr lang="en-IN" sz="1800" dirty="0"/>
          </a:p>
          <a:p>
            <a:pPr marL="0" indent="0" algn="just">
              <a:buNone/>
            </a:pPr>
            <a:endParaRPr lang="en-IN" sz="1800" dirty="0"/>
          </a:p>
          <a:p>
            <a:pPr marL="0" indent="0" algn="just">
              <a:buNone/>
            </a:pPr>
            <a:endParaRPr lang="en-IN" sz="1800"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endParaRPr lang="en-US" sz="1800" dirty="0"/>
          </a:p>
          <a:p>
            <a:pPr marL="0" indent="0" algn="just">
              <a:buNone/>
            </a:pPr>
            <a:r>
              <a:rPr lang="en-US" sz="1800" dirty="0"/>
              <a:t>As our data takes on more complex forms, we need more complex models to describe them.</a:t>
            </a:r>
            <a:endParaRPr lang="en-IN" sz="1800" dirty="0"/>
          </a:p>
        </p:txBody>
      </p:sp>
      <p:sp>
        <p:nvSpPr>
          <p:cNvPr id="6" name="Slide Number Placeholder 5">
            <a:extLst>
              <a:ext uri="{FF2B5EF4-FFF2-40B4-BE49-F238E27FC236}">
                <a16:creationId xmlns:a16="http://schemas.microsoft.com/office/drawing/2014/main" id="{0480B3A8-1573-4458-996E-6E70A3CA4862}"/>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8" name="Picture 7">
            <a:extLst>
              <a:ext uri="{FF2B5EF4-FFF2-40B4-BE49-F238E27FC236}">
                <a16:creationId xmlns:a16="http://schemas.microsoft.com/office/drawing/2014/main" id="{428F13E8-9DF3-4F12-AD2D-E5503AAE0B5B}"/>
              </a:ext>
            </a:extLst>
          </p:cNvPr>
          <p:cNvPicPr>
            <a:picLocks noChangeAspect="1"/>
          </p:cNvPicPr>
          <p:nvPr/>
        </p:nvPicPr>
        <p:blipFill>
          <a:blip r:embed="rId2"/>
          <a:stretch>
            <a:fillRect/>
          </a:stretch>
        </p:blipFill>
        <p:spPr>
          <a:xfrm>
            <a:off x="533400" y="2362200"/>
            <a:ext cx="8001000" cy="2875102"/>
          </a:xfrm>
          <a:prstGeom prst="rect">
            <a:avLst/>
          </a:prstGeom>
        </p:spPr>
      </p:pic>
    </p:spTree>
    <p:extLst>
      <p:ext uri="{BB962C8B-B14F-4D97-AF65-F5344CB8AC3E}">
        <p14:creationId xmlns:p14="http://schemas.microsoft.com/office/powerpoint/2010/main" val="1489576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5F552-7082-D047-7505-B08AB6F15CF8}"/>
              </a:ext>
            </a:extLst>
          </p:cNvPr>
          <p:cNvSpPr>
            <a:spLocks noGrp="1"/>
          </p:cNvSpPr>
          <p:nvPr>
            <p:ph type="title"/>
          </p:nvPr>
        </p:nvSpPr>
        <p:spPr/>
        <p:txBody>
          <a:bodyPr/>
          <a:lstStyle/>
          <a:p>
            <a:r>
              <a:rPr lang="en-IN" dirty="0"/>
              <a:t>Neuron</a:t>
            </a:r>
          </a:p>
        </p:txBody>
      </p:sp>
      <p:sp>
        <p:nvSpPr>
          <p:cNvPr id="3" name="Content Placeholder 2">
            <a:extLst>
              <a:ext uri="{FF2B5EF4-FFF2-40B4-BE49-F238E27FC236}">
                <a16:creationId xmlns:a16="http://schemas.microsoft.com/office/drawing/2014/main" id="{53CBD981-D888-7354-D61F-F0C52F8EAF3B}"/>
              </a:ext>
            </a:extLst>
          </p:cNvPr>
          <p:cNvSpPr>
            <a:spLocks noGrp="1"/>
          </p:cNvSpPr>
          <p:nvPr>
            <p:ph idx="1"/>
          </p:nvPr>
        </p:nvSpPr>
        <p:spPr/>
        <p:txBody>
          <a:bodyPr/>
          <a:lstStyle/>
          <a:p>
            <a:pPr algn="just"/>
            <a:r>
              <a:rPr lang="en-US" sz="1800" dirty="0"/>
              <a:t>Foundational unit of the human brain is the neuron. The human brain contains approximately 86 billion neurons. Each of the neuron forms an average of 6,000 connections with other neurons. Goal in this section is to use this natural structure to build machine learning models that solve problems in an analogous way,</a:t>
            </a:r>
            <a:endParaRPr lang="en-IN" sz="1800" dirty="0"/>
          </a:p>
        </p:txBody>
      </p:sp>
      <p:sp>
        <p:nvSpPr>
          <p:cNvPr id="6" name="Slide Number Placeholder 5">
            <a:extLst>
              <a:ext uri="{FF2B5EF4-FFF2-40B4-BE49-F238E27FC236}">
                <a16:creationId xmlns:a16="http://schemas.microsoft.com/office/drawing/2014/main" id="{BE7022DB-01A4-EE58-553C-188701EE369E}"/>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8" name="Picture 7">
            <a:extLst>
              <a:ext uri="{FF2B5EF4-FFF2-40B4-BE49-F238E27FC236}">
                <a16:creationId xmlns:a16="http://schemas.microsoft.com/office/drawing/2014/main" id="{4F5BBAF2-143E-1DC6-6CA0-E9B1F0D67694}"/>
              </a:ext>
            </a:extLst>
          </p:cNvPr>
          <p:cNvPicPr>
            <a:picLocks noChangeAspect="1"/>
          </p:cNvPicPr>
          <p:nvPr/>
        </p:nvPicPr>
        <p:blipFill>
          <a:blip r:embed="rId2"/>
          <a:stretch>
            <a:fillRect/>
          </a:stretch>
        </p:blipFill>
        <p:spPr>
          <a:xfrm>
            <a:off x="141514" y="3400163"/>
            <a:ext cx="4697059" cy="2233740"/>
          </a:xfrm>
          <a:prstGeom prst="rect">
            <a:avLst/>
          </a:prstGeom>
        </p:spPr>
      </p:pic>
      <p:sp>
        <p:nvSpPr>
          <p:cNvPr id="9" name="TextBox 8">
            <a:extLst>
              <a:ext uri="{FF2B5EF4-FFF2-40B4-BE49-F238E27FC236}">
                <a16:creationId xmlns:a16="http://schemas.microsoft.com/office/drawing/2014/main" id="{6105064B-9140-103E-0C3A-8399E46F1033}"/>
              </a:ext>
            </a:extLst>
          </p:cNvPr>
          <p:cNvSpPr txBox="1"/>
          <p:nvPr/>
        </p:nvSpPr>
        <p:spPr>
          <a:xfrm>
            <a:off x="130630" y="5741624"/>
            <a:ext cx="5176674" cy="307777"/>
          </a:xfrm>
          <a:prstGeom prst="rect">
            <a:avLst/>
          </a:prstGeom>
          <a:noFill/>
        </p:spPr>
        <p:txBody>
          <a:bodyPr wrap="none" rtlCol="0">
            <a:spAutoFit/>
          </a:bodyPr>
          <a:lstStyle/>
          <a:p>
            <a:r>
              <a:rPr lang="en-US" sz="1400" dirty="0"/>
              <a:t>Functional description of a biological neuron’s structure</a:t>
            </a:r>
            <a:endParaRPr lang="en-IN" sz="1400" dirty="0"/>
          </a:p>
        </p:txBody>
      </p:sp>
    </p:spTree>
    <p:extLst>
      <p:ext uri="{BB962C8B-B14F-4D97-AF65-F5344CB8AC3E}">
        <p14:creationId xmlns:p14="http://schemas.microsoft.com/office/powerpoint/2010/main" val="2284739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6997-823A-F860-311F-CB29A41F8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2B3C9-BE67-AB6C-0C92-09536CFB8D3C}"/>
              </a:ext>
            </a:extLst>
          </p:cNvPr>
          <p:cNvSpPr>
            <a:spLocks noGrp="1"/>
          </p:cNvSpPr>
          <p:nvPr>
            <p:ph type="title"/>
          </p:nvPr>
        </p:nvSpPr>
        <p:spPr/>
        <p:txBody>
          <a:bodyPr/>
          <a:lstStyle/>
          <a:p>
            <a:r>
              <a:rPr lang="en-IN" dirty="0"/>
              <a:t>Neuron</a:t>
            </a:r>
          </a:p>
        </p:txBody>
      </p:sp>
      <p:sp>
        <p:nvSpPr>
          <p:cNvPr id="3" name="Content Placeholder 2">
            <a:extLst>
              <a:ext uri="{FF2B5EF4-FFF2-40B4-BE49-F238E27FC236}">
                <a16:creationId xmlns:a16="http://schemas.microsoft.com/office/drawing/2014/main" id="{D8994EA1-F7B4-23DD-33D2-1CBB20A01888}"/>
              </a:ext>
            </a:extLst>
          </p:cNvPr>
          <p:cNvSpPr>
            <a:spLocks noGrp="1"/>
          </p:cNvSpPr>
          <p:nvPr>
            <p:ph idx="1"/>
          </p:nvPr>
        </p:nvSpPr>
        <p:spPr/>
        <p:txBody>
          <a:bodyPr/>
          <a:lstStyle/>
          <a:p>
            <a:pPr algn="just"/>
            <a:r>
              <a:rPr lang="en-US" sz="1800" dirty="0"/>
              <a:t>Foundational unit of the human brain is the neuron. The human brain contains approximately 86 billion neurons. Each of the neuron forms an average of 6,000 connections with other neurons. Goal is to use this natural structure to build machine learning models that solve problems in an analogous way.</a:t>
            </a:r>
            <a:endParaRPr lang="en-IN" sz="1800" dirty="0"/>
          </a:p>
        </p:txBody>
      </p:sp>
      <p:sp>
        <p:nvSpPr>
          <p:cNvPr id="6" name="Slide Number Placeholder 5">
            <a:extLst>
              <a:ext uri="{FF2B5EF4-FFF2-40B4-BE49-F238E27FC236}">
                <a16:creationId xmlns:a16="http://schemas.microsoft.com/office/drawing/2014/main" id="{16F85E46-5A4B-37E8-0632-903A7907D846}"/>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8974E603-A220-AB21-F8CA-421D7E514F46}"/>
              </a:ext>
            </a:extLst>
          </p:cNvPr>
          <p:cNvPicPr>
            <a:picLocks noChangeAspect="1"/>
          </p:cNvPicPr>
          <p:nvPr/>
        </p:nvPicPr>
        <p:blipFill>
          <a:blip r:embed="rId2"/>
          <a:stretch>
            <a:fillRect/>
          </a:stretch>
        </p:blipFill>
        <p:spPr>
          <a:xfrm>
            <a:off x="141514" y="3400163"/>
            <a:ext cx="4697059" cy="2233740"/>
          </a:xfrm>
          <a:prstGeom prst="rect">
            <a:avLst/>
          </a:prstGeom>
        </p:spPr>
      </p:pic>
      <p:sp>
        <p:nvSpPr>
          <p:cNvPr id="9" name="TextBox 8">
            <a:extLst>
              <a:ext uri="{FF2B5EF4-FFF2-40B4-BE49-F238E27FC236}">
                <a16:creationId xmlns:a16="http://schemas.microsoft.com/office/drawing/2014/main" id="{BF310E9E-DB34-3A25-7122-E3B4D23C6BF6}"/>
              </a:ext>
            </a:extLst>
          </p:cNvPr>
          <p:cNvSpPr txBox="1"/>
          <p:nvPr/>
        </p:nvSpPr>
        <p:spPr>
          <a:xfrm>
            <a:off x="130630" y="5741624"/>
            <a:ext cx="5176674" cy="307777"/>
          </a:xfrm>
          <a:prstGeom prst="rect">
            <a:avLst/>
          </a:prstGeom>
          <a:noFill/>
        </p:spPr>
        <p:txBody>
          <a:bodyPr wrap="none" rtlCol="0">
            <a:spAutoFit/>
          </a:bodyPr>
          <a:lstStyle/>
          <a:p>
            <a:r>
              <a:rPr lang="en-US" sz="1400" dirty="0"/>
              <a:t>Functional description of a biological neuron’s structure</a:t>
            </a:r>
            <a:endParaRPr lang="en-IN" sz="1400" dirty="0"/>
          </a:p>
        </p:txBody>
      </p:sp>
      <p:sp>
        <p:nvSpPr>
          <p:cNvPr id="12" name="TextBox 11">
            <a:extLst>
              <a:ext uri="{FF2B5EF4-FFF2-40B4-BE49-F238E27FC236}">
                <a16:creationId xmlns:a16="http://schemas.microsoft.com/office/drawing/2014/main" id="{69D04B1F-15DB-2F8A-9902-0E92B0679158}"/>
              </a:ext>
            </a:extLst>
          </p:cNvPr>
          <p:cNvSpPr txBox="1"/>
          <p:nvPr/>
        </p:nvSpPr>
        <p:spPr>
          <a:xfrm>
            <a:off x="6008914" y="5633903"/>
            <a:ext cx="2805576" cy="523220"/>
          </a:xfrm>
          <a:prstGeom prst="rect">
            <a:avLst/>
          </a:prstGeom>
          <a:noFill/>
        </p:spPr>
        <p:txBody>
          <a:bodyPr wrap="none" rtlCol="0">
            <a:spAutoFit/>
          </a:bodyPr>
          <a:lstStyle/>
          <a:p>
            <a:r>
              <a:rPr lang="en-US" sz="1400" dirty="0"/>
              <a:t>Schematic for a neuron in an</a:t>
            </a:r>
          </a:p>
          <a:p>
            <a:r>
              <a:rPr lang="en-US" sz="1400" dirty="0"/>
              <a:t> artificial neural net</a:t>
            </a:r>
            <a:endParaRPr lang="en-IN" sz="1400" dirty="0"/>
          </a:p>
        </p:txBody>
      </p:sp>
      <p:pic>
        <p:nvPicPr>
          <p:cNvPr id="10" name="Picture 9">
            <a:extLst>
              <a:ext uri="{FF2B5EF4-FFF2-40B4-BE49-F238E27FC236}">
                <a16:creationId xmlns:a16="http://schemas.microsoft.com/office/drawing/2014/main" id="{39DF256F-917A-1FEA-2DAB-675F1A874948}"/>
              </a:ext>
            </a:extLst>
          </p:cNvPr>
          <p:cNvPicPr>
            <a:picLocks noChangeAspect="1"/>
          </p:cNvPicPr>
          <p:nvPr/>
        </p:nvPicPr>
        <p:blipFill>
          <a:blip r:embed="rId3"/>
          <a:stretch>
            <a:fillRect/>
          </a:stretch>
        </p:blipFill>
        <p:spPr>
          <a:xfrm>
            <a:off x="4876800" y="3275191"/>
            <a:ext cx="4029827" cy="2293046"/>
          </a:xfrm>
          <a:prstGeom prst="rect">
            <a:avLst/>
          </a:prstGeom>
        </p:spPr>
      </p:pic>
    </p:spTree>
    <p:extLst>
      <p:ext uri="{BB962C8B-B14F-4D97-AF65-F5344CB8AC3E}">
        <p14:creationId xmlns:p14="http://schemas.microsoft.com/office/powerpoint/2010/main" val="127780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75EE-9BE5-9700-E3DC-22F8B32F71F8}"/>
              </a:ext>
            </a:extLst>
          </p:cNvPr>
          <p:cNvSpPr>
            <a:spLocks noGrp="1"/>
          </p:cNvSpPr>
          <p:nvPr>
            <p:ph type="title"/>
          </p:nvPr>
        </p:nvSpPr>
        <p:spPr/>
        <p:txBody>
          <a:bodyPr/>
          <a:lstStyle/>
          <a:p>
            <a:r>
              <a:rPr lang="en-US" dirty="0"/>
              <a:t>Simple Model of an Artificial Neuron</a:t>
            </a:r>
            <a:endParaRPr lang="en-IN" dirty="0"/>
          </a:p>
        </p:txBody>
      </p:sp>
      <p:sp>
        <p:nvSpPr>
          <p:cNvPr id="6" name="Slide Number Placeholder 5">
            <a:extLst>
              <a:ext uri="{FF2B5EF4-FFF2-40B4-BE49-F238E27FC236}">
                <a16:creationId xmlns:a16="http://schemas.microsoft.com/office/drawing/2014/main" id="{1448C0F6-C1FC-5418-FBED-D7D01758E421}"/>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10" name="Picture 9">
            <a:extLst>
              <a:ext uri="{FF2B5EF4-FFF2-40B4-BE49-F238E27FC236}">
                <a16:creationId xmlns:a16="http://schemas.microsoft.com/office/drawing/2014/main" id="{7DF55835-3388-51FA-DEB4-43CDAC00463B}"/>
              </a:ext>
            </a:extLst>
          </p:cNvPr>
          <p:cNvPicPr>
            <a:picLocks noChangeAspect="1"/>
          </p:cNvPicPr>
          <p:nvPr/>
        </p:nvPicPr>
        <p:blipFill>
          <a:blip r:embed="rId3"/>
          <a:stretch>
            <a:fillRect/>
          </a:stretch>
        </p:blipFill>
        <p:spPr>
          <a:xfrm>
            <a:off x="0" y="1066800"/>
            <a:ext cx="9144000" cy="1524000"/>
          </a:xfrm>
          <a:prstGeom prst="rect">
            <a:avLst/>
          </a:prstGeom>
        </p:spPr>
      </p:pic>
      <p:pic>
        <p:nvPicPr>
          <p:cNvPr id="12" name="Picture 11">
            <a:extLst>
              <a:ext uri="{FF2B5EF4-FFF2-40B4-BE49-F238E27FC236}">
                <a16:creationId xmlns:a16="http://schemas.microsoft.com/office/drawing/2014/main" id="{E435F691-815A-C435-8CB9-CDE46A60CC80}"/>
              </a:ext>
            </a:extLst>
          </p:cNvPr>
          <p:cNvPicPr>
            <a:picLocks noChangeAspect="1"/>
          </p:cNvPicPr>
          <p:nvPr/>
        </p:nvPicPr>
        <p:blipFill>
          <a:blip r:embed="rId4"/>
          <a:stretch>
            <a:fillRect/>
          </a:stretch>
        </p:blipFill>
        <p:spPr>
          <a:xfrm>
            <a:off x="914400" y="2895600"/>
            <a:ext cx="6945785" cy="2743200"/>
          </a:xfrm>
          <a:prstGeom prst="rect">
            <a:avLst/>
          </a:prstGeom>
        </p:spPr>
      </p:pic>
      <p:pic>
        <p:nvPicPr>
          <p:cNvPr id="14" name="Picture 13">
            <a:extLst>
              <a:ext uri="{FF2B5EF4-FFF2-40B4-BE49-F238E27FC236}">
                <a16:creationId xmlns:a16="http://schemas.microsoft.com/office/drawing/2014/main" id="{4ED3B5AB-A28A-F903-2192-1A07C27B3B12}"/>
              </a:ext>
            </a:extLst>
          </p:cNvPr>
          <p:cNvPicPr>
            <a:picLocks noChangeAspect="1"/>
          </p:cNvPicPr>
          <p:nvPr/>
        </p:nvPicPr>
        <p:blipFill>
          <a:blip r:embed="rId5"/>
          <a:stretch>
            <a:fillRect/>
          </a:stretch>
        </p:blipFill>
        <p:spPr>
          <a:xfrm>
            <a:off x="1600200" y="5822503"/>
            <a:ext cx="5620534" cy="400106"/>
          </a:xfrm>
          <a:prstGeom prst="rect">
            <a:avLst/>
          </a:prstGeom>
        </p:spPr>
      </p:pic>
    </p:spTree>
    <p:extLst>
      <p:ext uri="{BB962C8B-B14F-4D97-AF65-F5344CB8AC3E}">
        <p14:creationId xmlns:p14="http://schemas.microsoft.com/office/powerpoint/2010/main" val="3300937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78F61-8A02-80A3-B7C0-F17CC18FEF53}"/>
              </a:ext>
            </a:extLst>
          </p:cNvPr>
          <p:cNvSpPr>
            <a:spLocks noGrp="1"/>
          </p:cNvSpPr>
          <p:nvPr>
            <p:ph type="title"/>
          </p:nvPr>
        </p:nvSpPr>
        <p:spPr/>
        <p:txBody>
          <a:bodyPr/>
          <a:lstStyle/>
          <a:p>
            <a:r>
              <a:rPr lang="en-IN" dirty="0"/>
              <a:t>Perceptron Learning</a:t>
            </a:r>
          </a:p>
        </p:txBody>
      </p:sp>
      <p:sp>
        <p:nvSpPr>
          <p:cNvPr id="3" name="Content Placeholder 2">
            <a:extLst>
              <a:ext uri="{FF2B5EF4-FFF2-40B4-BE49-F238E27FC236}">
                <a16:creationId xmlns:a16="http://schemas.microsoft.com/office/drawing/2014/main" id="{8C7EB659-CB01-86B9-7635-C6DF9D0472A0}"/>
              </a:ext>
            </a:extLst>
          </p:cNvPr>
          <p:cNvSpPr>
            <a:spLocks noGrp="1"/>
          </p:cNvSpPr>
          <p:nvPr>
            <p:ph idx="1"/>
          </p:nvPr>
        </p:nvSpPr>
        <p:spPr/>
        <p:txBody>
          <a:bodyPr/>
          <a:lstStyle/>
          <a:p>
            <a:pPr algn="just"/>
            <a:r>
              <a:rPr lang="en-US" sz="2000" dirty="0"/>
              <a:t>The first network model 'Perceptron', designed in 1958</a:t>
            </a:r>
          </a:p>
          <a:p>
            <a:pPr algn="just"/>
            <a:r>
              <a:rPr lang="en-US" sz="2000" dirty="0"/>
              <a:t>Perceptron is a linear binary classifier used for supervised learning.</a:t>
            </a:r>
          </a:p>
          <a:p>
            <a:pPr algn="just"/>
            <a:r>
              <a:rPr lang="en-US" sz="2000" dirty="0"/>
              <a:t>Perceptron Learning model is a combination of two concepts, McColloch-Pitts model of an artificial neuron and Hebbian learning rule of adjusting weights</a:t>
            </a:r>
            <a:endParaRPr lang="en-IN" sz="2000" dirty="0"/>
          </a:p>
        </p:txBody>
      </p:sp>
      <p:sp>
        <p:nvSpPr>
          <p:cNvPr id="6" name="Slide Number Placeholder 5">
            <a:extLst>
              <a:ext uri="{FF2B5EF4-FFF2-40B4-BE49-F238E27FC236}">
                <a16:creationId xmlns:a16="http://schemas.microsoft.com/office/drawing/2014/main" id="{3388CC02-417F-A6F0-2EC8-6FB408D0B01C}"/>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2459302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AE52-1F1A-BBEF-0E27-F499F684D8C6}"/>
              </a:ext>
            </a:extLst>
          </p:cNvPr>
          <p:cNvSpPr>
            <a:spLocks noGrp="1"/>
          </p:cNvSpPr>
          <p:nvPr>
            <p:ph type="title"/>
          </p:nvPr>
        </p:nvSpPr>
        <p:spPr/>
        <p:txBody>
          <a:bodyPr/>
          <a:lstStyle/>
          <a:p>
            <a:r>
              <a:rPr lang="en-IN" dirty="0"/>
              <a:t>Perceptron Learning</a:t>
            </a:r>
          </a:p>
        </p:txBody>
      </p:sp>
      <p:sp>
        <p:nvSpPr>
          <p:cNvPr id="3" name="Content Placeholder 2">
            <a:extLst>
              <a:ext uri="{FF2B5EF4-FFF2-40B4-BE49-F238E27FC236}">
                <a16:creationId xmlns:a16="http://schemas.microsoft.com/office/drawing/2014/main" id="{D6E8609F-F936-874F-3E34-0DEC795D0898}"/>
              </a:ext>
            </a:extLst>
          </p:cNvPr>
          <p:cNvSpPr>
            <a:spLocks noGrp="1"/>
          </p:cNvSpPr>
          <p:nvPr>
            <p:ph idx="1"/>
          </p:nvPr>
        </p:nvSpPr>
        <p:spPr/>
        <p:txBody>
          <a:bodyPr/>
          <a:lstStyle/>
          <a:p>
            <a:pPr marL="0" indent="0">
              <a:buNone/>
            </a:pPr>
            <a:r>
              <a:rPr lang="en-IN" sz="2800" dirty="0"/>
              <a:t>The Perceptron Model consists of four steps</a:t>
            </a:r>
          </a:p>
        </p:txBody>
      </p:sp>
      <p:sp>
        <p:nvSpPr>
          <p:cNvPr id="6" name="Slide Number Placeholder 5">
            <a:extLst>
              <a:ext uri="{FF2B5EF4-FFF2-40B4-BE49-F238E27FC236}">
                <a16:creationId xmlns:a16="http://schemas.microsoft.com/office/drawing/2014/main" id="{C9768E4E-9F5A-82FB-0EC9-78CCDCDC1B06}"/>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8" name="Picture 7">
            <a:extLst>
              <a:ext uri="{FF2B5EF4-FFF2-40B4-BE49-F238E27FC236}">
                <a16:creationId xmlns:a16="http://schemas.microsoft.com/office/drawing/2014/main" id="{0535E9A7-7B32-A8CB-6DB8-70E29EE74B5E}"/>
              </a:ext>
            </a:extLst>
          </p:cNvPr>
          <p:cNvPicPr>
            <a:picLocks noChangeAspect="1"/>
          </p:cNvPicPr>
          <p:nvPr/>
        </p:nvPicPr>
        <p:blipFill>
          <a:blip r:embed="rId2"/>
          <a:stretch>
            <a:fillRect/>
          </a:stretch>
        </p:blipFill>
        <p:spPr>
          <a:xfrm>
            <a:off x="4191000" y="3921899"/>
            <a:ext cx="5254356" cy="2839733"/>
          </a:xfrm>
          <a:prstGeom prst="rect">
            <a:avLst/>
          </a:prstGeom>
        </p:spPr>
      </p:pic>
      <p:pic>
        <p:nvPicPr>
          <p:cNvPr id="10" name="Picture 9">
            <a:extLst>
              <a:ext uri="{FF2B5EF4-FFF2-40B4-BE49-F238E27FC236}">
                <a16:creationId xmlns:a16="http://schemas.microsoft.com/office/drawing/2014/main" id="{752247EC-256A-8A5F-7D3B-D0B14653BC1F}"/>
              </a:ext>
            </a:extLst>
          </p:cNvPr>
          <p:cNvPicPr>
            <a:picLocks noChangeAspect="1"/>
          </p:cNvPicPr>
          <p:nvPr/>
        </p:nvPicPr>
        <p:blipFill>
          <a:blip r:embed="rId3"/>
          <a:stretch>
            <a:fillRect/>
          </a:stretch>
        </p:blipFill>
        <p:spPr>
          <a:xfrm>
            <a:off x="559027" y="1765089"/>
            <a:ext cx="4744112" cy="1438476"/>
          </a:xfrm>
          <a:prstGeom prst="rect">
            <a:avLst/>
          </a:prstGeom>
        </p:spPr>
      </p:pic>
      <p:pic>
        <p:nvPicPr>
          <p:cNvPr id="12" name="Picture 11">
            <a:extLst>
              <a:ext uri="{FF2B5EF4-FFF2-40B4-BE49-F238E27FC236}">
                <a16:creationId xmlns:a16="http://schemas.microsoft.com/office/drawing/2014/main" id="{DD6FC641-C2F8-C9C5-E294-F29C581F84BE}"/>
              </a:ext>
            </a:extLst>
          </p:cNvPr>
          <p:cNvPicPr>
            <a:picLocks noChangeAspect="1"/>
          </p:cNvPicPr>
          <p:nvPr/>
        </p:nvPicPr>
        <p:blipFill>
          <a:blip r:embed="rId4"/>
          <a:srcRect l="21290"/>
          <a:stretch/>
        </p:blipFill>
        <p:spPr>
          <a:xfrm>
            <a:off x="1621971" y="3226230"/>
            <a:ext cx="2245556" cy="1046447"/>
          </a:xfrm>
          <a:prstGeom prst="rect">
            <a:avLst/>
          </a:prstGeom>
        </p:spPr>
      </p:pic>
      <p:sp>
        <p:nvSpPr>
          <p:cNvPr id="13" name="TextBox 12">
            <a:extLst>
              <a:ext uri="{FF2B5EF4-FFF2-40B4-BE49-F238E27FC236}">
                <a16:creationId xmlns:a16="http://schemas.microsoft.com/office/drawing/2014/main" id="{F382E20F-566C-813B-A1F5-FAD5EE8DF045}"/>
              </a:ext>
            </a:extLst>
          </p:cNvPr>
          <p:cNvSpPr txBox="1"/>
          <p:nvPr/>
        </p:nvSpPr>
        <p:spPr>
          <a:xfrm>
            <a:off x="1294637" y="3564787"/>
            <a:ext cx="327334" cy="369332"/>
          </a:xfrm>
          <a:prstGeom prst="rect">
            <a:avLst/>
          </a:prstGeom>
          <a:noFill/>
        </p:spPr>
        <p:txBody>
          <a:bodyPr wrap="none" rtlCol="0">
            <a:spAutoFit/>
          </a:bodyPr>
          <a:lstStyle/>
          <a:p>
            <a:r>
              <a:rPr lang="en-IN" dirty="0"/>
              <a:t>Y</a:t>
            </a:r>
          </a:p>
        </p:txBody>
      </p:sp>
    </p:spTree>
    <p:extLst>
      <p:ext uri="{BB962C8B-B14F-4D97-AF65-F5344CB8AC3E}">
        <p14:creationId xmlns:p14="http://schemas.microsoft.com/office/powerpoint/2010/main" val="1140904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925D-CA5E-FE53-14E8-8E3DE59A86D8}"/>
              </a:ext>
            </a:extLst>
          </p:cNvPr>
          <p:cNvSpPr>
            <a:spLocks noGrp="1"/>
          </p:cNvSpPr>
          <p:nvPr>
            <p:ph type="title"/>
          </p:nvPr>
        </p:nvSpPr>
        <p:spPr/>
        <p:txBody>
          <a:bodyPr/>
          <a:lstStyle/>
          <a:p>
            <a:r>
              <a:rPr lang="en-IN" dirty="0"/>
              <a:t>Perceptron Learning Algorithm</a:t>
            </a:r>
          </a:p>
        </p:txBody>
      </p:sp>
      <p:sp>
        <p:nvSpPr>
          <p:cNvPr id="6" name="Slide Number Placeholder 5">
            <a:extLst>
              <a:ext uri="{FF2B5EF4-FFF2-40B4-BE49-F238E27FC236}">
                <a16:creationId xmlns:a16="http://schemas.microsoft.com/office/drawing/2014/main" id="{031C6153-E615-8D94-B002-9E4DC95FC16D}"/>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8" name="Picture 7">
            <a:extLst>
              <a:ext uri="{FF2B5EF4-FFF2-40B4-BE49-F238E27FC236}">
                <a16:creationId xmlns:a16="http://schemas.microsoft.com/office/drawing/2014/main" id="{91C2AF21-E4D4-D8C7-5D9D-EE954F8084EA}"/>
              </a:ext>
            </a:extLst>
          </p:cNvPr>
          <p:cNvPicPr>
            <a:picLocks noChangeAspect="1"/>
          </p:cNvPicPr>
          <p:nvPr/>
        </p:nvPicPr>
        <p:blipFill>
          <a:blip r:embed="rId2"/>
          <a:stretch>
            <a:fillRect/>
          </a:stretch>
        </p:blipFill>
        <p:spPr>
          <a:xfrm>
            <a:off x="135255" y="1219200"/>
            <a:ext cx="8879839" cy="3769743"/>
          </a:xfrm>
          <a:prstGeom prst="rect">
            <a:avLst/>
          </a:prstGeom>
        </p:spPr>
      </p:pic>
      <p:pic>
        <p:nvPicPr>
          <p:cNvPr id="10" name="Picture 9">
            <a:extLst>
              <a:ext uri="{FF2B5EF4-FFF2-40B4-BE49-F238E27FC236}">
                <a16:creationId xmlns:a16="http://schemas.microsoft.com/office/drawing/2014/main" id="{EFA88434-4BBE-59D4-ACDA-98AF173A42D6}"/>
              </a:ext>
            </a:extLst>
          </p:cNvPr>
          <p:cNvPicPr>
            <a:picLocks noChangeAspect="1"/>
          </p:cNvPicPr>
          <p:nvPr/>
        </p:nvPicPr>
        <p:blipFill>
          <a:blip r:embed="rId3"/>
          <a:stretch>
            <a:fillRect/>
          </a:stretch>
        </p:blipFill>
        <p:spPr>
          <a:xfrm>
            <a:off x="483553" y="5063586"/>
            <a:ext cx="8176894" cy="1827071"/>
          </a:xfrm>
          <a:prstGeom prst="rect">
            <a:avLst/>
          </a:prstGeom>
        </p:spPr>
      </p:pic>
    </p:spTree>
    <p:extLst>
      <p:ext uri="{BB962C8B-B14F-4D97-AF65-F5344CB8AC3E}">
        <p14:creationId xmlns:p14="http://schemas.microsoft.com/office/powerpoint/2010/main" val="1152338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1AA19-6A17-8679-C047-0EA5FFA08877}"/>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F9DC1FC2-E677-1163-C523-43D4525A3202}"/>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FF17EEC4-C2DE-3279-2F38-B7AB3CF2D0BF}"/>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8" name="Picture 7">
            <a:extLst>
              <a:ext uri="{FF2B5EF4-FFF2-40B4-BE49-F238E27FC236}">
                <a16:creationId xmlns:a16="http://schemas.microsoft.com/office/drawing/2014/main" id="{4031D25D-8740-88E6-8FAE-470C72015236}"/>
              </a:ext>
            </a:extLst>
          </p:cNvPr>
          <p:cNvPicPr>
            <a:picLocks noChangeAspect="1"/>
          </p:cNvPicPr>
          <p:nvPr/>
        </p:nvPicPr>
        <p:blipFill>
          <a:blip r:embed="rId2"/>
          <a:stretch>
            <a:fillRect/>
          </a:stretch>
        </p:blipFill>
        <p:spPr>
          <a:xfrm>
            <a:off x="152400" y="1219200"/>
            <a:ext cx="5553850" cy="4086795"/>
          </a:xfrm>
          <a:prstGeom prst="rect">
            <a:avLst/>
          </a:prstGeom>
        </p:spPr>
      </p:pic>
      <p:pic>
        <p:nvPicPr>
          <p:cNvPr id="10" name="Picture 9">
            <a:extLst>
              <a:ext uri="{FF2B5EF4-FFF2-40B4-BE49-F238E27FC236}">
                <a16:creationId xmlns:a16="http://schemas.microsoft.com/office/drawing/2014/main" id="{BB808092-3564-5B6A-BA5E-1B6681DEA34A}"/>
              </a:ext>
            </a:extLst>
          </p:cNvPr>
          <p:cNvPicPr>
            <a:picLocks noChangeAspect="1"/>
          </p:cNvPicPr>
          <p:nvPr/>
        </p:nvPicPr>
        <p:blipFill>
          <a:blip r:embed="rId3"/>
          <a:stretch>
            <a:fillRect/>
          </a:stretch>
        </p:blipFill>
        <p:spPr>
          <a:xfrm>
            <a:off x="5892260" y="1524000"/>
            <a:ext cx="3303079" cy="2419783"/>
          </a:xfrm>
          <a:prstGeom prst="rect">
            <a:avLst/>
          </a:prstGeom>
        </p:spPr>
      </p:pic>
    </p:spTree>
    <p:extLst>
      <p:ext uri="{BB962C8B-B14F-4D97-AF65-F5344CB8AC3E}">
        <p14:creationId xmlns:p14="http://schemas.microsoft.com/office/powerpoint/2010/main" val="89984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F23B-2212-4C90-9E8B-9B3D2E2E3DD6}"/>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FB1FFC9C-FE44-43C7-B0C6-9F29F0A4CC5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D95392A-B5DE-4944-94D9-AA72C198D0E0}"/>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8" name="Picture 7">
            <a:extLst>
              <a:ext uri="{FF2B5EF4-FFF2-40B4-BE49-F238E27FC236}">
                <a16:creationId xmlns:a16="http://schemas.microsoft.com/office/drawing/2014/main" id="{A8F97682-1D18-4A89-BC85-BC4AD423F3EA}"/>
              </a:ext>
            </a:extLst>
          </p:cNvPr>
          <p:cNvPicPr>
            <a:picLocks noChangeAspect="1"/>
          </p:cNvPicPr>
          <p:nvPr/>
        </p:nvPicPr>
        <p:blipFill>
          <a:blip r:embed="rId2"/>
          <a:stretch>
            <a:fillRect/>
          </a:stretch>
        </p:blipFill>
        <p:spPr>
          <a:xfrm>
            <a:off x="541948" y="1257728"/>
            <a:ext cx="7001852" cy="2286319"/>
          </a:xfrm>
          <a:prstGeom prst="rect">
            <a:avLst/>
          </a:prstGeom>
        </p:spPr>
      </p:pic>
    </p:spTree>
    <p:extLst>
      <p:ext uri="{BB962C8B-B14F-4D97-AF65-F5344CB8AC3E}">
        <p14:creationId xmlns:p14="http://schemas.microsoft.com/office/powerpoint/2010/main" val="1520632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F23B-2212-4C90-9E8B-9B3D2E2E3DD6}"/>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FB1FFC9C-FE44-43C7-B0C6-9F29F0A4CC5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D95392A-B5DE-4944-94D9-AA72C198D0E0}"/>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8" name="Picture 7">
            <a:extLst>
              <a:ext uri="{FF2B5EF4-FFF2-40B4-BE49-F238E27FC236}">
                <a16:creationId xmlns:a16="http://schemas.microsoft.com/office/drawing/2014/main" id="{6C4E3815-EA64-4F90-973F-765B8CF6328B}"/>
              </a:ext>
            </a:extLst>
          </p:cNvPr>
          <p:cNvPicPr>
            <a:picLocks noChangeAspect="1"/>
          </p:cNvPicPr>
          <p:nvPr/>
        </p:nvPicPr>
        <p:blipFill>
          <a:blip r:embed="rId2"/>
          <a:stretch>
            <a:fillRect/>
          </a:stretch>
        </p:blipFill>
        <p:spPr>
          <a:xfrm>
            <a:off x="389941" y="1195075"/>
            <a:ext cx="8364117" cy="4467849"/>
          </a:xfrm>
          <a:prstGeom prst="rect">
            <a:avLst/>
          </a:prstGeom>
        </p:spPr>
      </p:pic>
    </p:spTree>
    <p:extLst>
      <p:ext uri="{BB962C8B-B14F-4D97-AF65-F5344CB8AC3E}">
        <p14:creationId xmlns:p14="http://schemas.microsoft.com/office/powerpoint/2010/main" val="442827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F23B-2212-4C90-9E8B-9B3D2E2E3DD6}"/>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FB1FFC9C-FE44-43C7-B0C6-9F29F0A4CC5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D95392A-B5DE-4944-94D9-AA72C198D0E0}"/>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8" name="Picture 7">
            <a:extLst>
              <a:ext uri="{FF2B5EF4-FFF2-40B4-BE49-F238E27FC236}">
                <a16:creationId xmlns:a16="http://schemas.microsoft.com/office/drawing/2014/main" id="{6134463C-4308-468A-B64D-23B71F0BB29F}"/>
              </a:ext>
            </a:extLst>
          </p:cNvPr>
          <p:cNvPicPr>
            <a:picLocks noChangeAspect="1"/>
          </p:cNvPicPr>
          <p:nvPr/>
        </p:nvPicPr>
        <p:blipFill>
          <a:blip r:embed="rId2"/>
          <a:stretch>
            <a:fillRect/>
          </a:stretch>
        </p:blipFill>
        <p:spPr>
          <a:xfrm>
            <a:off x="451863" y="1076342"/>
            <a:ext cx="8230749" cy="2076740"/>
          </a:xfrm>
          <a:prstGeom prst="rect">
            <a:avLst/>
          </a:prstGeom>
        </p:spPr>
      </p:pic>
      <p:pic>
        <p:nvPicPr>
          <p:cNvPr id="10" name="Picture 9">
            <a:extLst>
              <a:ext uri="{FF2B5EF4-FFF2-40B4-BE49-F238E27FC236}">
                <a16:creationId xmlns:a16="http://schemas.microsoft.com/office/drawing/2014/main" id="{8500CB46-B1E2-4B9E-B3DB-B77ED846170D}"/>
              </a:ext>
            </a:extLst>
          </p:cNvPr>
          <p:cNvPicPr>
            <a:picLocks noChangeAspect="1"/>
          </p:cNvPicPr>
          <p:nvPr/>
        </p:nvPicPr>
        <p:blipFill>
          <a:blip r:embed="rId3"/>
          <a:stretch>
            <a:fillRect/>
          </a:stretch>
        </p:blipFill>
        <p:spPr>
          <a:xfrm>
            <a:off x="451863" y="3185617"/>
            <a:ext cx="4658375" cy="3200847"/>
          </a:xfrm>
          <a:prstGeom prst="rect">
            <a:avLst/>
          </a:prstGeom>
        </p:spPr>
      </p:pic>
    </p:spTree>
    <p:extLst>
      <p:ext uri="{BB962C8B-B14F-4D97-AF65-F5344CB8AC3E}">
        <p14:creationId xmlns:p14="http://schemas.microsoft.com/office/powerpoint/2010/main" val="301427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F23B-2212-4C90-9E8B-9B3D2E2E3DD6}"/>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FB1FFC9C-FE44-43C7-B0C6-9F29F0A4CC5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D95392A-B5DE-4944-94D9-AA72C198D0E0}"/>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8" name="Picture 7">
            <a:extLst>
              <a:ext uri="{FF2B5EF4-FFF2-40B4-BE49-F238E27FC236}">
                <a16:creationId xmlns:a16="http://schemas.microsoft.com/office/drawing/2014/main" id="{8079A432-4ECD-415D-953A-FEAFBB4EF7A7}"/>
              </a:ext>
            </a:extLst>
          </p:cNvPr>
          <p:cNvPicPr>
            <a:picLocks noChangeAspect="1"/>
          </p:cNvPicPr>
          <p:nvPr/>
        </p:nvPicPr>
        <p:blipFill>
          <a:blip r:embed="rId2"/>
          <a:stretch>
            <a:fillRect/>
          </a:stretch>
        </p:blipFill>
        <p:spPr>
          <a:xfrm>
            <a:off x="407406" y="1101172"/>
            <a:ext cx="8335538" cy="3639058"/>
          </a:xfrm>
          <a:prstGeom prst="rect">
            <a:avLst/>
          </a:prstGeom>
        </p:spPr>
      </p:pic>
    </p:spTree>
    <p:extLst>
      <p:ext uri="{BB962C8B-B14F-4D97-AF65-F5344CB8AC3E}">
        <p14:creationId xmlns:p14="http://schemas.microsoft.com/office/powerpoint/2010/main" val="544961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A0C3C-4BEF-4CAE-8908-884EB79EEF7C}"/>
              </a:ext>
            </a:extLst>
          </p:cNvPr>
          <p:cNvSpPr>
            <a:spLocks noGrp="1"/>
          </p:cNvSpPr>
          <p:nvPr>
            <p:ph type="title"/>
          </p:nvPr>
        </p:nvSpPr>
        <p:spPr/>
        <p:txBody>
          <a:bodyPr/>
          <a:lstStyle/>
          <a:p>
            <a:r>
              <a:rPr lang="en-IN" sz="2000" dirty="0"/>
              <a:t>Perceptron Learning: To train Boolean AND function</a:t>
            </a:r>
          </a:p>
        </p:txBody>
      </p:sp>
      <p:sp>
        <p:nvSpPr>
          <p:cNvPr id="3" name="Content Placeholder 2">
            <a:extLst>
              <a:ext uri="{FF2B5EF4-FFF2-40B4-BE49-F238E27FC236}">
                <a16:creationId xmlns:a16="http://schemas.microsoft.com/office/drawing/2014/main" id="{5BC46083-D495-4AA7-BD00-AEAA047FD684}"/>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4F3F3584-2EF7-4ED0-B75A-2BA9FBC6EAAA}"/>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8" name="Picture 7">
            <a:extLst>
              <a:ext uri="{FF2B5EF4-FFF2-40B4-BE49-F238E27FC236}">
                <a16:creationId xmlns:a16="http://schemas.microsoft.com/office/drawing/2014/main" id="{939A00D3-2E21-4D1F-A899-4BF359F5FBB1}"/>
              </a:ext>
            </a:extLst>
          </p:cNvPr>
          <p:cNvPicPr>
            <a:picLocks noChangeAspect="1"/>
          </p:cNvPicPr>
          <p:nvPr/>
        </p:nvPicPr>
        <p:blipFill>
          <a:blip r:embed="rId2"/>
          <a:stretch>
            <a:fillRect/>
          </a:stretch>
        </p:blipFill>
        <p:spPr>
          <a:xfrm>
            <a:off x="447100" y="1113843"/>
            <a:ext cx="8240275" cy="2638793"/>
          </a:xfrm>
          <a:prstGeom prst="rect">
            <a:avLst/>
          </a:prstGeom>
        </p:spPr>
      </p:pic>
    </p:spTree>
    <p:extLst>
      <p:ext uri="{BB962C8B-B14F-4D97-AF65-F5344CB8AC3E}">
        <p14:creationId xmlns:p14="http://schemas.microsoft.com/office/powerpoint/2010/main" val="3019820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552C-ECE7-4258-B0C5-6DA8263DA4B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4917E722-4B16-4C12-BE9D-43D232739107}"/>
              </a:ext>
            </a:extLst>
          </p:cNvPr>
          <p:cNvSpPr>
            <a:spLocks noGrp="1"/>
          </p:cNvSpPr>
          <p:nvPr>
            <p:ph idx="1"/>
          </p:nvPr>
        </p:nvSpPr>
        <p:spPr/>
        <p:txBody>
          <a:bodyPr/>
          <a:lstStyle/>
          <a:p>
            <a:pPr marL="0" indent="0">
              <a:buNone/>
            </a:pPr>
            <a:endParaRPr lang="en-IN" dirty="0"/>
          </a:p>
        </p:txBody>
      </p:sp>
      <p:sp>
        <p:nvSpPr>
          <p:cNvPr id="6" name="Slide Number Placeholder 5">
            <a:extLst>
              <a:ext uri="{FF2B5EF4-FFF2-40B4-BE49-F238E27FC236}">
                <a16:creationId xmlns:a16="http://schemas.microsoft.com/office/drawing/2014/main" id="{767836FE-9E15-44BB-AE9C-9301878448E4}"/>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8" name="Picture 7">
            <a:extLst>
              <a:ext uri="{FF2B5EF4-FFF2-40B4-BE49-F238E27FC236}">
                <a16:creationId xmlns:a16="http://schemas.microsoft.com/office/drawing/2014/main" id="{DC7DA62D-7C6E-448A-B1E7-8F9F9DE549B7}"/>
              </a:ext>
            </a:extLst>
          </p:cNvPr>
          <p:cNvPicPr>
            <a:picLocks noChangeAspect="1"/>
          </p:cNvPicPr>
          <p:nvPr/>
        </p:nvPicPr>
        <p:blipFill>
          <a:blip r:embed="rId3"/>
          <a:stretch>
            <a:fillRect/>
          </a:stretch>
        </p:blipFill>
        <p:spPr>
          <a:xfrm>
            <a:off x="541909" y="1219200"/>
            <a:ext cx="7840169" cy="905001"/>
          </a:xfrm>
          <a:prstGeom prst="rect">
            <a:avLst/>
          </a:prstGeom>
        </p:spPr>
      </p:pic>
      <p:pic>
        <p:nvPicPr>
          <p:cNvPr id="10" name="Picture 9">
            <a:extLst>
              <a:ext uri="{FF2B5EF4-FFF2-40B4-BE49-F238E27FC236}">
                <a16:creationId xmlns:a16="http://schemas.microsoft.com/office/drawing/2014/main" id="{42377070-5D20-4DEE-92CB-36C49AE6CF37}"/>
              </a:ext>
            </a:extLst>
          </p:cNvPr>
          <p:cNvPicPr>
            <a:picLocks noChangeAspect="1"/>
          </p:cNvPicPr>
          <p:nvPr/>
        </p:nvPicPr>
        <p:blipFill>
          <a:blip r:embed="rId4"/>
          <a:stretch>
            <a:fillRect/>
          </a:stretch>
        </p:blipFill>
        <p:spPr>
          <a:xfrm>
            <a:off x="609600" y="2291478"/>
            <a:ext cx="1295400" cy="3122596"/>
          </a:xfrm>
          <a:prstGeom prst="rect">
            <a:avLst/>
          </a:prstGeom>
        </p:spPr>
      </p:pic>
      <p:sp>
        <p:nvSpPr>
          <p:cNvPr id="17" name="TextBox 16">
            <a:extLst>
              <a:ext uri="{FF2B5EF4-FFF2-40B4-BE49-F238E27FC236}">
                <a16:creationId xmlns:a16="http://schemas.microsoft.com/office/drawing/2014/main" id="{8393FFAF-1397-45C7-92FC-2FAB1178D49C}"/>
              </a:ext>
            </a:extLst>
          </p:cNvPr>
          <p:cNvSpPr txBox="1"/>
          <p:nvPr/>
        </p:nvSpPr>
        <p:spPr>
          <a:xfrm>
            <a:off x="1958748" y="2314736"/>
            <a:ext cx="6940105" cy="923330"/>
          </a:xfrm>
          <a:prstGeom prst="rect">
            <a:avLst/>
          </a:prstGeom>
          <a:noFill/>
        </p:spPr>
        <p:txBody>
          <a:bodyPr wrap="none" rtlCol="0">
            <a:spAutoFit/>
          </a:bodyPr>
          <a:lstStyle/>
          <a:p>
            <a:r>
              <a:rPr lang="en-US" b="0" i="0" dirty="0">
                <a:solidFill>
                  <a:srgbClr val="001D35"/>
                </a:solidFill>
                <a:effectLst/>
                <a:latin typeface="Google Sans"/>
              </a:rPr>
              <a:t>The signum function, often denoted as </a:t>
            </a:r>
            <a:r>
              <a:rPr lang="en-US" b="0" i="0" dirty="0" err="1">
                <a:solidFill>
                  <a:srgbClr val="001D35"/>
                </a:solidFill>
                <a:effectLst/>
                <a:latin typeface="Google Sans"/>
              </a:rPr>
              <a:t>sgn</a:t>
            </a:r>
            <a:r>
              <a:rPr lang="en-US" b="0" i="0" dirty="0">
                <a:solidFill>
                  <a:srgbClr val="001D35"/>
                </a:solidFill>
                <a:effectLst/>
                <a:latin typeface="Google Sans"/>
              </a:rPr>
              <a:t>(x) or sign(x), is an activation</a:t>
            </a:r>
          </a:p>
          <a:p>
            <a:r>
              <a:rPr lang="en-US" b="0" i="0" dirty="0">
                <a:solidFill>
                  <a:srgbClr val="001D35"/>
                </a:solidFill>
                <a:effectLst/>
                <a:latin typeface="Google Sans"/>
              </a:rPr>
              <a:t> function  that returns the sign of a real number. It outputs 1 for positive</a:t>
            </a:r>
          </a:p>
          <a:p>
            <a:r>
              <a:rPr lang="en-US" b="0" i="0" dirty="0">
                <a:solidFill>
                  <a:srgbClr val="001D35"/>
                </a:solidFill>
                <a:effectLst/>
                <a:latin typeface="Google Sans"/>
              </a:rPr>
              <a:t> inputs, -1 for negative inputs, and 0 for zero inputs.</a:t>
            </a:r>
            <a:endParaRPr lang="en-IN" dirty="0"/>
          </a:p>
        </p:txBody>
      </p:sp>
    </p:spTree>
    <p:extLst>
      <p:ext uri="{BB962C8B-B14F-4D97-AF65-F5344CB8AC3E}">
        <p14:creationId xmlns:p14="http://schemas.microsoft.com/office/powerpoint/2010/main" val="900579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552C-ECE7-4258-B0C5-6DA8263DA4B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4917E722-4B16-4C12-BE9D-43D232739107}"/>
              </a:ext>
            </a:extLst>
          </p:cNvPr>
          <p:cNvSpPr>
            <a:spLocks noGrp="1"/>
          </p:cNvSpPr>
          <p:nvPr>
            <p:ph idx="1"/>
          </p:nvPr>
        </p:nvSpPr>
        <p:spPr/>
        <p:txBody>
          <a:bodyPr/>
          <a:lstStyle/>
          <a:p>
            <a:pPr marL="0" indent="0">
              <a:buNone/>
            </a:pPr>
            <a:endParaRPr lang="en-IN" dirty="0"/>
          </a:p>
        </p:txBody>
      </p:sp>
      <p:sp>
        <p:nvSpPr>
          <p:cNvPr id="6" name="Slide Number Placeholder 5">
            <a:extLst>
              <a:ext uri="{FF2B5EF4-FFF2-40B4-BE49-F238E27FC236}">
                <a16:creationId xmlns:a16="http://schemas.microsoft.com/office/drawing/2014/main" id="{767836FE-9E15-44BB-AE9C-9301878448E4}"/>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8" name="Picture 7">
            <a:extLst>
              <a:ext uri="{FF2B5EF4-FFF2-40B4-BE49-F238E27FC236}">
                <a16:creationId xmlns:a16="http://schemas.microsoft.com/office/drawing/2014/main" id="{DC7DA62D-7C6E-448A-B1E7-8F9F9DE549B7}"/>
              </a:ext>
            </a:extLst>
          </p:cNvPr>
          <p:cNvPicPr>
            <a:picLocks noChangeAspect="1"/>
          </p:cNvPicPr>
          <p:nvPr/>
        </p:nvPicPr>
        <p:blipFill>
          <a:blip r:embed="rId3"/>
          <a:stretch>
            <a:fillRect/>
          </a:stretch>
        </p:blipFill>
        <p:spPr>
          <a:xfrm>
            <a:off x="541909" y="1219200"/>
            <a:ext cx="7840169" cy="905001"/>
          </a:xfrm>
          <a:prstGeom prst="rect">
            <a:avLst/>
          </a:prstGeom>
        </p:spPr>
      </p:pic>
      <p:pic>
        <p:nvPicPr>
          <p:cNvPr id="10" name="Picture 9">
            <a:extLst>
              <a:ext uri="{FF2B5EF4-FFF2-40B4-BE49-F238E27FC236}">
                <a16:creationId xmlns:a16="http://schemas.microsoft.com/office/drawing/2014/main" id="{42377070-5D20-4DEE-92CB-36C49AE6CF37}"/>
              </a:ext>
            </a:extLst>
          </p:cNvPr>
          <p:cNvPicPr>
            <a:picLocks noChangeAspect="1"/>
          </p:cNvPicPr>
          <p:nvPr/>
        </p:nvPicPr>
        <p:blipFill>
          <a:blip r:embed="rId4"/>
          <a:stretch>
            <a:fillRect/>
          </a:stretch>
        </p:blipFill>
        <p:spPr>
          <a:xfrm>
            <a:off x="609600" y="2291478"/>
            <a:ext cx="1295400" cy="3122596"/>
          </a:xfrm>
          <a:prstGeom prst="rect">
            <a:avLst/>
          </a:prstGeom>
        </p:spPr>
      </p:pic>
      <p:sp>
        <p:nvSpPr>
          <p:cNvPr id="11" name="TextBox 10">
            <a:extLst>
              <a:ext uri="{FF2B5EF4-FFF2-40B4-BE49-F238E27FC236}">
                <a16:creationId xmlns:a16="http://schemas.microsoft.com/office/drawing/2014/main" id="{21918ED9-B582-4356-A4C8-344B8BA7A1C6}"/>
              </a:ext>
            </a:extLst>
          </p:cNvPr>
          <p:cNvSpPr txBox="1"/>
          <p:nvPr/>
        </p:nvSpPr>
        <p:spPr>
          <a:xfrm>
            <a:off x="566738" y="5740278"/>
            <a:ext cx="1493519" cy="369332"/>
          </a:xfrm>
          <a:prstGeom prst="rect">
            <a:avLst/>
          </a:prstGeom>
          <a:noFill/>
        </p:spPr>
        <p:txBody>
          <a:bodyPr wrap="square" rtlCol="0">
            <a:spAutoFit/>
          </a:bodyPr>
          <a:lstStyle/>
          <a:p>
            <a:r>
              <a:rPr lang="en-US" dirty="0"/>
              <a:t>Answer:</a:t>
            </a:r>
            <a:endParaRPr lang="en-IN" dirty="0"/>
          </a:p>
        </p:txBody>
      </p:sp>
      <p:pic>
        <p:nvPicPr>
          <p:cNvPr id="13" name="Picture 12">
            <a:extLst>
              <a:ext uri="{FF2B5EF4-FFF2-40B4-BE49-F238E27FC236}">
                <a16:creationId xmlns:a16="http://schemas.microsoft.com/office/drawing/2014/main" id="{D23E2288-BE2B-4BF5-A64B-1A35288E986C}"/>
              </a:ext>
            </a:extLst>
          </p:cNvPr>
          <p:cNvPicPr>
            <a:picLocks noChangeAspect="1"/>
          </p:cNvPicPr>
          <p:nvPr/>
        </p:nvPicPr>
        <p:blipFill>
          <a:blip r:embed="rId5"/>
          <a:stretch>
            <a:fillRect/>
          </a:stretch>
        </p:blipFill>
        <p:spPr>
          <a:xfrm>
            <a:off x="1600200" y="5856206"/>
            <a:ext cx="1219200" cy="375139"/>
          </a:xfrm>
          <a:prstGeom prst="rect">
            <a:avLst/>
          </a:prstGeom>
        </p:spPr>
      </p:pic>
      <p:sp>
        <p:nvSpPr>
          <p:cNvPr id="17" name="TextBox 16">
            <a:extLst>
              <a:ext uri="{FF2B5EF4-FFF2-40B4-BE49-F238E27FC236}">
                <a16:creationId xmlns:a16="http://schemas.microsoft.com/office/drawing/2014/main" id="{8393FFAF-1397-45C7-92FC-2FAB1178D49C}"/>
              </a:ext>
            </a:extLst>
          </p:cNvPr>
          <p:cNvSpPr txBox="1"/>
          <p:nvPr/>
        </p:nvSpPr>
        <p:spPr>
          <a:xfrm>
            <a:off x="2540004" y="2124201"/>
            <a:ext cx="6072368" cy="738664"/>
          </a:xfrm>
          <a:prstGeom prst="rect">
            <a:avLst/>
          </a:prstGeom>
          <a:noFill/>
        </p:spPr>
        <p:txBody>
          <a:bodyPr wrap="none" rtlCol="0">
            <a:spAutoFit/>
          </a:bodyPr>
          <a:lstStyle/>
          <a:p>
            <a:r>
              <a:rPr lang="en-US" sz="1400" b="0" i="0" dirty="0">
                <a:solidFill>
                  <a:srgbClr val="001D35"/>
                </a:solidFill>
                <a:effectLst/>
                <a:latin typeface="Google Sans"/>
              </a:rPr>
              <a:t>The signum function, often denoted as </a:t>
            </a:r>
            <a:r>
              <a:rPr lang="en-US" sz="1400" b="0" i="0" dirty="0" err="1">
                <a:solidFill>
                  <a:srgbClr val="001D35"/>
                </a:solidFill>
                <a:effectLst/>
                <a:latin typeface="Google Sans"/>
              </a:rPr>
              <a:t>sgn</a:t>
            </a:r>
            <a:r>
              <a:rPr lang="en-US" sz="1400" b="0" i="0" dirty="0">
                <a:solidFill>
                  <a:srgbClr val="001D35"/>
                </a:solidFill>
                <a:effectLst/>
                <a:latin typeface="Google Sans"/>
              </a:rPr>
              <a:t>(x) or sign(x), is an activation function </a:t>
            </a:r>
          </a:p>
          <a:p>
            <a:r>
              <a:rPr lang="en-US" sz="1400" b="0" i="0" dirty="0">
                <a:solidFill>
                  <a:srgbClr val="001D35"/>
                </a:solidFill>
                <a:effectLst/>
                <a:latin typeface="Google Sans"/>
              </a:rPr>
              <a:t>that returns the sign of a real number. It outputs 1 for positive inputs, -1 for</a:t>
            </a:r>
          </a:p>
          <a:p>
            <a:r>
              <a:rPr lang="en-US" sz="1400" b="0" i="0" dirty="0">
                <a:solidFill>
                  <a:srgbClr val="001D35"/>
                </a:solidFill>
                <a:effectLst/>
                <a:latin typeface="Google Sans"/>
              </a:rPr>
              <a:t> negative inputs, and 0 for zero inputs.</a:t>
            </a:r>
            <a:endParaRPr lang="en-IN" sz="1400" dirty="0"/>
          </a:p>
        </p:txBody>
      </p:sp>
    </p:spTree>
    <p:extLst>
      <p:ext uri="{BB962C8B-B14F-4D97-AF65-F5344CB8AC3E}">
        <p14:creationId xmlns:p14="http://schemas.microsoft.com/office/powerpoint/2010/main" val="2550941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F9A5-0AF4-4685-B9FD-65EC876D9852}"/>
              </a:ext>
            </a:extLst>
          </p:cNvPr>
          <p:cNvSpPr>
            <a:spLocks noGrp="1"/>
          </p:cNvSpPr>
          <p:nvPr>
            <p:ph type="title"/>
          </p:nvPr>
        </p:nvSpPr>
        <p:spPr/>
        <p:txBody>
          <a:bodyPr/>
          <a:lstStyle/>
          <a:p>
            <a:r>
              <a:rPr lang="en-US" dirty="0"/>
              <a:t>Problem</a:t>
            </a:r>
            <a:endParaRPr lang="en-IN" dirty="0"/>
          </a:p>
        </p:txBody>
      </p:sp>
      <p:sp>
        <p:nvSpPr>
          <p:cNvPr id="3" name="Content Placeholder 2">
            <a:extLst>
              <a:ext uri="{FF2B5EF4-FFF2-40B4-BE49-F238E27FC236}">
                <a16:creationId xmlns:a16="http://schemas.microsoft.com/office/drawing/2014/main" id="{5DFFD8B5-8136-4C2F-9097-01DD0E110DF8}"/>
              </a:ext>
            </a:extLst>
          </p:cNvPr>
          <p:cNvSpPr>
            <a:spLocks noGrp="1"/>
          </p:cNvSpPr>
          <p:nvPr>
            <p:ph idx="1"/>
          </p:nvPr>
        </p:nvSpPr>
        <p:spPr/>
        <p:txBody>
          <a:bodyPr/>
          <a:lstStyle/>
          <a:p>
            <a:pPr marL="0" indent="0" algn="just">
              <a:buNone/>
            </a:pPr>
            <a:r>
              <a:rPr lang="en-US" sz="1600" dirty="0"/>
              <a:t>Consider a perceptron to represent the Boolean function OR with initial weights as w1=0.6, W2=0.6 and threshold as 1 and learning rate as 0.5. The activation function used is the Step function f(x) which gives the output value as binary, i.e. 0 or 1. If the values of f(x) is greater than or equal to threshold, it outputs 1 or else it outputs 0. Design a perceptron that performs the Boolean function OR and update the weights until the Boolean function gives the desired output.</a:t>
            </a:r>
            <a:endParaRPr lang="en-IN" sz="1600" dirty="0"/>
          </a:p>
        </p:txBody>
      </p:sp>
      <p:sp>
        <p:nvSpPr>
          <p:cNvPr id="6" name="Slide Number Placeholder 5">
            <a:extLst>
              <a:ext uri="{FF2B5EF4-FFF2-40B4-BE49-F238E27FC236}">
                <a16:creationId xmlns:a16="http://schemas.microsoft.com/office/drawing/2014/main" id="{B4A3A83F-D9D7-4D21-9B06-A5FFBA45CC39}"/>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8" name="Picture 7">
            <a:extLst>
              <a:ext uri="{FF2B5EF4-FFF2-40B4-BE49-F238E27FC236}">
                <a16:creationId xmlns:a16="http://schemas.microsoft.com/office/drawing/2014/main" id="{05AB40DB-5B86-4ECB-8159-1CAC8F4F3805}"/>
              </a:ext>
            </a:extLst>
          </p:cNvPr>
          <p:cNvPicPr>
            <a:picLocks noChangeAspect="1"/>
          </p:cNvPicPr>
          <p:nvPr/>
        </p:nvPicPr>
        <p:blipFill>
          <a:blip r:embed="rId2"/>
          <a:stretch>
            <a:fillRect/>
          </a:stretch>
        </p:blipFill>
        <p:spPr>
          <a:xfrm>
            <a:off x="918929" y="3265854"/>
            <a:ext cx="3343742" cy="2038635"/>
          </a:xfrm>
          <a:prstGeom prst="rect">
            <a:avLst/>
          </a:prstGeom>
        </p:spPr>
      </p:pic>
      <p:sp>
        <p:nvSpPr>
          <p:cNvPr id="9" name="TextBox 8">
            <a:extLst>
              <a:ext uri="{FF2B5EF4-FFF2-40B4-BE49-F238E27FC236}">
                <a16:creationId xmlns:a16="http://schemas.microsoft.com/office/drawing/2014/main" id="{E3362B6F-1A81-4D6A-830D-05D03064F2EB}"/>
              </a:ext>
            </a:extLst>
          </p:cNvPr>
          <p:cNvSpPr txBox="1"/>
          <p:nvPr/>
        </p:nvSpPr>
        <p:spPr>
          <a:xfrm>
            <a:off x="609600" y="5588353"/>
            <a:ext cx="4352410" cy="369332"/>
          </a:xfrm>
          <a:prstGeom prst="rect">
            <a:avLst/>
          </a:prstGeom>
          <a:noFill/>
        </p:spPr>
        <p:txBody>
          <a:bodyPr wrap="none" rtlCol="0">
            <a:spAutoFit/>
          </a:bodyPr>
          <a:lstStyle/>
          <a:p>
            <a:r>
              <a:rPr lang="en-US" dirty="0"/>
              <a:t>Answer: Weights W1=1.1 , W2=1.1</a:t>
            </a:r>
            <a:endParaRPr lang="en-IN" dirty="0"/>
          </a:p>
        </p:txBody>
      </p:sp>
    </p:spTree>
    <p:extLst>
      <p:ext uri="{BB962C8B-B14F-4D97-AF65-F5344CB8AC3E}">
        <p14:creationId xmlns:p14="http://schemas.microsoft.com/office/powerpoint/2010/main" val="1562098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D7A6-5959-420C-8774-E67202A2DA53}"/>
              </a:ext>
            </a:extLst>
          </p:cNvPr>
          <p:cNvSpPr>
            <a:spLocks noGrp="1"/>
          </p:cNvSpPr>
          <p:nvPr>
            <p:ph type="title"/>
          </p:nvPr>
        </p:nvSpPr>
        <p:spPr/>
        <p:txBody>
          <a:bodyPr/>
          <a:lstStyle/>
          <a:p>
            <a:r>
              <a:rPr lang="en-IN" sz="3200" dirty="0"/>
              <a:t>Linear Neurons and Limitations</a:t>
            </a:r>
            <a:endParaRPr lang="en-IN" dirty="0"/>
          </a:p>
        </p:txBody>
      </p:sp>
      <p:sp>
        <p:nvSpPr>
          <p:cNvPr id="3" name="Content Placeholder 2">
            <a:extLst>
              <a:ext uri="{FF2B5EF4-FFF2-40B4-BE49-F238E27FC236}">
                <a16:creationId xmlns:a16="http://schemas.microsoft.com/office/drawing/2014/main" id="{5427B023-3E9D-41FD-8AC2-83B2858A19A4}"/>
              </a:ext>
            </a:extLst>
          </p:cNvPr>
          <p:cNvSpPr>
            <a:spLocks noGrp="1"/>
          </p:cNvSpPr>
          <p:nvPr>
            <p:ph idx="1"/>
          </p:nvPr>
        </p:nvSpPr>
        <p:spPr/>
        <p:txBody>
          <a:bodyPr/>
          <a:lstStyle/>
          <a:p>
            <a:pPr algn="just"/>
            <a:r>
              <a:rPr lang="en-US" sz="1600" dirty="0"/>
              <a:t>The perceptron can only model linearly separable functions, − those functions which can be drawn in 2-dim graph and single straight line separates values in two part. </a:t>
            </a:r>
          </a:p>
          <a:p>
            <a:pPr algn="just"/>
            <a:r>
              <a:rPr lang="en-US" sz="1600" dirty="0"/>
              <a:t>Boolean functions given below are linearly separable: − AND − OR − COMPLEMENT </a:t>
            </a:r>
          </a:p>
          <a:p>
            <a:pPr algn="just"/>
            <a:r>
              <a:rPr lang="en-US" sz="1600" dirty="0"/>
              <a:t>It cannot model </a:t>
            </a:r>
            <a:r>
              <a:rPr lang="en-US" sz="1600" b="1" dirty="0"/>
              <a:t>XOR</a:t>
            </a:r>
            <a:r>
              <a:rPr lang="en-US" sz="1600" dirty="0"/>
              <a:t> function as it is </a:t>
            </a:r>
            <a:r>
              <a:rPr lang="en-US" sz="1600" b="1" dirty="0"/>
              <a:t>non linearly separable</a:t>
            </a:r>
            <a:r>
              <a:rPr lang="en-US" sz="1600" dirty="0"/>
              <a:t>. − When the two classes are not linearly separable, it may be desirable to obtain a linear separator that minimizes the mean squared error.</a:t>
            </a:r>
            <a:endParaRPr lang="en-IN" sz="1600" dirty="0"/>
          </a:p>
        </p:txBody>
      </p:sp>
      <p:sp>
        <p:nvSpPr>
          <p:cNvPr id="6" name="Slide Number Placeholder 5">
            <a:extLst>
              <a:ext uri="{FF2B5EF4-FFF2-40B4-BE49-F238E27FC236}">
                <a16:creationId xmlns:a16="http://schemas.microsoft.com/office/drawing/2014/main" id="{2C556D8B-3BB3-4EBF-A2B3-8396897E8A72}"/>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74F45CF7-F423-45FA-BE74-6193A76886FB}"/>
              </a:ext>
            </a:extLst>
          </p:cNvPr>
          <p:cNvPicPr>
            <a:picLocks noChangeAspect="1"/>
          </p:cNvPicPr>
          <p:nvPr/>
        </p:nvPicPr>
        <p:blipFill>
          <a:blip r:embed="rId2"/>
          <a:stretch>
            <a:fillRect/>
          </a:stretch>
        </p:blipFill>
        <p:spPr>
          <a:xfrm>
            <a:off x="909638" y="3460008"/>
            <a:ext cx="7315200" cy="2863798"/>
          </a:xfrm>
          <a:prstGeom prst="rect">
            <a:avLst/>
          </a:prstGeom>
        </p:spPr>
      </p:pic>
    </p:spTree>
    <p:extLst>
      <p:ext uri="{BB962C8B-B14F-4D97-AF65-F5344CB8AC3E}">
        <p14:creationId xmlns:p14="http://schemas.microsoft.com/office/powerpoint/2010/main" val="70676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C7D3-53AD-4E28-8F80-3A529242B114}"/>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33D2CFF-2C20-473B-8624-126B834087F5}"/>
              </a:ext>
            </a:extLst>
          </p:cNvPr>
          <p:cNvSpPr>
            <a:spLocks noGrp="1"/>
          </p:cNvSpPr>
          <p:nvPr>
            <p:ph idx="1"/>
          </p:nvPr>
        </p:nvSpPr>
        <p:spPr/>
        <p:txBody>
          <a:bodyPr/>
          <a:lstStyle/>
          <a:p>
            <a:pPr algn="just"/>
            <a:r>
              <a:rPr lang="en-US" sz="2000" dirty="0"/>
              <a:t>A typical example of non-linearly separable function is the XOR that computes the logical exclusive or.. </a:t>
            </a:r>
          </a:p>
          <a:p>
            <a:pPr algn="just"/>
            <a:r>
              <a:rPr lang="en-US" sz="2000" dirty="0"/>
              <a:t>This function takes two input arguments with values in {0,1} and returns one output in {0,1}, </a:t>
            </a:r>
          </a:p>
          <a:p>
            <a:pPr algn="just"/>
            <a:r>
              <a:rPr lang="en-US" sz="2000" dirty="0"/>
              <a:t>Here 0 and 1 are encoding of the truth values false and true, </a:t>
            </a:r>
          </a:p>
          <a:p>
            <a:pPr algn="just"/>
            <a:r>
              <a:rPr lang="en-US" sz="2000" dirty="0"/>
              <a:t>The output is true if and only if the two inputs have different truth values. </a:t>
            </a:r>
          </a:p>
          <a:p>
            <a:pPr algn="just"/>
            <a:r>
              <a:rPr lang="en-US" sz="2000" dirty="0"/>
              <a:t>XOR is non linearly separable function which can not be modeled by perceptron. </a:t>
            </a:r>
          </a:p>
          <a:p>
            <a:pPr algn="just"/>
            <a:r>
              <a:rPr lang="en-US" sz="2000" dirty="0"/>
              <a:t>For such functions we have to use multi layer feed-forward network.</a:t>
            </a:r>
            <a:endParaRPr lang="en-IN" sz="2000" dirty="0"/>
          </a:p>
        </p:txBody>
      </p:sp>
      <p:sp>
        <p:nvSpPr>
          <p:cNvPr id="6" name="Slide Number Placeholder 5">
            <a:extLst>
              <a:ext uri="{FF2B5EF4-FFF2-40B4-BE49-F238E27FC236}">
                <a16:creationId xmlns:a16="http://schemas.microsoft.com/office/drawing/2014/main" id="{1945C7C6-DC03-4998-A72B-07D49412DED5}"/>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3311922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FEC2-57EC-4E9F-87AF-C0E77A1F3BDF}"/>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BE26FC1-96C7-4A67-B911-E4523B0B7813}"/>
              </a:ext>
            </a:extLst>
          </p:cNvPr>
          <p:cNvSpPr>
            <a:spLocks noGrp="1"/>
          </p:cNvSpPr>
          <p:nvPr>
            <p:ph idx="1"/>
          </p:nvPr>
        </p:nvSpPr>
        <p:spPr/>
        <p:txBody>
          <a:bodyPr/>
          <a:lstStyle/>
          <a:p>
            <a:pPr marL="0" indent="0" algn="just">
              <a:buNone/>
            </a:pPr>
            <a:r>
              <a:rPr lang="en-US" sz="2000" dirty="0"/>
              <a:t>These two classes (true and false) cannot be separated using a line. Hence XOR is non linearly separable.</a:t>
            </a:r>
            <a:endParaRPr lang="en-IN" sz="2000" dirty="0"/>
          </a:p>
        </p:txBody>
      </p:sp>
      <p:sp>
        <p:nvSpPr>
          <p:cNvPr id="6" name="Slide Number Placeholder 5">
            <a:extLst>
              <a:ext uri="{FF2B5EF4-FFF2-40B4-BE49-F238E27FC236}">
                <a16:creationId xmlns:a16="http://schemas.microsoft.com/office/drawing/2014/main" id="{E266881D-8E05-4E0A-A47D-0311157A0F67}"/>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67965DDE-D8C4-4A73-9467-D3291DBB9E8F}"/>
              </a:ext>
            </a:extLst>
          </p:cNvPr>
          <p:cNvPicPr>
            <a:picLocks noChangeAspect="1"/>
          </p:cNvPicPr>
          <p:nvPr/>
        </p:nvPicPr>
        <p:blipFill>
          <a:blip r:embed="rId2"/>
          <a:stretch>
            <a:fillRect/>
          </a:stretch>
        </p:blipFill>
        <p:spPr>
          <a:xfrm>
            <a:off x="641279" y="1981200"/>
            <a:ext cx="6087325" cy="1876687"/>
          </a:xfrm>
          <a:prstGeom prst="rect">
            <a:avLst/>
          </a:prstGeom>
        </p:spPr>
      </p:pic>
      <p:pic>
        <p:nvPicPr>
          <p:cNvPr id="10" name="Picture 9">
            <a:extLst>
              <a:ext uri="{FF2B5EF4-FFF2-40B4-BE49-F238E27FC236}">
                <a16:creationId xmlns:a16="http://schemas.microsoft.com/office/drawing/2014/main" id="{11BE5F8B-DB4C-4402-BD43-0933FC74AAC5}"/>
              </a:ext>
            </a:extLst>
          </p:cNvPr>
          <p:cNvPicPr>
            <a:picLocks noChangeAspect="1"/>
          </p:cNvPicPr>
          <p:nvPr/>
        </p:nvPicPr>
        <p:blipFill>
          <a:blip r:embed="rId3"/>
          <a:stretch>
            <a:fillRect/>
          </a:stretch>
        </p:blipFill>
        <p:spPr>
          <a:xfrm>
            <a:off x="1066800" y="4021417"/>
            <a:ext cx="4495800" cy="2332994"/>
          </a:xfrm>
          <a:prstGeom prst="rect">
            <a:avLst/>
          </a:prstGeom>
        </p:spPr>
      </p:pic>
    </p:spTree>
    <p:extLst>
      <p:ext uri="{BB962C8B-B14F-4D97-AF65-F5344CB8AC3E}">
        <p14:creationId xmlns:p14="http://schemas.microsoft.com/office/powerpoint/2010/main" val="1900564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28ED-53E7-4C59-995D-1FAEE29AC86E}"/>
              </a:ext>
            </a:extLst>
          </p:cNvPr>
          <p:cNvSpPr>
            <a:spLocks noGrp="1"/>
          </p:cNvSpPr>
          <p:nvPr>
            <p:ph type="title"/>
          </p:nvPr>
        </p:nvSpPr>
        <p:spPr/>
        <p:txBody>
          <a:bodyPr/>
          <a:lstStyle/>
          <a:p>
            <a:r>
              <a:rPr lang="en-US" sz="2400" dirty="0"/>
              <a:t>Multi layer feed-forward Neural Network (FFNN)</a:t>
            </a:r>
            <a:endParaRPr lang="en-IN" sz="2400" dirty="0"/>
          </a:p>
        </p:txBody>
      </p:sp>
      <p:sp>
        <p:nvSpPr>
          <p:cNvPr id="3" name="Content Placeholder 2">
            <a:extLst>
              <a:ext uri="{FF2B5EF4-FFF2-40B4-BE49-F238E27FC236}">
                <a16:creationId xmlns:a16="http://schemas.microsoft.com/office/drawing/2014/main" id="{75090B0F-2836-4DAA-97D9-157FB2FCEB6D}"/>
              </a:ext>
            </a:extLst>
          </p:cNvPr>
          <p:cNvSpPr>
            <a:spLocks noGrp="1"/>
          </p:cNvSpPr>
          <p:nvPr>
            <p:ph idx="1"/>
          </p:nvPr>
        </p:nvSpPr>
        <p:spPr/>
        <p:txBody>
          <a:bodyPr/>
          <a:lstStyle/>
          <a:p>
            <a:pPr algn="just"/>
            <a:r>
              <a:rPr lang="en-US" sz="2000" dirty="0"/>
              <a:t>FFNN is a more general network architecture, where there are hidden layers between input and output layers. </a:t>
            </a:r>
          </a:p>
          <a:p>
            <a:pPr algn="just"/>
            <a:r>
              <a:rPr lang="en-US" sz="2000" dirty="0"/>
              <a:t>Hidden nodes do not directly receive inputs nor send outputs to the external environment. </a:t>
            </a:r>
          </a:p>
          <a:p>
            <a:pPr algn="just"/>
            <a:r>
              <a:rPr lang="en-US" sz="2000" dirty="0"/>
              <a:t>FFNNs overcome the limitation of single-layer NN. </a:t>
            </a:r>
          </a:p>
          <a:p>
            <a:pPr algn="just"/>
            <a:r>
              <a:rPr lang="en-US" sz="2000" dirty="0"/>
              <a:t>They can handle non-linearly separable learning tasks. </a:t>
            </a:r>
            <a:endParaRPr lang="en-IN" sz="2000" dirty="0"/>
          </a:p>
        </p:txBody>
      </p:sp>
      <p:sp>
        <p:nvSpPr>
          <p:cNvPr id="6" name="Slide Number Placeholder 5">
            <a:extLst>
              <a:ext uri="{FF2B5EF4-FFF2-40B4-BE49-F238E27FC236}">
                <a16:creationId xmlns:a16="http://schemas.microsoft.com/office/drawing/2014/main" id="{CC47EA72-C864-4C04-96E0-4D36EA31AE32}"/>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8" name="Picture 7">
            <a:extLst>
              <a:ext uri="{FF2B5EF4-FFF2-40B4-BE49-F238E27FC236}">
                <a16:creationId xmlns:a16="http://schemas.microsoft.com/office/drawing/2014/main" id="{8951EB55-69F8-4051-AB9E-A5C42A087766}"/>
              </a:ext>
            </a:extLst>
          </p:cNvPr>
          <p:cNvPicPr>
            <a:picLocks noChangeAspect="1"/>
          </p:cNvPicPr>
          <p:nvPr/>
        </p:nvPicPr>
        <p:blipFill>
          <a:blip r:embed="rId2"/>
          <a:stretch>
            <a:fillRect/>
          </a:stretch>
        </p:blipFill>
        <p:spPr>
          <a:xfrm>
            <a:off x="1676400" y="3657600"/>
            <a:ext cx="5702808" cy="2356532"/>
          </a:xfrm>
          <a:prstGeom prst="rect">
            <a:avLst/>
          </a:prstGeom>
        </p:spPr>
      </p:pic>
    </p:spTree>
    <p:extLst>
      <p:ext uri="{BB962C8B-B14F-4D97-AF65-F5344CB8AC3E}">
        <p14:creationId xmlns:p14="http://schemas.microsoft.com/office/powerpoint/2010/main" val="1637589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9783-498F-DF9C-93B3-43D4E418895F}"/>
              </a:ext>
            </a:extLst>
          </p:cNvPr>
          <p:cNvSpPr>
            <a:spLocks noGrp="1"/>
          </p:cNvSpPr>
          <p:nvPr>
            <p:ph type="title"/>
          </p:nvPr>
        </p:nvSpPr>
        <p:spPr/>
        <p:txBody>
          <a:bodyPr/>
          <a:lstStyle/>
          <a:p>
            <a:r>
              <a:rPr lang="en-IN" dirty="0"/>
              <a:t>ANN Introduction</a:t>
            </a:r>
          </a:p>
        </p:txBody>
      </p:sp>
      <p:pic>
        <p:nvPicPr>
          <p:cNvPr id="8" name="Content Placeholder 7">
            <a:extLst>
              <a:ext uri="{FF2B5EF4-FFF2-40B4-BE49-F238E27FC236}">
                <a16:creationId xmlns:a16="http://schemas.microsoft.com/office/drawing/2014/main" id="{0E591902-D618-D355-7587-DDF99305D758}"/>
              </a:ext>
            </a:extLst>
          </p:cNvPr>
          <p:cNvPicPr>
            <a:picLocks noGrp="1" noChangeAspect="1"/>
          </p:cNvPicPr>
          <p:nvPr>
            <p:ph idx="1"/>
          </p:nvPr>
        </p:nvPicPr>
        <p:blipFill>
          <a:blip r:embed="rId2"/>
          <a:stretch>
            <a:fillRect/>
          </a:stretch>
        </p:blipFill>
        <p:spPr>
          <a:xfrm>
            <a:off x="343526" y="1175356"/>
            <a:ext cx="8001000" cy="753215"/>
          </a:xfrm>
        </p:spPr>
      </p:pic>
      <p:sp>
        <p:nvSpPr>
          <p:cNvPr id="6" name="Slide Number Placeholder 5">
            <a:extLst>
              <a:ext uri="{FF2B5EF4-FFF2-40B4-BE49-F238E27FC236}">
                <a16:creationId xmlns:a16="http://schemas.microsoft.com/office/drawing/2014/main" id="{C3F1C438-00B0-F084-DE85-129C00C110FF}"/>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10" name="Picture 9">
            <a:extLst>
              <a:ext uri="{FF2B5EF4-FFF2-40B4-BE49-F238E27FC236}">
                <a16:creationId xmlns:a16="http://schemas.microsoft.com/office/drawing/2014/main" id="{40DCD514-F8CF-6E15-8DA4-8EE1FEE924CB}"/>
              </a:ext>
            </a:extLst>
          </p:cNvPr>
          <p:cNvPicPr>
            <a:picLocks noChangeAspect="1"/>
          </p:cNvPicPr>
          <p:nvPr/>
        </p:nvPicPr>
        <p:blipFill>
          <a:blip r:embed="rId3"/>
          <a:stretch>
            <a:fillRect/>
          </a:stretch>
        </p:blipFill>
        <p:spPr>
          <a:xfrm>
            <a:off x="379748" y="2116271"/>
            <a:ext cx="7802064" cy="438211"/>
          </a:xfrm>
          <a:prstGeom prst="rect">
            <a:avLst/>
          </a:prstGeom>
        </p:spPr>
      </p:pic>
      <p:pic>
        <p:nvPicPr>
          <p:cNvPr id="12" name="Picture 11">
            <a:extLst>
              <a:ext uri="{FF2B5EF4-FFF2-40B4-BE49-F238E27FC236}">
                <a16:creationId xmlns:a16="http://schemas.microsoft.com/office/drawing/2014/main" id="{7AA5ED45-6575-CD51-F423-BFC11BEF3F26}"/>
              </a:ext>
            </a:extLst>
          </p:cNvPr>
          <p:cNvPicPr>
            <a:picLocks noChangeAspect="1"/>
          </p:cNvPicPr>
          <p:nvPr/>
        </p:nvPicPr>
        <p:blipFill>
          <a:blip r:embed="rId4"/>
          <a:stretch>
            <a:fillRect/>
          </a:stretch>
        </p:blipFill>
        <p:spPr>
          <a:xfrm>
            <a:off x="343526" y="2719942"/>
            <a:ext cx="8186057" cy="1051262"/>
          </a:xfrm>
          <a:prstGeom prst="rect">
            <a:avLst/>
          </a:prstGeom>
        </p:spPr>
      </p:pic>
      <p:pic>
        <p:nvPicPr>
          <p:cNvPr id="14" name="Picture 13">
            <a:extLst>
              <a:ext uri="{FF2B5EF4-FFF2-40B4-BE49-F238E27FC236}">
                <a16:creationId xmlns:a16="http://schemas.microsoft.com/office/drawing/2014/main" id="{14E06D58-3192-3D1F-CDBD-7E36E960632C}"/>
              </a:ext>
            </a:extLst>
          </p:cNvPr>
          <p:cNvPicPr>
            <a:picLocks noChangeAspect="1"/>
          </p:cNvPicPr>
          <p:nvPr/>
        </p:nvPicPr>
        <p:blipFill>
          <a:blip r:embed="rId5"/>
          <a:stretch>
            <a:fillRect/>
          </a:stretch>
        </p:blipFill>
        <p:spPr>
          <a:xfrm>
            <a:off x="379748" y="3940866"/>
            <a:ext cx="6878010" cy="419158"/>
          </a:xfrm>
          <a:prstGeom prst="rect">
            <a:avLst/>
          </a:prstGeom>
        </p:spPr>
      </p:pic>
      <p:pic>
        <p:nvPicPr>
          <p:cNvPr id="16" name="Picture 15">
            <a:extLst>
              <a:ext uri="{FF2B5EF4-FFF2-40B4-BE49-F238E27FC236}">
                <a16:creationId xmlns:a16="http://schemas.microsoft.com/office/drawing/2014/main" id="{F3CA76C9-58A3-8732-6789-AB11E696071E}"/>
              </a:ext>
            </a:extLst>
          </p:cNvPr>
          <p:cNvPicPr>
            <a:picLocks noChangeAspect="1"/>
          </p:cNvPicPr>
          <p:nvPr/>
        </p:nvPicPr>
        <p:blipFill>
          <a:blip r:embed="rId6"/>
          <a:stretch>
            <a:fillRect/>
          </a:stretch>
        </p:blipFill>
        <p:spPr>
          <a:xfrm>
            <a:off x="360724" y="4676370"/>
            <a:ext cx="8783276" cy="819264"/>
          </a:xfrm>
          <a:prstGeom prst="rect">
            <a:avLst/>
          </a:prstGeom>
        </p:spPr>
      </p:pic>
    </p:spTree>
    <p:extLst>
      <p:ext uri="{BB962C8B-B14F-4D97-AF65-F5344CB8AC3E}">
        <p14:creationId xmlns:p14="http://schemas.microsoft.com/office/powerpoint/2010/main" val="23595941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8FBE3-450C-D35C-CAF5-5859CBE20576}"/>
              </a:ext>
            </a:extLst>
          </p:cNvPr>
          <p:cNvSpPr>
            <a:spLocks noGrp="1"/>
          </p:cNvSpPr>
          <p:nvPr>
            <p:ph type="title"/>
          </p:nvPr>
        </p:nvSpPr>
        <p:spPr/>
        <p:txBody>
          <a:bodyPr/>
          <a:lstStyle/>
          <a:p>
            <a:r>
              <a:rPr lang="en-IN" dirty="0"/>
              <a:t>ANN Introduction</a:t>
            </a:r>
          </a:p>
        </p:txBody>
      </p:sp>
      <p:sp>
        <p:nvSpPr>
          <p:cNvPr id="3" name="Content Placeholder 2">
            <a:extLst>
              <a:ext uri="{FF2B5EF4-FFF2-40B4-BE49-F238E27FC236}">
                <a16:creationId xmlns:a16="http://schemas.microsoft.com/office/drawing/2014/main" id="{065EBBD0-A5DD-78FB-A4BC-9C8DEE5F1F59}"/>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EDE220CB-2601-7E56-D985-9CCE98BF3359}"/>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8" name="Picture 7">
            <a:extLst>
              <a:ext uri="{FF2B5EF4-FFF2-40B4-BE49-F238E27FC236}">
                <a16:creationId xmlns:a16="http://schemas.microsoft.com/office/drawing/2014/main" id="{4CFFFE84-DD92-379F-0BFA-4714774BFA15}"/>
              </a:ext>
            </a:extLst>
          </p:cNvPr>
          <p:cNvPicPr>
            <a:picLocks noChangeAspect="1"/>
          </p:cNvPicPr>
          <p:nvPr/>
        </p:nvPicPr>
        <p:blipFill>
          <a:blip r:embed="rId2"/>
          <a:stretch>
            <a:fillRect/>
          </a:stretch>
        </p:blipFill>
        <p:spPr>
          <a:xfrm>
            <a:off x="261938" y="1107008"/>
            <a:ext cx="8610600" cy="1441851"/>
          </a:xfrm>
          <a:prstGeom prst="rect">
            <a:avLst/>
          </a:prstGeom>
        </p:spPr>
      </p:pic>
      <p:pic>
        <p:nvPicPr>
          <p:cNvPr id="10" name="Picture 9">
            <a:extLst>
              <a:ext uri="{FF2B5EF4-FFF2-40B4-BE49-F238E27FC236}">
                <a16:creationId xmlns:a16="http://schemas.microsoft.com/office/drawing/2014/main" id="{9673DD37-5016-09AE-EDA4-D1F7B5A2748A}"/>
              </a:ext>
            </a:extLst>
          </p:cNvPr>
          <p:cNvPicPr>
            <a:picLocks noChangeAspect="1"/>
          </p:cNvPicPr>
          <p:nvPr/>
        </p:nvPicPr>
        <p:blipFill>
          <a:blip r:embed="rId3"/>
          <a:stretch>
            <a:fillRect/>
          </a:stretch>
        </p:blipFill>
        <p:spPr>
          <a:xfrm>
            <a:off x="327024" y="2661051"/>
            <a:ext cx="8311244" cy="442919"/>
          </a:xfrm>
          <a:prstGeom prst="rect">
            <a:avLst/>
          </a:prstGeom>
        </p:spPr>
      </p:pic>
      <p:pic>
        <p:nvPicPr>
          <p:cNvPr id="12" name="Picture 11">
            <a:extLst>
              <a:ext uri="{FF2B5EF4-FFF2-40B4-BE49-F238E27FC236}">
                <a16:creationId xmlns:a16="http://schemas.microsoft.com/office/drawing/2014/main" id="{A4FD46C1-FBD5-42F0-7D74-9007C9987500}"/>
              </a:ext>
            </a:extLst>
          </p:cNvPr>
          <p:cNvPicPr>
            <a:picLocks noChangeAspect="1"/>
          </p:cNvPicPr>
          <p:nvPr/>
        </p:nvPicPr>
        <p:blipFill>
          <a:blip r:embed="rId4"/>
          <a:stretch>
            <a:fillRect/>
          </a:stretch>
        </p:blipFill>
        <p:spPr>
          <a:xfrm>
            <a:off x="419553" y="3296578"/>
            <a:ext cx="8311243" cy="1720974"/>
          </a:xfrm>
          <a:prstGeom prst="rect">
            <a:avLst/>
          </a:prstGeom>
        </p:spPr>
      </p:pic>
      <p:pic>
        <p:nvPicPr>
          <p:cNvPr id="14" name="Picture 13">
            <a:extLst>
              <a:ext uri="{FF2B5EF4-FFF2-40B4-BE49-F238E27FC236}">
                <a16:creationId xmlns:a16="http://schemas.microsoft.com/office/drawing/2014/main" id="{7E457EFE-796A-AADA-F19A-4158036EC5B5}"/>
              </a:ext>
            </a:extLst>
          </p:cNvPr>
          <p:cNvPicPr>
            <a:picLocks noChangeAspect="1"/>
          </p:cNvPicPr>
          <p:nvPr/>
        </p:nvPicPr>
        <p:blipFill>
          <a:blip r:embed="rId5"/>
          <a:stretch>
            <a:fillRect/>
          </a:stretch>
        </p:blipFill>
        <p:spPr>
          <a:xfrm>
            <a:off x="419553" y="5105541"/>
            <a:ext cx="6438447" cy="1447659"/>
          </a:xfrm>
          <a:prstGeom prst="rect">
            <a:avLst/>
          </a:prstGeom>
        </p:spPr>
      </p:pic>
    </p:spTree>
    <p:extLst>
      <p:ext uri="{BB962C8B-B14F-4D97-AF65-F5344CB8AC3E}">
        <p14:creationId xmlns:p14="http://schemas.microsoft.com/office/powerpoint/2010/main" val="1350697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4EC9-D5BE-2EFE-FB0B-F99D2E02A0F4}"/>
              </a:ext>
            </a:extLst>
          </p:cNvPr>
          <p:cNvSpPr>
            <a:spLocks noGrp="1"/>
          </p:cNvSpPr>
          <p:nvPr>
            <p:ph type="title"/>
          </p:nvPr>
        </p:nvSpPr>
        <p:spPr/>
        <p:txBody>
          <a:bodyPr/>
          <a:lstStyle/>
          <a:p>
            <a:r>
              <a:rPr lang="en-IN" dirty="0"/>
              <a:t>ANN Introduction</a:t>
            </a:r>
          </a:p>
        </p:txBody>
      </p:sp>
      <p:pic>
        <p:nvPicPr>
          <p:cNvPr id="14" name="Content Placeholder 13">
            <a:extLst>
              <a:ext uri="{FF2B5EF4-FFF2-40B4-BE49-F238E27FC236}">
                <a16:creationId xmlns:a16="http://schemas.microsoft.com/office/drawing/2014/main" id="{446D2C10-881C-452F-EFBB-D944A378FEA0}"/>
              </a:ext>
            </a:extLst>
          </p:cNvPr>
          <p:cNvPicPr>
            <a:picLocks noGrp="1" noChangeAspect="1"/>
          </p:cNvPicPr>
          <p:nvPr>
            <p:ph idx="1"/>
          </p:nvPr>
        </p:nvPicPr>
        <p:blipFill>
          <a:blip r:embed="rId2"/>
          <a:stretch>
            <a:fillRect/>
          </a:stretch>
        </p:blipFill>
        <p:spPr>
          <a:xfrm>
            <a:off x="4038504" y="5537886"/>
            <a:ext cx="1371791" cy="514422"/>
          </a:xfrm>
        </p:spPr>
      </p:pic>
      <p:sp>
        <p:nvSpPr>
          <p:cNvPr id="6" name="Slide Number Placeholder 5">
            <a:extLst>
              <a:ext uri="{FF2B5EF4-FFF2-40B4-BE49-F238E27FC236}">
                <a16:creationId xmlns:a16="http://schemas.microsoft.com/office/drawing/2014/main" id="{E2F2D02A-7761-9417-F3A5-7ABEA8AC4CA1}"/>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8" name="Picture 7">
            <a:extLst>
              <a:ext uri="{FF2B5EF4-FFF2-40B4-BE49-F238E27FC236}">
                <a16:creationId xmlns:a16="http://schemas.microsoft.com/office/drawing/2014/main" id="{8E531C85-38B5-CB66-334A-5C60AF331B8D}"/>
              </a:ext>
            </a:extLst>
          </p:cNvPr>
          <p:cNvPicPr>
            <a:picLocks noChangeAspect="1"/>
          </p:cNvPicPr>
          <p:nvPr/>
        </p:nvPicPr>
        <p:blipFill>
          <a:blip r:embed="rId3"/>
          <a:stretch>
            <a:fillRect/>
          </a:stretch>
        </p:blipFill>
        <p:spPr>
          <a:xfrm>
            <a:off x="380213" y="1140610"/>
            <a:ext cx="5639587" cy="2381582"/>
          </a:xfrm>
          <a:prstGeom prst="rect">
            <a:avLst/>
          </a:prstGeom>
        </p:spPr>
      </p:pic>
      <p:pic>
        <p:nvPicPr>
          <p:cNvPr id="10" name="Picture 9">
            <a:extLst>
              <a:ext uri="{FF2B5EF4-FFF2-40B4-BE49-F238E27FC236}">
                <a16:creationId xmlns:a16="http://schemas.microsoft.com/office/drawing/2014/main" id="{E0B9805E-DC0D-6650-CFF4-D89B8C7F8FF1}"/>
              </a:ext>
            </a:extLst>
          </p:cNvPr>
          <p:cNvPicPr>
            <a:picLocks noChangeAspect="1"/>
          </p:cNvPicPr>
          <p:nvPr/>
        </p:nvPicPr>
        <p:blipFill>
          <a:blip r:embed="rId4"/>
          <a:stretch>
            <a:fillRect/>
          </a:stretch>
        </p:blipFill>
        <p:spPr>
          <a:xfrm>
            <a:off x="152400" y="3837878"/>
            <a:ext cx="9144000" cy="1509375"/>
          </a:xfrm>
          <a:prstGeom prst="rect">
            <a:avLst/>
          </a:prstGeom>
        </p:spPr>
      </p:pic>
      <p:pic>
        <p:nvPicPr>
          <p:cNvPr id="12" name="Picture 11">
            <a:extLst>
              <a:ext uri="{FF2B5EF4-FFF2-40B4-BE49-F238E27FC236}">
                <a16:creationId xmlns:a16="http://schemas.microsoft.com/office/drawing/2014/main" id="{64B06D08-48B8-6452-520E-311ECB5B9B82}"/>
              </a:ext>
            </a:extLst>
          </p:cNvPr>
          <p:cNvPicPr>
            <a:picLocks noChangeAspect="1"/>
          </p:cNvPicPr>
          <p:nvPr/>
        </p:nvPicPr>
        <p:blipFill>
          <a:blip r:embed="rId5"/>
          <a:stretch>
            <a:fillRect/>
          </a:stretch>
        </p:blipFill>
        <p:spPr>
          <a:xfrm>
            <a:off x="990600" y="5343810"/>
            <a:ext cx="2761822" cy="747159"/>
          </a:xfrm>
          <a:prstGeom prst="rect">
            <a:avLst/>
          </a:prstGeom>
        </p:spPr>
      </p:pic>
    </p:spTree>
    <p:extLst>
      <p:ext uri="{BB962C8B-B14F-4D97-AF65-F5344CB8AC3E}">
        <p14:creationId xmlns:p14="http://schemas.microsoft.com/office/powerpoint/2010/main" val="1000980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Input</a:t>
            </a:r>
          </a:p>
        </p:txBody>
      </p:sp>
      <p:sp>
        <p:nvSpPr>
          <p:cNvPr id="3" name="Content Placeholder 2"/>
          <p:cNvSpPr>
            <a:spLocks noGrp="1"/>
          </p:cNvSpPr>
          <p:nvPr>
            <p:ph idx="1"/>
          </p:nvPr>
        </p:nvSpPr>
        <p:spPr/>
        <p:txBody>
          <a:bodyPr/>
          <a:lstStyle/>
          <a:p>
            <a:r>
              <a:rPr lang="en-US" sz="1000" dirty="0"/>
              <a:t>In our last example we set our threshold to 1, this means our weighted input needs to equal or exceed 1 to give us an output of 1. </a:t>
            </a:r>
          </a:p>
          <a:p>
            <a:r>
              <a:rPr lang="en-US" sz="1000" dirty="0"/>
              <a:t>This is okay when learning the AND function because we know we only need an output when both inputs will be set, allowing (with the correct weights) for the threshold to be reached or exceeded. </a:t>
            </a:r>
          </a:p>
          <a:p>
            <a:r>
              <a:rPr lang="en-US" sz="1400" dirty="0"/>
              <a:t>In the case of the NOR function however, the network should only output 1 if both inputs are off. This means if we have a threshold of 1 there isn't a combination of weights that will ever make the following true,</a:t>
            </a:r>
          </a:p>
          <a:p>
            <a:pPr marL="0" indent="0">
              <a:buNone/>
            </a:pPr>
            <a:r>
              <a:rPr lang="en-US" sz="1400" b="1" i="1" dirty="0"/>
              <a:t>x</a:t>
            </a:r>
            <a:r>
              <a:rPr lang="en-US" sz="1400" b="1" i="1" baseline="-25000" dirty="0"/>
              <a:t>1</a:t>
            </a:r>
            <a:r>
              <a:rPr lang="en-US" sz="1400" b="1" i="1" dirty="0"/>
              <a:t> = 0  ;  x</a:t>
            </a:r>
            <a:r>
              <a:rPr lang="en-US" sz="1400" b="1" i="1" baseline="-25000" dirty="0"/>
              <a:t>2</a:t>
            </a:r>
            <a:r>
              <a:rPr lang="en-US" sz="1400" b="1" i="1" dirty="0"/>
              <a:t> = 0 ;    1 &lt;= x</a:t>
            </a:r>
            <a:r>
              <a:rPr lang="en-US" sz="1400" b="1" i="1" baseline="-25000" dirty="0"/>
              <a:t>1</a:t>
            </a:r>
            <a:r>
              <a:rPr lang="en-US" sz="1400" b="1" i="1" dirty="0"/>
              <a:t>w</a:t>
            </a:r>
            <a:r>
              <a:rPr lang="en-US" sz="1400" b="1" i="1" baseline="-25000" dirty="0"/>
              <a:t>1</a:t>
            </a:r>
            <a:r>
              <a:rPr lang="en-US" sz="1400" b="1" i="1" dirty="0"/>
              <a:t> + x</a:t>
            </a:r>
            <a:r>
              <a:rPr lang="en-US" sz="1400" b="1" i="1" baseline="-25000" dirty="0"/>
              <a:t>2</a:t>
            </a:r>
            <a:r>
              <a:rPr lang="en-US" sz="1400" b="1" i="1" dirty="0"/>
              <a:t>w</a:t>
            </a:r>
            <a:r>
              <a:rPr lang="en-US" sz="1400" b="1" i="1" baseline="-25000" dirty="0"/>
              <a:t>2</a:t>
            </a:r>
          </a:p>
          <a:p>
            <a:pPr marL="0" indent="0">
              <a:buNone/>
            </a:pPr>
            <a:endParaRPr lang="en-US" sz="1400" b="1" i="1" baseline="-25000" dirty="0"/>
          </a:p>
          <a:p>
            <a:r>
              <a:rPr lang="en-US" sz="1400" dirty="0"/>
              <a:t>There's a simple fix to this though, a </a:t>
            </a:r>
            <a:r>
              <a:rPr lang="en-US" sz="1600" dirty="0">
                <a:solidFill>
                  <a:srgbClr val="FF0000"/>
                </a:solidFill>
              </a:rPr>
              <a:t>bias unit</a:t>
            </a:r>
            <a:r>
              <a:rPr lang="en-US" sz="1400" dirty="0"/>
              <a:t>. A bias unit is simply a neuron with a constant output, typically of 1. </a:t>
            </a:r>
          </a:p>
          <a:p>
            <a:r>
              <a:rPr lang="en-US" sz="1000" dirty="0"/>
              <a:t>Bias units are weighted just like other units in the network, the only difference is that they will always output 1 regardless of the input from the previous layer, this is where they get their name! So why are they important? Bias inputs effectively allow the neuron to learn a threshold value. Consider our previous equation, with a bias input (</a:t>
            </a:r>
            <a:r>
              <a:rPr lang="en-US" sz="1000" i="1" dirty="0"/>
              <a:t>x</a:t>
            </a:r>
            <a:r>
              <a:rPr lang="en-US" sz="1000" i="1" baseline="-25000" dirty="0"/>
              <a:t>0</a:t>
            </a:r>
            <a:r>
              <a:rPr lang="en-US" sz="1000" dirty="0"/>
              <a:t>) added we can change it to,</a:t>
            </a:r>
            <a:br>
              <a:rPr lang="en-US" sz="1000" dirty="0"/>
            </a:br>
            <a:r>
              <a:rPr lang="en-US" sz="1400" b="1" i="1" dirty="0"/>
              <a:t>x</a:t>
            </a:r>
            <a:r>
              <a:rPr lang="en-US" sz="1400" b="1" i="1" baseline="-25000" dirty="0"/>
              <a:t>0</a:t>
            </a:r>
            <a:r>
              <a:rPr lang="en-US" sz="1400" b="1" i="1" dirty="0"/>
              <a:t> = 1; x</a:t>
            </a:r>
            <a:r>
              <a:rPr lang="en-US" sz="1400" b="1" i="1" baseline="-25000" dirty="0"/>
              <a:t>1</a:t>
            </a:r>
            <a:r>
              <a:rPr lang="en-US" sz="1400" b="1" i="1" dirty="0"/>
              <a:t> = 0 ; x</a:t>
            </a:r>
            <a:r>
              <a:rPr lang="en-US" sz="1400" b="1" i="1" baseline="-25000" dirty="0"/>
              <a:t>2</a:t>
            </a:r>
            <a:r>
              <a:rPr lang="en-US" sz="1400" b="1" i="1" dirty="0"/>
              <a:t> = 0 ; 1 &lt;= x</a:t>
            </a:r>
            <a:r>
              <a:rPr lang="en-US" sz="1400" b="1" i="1" baseline="-25000" dirty="0"/>
              <a:t>0</a:t>
            </a:r>
            <a:r>
              <a:rPr lang="en-US" sz="1400" b="1" i="1" dirty="0"/>
              <a:t>w</a:t>
            </a:r>
            <a:r>
              <a:rPr lang="en-US" sz="1400" b="1" i="1" baseline="-25000" dirty="0"/>
              <a:t>0</a:t>
            </a:r>
            <a:r>
              <a:rPr lang="en-US" sz="1400" b="1" i="1" dirty="0"/>
              <a:t> + x</a:t>
            </a:r>
            <a:r>
              <a:rPr lang="en-US" sz="1400" b="1" i="1" baseline="-25000" dirty="0"/>
              <a:t>1</a:t>
            </a:r>
            <a:r>
              <a:rPr lang="en-US" sz="1400" b="1" i="1" dirty="0"/>
              <a:t>w</a:t>
            </a:r>
            <a:r>
              <a:rPr lang="en-US" sz="1400" b="1" i="1" baseline="-25000" dirty="0"/>
              <a:t>1</a:t>
            </a:r>
            <a:r>
              <a:rPr lang="en-US" sz="1400" b="1" i="1" dirty="0"/>
              <a:t> + x</a:t>
            </a:r>
            <a:r>
              <a:rPr lang="en-US" sz="1400" b="1" i="1" baseline="-25000" dirty="0"/>
              <a:t>2</a:t>
            </a:r>
            <a:r>
              <a:rPr lang="en-US" sz="1400" b="1" i="1" dirty="0"/>
              <a:t>w</a:t>
            </a:r>
            <a:r>
              <a:rPr lang="en-US" sz="1400" b="1" i="1" baseline="-25000" dirty="0"/>
              <a:t>2</a:t>
            </a:r>
            <a:br>
              <a:rPr lang="en-US" sz="1400" dirty="0"/>
            </a:br>
            <a:endParaRPr lang="en-US" sz="1050" b="1" dirty="0"/>
          </a:p>
          <a:p>
            <a:pPr marL="0" indent="0">
              <a:buNone/>
            </a:pPr>
            <a:endParaRPr lang="en-US" sz="1050" dirty="0"/>
          </a:p>
        </p:txBody>
      </p:sp>
      <p:sp>
        <p:nvSpPr>
          <p:cNvPr id="6" name="Slide Number Placeholder 5"/>
          <p:cNvSpPr>
            <a:spLocks noGrp="1"/>
          </p:cNvSpPr>
          <p:nvPr>
            <p:ph type="sldNum" sz="quarter" idx="12"/>
          </p:nvPr>
        </p:nvSpPr>
        <p:spPr/>
        <p:txBody>
          <a:bodyPr/>
          <a:lstStyle/>
          <a:p>
            <a:fld id="{BB2CE0DE-867F-455F-B20B-96D381B4AB71}" type="slidenum">
              <a:rPr lang="en-US" smtClean="0"/>
              <a:t>41</a:t>
            </a:fld>
            <a:endParaRPr lang="en-US"/>
          </a:p>
        </p:txBody>
      </p:sp>
      <p:sp>
        <p:nvSpPr>
          <p:cNvPr id="9" name="TextBox 8"/>
          <p:cNvSpPr txBox="1"/>
          <p:nvPr/>
        </p:nvSpPr>
        <p:spPr>
          <a:xfrm>
            <a:off x="5679796" y="4933888"/>
            <a:ext cx="445956" cy="307777"/>
          </a:xfrm>
          <a:prstGeom prst="rect">
            <a:avLst/>
          </a:prstGeom>
          <a:noFill/>
        </p:spPr>
        <p:txBody>
          <a:bodyPr wrap="none" rtlCol="0">
            <a:spAutoFit/>
          </a:bodyPr>
          <a:lstStyle/>
          <a:p>
            <a:r>
              <a:rPr lang="en-US" sz="1400" dirty="0"/>
              <a:t>w0</a:t>
            </a:r>
          </a:p>
        </p:txBody>
      </p:sp>
      <p:sp>
        <p:nvSpPr>
          <p:cNvPr id="10" name="TextBox 9"/>
          <p:cNvSpPr txBox="1"/>
          <p:nvPr/>
        </p:nvSpPr>
        <p:spPr>
          <a:xfrm>
            <a:off x="6623948" y="4980056"/>
            <a:ext cx="445956" cy="307777"/>
          </a:xfrm>
          <a:prstGeom prst="rect">
            <a:avLst/>
          </a:prstGeom>
          <a:noFill/>
        </p:spPr>
        <p:txBody>
          <a:bodyPr wrap="none" rtlCol="0">
            <a:spAutoFit/>
          </a:bodyPr>
          <a:lstStyle/>
          <a:p>
            <a:r>
              <a:rPr lang="en-US" sz="1400" dirty="0"/>
              <a:t>w1</a:t>
            </a:r>
          </a:p>
        </p:txBody>
      </p:sp>
      <p:sp>
        <p:nvSpPr>
          <p:cNvPr id="11" name="TextBox 10"/>
          <p:cNvSpPr txBox="1"/>
          <p:nvPr/>
        </p:nvSpPr>
        <p:spPr>
          <a:xfrm>
            <a:off x="7467600" y="5027240"/>
            <a:ext cx="445956" cy="307777"/>
          </a:xfrm>
          <a:prstGeom prst="rect">
            <a:avLst/>
          </a:prstGeom>
          <a:noFill/>
        </p:spPr>
        <p:txBody>
          <a:bodyPr wrap="none" rtlCol="0">
            <a:spAutoFit/>
          </a:bodyPr>
          <a:lstStyle/>
          <a:p>
            <a:r>
              <a:rPr lang="en-US" sz="1400" dirty="0"/>
              <a:t>w2</a:t>
            </a:r>
          </a:p>
        </p:txBody>
      </p:sp>
      <p:sp>
        <p:nvSpPr>
          <p:cNvPr id="12" name="Oval 11"/>
          <p:cNvSpPr/>
          <p:nvPr/>
        </p:nvSpPr>
        <p:spPr bwMode="auto">
          <a:xfrm>
            <a:off x="5181600" y="5617781"/>
            <a:ext cx="1143000" cy="609600"/>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x0</a:t>
            </a:r>
          </a:p>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Input1</a:t>
            </a:r>
          </a:p>
        </p:txBody>
      </p:sp>
      <p:sp>
        <p:nvSpPr>
          <p:cNvPr id="13" name="Oval 12"/>
          <p:cNvSpPr/>
          <p:nvPr/>
        </p:nvSpPr>
        <p:spPr bwMode="auto">
          <a:xfrm>
            <a:off x="6498404" y="5637858"/>
            <a:ext cx="1143000" cy="609600"/>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x1</a:t>
            </a:r>
          </a:p>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Input2</a:t>
            </a:r>
          </a:p>
        </p:txBody>
      </p:sp>
      <p:sp>
        <p:nvSpPr>
          <p:cNvPr id="14" name="Oval 13"/>
          <p:cNvSpPr/>
          <p:nvPr/>
        </p:nvSpPr>
        <p:spPr bwMode="auto">
          <a:xfrm>
            <a:off x="7772400" y="5638800"/>
            <a:ext cx="1371600" cy="609600"/>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rgbClr val="FF0000"/>
                </a:solidFill>
                <a:effectLst/>
                <a:latin typeface="Verdana" pitchFamily="34" charset="0"/>
              </a:rPr>
              <a:t>x2</a:t>
            </a:r>
          </a:p>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rgbClr val="FF0000"/>
                </a:solidFill>
                <a:effectLst/>
                <a:latin typeface="Verdana" pitchFamily="34" charset="0"/>
              </a:rPr>
              <a:t>Bias +1</a:t>
            </a:r>
          </a:p>
        </p:txBody>
      </p:sp>
      <p:cxnSp>
        <p:nvCxnSpPr>
          <p:cNvPr id="15" name="Straight Arrow Connector 14"/>
          <p:cNvCxnSpPr>
            <a:stCxn id="12" idx="0"/>
            <a:endCxn id="17" idx="3"/>
          </p:cNvCxnSpPr>
          <p:nvPr/>
        </p:nvCxnSpPr>
        <p:spPr bwMode="auto">
          <a:xfrm flipV="1">
            <a:off x="5753100" y="4635126"/>
            <a:ext cx="820710" cy="982655"/>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16" name="Straight Arrow Connector 15"/>
          <p:cNvCxnSpPr>
            <a:stCxn id="13" idx="0"/>
          </p:cNvCxnSpPr>
          <p:nvPr/>
        </p:nvCxnSpPr>
        <p:spPr bwMode="auto">
          <a:xfrm flipV="1">
            <a:off x="7069904" y="4724400"/>
            <a:ext cx="0" cy="913458"/>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17" name="Oval 16"/>
          <p:cNvSpPr/>
          <p:nvPr/>
        </p:nvSpPr>
        <p:spPr bwMode="auto">
          <a:xfrm>
            <a:off x="6406422" y="4114800"/>
            <a:ext cx="1143000" cy="609600"/>
          </a:xfrm>
          <a:prstGeom prst="ellips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Output</a:t>
            </a:r>
          </a:p>
        </p:txBody>
      </p:sp>
      <p:cxnSp>
        <p:nvCxnSpPr>
          <p:cNvPr id="18" name="Straight Arrow Connector 17"/>
          <p:cNvCxnSpPr>
            <a:stCxn id="14" idx="0"/>
            <a:endCxn id="17" idx="5"/>
          </p:cNvCxnSpPr>
          <p:nvPr/>
        </p:nvCxnSpPr>
        <p:spPr bwMode="auto">
          <a:xfrm flipH="1" flipV="1">
            <a:off x="7382034" y="4635126"/>
            <a:ext cx="1076166" cy="1003674"/>
          </a:xfrm>
          <a:prstGeom prst="straightConnector1">
            <a:avLst/>
          </a:prstGeom>
          <a:solidFill>
            <a:schemeClr val="accent1"/>
          </a:solidFill>
          <a:ln w="9525" cap="flat" cmpd="sng" algn="ctr">
            <a:solidFill>
              <a:schemeClr val="tx1"/>
            </a:solidFill>
            <a:prstDash val="solid"/>
            <a:round/>
            <a:headEnd type="none" w="med" len="med"/>
            <a:tailEnd type="arrow"/>
          </a:ln>
        </p:spPr>
      </p:cxnSp>
    </p:spTree>
    <p:extLst>
      <p:ext uri="{BB962C8B-B14F-4D97-AF65-F5344CB8AC3E}">
        <p14:creationId xmlns:p14="http://schemas.microsoft.com/office/powerpoint/2010/main" val="1523140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F0C7-B573-EACB-DBC9-76E556F1E3AB}"/>
              </a:ext>
            </a:extLst>
          </p:cNvPr>
          <p:cNvSpPr>
            <a:spLocks noGrp="1"/>
          </p:cNvSpPr>
          <p:nvPr>
            <p:ph type="title"/>
          </p:nvPr>
        </p:nvSpPr>
        <p:spPr/>
        <p:txBody>
          <a:bodyPr/>
          <a:lstStyle/>
          <a:p>
            <a:r>
              <a:rPr lang="en-IN" dirty="0"/>
              <a:t>Three Basic components of ANN</a:t>
            </a:r>
          </a:p>
        </p:txBody>
      </p:sp>
      <p:sp>
        <p:nvSpPr>
          <p:cNvPr id="3" name="Content Placeholder 2">
            <a:extLst>
              <a:ext uri="{FF2B5EF4-FFF2-40B4-BE49-F238E27FC236}">
                <a16:creationId xmlns:a16="http://schemas.microsoft.com/office/drawing/2014/main" id="{3D55F3E4-D3E6-1378-7DB8-97D18E0536ED}"/>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F4A0AF5A-2D1F-DD5A-72FF-FFE6C131A98B}"/>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2FF763BE-5A62-AB83-3EF8-DB3EBB224EDC}"/>
              </a:ext>
            </a:extLst>
          </p:cNvPr>
          <p:cNvPicPr>
            <a:picLocks noChangeAspect="1"/>
          </p:cNvPicPr>
          <p:nvPr/>
        </p:nvPicPr>
        <p:blipFill>
          <a:blip r:embed="rId2"/>
          <a:stretch>
            <a:fillRect/>
          </a:stretch>
        </p:blipFill>
        <p:spPr>
          <a:xfrm>
            <a:off x="152400" y="1173787"/>
            <a:ext cx="9144000" cy="3433346"/>
          </a:xfrm>
          <a:prstGeom prst="rect">
            <a:avLst/>
          </a:prstGeom>
        </p:spPr>
      </p:pic>
    </p:spTree>
    <p:extLst>
      <p:ext uri="{BB962C8B-B14F-4D97-AF65-F5344CB8AC3E}">
        <p14:creationId xmlns:p14="http://schemas.microsoft.com/office/powerpoint/2010/main" val="2632627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09171-7E1A-3101-E678-252403E82C74}"/>
              </a:ext>
            </a:extLst>
          </p:cNvPr>
          <p:cNvSpPr>
            <a:spLocks noGrp="1"/>
          </p:cNvSpPr>
          <p:nvPr>
            <p:ph type="title"/>
          </p:nvPr>
        </p:nvSpPr>
        <p:spPr/>
        <p:txBody>
          <a:bodyPr/>
          <a:lstStyle/>
          <a:p>
            <a:r>
              <a:rPr lang="en-IN" dirty="0"/>
              <a:t>Connections</a:t>
            </a:r>
          </a:p>
        </p:txBody>
      </p:sp>
      <p:sp>
        <p:nvSpPr>
          <p:cNvPr id="6" name="Slide Number Placeholder 5">
            <a:extLst>
              <a:ext uri="{FF2B5EF4-FFF2-40B4-BE49-F238E27FC236}">
                <a16:creationId xmlns:a16="http://schemas.microsoft.com/office/drawing/2014/main" id="{06F1F2D4-505A-8187-BD8F-9CB3D8689C87}"/>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8" name="Picture 7">
            <a:extLst>
              <a:ext uri="{FF2B5EF4-FFF2-40B4-BE49-F238E27FC236}">
                <a16:creationId xmlns:a16="http://schemas.microsoft.com/office/drawing/2014/main" id="{2880F09D-CE81-6FA2-855C-993F838D9BC1}"/>
              </a:ext>
            </a:extLst>
          </p:cNvPr>
          <p:cNvPicPr>
            <a:picLocks noChangeAspect="1"/>
          </p:cNvPicPr>
          <p:nvPr/>
        </p:nvPicPr>
        <p:blipFill>
          <a:blip r:embed="rId2"/>
          <a:stretch>
            <a:fillRect/>
          </a:stretch>
        </p:blipFill>
        <p:spPr>
          <a:xfrm>
            <a:off x="304800" y="1143000"/>
            <a:ext cx="8534400" cy="3649417"/>
          </a:xfrm>
          <a:prstGeom prst="rect">
            <a:avLst/>
          </a:prstGeom>
        </p:spPr>
      </p:pic>
    </p:spTree>
    <p:extLst>
      <p:ext uri="{BB962C8B-B14F-4D97-AF65-F5344CB8AC3E}">
        <p14:creationId xmlns:p14="http://schemas.microsoft.com/office/powerpoint/2010/main" val="3594978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ED1D3-5992-703C-FB02-6AB344541408}"/>
              </a:ext>
            </a:extLst>
          </p:cNvPr>
          <p:cNvSpPr>
            <a:spLocks noGrp="1"/>
          </p:cNvSpPr>
          <p:nvPr>
            <p:ph type="title"/>
          </p:nvPr>
        </p:nvSpPr>
        <p:spPr/>
        <p:txBody>
          <a:bodyPr/>
          <a:lstStyle/>
          <a:p>
            <a:r>
              <a:rPr lang="en-IN" dirty="0"/>
              <a:t>1. Connections</a:t>
            </a:r>
          </a:p>
        </p:txBody>
      </p:sp>
      <p:sp>
        <p:nvSpPr>
          <p:cNvPr id="3" name="Content Placeholder 2">
            <a:extLst>
              <a:ext uri="{FF2B5EF4-FFF2-40B4-BE49-F238E27FC236}">
                <a16:creationId xmlns:a16="http://schemas.microsoft.com/office/drawing/2014/main" id="{03EDFD88-9D56-6673-C4BA-07DF8DCD7E44}"/>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61673DAD-5974-6B79-08AA-9FB9DBE723A8}"/>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8" name="Picture 7">
            <a:extLst>
              <a:ext uri="{FF2B5EF4-FFF2-40B4-BE49-F238E27FC236}">
                <a16:creationId xmlns:a16="http://schemas.microsoft.com/office/drawing/2014/main" id="{173F54C3-A819-ACC6-1EEE-1806E2A56115}"/>
              </a:ext>
            </a:extLst>
          </p:cNvPr>
          <p:cNvPicPr>
            <a:picLocks noChangeAspect="1"/>
          </p:cNvPicPr>
          <p:nvPr/>
        </p:nvPicPr>
        <p:blipFill>
          <a:blip r:embed="rId2"/>
          <a:stretch>
            <a:fillRect/>
          </a:stretch>
        </p:blipFill>
        <p:spPr>
          <a:xfrm>
            <a:off x="575631" y="1046851"/>
            <a:ext cx="7806337" cy="3851242"/>
          </a:xfrm>
          <a:prstGeom prst="rect">
            <a:avLst/>
          </a:prstGeom>
        </p:spPr>
      </p:pic>
      <p:sp>
        <p:nvSpPr>
          <p:cNvPr id="7" name="TextBox 6">
            <a:extLst>
              <a:ext uri="{FF2B5EF4-FFF2-40B4-BE49-F238E27FC236}">
                <a16:creationId xmlns:a16="http://schemas.microsoft.com/office/drawing/2014/main" id="{ED77CE83-E635-4D96-B1A0-812FFF59A181}"/>
              </a:ext>
            </a:extLst>
          </p:cNvPr>
          <p:cNvSpPr txBox="1"/>
          <p:nvPr/>
        </p:nvSpPr>
        <p:spPr>
          <a:xfrm>
            <a:off x="421239" y="5082626"/>
            <a:ext cx="8291997" cy="1323439"/>
          </a:xfrm>
          <a:prstGeom prst="rect">
            <a:avLst/>
          </a:prstGeom>
          <a:noFill/>
        </p:spPr>
        <p:txBody>
          <a:bodyPr wrap="square" rtlCol="0">
            <a:spAutoFit/>
          </a:bodyPr>
          <a:lstStyle/>
          <a:p>
            <a:r>
              <a:rPr lang="en-US" sz="1600" b="0" i="0" dirty="0">
                <a:effectLst/>
                <a:latin typeface="Times New Roman" panose="02020603050405020304" pitchFamily="18" charset="0"/>
                <a:cs typeface="Times New Roman" panose="02020603050405020304" pitchFamily="18" charset="0"/>
              </a:rPr>
              <a:t> </a:t>
            </a:r>
            <a:r>
              <a:rPr lang="en-US" sz="1600" b="1" i="0" dirty="0">
                <a:effectLst/>
                <a:latin typeface="Times New Roman" panose="02020603050405020304" pitchFamily="18" charset="0"/>
                <a:cs typeface="Times New Roman" panose="02020603050405020304" pitchFamily="18" charset="0"/>
              </a:rPr>
              <a:t>"feedforward" </a:t>
            </a:r>
            <a:r>
              <a:rPr lang="en-US" sz="1600" b="0" i="0" dirty="0">
                <a:effectLst/>
                <a:latin typeface="Times New Roman" panose="02020603050405020304" pitchFamily="18" charset="0"/>
                <a:cs typeface="Times New Roman" panose="02020603050405020304" pitchFamily="18" charset="0"/>
              </a:rPr>
              <a:t>because the information flow is unidirectional, progressing forward from the input layer to the output layer,  without any loops or feedback connections. </a:t>
            </a:r>
          </a:p>
          <a:p>
            <a:endParaRPr lang="en-US" sz="1600" b="0" i="0" dirty="0">
              <a:effectLst/>
              <a:latin typeface="Times New Roman" panose="02020603050405020304" pitchFamily="18" charset="0"/>
              <a:cs typeface="Times New Roman" panose="02020603050405020304" pitchFamily="18" charset="0"/>
            </a:endParaRPr>
          </a:p>
          <a:p>
            <a:r>
              <a:rPr lang="en-US" sz="1600" b="1" i="0" dirty="0">
                <a:effectLst/>
                <a:latin typeface="Times New Roman" panose="02020603050405020304" pitchFamily="18" charset="0"/>
                <a:cs typeface="Times New Roman" panose="02020603050405020304" pitchFamily="18" charset="0"/>
              </a:rPr>
              <a:t>"recurrent" </a:t>
            </a:r>
            <a:r>
              <a:rPr lang="en-US" sz="1600" dirty="0">
                <a:latin typeface="Times New Roman" panose="02020603050405020304" pitchFamily="18" charset="0"/>
                <a:cs typeface="Times New Roman" panose="02020603050405020304" pitchFamily="18" charset="0"/>
              </a:rPr>
              <a:t>because they process sequential data by feeding back the output of a neuron at one time step as input to the network at the next time step</a:t>
            </a:r>
            <a:r>
              <a:rPr lang="en-US" sz="1600" b="0" i="0" dirty="0">
                <a:effectLst/>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3971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53111-ABCB-7990-40BD-9763674F6CC7}"/>
              </a:ext>
            </a:extLst>
          </p:cNvPr>
          <p:cNvSpPr>
            <a:spLocks noGrp="1"/>
          </p:cNvSpPr>
          <p:nvPr>
            <p:ph type="title"/>
          </p:nvPr>
        </p:nvSpPr>
        <p:spPr/>
        <p:txBody>
          <a:bodyPr/>
          <a:lstStyle/>
          <a:p>
            <a:r>
              <a:rPr lang="en-IN" b="1" i="0" dirty="0">
                <a:solidFill>
                  <a:srgbClr val="273239"/>
                </a:solidFill>
                <a:effectLst/>
                <a:latin typeface="Nunito" pitchFamily="2" charset="0"/>
              </a:rPr>
              <a:t>Single-layer feed-forward network</a:t>
            </a:r>
            <a:r>
              <a:rPr lang="en-IN" b="0" i="0" dirty="0">
                <a:solidFill>
                  <a:srgbClr val="273239"/>
                </a:solidFill>
                <a:effectLst/>
                <a:latin typeface="Nunito" pitchFamily="2" charset="0"/>
              </a:rPr>
              <a:t> </a:t>
            </a:r>
            <a:endParaRPr lang="en-IN" dirty="0"/>
          </a:p>
        </p:txBody>
      </p:sp>
      <p:sp>
        <p:nvSpPr>
          <p:cNvPr id="3" name="Content Placeholder 2">
            <a:extLst>
              <a:ext uri="{FF2B5EF4-FFF2-40B4-BE49-F238E27FC236}">
                <a16:creationId xmlns:a16="http://schemas.microsoft.com/office/drawing/2014/main" id="{0AD542F8-29F7-9D1F-93F4-8F16D14ECF8C}"/>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40E0AF30-10D9-9385-7F14-50B730457449}"/>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7" name="Picture 6">
            <a:extLst>
              <a:ext uri="{FF2B5EF4-FFF2-40B4-BE49-F238E27FC236}">
                <a16:creationId xmlns:a16="http://schemas.microsoft.com/office/drawing/2014/main" id="{CF19D561-F1D7-1D2C-D0F3-9BCEBA658CD9}"/>
              </a:ext>
            </a:extLst>
          </p:cNvPr>
          <p:cNvPicPr>
            <a:picLocks noChangeAspect="1"/>
          </p:cNvPicPr>
          <p:nvPr/>
        </p:nvPicPr>
        <p:blipFill>
          <a:blip r:embed="rId2"/>
          <a:stretch>
            <a:fillRect/>
          </a:stretch>
        </p:blipFill>
        <p:spPr>
          <a:xfrm>
            <a:off x="1752600" y="1194594"/>
            <a:ext cx="4410075" cy="3419475"/>
          </a:xfrm>
          <a:prstGeom prst="rect">
            <a:avLst/>
          </a:prstGeom>
        </p:spPr>
      </p:pic>
    </p:spTree>
    <p:extLst>
      <p:ext uri="{BB962C8B-B14F-4D97-AF65-F5344CB8AC3E}">
        <p14:creationId xmlns:p14="http://schemas.microsoft.com/office/powerpoint/2010/main" val="16333930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3B1A-414C-AB3C-CDE6-67E40BF0017A}"/>
              </a:ext>
            </a:extLst>
          </p:cNvPr>
          <p:cNvSpPr>
            <a:spLocks noGrp="1"/>
          </p:cNvSpPr>
          <p:nvPr>
            <p:ph type="title"/>
          </p:nvPr>
        </p:nvSpPr>
        <p:spPr/>
        <p:txBody>
          <a:bodyPr/>
          <a:lstStyle/>
          <a:p>
            <a:r>
              <a:rPr lang="en-IN" b="0" i="0" dirty="0">
                <a:solidFill>
                  <a:srgbClr val="273239"/>
                </a:solidFill>
                <a:effectLst/>
                <a:latin typeface="Nunito" pitchFamily="2" charset="0"/>
              </a:rPr>
              <a:t> </a:t>
            </a:r>
            <a:r>
              <a:rPr lang="en-IN" b="1" i="0" dirty="0">
                <a:solidFill>
                  <a:srgbClr val="273239"/>
                </a:solidFill>
                <a:effectLst/>
                <a:latin typeface="Nunito" pitchFamily="2" charset="0"/>
              </a:rPr>
              <a:t>Multilayer feed-forward network</a:t>
            </a:r>
            <a:r>
              <a:rPr lang="en-IN" b="0" i="0" dirty="0">
                <a:solidFill>
                  <a:srgbClr val="273239"/>
                </a:solidFill>
                <a:effectLst/>
                <a:latin typeface="Nunito" pitchFamily="2" charset="0"/>
              </a:rPr>
              <a:t> </a:t>
            </a:r>
            <a:endParaRPr lang="en-IN" dirty="0"/>
          </a:p>
        </p:txBody>
      </p:sp>
      <p:sp>
        <p:nvSpPr>
          <p:cNvPr id="3" name="Content Placeholder 2">
            <a:extLst>
              <a:ext uri="{FF2B5EF4-FFF2-40B4-BE49-F238E27FC236}">
                <a16:creationId xmlns:a16="http://schemas.microsoft.com/office/drawing/2014/main" id="{42400AE6-B05A-027F-ADC2-AAED8C8D063C}"/>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96B955FF-0389-1163-88A9-82FA6A88D0EF}"/>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1026" name="Picture 2">
            <a:extLst>
              <a:ext uri="{FF2B5EF4-FFF2-40B4-BE49-F238E27FC236}">
                <a16:creationId xmlns:a16="http://schemas.microsoft.com/office/drawing/2014/main" id="{95F4BEF2-366D-FC5E-B602-26E3C9EBBC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51857"/>
            <a:ext cx="7058025"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0143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37D87-12F3-02C7-23A9-56E893F29000}"/>
              </a:ext>
            </a:extLst>
          </p:cNvPr>
          <p:cNvSpPr>
            <a:spLocks noGrp="1"/>
          </p:cNvSpPr>
          <p:nvPr>
            <p:ph type="title"/>
          </p:nvPr>
        </p:nvSpPr>
        <p:spPr/>
        <p:txBody>
          <a:bodyPr/>
          <a:lstStyle/>
          <a:p>
            <a:r>
              <a:rPr lang="en-US" b="1" i="0" dirty="0">
                <a:solidFill>
                  <a:srgbClr val="273239"/>
                </a:solidFill>
                <a:effectLst/>
                <a:latin typeface="Nunito" pitchFamily="2" charset="0"/>
              </a:rPr>
              <a:t>Single node with its own feedback</a:t>
            </a:r>
            <a:r>
              <a:rPr lang="en-US" b="0" i="0" dirty="0">
                <a:solidFill>
                  <a:srgbClr val="273239"/>
                </a:solidFill>
                <a:effectLst/>
                <a:latin typeface="Nunito" pitchFamily="2" charset="0"/>
              </a:rPr>
              <a:t> </a:t>
            </a:r>
            <a:endParaRPr lang="en-IN" dirty="0"/>
          </a:p>
        </p:txBody>
      </p:sp>
      <p:sp>
        <p:nvSpPr>
          <p:cNvPr id="3" name="Content Placeholder 2">
            <a:extLst>
              <a:ext uri="{FF2B5EF4-FFF2-40B4-BE49-F238E27FC236}">
                <a16:creationId xmlns:a16="http://schemas.microsoft.com/office/drawing/2014/main" id="{FAB56D59-2F88-4BEB-ABEA-3F14A3AD5B76}"/>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CCF2FCDE-5087-3880-FBD2-C40F1E427A91}"/>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7" name="Picture 6">
            <a:extLst>
              <a:ext uri="{FF2B5EF4-FFF2-40B4-BE49-F238E27FC236}">
                <a16:creationId xmlns:a16="http://schemas.microsoft.com/office/drawing/2014/main" id="{B11272FF-BA5D-D9D0-1171-7438CFC50957}"/>
              </a:ext>
            </a:extLst>
          </p:cNvPr>
          <p:cNvPicPr>
            <a:picLocks noChangeAspect="1"/>
          </p:cNvPicPr>
          <p:nvPr/>
        </p:nvPicPr>
        <p:blipFill>
          <a:blip r:embed="rId2"/>
          <a:stretch>
            <a:fillRect/>
          </a:stretch>
        </p:blipFill>
        <p:spPr>
          <a:xfrm>
            <a:off x="2057400" y="1428750"/>
            <a:ext cx="4343400" cy="2305050"/>
          </a:xfrm>
          <a:prstGeom prst="rect">
            <a:avLst/>
          </a:prstGeom>
        </p:spPr>
      </p:pic>
    </p:spTree>
    <p:extLst>
      <p:ext uri="{BB962C8B-B14F-4D97-AF65-F5344CB8AC3E}">
        <p14:creationId xmlns:p14="http://schemas.microsoft.com/office/powerpoint/2010/main" val="832017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7784-06DA-48B1-5F44-EFC3BFF2240E}"/>
              </a:ext>
            </a:extLst>
          </p:cNvPr>
          <p:cNvSpPr>
            <a:spLocks noGrp="1"/>
          </p:cNvSpPr>
          <p:nvPr>
            <p:ph type="title"/>
          </p:nvPr>
        </p:nvSpPr>
        <p:spPr/>
        <p:txBody>
          <a:bodyPr/>
          <a:lstStyle/>
          <a:p>
            <a:r>
              <a:rPr lang="en-IN" b="1" i="0" dirty="0">
                <a:solidFill>
                  <a:srgbClr val="273239"/>
                </a:solidFill>
                <a:effectLst/>
                <a:latin typeface="Nunito" pitchFamily="2" charset="0"/>
              </a:rPr>
              <a:t>Single-layer recurrent network</a:t>
            </a:r>
            <a:r>
              <a:rPr lang="en-IN" b="0" i="0" dirty="0">
                <a:solidFill>
                  <a:srgbClr val="273239"/>
                </a:solidFill>
                <a:effectLst/>
                <a:latin typeface="Nunito" pitchFamily="2" charset="0"/>
              </a:rPr>
              <a:t> </a:t>
            </a:r>
            <a:endParaRPr lang="en-IN" dirty="0"/>
          </a:p>
        </p:txBody>
      </p:sp>
      <p:sp>
        <p:nvSpPr>
          <p:cNvPr id="3" name="Content Placeholder 2">
            <a:extLst>
              <a:ext uri="{FF2B5EF4-FFF2-40B4-BE49-F238E27FC236}">
                <a16:creationId xmlns:a16="http://schemas.microsoft.com/office/drawing/2014/main" id="{AC1425CB-D3DA-732E-7CBB-4CC0EBF6BA5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006E1870-DD61-510E-0F54-29667EF19686}"/>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7" name="Picture 6">
            <a:extLst>
              <a:ext uri="{FF2B5EF4-FFF2-40B4-BE49-F238E27FC236}">
                <a16:creationId xmlns:a16="http://schemas.microsoft.com/office/drawing/2014/main" id="{DD663C02-3030-B3E4-4A7D-925E6493F34A}"/>
              </a:ext>
            </a:extLst>
          </p:cNvPr>
          <p:cNvPicPr>
            <a:picLocks noChangeAspect="1"/>
          </p:cNvPicPr>
          <p:nvPr/>
        </p:nvPicPr>
        <p:blipFill>
          <a:blip r:embed="rId2"/>
          <a:stretch>
            <a:fillRect/>
          </a:stretch>
        </p:blipFill>
        <p:spPr>
          <a:xfrm>
            <a:off x="1408339" y="1240971"/>
            <a:ext cx="6124575" cy="4829175"/>
          </a:xfrm>
          <a:prstGeom prst="rect">
            <a:avLst/>
          </a:prstGeom>
        </p:spPr>
      </p:pic>
    </p:spTree>
    <p:extLst>
      <p:ext uri="{BB962C8B-B14F-4D97-AF65-F5344CB8AC3E}">
        <p14:creationId xmlns:p14="http://schemas.microsoft.com/office/powerpoint/2010/main" val="2147738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8D074-FFCD-7B50-39A4-0BEAA251B860}"/>
              </a:ext>
            </a:extLst>
          </p:cNvPr>
          <p:cNvSpPr>
            <a:spLocks noGrp="1"/>
          </p:cNvSpPr>
          <p:nvPr>
            <p:ph type="title"/>
          </p:nvPr>
        </p:nvSpPr>
        <p:spPr/>
        <p:txBody>
          <a:bodyPr/>
          <a:lstStyle/>
          <a:p>
            <a:r>
              <a:rPr lang="en-IN" b="1" i="0" dirty="0">
                <a:solidFill>
                  <a:srgbClr val="273239"/>
                </a:solidFill>
                <a:effectLst/>
                <a:latin typeface="Nunito" pitchFamily="2" charset="0"/>
              </a:rPr>
              <a:t>Multilayer recurrent network</a:t>
            </a:r>
            <a:r>
              <a:rPr lang="en-IN" b="0" i="0" dirty="0">
                <a:solidFill>
                  <a:srgbClr val="273239"/>
                </a:solidFill>
                <a:effectLst/>
                <a:latin typeface="Nunito" pitchFamily="2" charset="0"/>
              </a:rPr>
              <a:t> </a:t>
            </a:r>
            <a:endParaRPr lang="en-IN" dirty="0"/>
          </a:p>
        </p:txBody>
      </p:sp>
      <p:pic>
        <p:nvPicPr>
          <p:cNvPr id="7" name="Content Placeholder 6">
            <a:extLst>
              <a:ext uri="{FF2B5EF4-FFF2-40B4-BE49-F238E27FC236}">
                <a16:creationId xmlns:a16="http://schemas.microsoft.com/office/drawing/2014/main" id="{E00D46B8-C035-71AA-D4A2-81FAEF2626AD}"/>
              </a:ext>
            </a:extLst>
          </p:cNvPr>
          <p:cNvPicPr>
            <a:picLocks noGrp="1" noChangeAspect="1"/>
          </p:cNvPicPr>
          <p:nvPr>
            <p:ph idx="1"/>
          </p:nvPr>
        </p:nvPicPr>
        <p:blipFill>
          <a:blip r:embed="rId2"/>
          <a:stretch>
            <a:fillRect/>
          </a:stretch>
        </p:blipFill>
        <p:spPr>
          <a:xfrm>
            <a:off x="609600" y="1219200"/>
            <a:ext cx="8001000" cy="3722204"/>
          </a:xfrm>
          <a:prstGeom prst="rect">
            <a:avLst/>
          </a:prstGeom>
        </p:spPr>
      </p:pic>
      <p:sp>
        <p:nvSpPr>
          <p:cNvPr id="6" name="Slide Number Placeholder 5">
            <a:extLst>
              <a:ext uri="{FF2B5EF4-FFF2-40B4-BE49-F238E27FC236}">
                <a16:creationId xmlns:a16="http://schemas.microsoft.com/office/drawing/2014/main" id="{25A6D986-A13B-EA22-8BC5-66EB7894D9C9}"/>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21212440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B17C4-DE18-6517-9C99-98A5A3334FC0}"/>
              </a:ext>
            </a:extLst>
          </p:cNvPr>
          <p:cNvSpPr>
            <a:spLocks noGrp="1"/>
          </p:cNvSpPr>
          <p:nvPr>
            <p:ph type="title"/>
          </p:nvPr>
        </p:nvSpPr>
        <p:spPr/>
        <p:txBody>
          <a:bodyPr/>
          <a:lstStyle/>
          <a:p>
            <a:r>
              <a:rPr lang="en-IN" dirty="0"/>
              <a:t>2. Learning</a:t>
            </a:r>
          </a:p>
        </p:txBody>
      </p:sp>
      <p:sp>
        <p:nvSpPr>
          <p:cNvPr id="3" name="Content Placeholder 2">
            <a:extLst>
              <a:ext uri="{FF2B5EF4-FFF2-40B4-BE49-F238E27FC236}">
                <a16:creationId xmlns:a16="http://schemas.microsoft.com/office/drawing/2014/main" id="{0D0D20F1-726E-AC28-46CC-2E560704C1AA}"/>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A72F4DEF-6E98-CCE7-ACD4-66AF3B5C74D8}"/>
              </a:ext>
            </a:extLst>
          </p:cNvPr>
          <p:cNvSpPr>
            <a:spLocks noGrp="1"/>
          </p:cNvSpPr>
          <p:nvPr>
            <p:ph type="sldNum" sz="quarter" idx="12"/>
          </p:nvPr>
        </p:nvSpPr>
        <p:spPr/>
        <p:txBody>
          <a:bodyPr/>
          <a:lstStyle/>
          <a:p>
            <a:fld id="{BB2CE0DE-867F-455F-B20B-96D381B4AB71}" type="slidenum">
              <a:rPr lang="en-US" smtClean="0"/>
              <a:t>50</a:t>
            </a:fld>
            <a:endParaRPr lang="en-US"/>
          </a:p>
        </p:txBody>
      </p:sp>
      <p:pic>
        <p:nvPicPr>
          <p:cNvPr id="8" name="Picture 7">
            <a:extLst>
              <a:ext uri="{FF2B5EF4-FFF2-40B4-BE49-F238E27FC236}">
                <a16:creationId xmlns:a16="http://schemas.microsoft.com/office/drawing/2014/main" id="{366159F5-D9EF-9BCF-FC6E-F792AAE5D074}"/>
              </a:ext>
            </a:extLst>
          </p:cNvPr>
          <p:cNvPicPr>
            <a:picLocks noChangeAspect="1"/>
          </p:cNvPicPr>
          <p:nvPr/>
        </p:nvPicPr>
        <p:blipFill>
          <a:blip r:embed="rId2"/>
          <a:stretch>
            <a:fillRect/>
          </a:stretch>
        </p:blipFill>
        <p:spPr>
          <a:xfrm>
            <a:off x="304800" y="1219200"/>
            <a:ext cx="9144000" cy="4101483"/>
          </a:xfrm>
          <a:prstGeom prst="rect">
            <a:avLst/>
          </a:prstGeom>
        </p:spPr>
      </p:pic>
    </p:spTree>
    <p:extLst>
      <p:ext uri="{BB962C8B-B14F-4D97-AF65-F5344CB8AC3E}">
        <p14:creationId xmlns:p14="http://schemas.microsoft.com/office/powerpoint/2010/main" val="15380011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D96-012C-185F-D811-ED28BD449BF0}"/>
              </a:ext>
            </a:extLst>
          </p:cNvPr>
          <p:cNvSpPr>
            <a:spLocks noGrp="1"/>
          </p:cNvSpPr>
          <p:nvPr>
            <p:ph type="title"/>
          </p:nvPr>
        </p:nvSpPr>
        <p:spPr/>
        <p:txBody>
          <a:bodyPr/>
          <a:lstStyle/>
          <a:p>
            <a:r>
              <a:rPr lang="en-IN" dirty="0"/>
              <a:t>3. Activation functions</a:t>
            </a:r>
          </a:p>
        </p:txBody>
      </p:sp>
      <p:sp>
        <p:nvSpPr>
          <p:cNvPr id="3" name="Content Placeholder 2">
            <a:extLst>
              <a:ext uri="{FF2B5EF4-FFF2-40B4-BE49-F238E27FC236}">
                <a16:creationId xmlns:a16="http://schemas.microsoft.com/office/drawing/2014/main" id="{21DAFD2D-42FB-E537-98C8-65D4E8EA3B12}"/>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1A59343E-1B2F-D5B4-2E29-B72502F17698}"/>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8" name="Picture 7">
            <a:extLst>
              <a:ext uri="{FF2B5EF4-FFF2-40B4-BE49-F238E27FC236}">
                <a16:creationId xmlns:a16="http://schemas.microsoft.com/office/drawing/2014/main" id="{569BB0CD-0DDB-6D1C-819F-711663C9EA90}"/>
              </a:ext>
            </a:extLst>
          </p:cNvPr>
          <p:cNvPicPr>
            <a:picLocks noChangeAspect="1"/>
          </p:cNvPicPr>
          <p:nvPr/>
        </p:nvPicPr>
        <p:blipFill>
          <a:blip r:embed="rId2"/>
          <a:stretch>
            <a:fillRect/>
          </a:stretch>
        </p:blipFill>
        <p:spPr>
          <a:xfrm>
            <a:off x="88659" y="1219200"/>
            <a:ext cx="8957158" cy="3653015"/>
          </a:xfrm>
          <a:prstGeom prst="rect">
            <a:avLst/>
          </a:prstGeom>
        </p:spPr>
      </p:pic>
    </p:spTree>
    <p:extLst>
      <p:ext uri="{BB962C8B-B14F-4D97-AF65-F5344CB8AC3E}">
        <p14:creationId xmlns:p14="http://schemas.microsoft.com/office/powerpoint/2010/main" val="769675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04515-7B4C-564A-5263-3A351286A237}"/>
              </a:ext>
            </a:extLst>
          </p:cNvPr>
          <p:cNvSpPr>
            <a:spLocks noGrp="1"/>
          </p:cNvSpPr>
          <p:nvPr>
            <p:ph type="title"/>
          </p:nvPr>
        </p:nvSpPr>
        <p:spPr/>
        <p:txBody>
          <a:bodyPr/>
          <a:lstStyle/>
          <a:p>
            <a:r>
              <a:rPr lang="en-IN" dirty="0"/>
              <a:t>3. Activation function</a:t>
            </a:r>
          </a:p>
        </p:txBody>
      </p:sp>
      <p:sp>
        <p:nvSpPr>
          <p:cNvPr id="3" name="Content Placeholder 2">
            <a:extLst>
              <a:ext uri="{FF2B5EF4-FFF2-40B4-BE49-F238E27FC236}">
                <a16:creationId xmlns:a16="http://schemas.microsoft.com/office/drawing/2014/main" id="{45D3E93F-F0BC-F218-5FC0-5F7EA287835E}"/>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15175E7B-4F49-C8F9-6A7A-306C6E2C1CE0}"/>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8" name="Picture 7">
            <a:extLst>
              <a:ext uri="{FF2B5EF4-FFF2-40B4-BE49-F238E27FC236}">
                <a16:creationId xmlns:a16="http://schemas.microsoft.com/office/drawing/2014/main" id="{0676B387-F1FA-E557-1D40-01A3B72A6A72}"/>
              </a:ext>
            </a:extLst>
          </p:cNvPr>
          <p:cNvPicPr>
            <a:picLocks noChangeAspect="1"/>
          </p:cNvPicPr>
          <p:nvPr/>
        </p:nvPicPr>
        <p:blipFill>
          <a:blip r:embed="rId2"/>
          <a:stretch>
            <a:fillRect/>
          </a:stretch>
        </p:blipFill>
        <p:spPr>
          <a:xfrm>
            <a:off x="152400" y="1219200"/>
            <a:ext cx="8771094" cy="3621936"/>
          </a:xfrm>
          <a:prstGeom prst="rect">
            <a:avLst/>
          </a:prstGeom>
        </p:spPr>
      </p:pic>
    </p:spTree>
    <p:extLst>
      <p:ext uri="{BB962C8B-B14F-4D97-AF65-F5344CB8AC3E}">
        <p14:creationId xmlns:p14="http://schemas.microsoft.com/office/powerpoint/2010/main" val="444984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FF94-A51A-3400-0079-C31492506C63}"/>
              </a:ext>
            </a:extLst>
          </p:cNvPr>
          <p:cNvSpPr>
            <a:spLocks noGrp="1"/>
          </p:cNvSpPr>
          <p:nvPr>
            <p:ph type="title"/>
          </p:nvPr>
        </p:nvSpPr>
        <p:spPr/>
        <p:txBody>
          <a:bodyPr/>
          <a:lstStyle/>
          <a:p>
            <a:r>
              <a:rPr lang="en-IN" dirty="0"/>
              <a:t>3. Activation function</a:t>
            </a:r>
          </a:p>
        </p:txBody>
      </p:sp>
      <p:sp>
        <p:nvSpPr>
          <p:cNvPr id="3" name="Content Placeholder 2">
            <a:extLst>
              <a:ext uri="{FF2B5EF4-FFF2-40B4-BE49-F238E27FC236}">
                <a16:creationId xmlns:a16="http://schemas.microsoft.com/office/drawing/2014/main" id="{FDB70E13-D6E0-73E8-91A2-7F0AD51DEC80}"/>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C5117183-DC80-C12E-6701-D0AF794064EE}"/>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8" name="Picture 7">
            <a:extLst>
              <a:ext uri="{FF2B5EF4-FFF2-40B4-BE49-F238E27FC236}">
                <a16:creationId xmlns:a16="http://schemas.microsoft.com/office/drawing/2014/main" id="{A73288E1-0FBB-8919-A748-892A826CC7D4}"/>
              </a:ext>
            </a:extLst>
          </p:cNvPr>
          <p:cNvPicPr>
            <a:picLocks noChangeAspect="1"/>
          </p:cNvPicPr>
          <p:nvPr/>
        </p:nvPicPr>
        <p:blipFill>
          <a:blip r:embed="rId2"/>
          <a:stretch>
            <a:fillRect/>
          </a:stretch>
        </p:blipFill>
        <p:spPr>
          <a:xfrm>
            <a:off x="32657" y="1065212"/>
            <a:ext cx="9144000" cy="3756501"/>
          </a:xfrm>
          <a:prstGeom prst="rect">
            <a:avLst/>
          </a:prstGeom>
        </p:spPr>
      </p:pic>
    </p:spTree>
    <p:extLst>
      <p:ext uri="{BB962C8B-B14F-4D97-AF65-F5344CB8AC3E}">
        <p14:creationId xmlns:p14="http://schemas.microsoft.com/office/powerpoint/2010/main" val="26120361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AD65D-4326-9324-2442-1D2D8A969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CE285-4A4B-4ACA-B69A-9CA2D9189DC8}"/>
              </a:ext>
            </a:extLst>
          </p:cNvPr>
          <p:cNvSpPr>
            <a:spLocks noGrp="1"/>
          </p:cNvSpPr>
          <p:nvPr>
            <p:ph type="title"/>
          </p:nvPr>
        </p:nvSpPr>
        <p:spPr/>
        <p:txBody>
          <a:bodyPr/>
          <a:lstStyle/>
          <a:p>
            <a:r>
              <a:rPr lang="en-IN" dirty="0"/>
              <a:t>3. Activation function</a:t>
            </a:r>
          </a:p>
        </p:txBody>
      </p:sp>
      <p:sp>
        <p:nvSpPr>
          <p:cNvPr id="3" name="Content Placeholder 2">
            <a:extLst>
              <a:ext uri="{FF2B5EF4-FFF2-40B4-BE49-F238E27FC236}">
                <a16:creationId xmlns:a16="http://schemas.microsoft.com/office/drawing/2014/main" id="{9E1902B2-E2AD-C061-901A-A7802E9178DF}"/>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CD0CB729-724C-F30E-59C0-21EFAFB38F76}"/>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8" name="Picture 7">
            <a:extLst>
              <a:ext uri="{FF2B5EF4-FFF2-40B4-BE49-F238E27FC236}">
                <a16:creationId xmlns:a16="http://schemas.microsoft.com/office/drawing/2014/main" id="{6353053F-03F4-8AF6-C028-60CFB2B77AE3}"/>
              </a:ext>
            </a:extLst>
          </p:cNvPr>
          <p:cNvPicPr>
            <a:picLocks noChangeAspect="1"/>
          </p:cNvPicPr>
          <p:nvPr/>
        </p:nvPicPr>
        <p:blipFill>
          <a:blip r:embed="rId2"/>
          <a:stretch>
            <a:fillRect/>
          </a:stretch>
        </p:blipFill>
        <p:spPr>
          <a:xfrm>
            <a:off x="-56696" y="1065212"/>
            <a:ext cx="9144000" cy="3668030"/>
          </a:xfrm>
          <a:prstGeom prst="rect">
            <a:avLst/>
          </a:prstGeom>
        </p:spPr>
      </p:pic>
    </p:spTree>
    <p:extLst>
      <p:ext uri="{BB962C8B-B14F-4D97-AF65-F5344CB8AC3E}">
        <p14:creationId xmlns:p14="http://schemas.microsoft.com/office/powerpoint/2010/main" val="33580241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8FBA-3D0E-5BD0-9521-FF5722AAF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6DE6C-E2B3-BB51-0D6B-7353435E3E6C}"/>
              </a:ext>
            </a:extLst>
          </p:cNvPr>
          <p:cNvSpPr>
            <a:spLocks noGrp="1"/>
          </p:cNvSpPr>
          <p:nvPr>
            <p:ph type="title"/>
          </p:nvPr>
        </p:nvSpPr>
        <p:spPr/>
        <p:txBody>
          <a:bodyPr/>
          <a:lstStyle/>
          <a:p>
            <a:r>
              <a:rPr lang="en-IN" dirty="0"/>
              <a:t>3. Activation function</a:t>
            </a:r>
          </a:p>
        </p:txBody>
      </p:sp>
      <p:sp>
        <p:nvSpPr>
          <p:cNvPr id="3" name="Content Placeholder 2">
            <a:extLst>
              <a:ext uri="{FF2B5EF4-FFF2-40B4-BE49-F238E27FC236}">
                <a16:creationId xmlns:a16="http://schemas.microsoft.com/office/drawing/2014/main" id="{53D660AF-BA73-FEF1-E785-9A56ED902ABE}"/>
              </a:ext>
            </a:extLst>
          </p:cNvPr>
          <p:cNvSpPr>
            <a:spLocks noGrp="1"/>
          </p:cNvSpPr>
          <p:nvPr>
            <p:ph idx="1"/>
          </p:nvPr>
        </p:nvSpPr>
        <p:spPr>
          <a:xfrm>
            <a:off x="533400" y="1240413"/>
            <a:ext cx="8001000" cy="5029200"/>
          </a:xfrm>
        </p:spPr>
        <p:txBody>
          <a:bodyPr/>
          <a:lstStyle/>
          <a:p>
            <a:pPr marL="0" indent="0" algn="just">
              <a:buNone/>
            </a:pPr>
            <a:r>
              <a:rPr lang="en-IN" sz="2000" dirty="0"/>
              <a:t>Sigmoid activation function: </a:t>
            </a:r>
            <a:r>
              <a:rPr lang="en-US" sz="2000" b="0" i="0" dirty="0">
                <a:solidFill>
                  <a:srgbClr val="273239"/>
                </a:solidFill>
                <a:effectLst/>
                <a:latin typeface="Nunito" pitchFamily="2" charset="0"/>
              </a:rPr>
              <a:t>The </a:t>
            </a:r>
            <a:r>
              <a:rPr lang="en-US" sz="2000" b="1" i="0" dirty="0">
                <a:solidFill>
                  <a:srgbClr val="273239"/>
                </a:solidFill>
                <a:effectLst/>
                <a:latin typeface="Nunito" pitchFamily="2" charset="0"/>
              </a:rPr>
              <a:t>sigmoid function</a:t>
            </a:r>
            <a:r>
              <a:rPr lang="en-US" sz="2000" b="0" i="0" dirty="0">
                <a:solidFill>
                  <a:srgbClr val="273239"/>
                </a:solidFill>
                <a:effectLst/>
                <a:latin typeface="Nunito" pitchFamily="2" charset="0"/>
              </a:rPr>
              <a:t> is one of the earliest activation functions used in neural networks. It is defined as:</a:t>
            </a:r>
            <a:endParaRPr lang="en-IN" sz="2000" dirty="0"/>
          </a:p>
          <a:p>
            <a:pPr marL="0" indent="0" algn="just">
              <a:buNone/>
            </a:pPr>
            <a:endParaRPr lang="en-IN" sz="2000" dirty="0"/>
          </a:p>
        </p:txBody>
      </p:sp>
      <p:sp>
        <p:nvSpPr>
          <p:cNvPr id="6" name="Slide Number Placeholder 5">
            <a:extLst>
              <a:ext uri="{FF2B5EF4-FFF2-40B4-BE49-F238E27FC236}">
                <a16:creationId xmlns:a16="http://schemas.microsoft.com/office/drawing/2014/main" id="{FE0E9756-0754-1FF0-3D4E-4C215A443F5D}"/>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7" name="Picture 6">
            <a:extLst>
              <a:ext uri="{FF2B5EF4-FFF2-40B4-BE49-F238E27FC236}">
                <a16:creationId xmlns:a16="http://schemas.microsoft.com/office/drawing/2014/main" id="{A9F2BB63-4013-8D4D-0466-6827DC91BF23}"/>
              </a:ext>
            </a:extLst>
          </p:cNvPr>
          <p:cNvPicPr>
            <a:picLocks noChangeAspect="1"/>
          </p:cNvPicPr>
          <p:nvPr/>
        </p:nvPicPr>
        <p:blipFill>
          <a:blip r:embed="rId2"/>
          <a:stretch>
            <a:fillRect/>
          </a:stretch>
        </p:blipFill>
        <p:spPr>
          <a:xfrm>
            <a:off x="138766" y="2333782"/>
            <a:ext cx="4891088" cy="3326789"/>
          </a:xfrm>
          <a:prstGeom prst="rect">
            <a:avLst/>
          </a:prstGeom>
        </p:spPr>
      </p:pic>
      <p:pic>
        <p:nvPicPr>
          <p:cNvPr id="10" name="Picture 9">
            <a:extLst>
              <a:ext uri="{FF2B5EF4-FFF2-40B4-BE49-F238E27FC236}">
                <a16:creationId xmlns:a16="http://schemas.microsoft.com/office/drawing/2014/main" id="{EBC2388D-3168-0B49-8906-D82A234CEE7D}"/>
              </a:ext>
            </a:extLst>
          </p:cNvPr>
          <p:cNvPicPr>
            <a:picLocks noChangeAspect="1"/>
          </p:cNvPicPr>
          <p:nvPr/>
        </p:nvPicPr>
        <p:blipFill>
          <a:blip r:embed="rId3"/>
          <a:stretch>
            <a:fillRect/>
          </a:stretch>
        </p:blipFill>
        <p:spPr>
          <a:xfrm>
            <a:off x="5122529" y="2590800"/>
            <a:ext cx="3453146" cy="2136677"/>
          </a:xfrm>
          <a:prstGeom prst="rect">
            <a:avLst/>
          </a:prstGeom>
        </p:spPr>
      </p:pic>
      <p:pic>
        <p:nvPicPr>
          <p:cNvPr id="11" name="Picture 10">
            <a:extLst>
              <a:ext uri="{FF2B5EF4-FFF2-40B4-BE49-F238E27FC236}">
                <a16:creationId xmlns:a16="http://schemas.microsoft.com/office/drawing/2014/main" id="{E22898DF-5492-3D14-4B5D-1BCE78CF6A88}"/>
              </a:ext>
            </a:extLst>
          </p:cNvPr>
          <p:cNvPicPr>
            <a:picLocks noChangeAspect="1"/>
          </p:cNvPicPr>
          <p:nvPr/>
        </p:nvPicPr>
        <p:blipFill>
          <a:blip r:embed="rId4"/>
          <a:stretch>
            <a:fillRect/>
          </a:stretch>
        </p:blipFill>
        <p:spPr>
          <a:xfrm>
            <a:off x="5103786" y="5598646"/>
            <a:ext cx="4185353" cy="311874"/>
          </a:xfrm>
          <a:prstGeom prst="rect">
            <a:avLst/>
          </a:prstGeom>
        </p:spPr>
      </p:pic>
    </p:spTree>
    <p:extLst>
      <p:ext uri="{BB962C8B-B14F-4D97-AF65-F5344CB8AC3E}">
        <p14:creationId xmlns:p14="http://schemas.microsoft.com/office/powerpoint/2010/main" val="1852664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55FB-B0FA-46E9-874F-D5FAFD8E28DD}"/>
              </a:ext>
            </a:extLst>
          </p:cNvPr>
          <p:cNvSpPr>
            <a:spLocks noGrp="1"/>
          </p:cNvSpPr>
          <p:nvPr>
            <p:ph type="title"/>
          </p:nvPr>
        </p:nvSpPr>
        <p:spPr/>
        <p:txBody>
          <a:bodyPr/>
          <a:lstStyle/>
          <a:p>
            <a:r>
              <a:rPr lang="en-IN" dirty="0"/>
              <a:t>Activation function</a:t>
            </a:r>
          </a:p>
        </p:txBody>
      </p:sp>
      <p:sp>
        <p:nvSpPr>
          <p:cNvPr id="3" name="Content Placeholder 2">
            <a:extLst>
              <a:ext uri="{FF2B5EF4-FFF2-40B4-BE49-F238E27FC236}">
                <a16:creationId xmlns:a16="http://schemas.microsoft.com/office/drawing/2014/main" id="{6E402FCC-4380-4092-A61A-A98EAF75F097}"/>
              </a:ext>
            </a:extLst>
          </p:cNvPr>
          <p:cNvSpPr>
            <a:spLocks noGrp="1"/>
          </p:cNvSpPr>
          <p:nvPr>
            <p:ph idx="1"/>
          </p:nvPr>
        </p:nvSpPr>
        <p:spPr/>
        <p:txBody>
          <a:bodyPr/>
          <a:lstStyle/>
          <a:p>
            <a:r>
              <a:rPr lang="en-US" sz="1600" dirty="0" err="1">
                <a:solidFill>
                  <a:srgbClr val="003300"/>
                </a:solidFill>
              </a:rPr>
              <a:t>Softmax</a:t>
            </a:r>
            <a:r>
              <a:rPr lang="en-US" sz="1600" dirty="0">
                <a:solidFill>
                  <a:srgbClr val="003300"/>
                </a:solidFill>
              </a:rPr>
              <a:t> is an activation function commonly used in neural networks for </a:t>
            </a:r>
            <a:r>
              <a:rPr lang="en-US" sz="1600" b="1" dirty="0">
                <a:solidFill>
                  <a:srgbClr val="003300"/>
                </a:solidFill>
              </a:rPr>
              <a:t>multi-classification</a:t>
            </a:r>
            <a:r>
              <a:rPr lang="en-US" sz="1600" dirty="0">
                <a:solidFill>
                  <a:srgbClr val="003300"/>
                </a:solidFill>
              </a:rPr>
              <a:t> problems.</a:t>
            </a:r>
          </a:p>
          <a:p>
            <a:r>
              <a:rPr lang="en-US" sz="1600" b="0" i="0" dirty="0" err="1">
                <a:solidFill>
                  <a:srgbClr val="003300"/>
                </a:solidFill>
                <a:effectLst/>
                <a:latin typeface="-apple-system"/>
              </a:rPr>
              <a:t>Softmax</a:t>
            </a:r>
            <a:r>
              <a:rPr lang="en-US" sz="1600" b="0" i="0" dirty="0">
                <a:solidFill>
                  <a:srgbClr val="003300"/>
                </a:solidFill>
                <a:effectLst/>
                <a:latin typeface="-apple-system"/>
              </a:rPr>
              <a:t> performs the following transform on </a:t>
            </a:r>
            <a:r>
              <a:rPr lang="en-US" sz="1600" b="0" dirty="0">
                <a:solidFill>
                  <a:srgbClr val="003300"/>
                </a:solidFill>
                <a:effectLst/>
                <a:latin typeface="KaTeX_Main"/>
              </a:rPr>
              <a:t>n</a:t>
            </a:r>
            <a:r>
              <a:rPr lang="en-US" sz="1600" b="0" i="0" dirty="0">
                <a:solidFill>
                  <a:srgbClr val="003300"/>
                </a:solidFill>
                <a:effectLst/>
                <a:latin typeface="-apple-system"/>
              </a:rPr>
              <a:t> numbers </a:t>
            </a:r>
            <a:r>
              <a:rPr lang="en-US" sz="1600" b="0" dirty="0">
                <a:solidFill>
                  <a:srgbClr val="003300"/>
                </a:solidFill>
                <a:effectLst/>
                <a:latin typeface="KaTeX_Main"/>
              </a:rPr>
              <a:t>x1…</a:t>
            </a:r>
            <a:r>
              <a:rPr lang="en-US" sz="1600" b="0" dirty="0" err="1">
                <a:solidFill>
                  <a:srgbClr val="003300"/>
                </a:solidFill>
                <a:effectLst/>
                <a:latin typeface="KaTeX_Main"/>
              </a:rPr>
              <a:t>xn</a:t>
            </a:r>
            <a:r>
              <a:rPr lang="en-US" sz="1600" b="0" dirty="0">
                <a:solidFill>
                  <a:srgbClr val="003300"/>
                </a:solidFill>
                <a:effectLst/>
                <a:latin typeface="KaTeX_Main"/>
              </a:rPr>
              <a:t>​</a:t>
            </a:r>
            <a:r>
              <a:rPr lang="en-US" sz="1600" b="0" i="0" dirty="0">
                <a:solidFill>
                  <a:srgbClr val="003300"/>
                </a:solidFill>
                <a:effectLst/>
                <a:latin typeface="-apple-system"/>
              </a:rPr>
              <a:t>:</a:t>
            </a:r>
          </a:p>
          <a:p>
            <a:endParaRPr lang="en-US" sz="1600" dirty="0">
              <a:solidFill>
                <a:srgbClr val="003300"/>
              </a:solidFill>
              <a:latin typeface="-apple-system"/>
            </a:endParaRPr>
          </a:p>
          <a:p>
            <a:endParaRPr lang="en-US" sz="1600" dirty="0">
              <a:solidFill>
                <a:srgbClr val="003300"/>
              </a:solidFill>
              <a:latin typeface="-apple-system"/>
            </a:endParaRPr>
          </a:p>
          <a:p>
            <a:endParaRPr lang="en-US" sz="1600" dirty="0">
              <a:solidFill>
                <a:srgbClr val="003300"/>
              </a:solidFill>
              <a:latin typeface="-apple-system"/>
            </a:endParaRPr>
          </a:p>
          <a:p>
            <a:r>
              <a:rPr lang="en-US" sz="1600" b="0" i="0" dirty="0">
                <a:solidFill>
                  <a:srgbClr val="003300"/>
                </a:solidFill>
                <a:effectLst/>
                <a:latin typeface="-apple-system"/>
              </a:rPr>
              <a:t>The outputs of the </a:t>
            </a:r>
            <a:r>
              <a:rPr lang="en-US" sz="1600" b="0" i="0" dirty="0" err="1">
                <a:solidFill>
                  <a:srgbClr val="003300"/>
                </a:solidFill>
                <a:effectLst/>
                <a:latin typeface="-apple-system"/>
              </a:rPr>
              <a:t>Softmax</a:t>
            </a:r>
            <a:r>
              <a:rPr lang="en-US" sz="1600" b="0" i="0" dirty="0">
                <a:solidFill>
                  <a:srgbClr val="003300"/>
                </a:solidFill>
                <a:effectLst/>
                <a:latin typeface="-apple-system"/>
              </a:rPr>
              <a:t> transform are always in the range </a:t>
            </a:r>
            <a:r>
              <a:rPr lang="en-US" sz="1600" b="0" dirty="0">
                <a:solidFill>
                  <a:srgbClr val="003300"/>
                </a:solidFill>
                <a:effectLst/>
                <a:latin typeface="KaTeX_Main"/>
              </a:rPr>
              <a:t>[0,1][0,1]</a:t>
            </a:r>
            <a:r>
              <a:rPr lang="en-US" sz="1600" b="0" i="0" dirty="0">
                <a:solidFill>
                  <a:srgbClr val="003300"/>
                </a:solidFill>
                <a:effectLst/>
                <a:latin typeface="-apple-system"/>
              </a:rPr>
              <a:t> and add up to 1. Hence, they form a </a:t>
            </a:r>
            <a:r>
              <a:rPr lang="en-US" sz="1600" b="1" i="0" dirty="0">
                <a:solidFill>
                  <a:srgbClr val="003300"/>
                </a:solidFill>
                <a:effectLst/>
                <a:latin typeface="-apple-system"/>
              </a:rPr>
              <a:t>probability distribution</a:t>
            </a:r>
            <a:r>
              <a:rPr lang="en-US" sz="1600" b="0" i="0" dirty="0">
                <a:solidFill>
                  <a:srgbClr val="003300"/>
                </a:solidFill>
                <a:effectLst/>
                <a:latin typeface="-apple-system"/>
              </a:rPr>
              <a:t>.</a:t>
            </a:r>
            <a:endParaRPr lang="en-IN" sz="2800" dirty="0">
              <a:solidFill>
                <a:srgbClr val="003300"/>
              </a:solidFill>
            </a:endParaRPr>
          </a:p>
        </p:txBody>
      </p:sp>
      <p:sp>
        <p:nvSpPr>
          <p:cNvPr id="6" name="Slide Number Placeholder 5">
            <a:extLst>
              <a:ext uri="{FF2B5EF4-FFF2-40B4-BE49-F238E27FC236}">
                <a16:creationId xmlns:a16="http://schemas.microsoft.com/office/drawing/2014/main" id="{D95FAEA4-F730-48E8-BA1E-554759D4613E}"/>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8" name="Picture 7">
            <a:extLst>
              <a:ext uri="{FF2B5EF4-FFF2-40B4-BE49-F238E27FC236}">
                <a16:creationId xmlns:a16="http://schemas.microsoft.com/office/drawing/2014/main" id="{8DAD4D30-20C3-435D-A66F-B29FC5D87466}"/>
              </a:ext>
            </a:extLst>
          </p:cNvPr>
          <p:cNvPicPr>
            <a:picLocks noChangeAspect="1"/>
          </p:cNvPicPr>
          <p:nvPr/>
        </p:nvPicPr>
        <p:blipFill>
          <a:blip r:embed="rId2"/>
          <a:stretch>
            <a:fillRect/>
          </a:stretch>
        </p:blipFill>
        <p:spPr>
          <a:xfrm>
            <a:off x="2819401" y="2057400"/>
            <a:ext cx="1600200" cy="749227"/>
          </a:xfrm>
          <a:prstGeom prst="rect">
            <a:avLst/>
          </a:prstGeom>
        </p:spPr>
      </p:pic>
    </p:spTree>
    <p:extLst>
      <p:ext uri="{BB962C8B-B14F-4D97-AF65-F5344CB8AC3E}">
        <p14:creationId xmlns:p14="http://schemas.microsoft.com/office/powerpoint/2010/main" val="2636978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5B628-4D7E-28B4-348F-942454D3E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1D3ED-3843-6AE5-7B6D-ED80C94D2350}"/>
              </a:ext>
            </a:extLst>
          </p:cNvPr>
          <p:cNvSpPr>
            <a:spLocks noGrp="1"/>
          </p:cNvSpPr>
          <p:nvPr>
            <p:ph type="title"/>
          </p:nvPr>
        </p:nvSpPr>
        <p:spPr/>
        <p:txBody>
          <a:bodyPr/>
          <a:lstStyle/>
          <a:p>
            <a:r>
              <a:rPr lang="en-IN" dirty="0"/>
              <a:t>Problem</a:t>
            </a:r>
          </a:p>
        </p:txBody>
      </p:sp>
      <p:sp>
        <p:nvSpPr>
          <p:cNvPr id="3" name="Content Placeholder 2">
            <a:extLst>
              <a:ext uri="{FF2B5EF4-FFF2-40B4-BE49-F238E27FC236}">
                <a16:creationId xmlns:a16="http://schemas.microsoft.com/office/drawing/2014/main" id="{0782AC7E-9D2E-3CB3-48B4-74FCA0BD546B}"/>
              </a:ext>
            </a:extLst>
          </p:cNvPr>
          <p:cNvSpPr>
            <a:spLocks noGrp="1"/>
          </p:cNvSpPr>
          <p:nvPr>
            <p:ph idx="1"/>
          </p:nvPr>
        </p:nvSpPr>
        <p:spPr/>
        <p:txBody>
          <a:bodyPr/>
          <a:lstStyle/>
          <a:p>
            <a:pPr marL="0" indent="0">
              <a:buNone/>
            </a:pPr>
            <a:r>
              <a:rPr lang="en-IN" sz="2400" dirty="0"/>
              <a:t>Apply Sigmoid activation function by considering the following single-layer neural network and find its output.</a:t>
            </a:r>
          </a:p>
        </p:txBody>
      </p:sp>
      <p:sp>
        <p:nvSpPr>
          <p:cNvPr id="6" name="Slide Number Placeholder 5">
            <a:extLst>
              <a:ext uri="{FF2B5EF4-FFF2-40B4-BE49-F238E27FC236}">
                <a16:creationId xmlns:a16="http://schemas.microsoft.com/office/drawing/2014/main" id="{71406B61-6711-BDE0-64EF-9754342E137E}"/>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10" name="Picture 9">
            <a:extLst>
              <a:ext uri="{FF2B5EF4-FFF2-40B4-BE49-F238E27FC236}">
                <a16:creationId xmlns:a16="http://schemas.microsoft.com/office/drawing/2014/main" id="{E91D6588-1DD8-92D7-8C06-6C85444F6660}"/>
              </a:ext>
            </a:extLst>
          </p:cNvPr>
          <p:cNvPicPr>
            <a:picLocks noChangeAspect="1"/>
          </p:cNvPicPr>
          <p:nvPr/>
        </p:nvPicPr>
        <p:blipFill>
          <a:blip r:embed="rId2"/>
          <a:stretch>
            <a:fillRect/>
          </a:stretch>
        </p:blipFill>
        <p:spPr>
          <a:xfrm>
            <a:off x="4095407" y="2133600"/>
            <a:ext cx="4915586" cy="3000794"/>
          </a:xfrm>
          <a:prstGeom prst="rect">
            <a:avLst/>
          </a:prstGeom>
        </p:spPr>
      </p:pic>
    </p:spTree>
    <p:extLst>
      <p:ext uri="{BB962C8B-B14F-4D97-AF65-F5344CB8AC3E}">
        <p14:creationId xmlns:p14="http://schemas.microsoft.com/office/powerpoint/2010/main" val="20290207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2B86E-7345-8CC2-041A-1D863102C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5D683-8783-37C0-91E2-CEE222F3C800}"/>
              </a:ext>
            </a:extLst>
          </p:cNvPr>
          <p:cNvSpPr>
            <a:spLocks noGrp="1"/>
          </p:cNvSpPr>
          <p:nvPr>
            <p:ph type="title"/>
          </p:nvPr>
        </p:nvSpPr>
        <p:spPr/>
        <p:txBody>
          <a:bodyPr/>
          <a:lstStyle/>
          <a:p>
            <a:r>
              <a:rPr lang="en-IN" dirty="0"/>
              <a:t>Problem</a:t>
            </a:r>
          </a:p>
        </p:txBody>
      </p:sp>
      <p:sp>
        <p:nvSpPr>
          <p:cNvPr id="3" name="Content Placeholder 2">
            <a:extLst>
              <a:ext uri="{FF2B5EF4-FFF2-40B4-BE49-F238E27FC236}">
                <a16:creationId xmlns:a16="http://schemas.microsoft.com/office/drawing/2014/main" id="{C244AC28-4BCA-7A6E-ACD0-8EA2A524DD9C}"/>
              </a:ext>
            </a:extLst>
          </p:cNvPr>
          <p:cNvSpPr>
            <a:spLocks noGrp="1"/>
          </p:cNvSpPr>
          <p:nvPr>
            <p:ph idx="1"/>
          </p:nvPr>
        </p:nvSpPr>
        <p:spPr/>
        <p:txBody>
          <a:bodyPr/>
          <a:lstStyle/>
          <a:p>
            <a:pPr marL="0" indent="0">
              <a:buNone/>
            </a:pPr>
            <a:r>
              <a:rPr lang="en-IN" sz="2400" dirty="0"/>
              <a:t>Apply Sigmoid activation consider the following single-layer neural network and find its output.</a:t>
            </a:r>
          </a:p>
        </p:txBody>
      </p:sp>
      <p:sp>
        <p:nvSpPr>
          <p:cNvPr id="6" name="Slide Number Placeholder 5">
            <a:extLst>
              <a:ext uri="{FF2B5EF4-FFF2-40B4-BE49-F238E27FC236}">
                <a16:creationId xmlns:a16="http://schemas.microsoft.com/office/drawing/2014/main" id="{3A500C15-C715-11A2-C008-CF3FB27120C7}"/>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8" name="Picture 7">
            <a:extLst>
              <a:ext uri="{FF2B5EF4-FFF2-40B4-BE49-F238E27FC236}">
                <a16:creationId xmlns:a16="http://schemas.microsoft.com/office/drawing/2014/main" id="{48F1F66F-AB97-E54B-71A0-A0A1C0A14CBA}"/>
              </a:ext>
            </a:extLst>
          </p:cNvPr>
          <p:cNvPicPr>
            <a:picLocks noChangeAspect="1"/>
          </p:cNvPicPr>
          <p:nvPr/>
        </p:nvPicPr>
        <p:blipFill>
          <a:blip r:embed="rId2"/>
          <a:stretch>
            <a:fillRect/>
          </a:stretch>
        </p:blipFill>
        <p:spPr>
          <a:xfrm>
            <a:off x="266580" y="5123099"/>
            <a:ext cx="3879360" cy="1372175"/>
          </a:xfrm>
          <a:prstGeom prst="rect">
            <a:avLst/>
          </a:prstGeom>
        </p:spPr>
      </p:pic>
      <p:pic>
        <p:nvPicPr>
          <p:cNvPr id="10" name="Picture 9">
            <a:extLst>
              <a:ext uri="{FF2B5EF4-FFF2-40B4-BE49-F238E27FC236}">
                <a16:creationId xmlns:a16="http://schemas.microsoft.com/office/drawing/2014/main" id="{3E3BD359-52ED-2760-4564-627E918D1070}"/>
              </a:ext>
            </a:extLst>
          </p:cNvPr>
          <p:cNvPicPr>
            <a:picLocks noChangeAspect="1"/>
          </p:cNvPicPr>
          <p:nvPr/>
        </p:nvPicPr>
        <p:blipFill>
          <a:blip r:embed="rId3"/>
          <a:stretch>
            <a:fillRect/>
          </a:stretch>
        </p:blipFill>
        <p:spPr>
          <a:xfrm>
            <a:off x="4248541" y="2122305"/>
            <a:ext cx="4915586" cy="3000794"/>
          </a:xfrm>
          <a:prstGeom prst="rect">
            <a:avLst/>
          </a:prstGeom>
        </p:spPr>
      </p:pic>
      <p:pic>
        <p:nvPicPr>
          <p:cNvPr id="12" name="Picture 11">
            <a:extLst>
              <a:ext uri="{FF2B5EF4-FFF2-40B4-BE49-F238E27FC236}">
                <a16:creationId xmlns:a16="http://schemas.microsoft.com/office/drawing/2014/main" id="{8BBA2262-BFBC-6EA0-9DB8-91F490C5036F}"/>
              </a:ext>
            </a:extLst>
          </p:cNvPr>
          <p:cNvPicPr>
            <a:picLocks noChangeAspect="1"/>
          </p:cNvPicPr>
          <p:nvPr/>
        </p:nvPicPr>
        <p:blipFill>
          <a:blip r:embed="rId4"/>
          <a:stretch>
            <a:fillRect/>
          </a:stretch>
        </p:blipFill>
        <p:spPr>
          <a:xfrm>
            <a:off x="78410" y="1974134"/>
            <a:ext cx="4067530" cy="2909731"/>
          </a:xfrm>
          <a:prstGeom prst="rect">
            <a:avLst/>
          </a:prstGeom>
        </p:spPr>
      </p:pic>
    </p:spTree>
    <p:extLst>
      <p:ext uri="{BB962C8B-B14F-4D97-AF65-F5344CB8AC3E}">
        <p14:creationId xmlns:p14="http://schemas.microsoft.com/office/powerpoint/2010/main" val="480199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55FB-B0FA-46E9-874F-D5FAFD8E28DD}"/>
              </a:ext>
            </a:extLst>
          </p:cNvPr>
          <p:cNvSpPr>
            <a:spLocks noGrp="1"/>
          </p:cNvSpPr>
          <p:nvPr>
            <p:ph type="title"/>
          </p:nvPr>
        </p:nvSpPr>
        <p:spPr/>
        <p:txBody>
          <a:bodyPr/>
          <a:lstStyle/>
          <a:p>
            <a:r>
              <a:rPr lang="en-IN" dirty="0"/>
              <a:t>Activation function</a:t>
            </a:r>
          </a:p>
        </p:txBody>
      </p:sp>
      <p:sp>
        <p:nvSpPr>
          <p:cNvPr id="3" name="Content Placeholder 2">
            <a:extLst>
              <a:ext uri="{FF2B5EF4-FFF2-40B4-BE49-F238E27FC236}">
                <a16:creationId xmlns:a16="http://schemas.microsoft.com/office/drawing/2014/main" id="{6E402FCC-4380-4092-A61A-A98EAF75F097}"/>
              </a:ext>
            </a:extLst>
          </p:cNvPr>
          <p:cNvSpPr>
            <a:spLocks noGrp="1"/>
          </p:cNvSpPr>
          <p:nvPr>
            <p:ph idx="1"/>
          </p:nvPr>
        </p:nvSpPr>
        <p:spPr/>
        <p:txBody>
          <a:bodyPr/>
          <a:lstStyle/>
          <a:p>
            <a:r>
              <a:rPr lang="en-US" sz="1600" dirty="0" err="1">
                <a:solidFill>
                  <a:srgbClr val="003300"/>
                </a:solidFill>
              </a:rPr>
              <a:t>Softmax</a:t>
            </a:r>
            <a:r>
              <a:rPr lang="en-US" sz="1600" dirty="0">
                <a:solidFill>
                  <a:srgbClr val="003300"/>
                </a:solidFill>
              </a:rPr>
              <a:t> is an activation function commonly used in neural networks for </a:t>
            </a:r>
            <a:r>
              <a:rPr lang="en-US" sz="1600" b="1" dirty="0">
                <a:solidFill>
                  <a:srgbClr val="003300"/>
                </a:solidFill>
              </a:rPr>
              <a:t>multi-classification</a:t>
            </a:r>
            <a:r>
              <a:rPr lang="en-US" sz="1600" dirty="0">
                <a:solidFill>
                  <a:srgbClr val="003300"/>
                </a:solidFill>
              </a:rPr>
              <a:t> problems.</a:t>
            </a:r>
          </a:p>
          <a:p>
            <a:r>
              <a:rPr lang="en-US" sz="1600" b="0" i="0" dirty="0" err="1">
                <a:solidFill>
                  <a:srgbClr val="003300"/>
                </a:solidFill>
                <a:effectLst/>
                <a:latin typeface="-apple-system"/>
              </a:rPr>
              <a:t>Softmax</a:t>
            </a:r>
            <a:r>
              <a:rPr lang="en-US" sz="1600" b="0" i="0" dirty="0">
                <a:solidFill>
                  <a:srgbClr val="003300"/>
                </a:solidFill>
                <a:effectLst/>
                <a:latin typeface="-apple-system"/>
              </a:rPr>
              <a:t> performs the following transform on </a:t>
            </a:r>
            <a:r>
              <a:rPr lang="en-US" sz="1600" b="0" dirty="0">
                <a:solidFill>
                  <a:srgbClr val="003300"/>
                </a:solidFill>
                <a:effectLst/>
                <a:latin typeface="KaTeX_Main"/>
              </a:rPr>
              <a:t>n</a:t>
            </a:r>
            <a:r>
              <a:rPr lang="en-US" sz="1600" b="0" i="0" dirty="0">
                <a:solidFill>
                  <a:srgbClr val="003300"/>
                </a:solidFill>
                <a:effectLst/>
                <a:latin typeface="-apple-system"/>
              </a:rPr>
              <a:t> numbers </a:t>
            </a:r>
            <a:r>
              <a:rPr lang="en-US" sz="1600" b="0" dirty="0">
                <a:solidFill>
                  <a:srgbClr val="003300"/>
                </a:solidFill>
                <a:effectLst/>
                <a:latin typeface="KaTeX_Main"/>
              </a:rPr>
              <a:t>x1…</a:t>
            </a:r>
            <a:r>
              <a:rPr lang="en-US" sz="1600" b="0" dirty="0" err="1">
                <a:solidFill>
                  <a:srgbClr val="003300"/>
                </a:solidFill>
                <a:effectLst/>
                <a:latin typeface="KaTeX_Main"/>
              </a:rPr>
              <a:t>xn</a:t>
            </a:r>
            <a:r>
              <a:rPr lang="en-US" sz="1600" b="0" dirty="0">
                <a:solidFill>
                  <a:srgbClr val="003300"/>
                </a:solidFill>
                <a:effectLst/>
                <a:latin typeface="KaTeX_Main"/>
              </a:rPr>
              <a:t>​</a:t>
            </a:r>
            <a:r>
              <a:rPr lang="en-US" sz="1600" b="0" i="0" dirty="0">
                <a:solidFill>
                  <a:srgbClr val="003300"/>
                </a:solidFill>
                <a:effectLst/>
                <a:latin typeface="-apple-system"/>
              </a:rPr>
              <a:t>:</a:t>
            </a:r>
          </a:p>
          <a:p>
            <a:endParaRPr lang="en-US" sz="1600" dirty="0">
              <a:solidFill>
                <a:srgbClr val="003300"/>
              </a:solidFill>
              <a:latin typeface="-apple-system"/>
            </a:endParaRPr>
          </a:p>
          <a:p>
            <a:endParaRPr lang="en-US" sz="1600" dirty="0">
              <a:solidFill>
                <a:srgbClr val="003300"/>
              </a:solidFill>
              <a:latin typeface="-apple-system"/>
            </a:endParaRPr>
          </a:p>
          <a:p>
            <a:endParaRPr lang="en-US" sz="1600" dirty="0">
              <a:solidFill>
                <a:srgbClr val="003300"/>
              </a:solidFill>
              <a:latin typeface="-apple-system"/>
            </a:endParaRPr>
          </a:p>
          <a:p>
            <a:r>
              <a:rPr lang="en-US" sz="1600" b="0" i="0" dirty="0">
                <a:solidFill>
                  <a:srgbClr val="003300"/>
                </a:solidFill>
                <a:effectLst/>
                <a:latin typeface="-apple-system"/>
              </a:rPr>
              <a:t>The outputs of the </a:t>
            </a:r>
            <a:r>
              <a:rPr lang="en-US" sz="1600" b="0" i="0" dirty="0" err="1">
                <a:solidFill>
                  <a:srgbClr val="003300"/>
                </a:solidFill>
                <a:effectLst/>
                <a:latin typeface="-apple-system"/>
              </a:rPr>
              <a:t>Softmax</a:t>
            </a:r>
            <a:r>
              <a:rPr lang="en-US" sz="1600" b="0" i="0" dirty="0">
                <a:solidFill>
                  <a:srgbClr val="003300"/>
                </a:solidFill>
                <a:effectLst/>
                <a:latin typeface="-apple-system"/>
              </a:rPr>
              <a:t> transform are always in the range </a:t>
            </a:r>
            <a:r>
              <a:rPr lang="en-US" sz="1600" b="0" dirty="0">
                <a:solidFill>
                  <a:srgbClr val="003300"/>
                </a:solidFill>
                <a:effectLst/>
                <a:latin typeface="KaTeX_Main"/>
              </a:rPr>
              <a:t>[0,1][0,1]</a:t>
            </a:r>
            <a:r>
              <a:rPr lang="en-US" sz="1600" b="0" i="0" dirty="0">
                <a:solidFill>
                  <a:srgbClr val="003300"/>
                </a:solidFill>
                <a:effectLst/>
                <a:latin typeface="-apple-system"/>
              </a:rPr>
              <a:t> and add up to 1. Hence, they form a </a:t>
            </a:r>
            <a:r>
              <a:rPr lang="en-US" sz="1600" b="1" i="0" dirty="0">
                <a:solidFill>
                  <a:srgbClr val="003300"/>
                </a:solidFill>
                <a:effectLst/>
                <a:latin typeface="-apple-system"/>
              </a:rPr>
              <a:t>probability distribution</a:t>
            </a:r>
            <a:r>
              <a:rPr lang="en-US" sz="1600" b="0" i="0" dirty="0">
                <a:solidFill>
                  <a:srgbClr val="003300"/>
                </a:solidFill>
                <a:effectLst/>
                <a:latin typeface="-apple-system"/>
              </a:rPr>
              <a:t>.</a:t>
            </a:r>
            <a:endParaRPr lang="en-IN" sz="2800" dirty="0">
              <a:solidFill>
                <a:srgbClr val="003300"/>
              </a:solidFill>
            </a:endParaRPr>
          </a:p>
        </p:txBody>
      </p:sp>
      <p:sp>
        <p:nvSpPr>
          <p:cNvPr id="6" name="Slide Number Placeholder 5">
            <a:extLst>
              <a:ext uri="{FF2B5EF4-FFF2-40B4-BE49-F238E27FC236}">
                <a16:creationId xmlns:a16="http://schemas.microsoft.com/office/drawing/2014/main" id="{D95FAEA4-F730-48E8-BA1E-554759D4613E}"/>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8" name="Picture 7">
            <a:extLst>
              <a:ext uri="{FF2B5EF4-FFF2-40B4-BE49-F238E27FC236}">
                <a16:creationId xmlns:a16="http://schemas.microsoft.com/office/drawing/2014/main" id="{8DAD4D30-20C3-435D-A66F-B29FC5D87466}"/>
              </a:ext>
            </a:extLst>
          </p:cNvPr>
          <p:cNvPicPr>
            <a:picLocks noChangeAspect="1"/>
          </p:cNvPicPr>
          <p:nvPr/>
        </p:nvPicPr>
        <p:blipFill>
          <a:blip r:embed="rId2"/>
          <a:stretch>
            <a:fillRect/>
          </a:stretch>
        </p:blipFill>
        <p:spPr>
          <a:xfrm>
            <a:off x="2819401" y="2057400"/>
            <a:ext cx="1600200" cy="749227"/>
          </a:xfrm>
          <a:prstGeom prst="rect">
            <a:avLst/>
          </a:prstGeom>
        </p:spPr>
      </p:pic>
      <p:pic>
        <p:nvPicPr>
          <p:cNvPr id="10" name="Picture 9">
            <a:extLst>
              <a:ext uri="{FF2B5EF4-FFF2-40B4-BE49-F238E27FC236}">
                <a16:creationId xmlns:a16="http://schemas.microsoft.com/office/drawing/2014/main" id="{B496E518-F592-465F-B868-16738BAE4657}"/>
              </a:ext>
            </a:extLst>
          </p:cNvPr>
          <p:cNvPicPr>
            <a:picLocks noChangeAspect="1"/>
          </p:cNvPicPr>
          <p:nvPr/>
        </p:nvPicPr>
        <p:blipFill>
          <a:blip r:embed="rId3"/>
          <a:stretch>
            <a:fillRect/>
          </a:stretch>
        </p:blipFill>
        <p:spPr>
          <a:xfrm>
            <a:off x="979470" y="3614473"/>
            <a:ext cx="5791200" cy="1525323"/>
          </a:xfrm>
          <a:prstGeom prst="rect">
            <a:avLst/>
          </a:prstGeom>
        </p:spPr>
      </p:pic>
    </p:spTree>
    <p:extLst>
      <p:ext uri="{BB962C8B-B14F-4D97-AF65-F5344CB8AC3E}">
        <p14:creationId xmlns:p14="http://schemas.microsoft.com/office/powerpoint/2010/main" val="422483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55FB-B0FA-46E9-874F-D5FAFD8E28DD}"/>
              </a:ext>
            </a:extLst>
          </p:cNvPr>
          <p:cNvSpPr>
            <a:spLocks noGrp="1"/>
          </p:cNvSpPr>
          <p:nvPr>
            <p:ph type="title"/>
          </p:nvPr>
        </p:nvSpPr>
        <p:spPr/>
        <p:txBody>
          <a:bodyPr/>
          <a:lstStyle/>
          <a:p>
            <a:r>
              <a:rPr lang="en-IN" dirty="0"/>
              <a:t>Activation function</a:t>
            </a:r>
          </a:p>
        </p:txBody>
      </p:sp>
      <p:sp>
        <p:nvSpPr>
          <p:cNvPr id="3" name="Content Placeholder 2">
            <a:extLst>
              <a:ext uri="{FF2B5EF4-FFF2-40B4-BE49-F238E27FC236}">
                <a16:creationId xmlns:a16="http://schemas.microsoft.com/office/drawing/2014/main" id="{6E402FCC-4380-4092-A61A-A98EAF75F097}"/>
              </a:ext>
            </a:extLst>
          </p:cNvPr>
          <p:cNvSpPr>
            <a:spLocks noGrp="1"/>
          </p:cNvSpPr>
          <p:nvPr>
            <p:ph idx="1"/>
          </p:nvPr>
        </p:nvSpPr>
        <p:spPr/>
        <p:txBody>
          <a:bodyPr/>
          <a:lstStyle/>
          <a:p>
            <a:r>
              <a:rPr lang="en-US" sz="1600" dirty="0" err="1">
                <a:solidFill>
                  <a:srgbClr val="003300"/>
                </a:solidFill>
              </a:rPr>
              <a:t>Softmax</a:t>
            </a:r>
            <a:r>
              <a:rPr lang="en-US" sz="1600" dirty="0">
                <a:solidFill>
                  <a:srgbClr val="003300"/>
                </a:solidFill>
              </a:rPr>
              <a:t> is an activation function commonly used in neural networks for </a:t>
            </a:r>
            <a:r>
              <a:rPr lang="en-US" sz="1600" b="1" dirty="0">
                <a:solidFill>
                  <a:srgbClr val="003300"/>
                </a:solidFill>
              </a:rPr>
              <a:t>multi-classification</a:t>
            </a:r>
            <a:r>
              <a:rPr lang="en-US" sz="1600" dirty="0">
                <a:solidFill>
                  <a:srgbClr val="003300"/>
                </a:solidFill>
              </a:rPr>
              <a:t> problems.</a:t>
            </a:r>
          </a:p>
          <a:p>
            <a:r>
              <a:rPr lang="en-US" sz="1600" b="0" i="0" dirty="0" err="1">
                <a:solidFill>
                  <a:srgbClr val="003300"/>
                </a:solidFill>
                <a:effectLst/>
                <a:latin typeface="-apple-system"/>
              </a:rPr>
              <a:t>Softmax</a:t>
            </a:r>
            <a:r>
              <a:rPr lang="en-US" sz="1600" b="0" i="0" dirty="0">
                <a:solidFill>
                  <a:srgbClr val="003300"/>
                </a:solidFill>
                <a:effectLst/>
                <a:latin typeface="-apple-system"/>
              </a:rPr>
              <a:t> performs the following transform on </a:t>
            </a:r>
            <a:r>
              <a:rPr lang="en-US" sz="1600" b="0" dirty="0">
                <a:solidFill>
                  <a:srgbClr val="003300"/>
                </a:solidFill>
                <a:effectLst/>
                <a:latin typeface="KaTeX_Main"/>
              </a:rPr>
              <a:t>n</a:t>
            </a:r>
            <a:r>
              <a:rPr lang="en-US" sz="1600" b="0" i="0" dirty="0">
                <a:solidFill>
                  <a:srgbClr val="003300"/>
                </a:solidFill>
                <a:effectLst/>
                <a:latin typeface="-apple-system"/>
              </a:rPr>
              <a:t> numbers </a:t>
            </a:r>
            <a:r>
              <a:rPr lang="en-US" sz="1600" b="0" dirty="0">
                <a:solidFill>
                  <a:srgbClr val="003300"/>
                </a:solidFill>
                <a:effectLst/>
                <a:latin typeface="KaTeX_Main"/>
              </a:rPr>
              <a:t>x1…</a:t>
            </a:r>
            <a:r>
              <a:rPr lang="en-US" sz="1600" b="0" dirty="0" err="1">
                <a:solidFill>
                  <a:srgbClr val="003300"/>
                </a:solidFill>
                <a:effectLst/>
                <a:latin typeface="KaTeX_Main"/>
              </a:rPr>
              <a:t>xn</a:t>
            </a:r>
            <a:r>
              <a:rPr lang="en-US" sz="1600" b="0" dirty="0">
                <a:solidFill>
                  <a:srgbClr val="003300"/>
                </a:solidFill>
                <a:effectLst/>
                <a:latin typeface="KaTeX_Main"/>
              </a:rPr>
              <a:t>​</a:t>
            </a:r>
            <a:r>
              <a:rPr lang="en-US" sz="1600" b="0" i="0" dirty="0">
                <a:solidFill>
                  <a:srgbClr val="003300"/>
                </a:solidFill>
                <a:effectLst/>
                <a:latin typeface="-apple-system"/>
              </a:rPr>
              <a:t>:</a:t>
            </a:r>
          </a:p>
          <a:p>
            <a:endParaRPr lang="en-US" sz="1600" dirty="0">
              <a:solidFill>
                <a:srgbClr val="003300"/>
              </a:solidFill>
              <a:latin typeface="-apple-system"/>
            </a:endParaRPr>
          </a:p>
          <a:p>
            <a:endParaRPr lang="en-US" sz="1600" dirty="0">
              <a:solidFill>
                <a:srgbClr val="003300"/>
              </a:solidFill>
              <a:latin typeface="-apple-system"/>
            </a:endParaRPr>
          </a:p>
          <a:p>
            <a:endParaRPr lang="en-US" sz="1600" dirty="0">
              <a:solidFill>
                <a:srgbClr val="003300"/>
              </a:solidFill>
              <a:latin typeface="-apple-system"/>
            </a:endParaRPr>
          </a:p>
          <a:p>
            <a:r>
              <a:rPr lang="en-US" sz="1600" b="0" i="0" dirty="0">
                <a:solidFill>
                  <a:srgbClr val="003300"/>
                </a:solidFill>
                <a:effectLst/>
                <a:latin typeface="-apple-system"/>
              </a:rPr>
              <a:t>The outputs of the </a:t>
            </a:r>
            <a:r>
              <a:rPr lang="en-US" sz="1600" b="0" i="0" dirty="0" err="1">
                <a:solidFill>
                  <a:srgbClr val="003300"/>
                </a:solidFill>
                <a:effectLst/>
                <a:latin typeface="-apple-system"/>
              </a:rPr>
              <a:t>Softmax</a:t>
            </a:r>
            <a:r>
              <a:rPr lang="en-US" sz="1600" b="0" i="0" dirty="0">
                <a:solidFill>
                  <a:srgbClr val="003300"/>
                </a:solidFill>
                <a:effectLst/>
                <a:latin typeface="-apple-system"/>
              </a:rPr>
              <a:t> transform are always in the range </a:t>
            </a:r>
            <a:r>
              <a:rPr lang="en-US" sz="1600" b="0" dirty="0">
                <a:solidFill>
                  <a:srgbClr val="003300"/>
                </a:solidFill>
                <a:effectLst/>
                <a:latin typeface="KaTeX_Main"/>
              </a:rPr>
              <a:t>[0,1][0,1]</a:t>
            </a:r>
            <a:r>
              <a:rPr lang="en-US" sz="1600" b="0" i="0" dirty="0">
                <a:solidFill>
                  <a:srgbClr val="003300"/>
                </a:solidFill>
                <a:effectLst/>
                <a:latin typeface="-apple-system"/>
              </a:rPr>
              <a:t> and add up to 1. Hence, they form a </a:t>
            </a:r>
            <a:r>
              <a:rPr lang="en-US" sz="1600" b="1" i="0" dirty="0">
                <a:solidFill>
                  <a:srgbClr val="003300"/>
                </a:solidFill>
                <a:effectLst/>
                <a:latin typeface="-apple-system"/>
              </a:rPr>
              <a:t>probability distribution</a:t>
            </a:r>
            <a:r>
              <a:rPr lang="en-US" sz="1600" b="0" i="0" dirty="0">
                <a:solidFill>
                  <a:srgbClr val="003300"/>
                </a:solidFill>
                <a:effectLst/>
                <a:latin typeface="-apple-system"/>
              </a:rPr>
              <a:t>.</a:t>
            </a:r>
            <a:endParaRPr lang="en-IN" sz="2800" dirty="0">
              <a:solidFill>
                <a:srgbClr val="003300"/>
              </a:solidFill>
            </a:endParaRPr>
          </a:p>
        </p:txBody>
      </p:sp>
      <p:sp>
        <p:nvSpPr>
          <p:cNvPr id="6" name="Slide Number Placeholder 5">
            <a:extLst>
              <a:ext uri="{FF2B5EF4-FFF2-40B4-BE49-F238E27FC236}">
                <a16:creationId xmlns:a16="http://schemas.microsoft.com/office/drawing/2014/main" id="{D95FAEA4-F730-48E8-BA1E-554759D4613E}"/>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8" name="Picture 7">
            <a:extLst>
              <a:ext uri="{FF2B5EF4-FFF2-40B4-BE49-F238E27FC236}">
                <a16:creationId xmlns:a16="http://schemas.microsoft.com/office/drawing/2014/main" id="{8DAD4D30-20C3-435D-A66F-B29FC5D87466}"/>
              </a:ext>
            </a:extLst>
          </p:cNvPr>
          <p:cNvPicPr>
            <a:picLocks noChangeAspect="1"/>
          </p:cNvPicPr>
          <p:nvPr/>
        </p:nvPicPr>
        <p:blipFill>
          <a:blip r:embed="rId2"/>
          <a:stretch>
            <a:fillRect/>
          </a:stretch>
        </p:blipFill>
        <p:spPr>
          <a:xfrm>
            <a:off x="2819401" y="2057400"/>
            <a:ext cx="1600200" cy="749227"/>
          </a:xfrm>
          <a:prstGeom prst="rect">
            <a:avLst/>
          </a:prstGeom>
        </p:spPr>
      </p:pic>
      <p:pic>
        <p:nvPicPr>
          <p:cNvPr id="10" name="Picture 9">
            <a:extLst>
              <a:ext uri="{FF2B5EF4-FFF2-40B4-BE49-F238E27FC236}">
                <a16:creationId xmlns:a16="http://schemas.microsoft.com/office/drawing/2014/main" id="{B496E518-F592-465F-B868-16738BAE4657}"/>
              </a:ext>
            </a:extLst>
          </p:cNvPr>
          <p:cNvPicPr>
            <a:picLocks noChangeAspect="1"/>
          </p:cNvPicPr>
          <p:nvPr/>
        </p:nvPicPr>
        <p:blipFill>
          <a:blip r:embed="rId3"/>
          <a:stretch>
            <a:fillRect/>
          </a:stretch>
        </p:blipFill>
        <p:spPr>
          <a:xfrm>
            <a:off x="979470" y="3614473"/>
            <a:ext cx="5791200" cy="1525323"/>
          </a:xfrm>
          <a:prstGeom prst="rect">
            <a:avLst/>
          </a:prstGeom>
        </p:spPr>
      </p:pic>
      <p:pic>
        <p:nvPicPr>
          <p:cNvPr id="12" name="Picture 11">
            <a:extLst>
              <a:ext uri="{FF2B5EF4-FFF2-40B4-BE49-F238E27FC236}">
                <a16:creationId xmlns:a16="http://schemas.microsoft.com/office/drawing/2014/main" id="{9E5AEDE8-5F6A-4FFC-92F3-20996B117827}"/>
              </a:ext>
            </a:extLst>
          </p:cNvPr>
          <p:cNvPicPr>
            <a:picLocks noChangeAspect="1"/>
          </p:cNvPicPr>
          <p:nvPr/>
        </p:nvPicPr>
        <p:blipFill>
          <a:blip r:embed="rId4"/>
          <a:stretch>
            <a:fillRect/>
          </a:stretch>
        </p:blipFill>
        <p:spPr>
          <a:xfrm>
            <a:off x="1075561" y="5295682"/>
            <a:ext cx="5477639" cy="1562318"/>
          </a:xfrm>
          <a:prstGeom prst="rect">
            <a:avLst/>
          </a:prstGeom>
        </p:spPr>
      </p:pic>
    </p:spTree>
    <p:extLst>
      <p:ext uri="{BB962C8B-B14F-4D97-AF65-F5344CB8AC3E}">
        <p14:creationId xmlns:p14="http://schemas.microsoft.com/office/powerpoint/2010/main" val="33320956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CC02-1FA9-443A-BDBD-B807D61AB19D}"/>
              </a:ext>
            </a:extLst>
          </p:cNvPr>
          <p:cNvSpPr>
            <a:spLocks noGrp="1"/>
          </p:cNvSpPr>
          <p:nvPr>
            <p:ph type="title"/>
          </p:nvPr>
        </p:nvSpPr>
        <p:spPr/>
        <p:txBody>
          <a:bodyPr/>
          <a:lstStyle/>
          <a:p>
            <a:r>
              <a:rPr lang="en-US" dirty="0" err="1"/>
              <a:t>Softmax</a:t>
            </a:r>
            <a:endParaRPr lang="en-IN" dirty="0"/>
          </a:p>
        </p:txBody>
      </p:sp>
      <p:sp>
        <p:nvSpPr>
          <p:cNvPr id="3" name="Content Placeholder 2">
            <a:extLst>
              <a:ext uri="{FF2B5EF4-FFF2-40B4-BE49-F238E27FC236}">
                <a16:creationId xmlns:a16="http://schemas.microsoft.com/office/drawing/2014/main" id="{9F50D753-DBBE-41B3-8670-89BB92A319CB}"/>
              </a:ext>
            </a:extLst>
          </p:cNvPr>
          <p:cNvSpPr>
            <a:spLocks noGrp="1"/>
          </p:cNvSpPr>
          <p:nvPr>
            <p:ph idx="1"/>
          </p:nvPr>
        </p:nvSpPr>
        <p:spPr/>
        <p:txBody>
          <a:bodyPr/>
          <a:lstStyle/>
          <a:p>
            <a:pPr marL="0" indent="0" algn="l">
              <a:buNone/>
            </a:pPr>
            <a:r>
              <a:rPr lang="en-US" sz="2000" dirty="0">
                <a:solidFill>
                  <a:srgbClr val="1C1917"/>
                </a:solidFill>
                <a:latin typeface="__gtPlanar_9a6492"/>
              </a:rPr>
              <a:t>E</a:t>
            </a:r>
            <a:r>
              <a:rPr lang="en-US" sz="2000" b="0" i="0" dirty="0">
                <a:solidFill>
                  <a:srgbClr val="1C1917"/>
                </a:solidFill>
                <a:effectLst/>
                <a:latin typeface="__gtPlanar_9a6492"/>
              </a:rPr>
              <a:t>xample, N = 3 as we have 3 classes: {seal, panda, duck}, and the valid indices are 0, 1, and 2. Suppose you’re given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 [0.25, 1.23, -0.8] of raw outputs from the neural network.</a:t>
            </a:r>
          </a:p>
          <a:p>
            <a:pPr marL="0" indent="0" algn="l">
              <a:buNone/>
            </a:pPr>
            <a:r>
              <a:rPr lang="en-US" sz="2000" b="0" i="0" dirty="0">
                <a:solidFill>
                  <a:srgbClr val="1C1917"/>
                </a:solidFill>
                <a:effectLst/>
                <a:latin typeface="__gtPlanar_9a6492"/>
              </a:rPr>
              <a:t>Let’s apply the </a:t>
            </a:r>
            <a:r>
              <a:rPr lang="en-US" sz="2000" b="0" i="0" dirty="0" err="1">
                <a:solidFill>
                  <a:srgbClr val="1C1917"/>
                </a:solidFill>
                <a:effectLst/>
                <a:latin typeface="__gtPlanar_9a6492"/>
              </a:rPr>
              <a:t>softmax</a:t>
            </a:r>
            <a:r>
              <a:rPr lang="en-US" sz="2000" b="0" i="0" dirty="0">
                <a:solidFill>
                  <a:srgbClr val="1C1917"/>
                </a:solidFill>
                <a:effectLst/>
                <a:latin typeface="__gtPlanar_9a6492"/>
              </a:rPr>
              <a:t> formula on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using the steps below:</a:t>
            </a:r>
          </a:p>
          <a:p>
            <a:pPr algn="l">
              <a:buFont typeface="+mj-lt"/>
              <a:buAutoNum type="arabicPeriod"/>
            </a:pPr>
            <a:r>
              <a:rPr lang="en-US" sz="2000" b="0" i="0" dirty="0">
                <a:solidFill>
                  <a:srgbClr val="1C1917"/>
                </a:solidFill>
                <a:effectLst/>
                <a:latin typeface="__gtPlanar_9a6492"/>
              </a:rPr>
              <a:t>Calculate the exponent of each entry.</a:t>
            </a:r>
            <a:endParaRPr lang="en-US" sz="2000" b="0" i="0" dirty="0">
              <a:solidFill>
                <a:srgbClr val="000000"/>
              </a:solidFill>
              <a:effectLst/>
              <a:latin typeface="__gtPlanar_9a6492"/>
            </a:endParaRPr>
          </a:p>
          <a:p>
            <a:pPr algn="l">
              <a:buFont typeface="+mj-lt"/>
              <a:buAutoNum type="arabicPeriod"/>
            </a:pPr>
            <a:r>
              <a:rPr lang="en-US" sz="2000" b="0" i="0" dirty="0">
                <a:solidFill>
                  <a:srgbClr val="1C1917"/>
                </a:solidFill>
                <a:effectLst/>
                <a:latin typeface="__gtPlanar_9a6492"/>
              </a:rPr>
              <a:t>Divide the result of step 1 by the sum of the exponents of all entries.</a:t>
            </a:r>
            <a:endParaRPr lang="en-US" sz="2000" b="0" i="0" dirty="0">
              <a:solidFill>
                <a:srgbClr val="000000"/>
              </a:solidFill>
              <a:effectLst/>
              <a:latin typeface="__gtPlanar_9a6492"/>
            </a:endParaRPr>
          </a:p>
          <a:p>
            <a:pPr marL="0" indent="0">
              <a:buNone/>
            </a:pPr>
            <a:endParaRPr lang="en-IN" sz="2000" dirty="0"/>
          </a:p>
        </p:txBody>
      </p:sp>
      <p:sp>
        <p:nvSpPr>
          <p:cNvPr id="6" name="Slide Number Placeholder 5">
            <a:extLst>
              <a:ext uri="{FF2B5EF4-FFF2-40B4-BE49-F238E27FC236}">
                <a16:creationId xmlns:a16="http://schemas.microsoft.com/office/drawing/2014/main" id="{99536211-EEEA-41A1-8FCD-95309C88BA3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8501924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CC02-1FA9-443A-BDBD-B807D61AB19D}"/>
              </a:ext>
            </a:extLst>
          </p:cNvPr>
          <p:cNvSpPr>
            <a:spLocks noGrp="1"/>
          </p:cNvSpPr>
          <p:nvPr>
            <p:ph type="title"/>
          </p:nvPr>
        </p:nvSpPr>
        <p:spPr/>
        <p:txBody>
          <a:bodyPr/>
          <a:lstStyle/>
          <a:p>
            <a:r>
              <a:rPr lang="en-US" dirty="0" err="1"/>
              <a:t>Softmax</a:t>
            </a:r>
            <a:endParaRPr lang="en-IN" dirty="0"/>
          </a:p>
        </p:txBody>
      </p:sp>
      <p:sp>
        <p:nvSpPr>
          <p:cNvPr id="3" name="Content Placeholder 2">
            <a:extLst>
              <a:ext uri="{FF2B5EF4-FFF2-40B4-BE49-F238E27FC236}">
                <a16:creationId xmlns:a16="http://schemas.microsoft.com/office/drawing/2014/main" id="{9F50D753-DBBE-41B3-8670-89BB92A319CB}"/>
              </a:ext>
            </a:extLst>
          </p:cNvPr>
          <p:cNvSpPr>
            <a:spLocks noGrp="1"/>
          </p:cNvSpPr>
          <p:nvPr>
            <p:ph idx="1"/>
          </p:nvPr>
        </p:nvSpPr>
        <p:spPr/>
        <p:txBody>
          <a:bodyPr/>
          <a:lstStyle/>
          <a:p>
            <a:pPr marL="0" indent="0" algn="l">
              <a:buNone/>
            </a:pPr>
            <a:r>
              <a:rPr lang="en-US" sz="2000" dirty="0">
                <a:solidFill>
                  <a:srgbClr val="1C1917"/>
                </a:solidFill>
                <a:latin typeface="__gtPlanar_9a6492"/>
              </a:rPr>
              <a:t>E</a:t>
            </a:r>
            <a:r>
              <a:rPr lang="en-US" sz="2000" b="0" i="0" dirty="0">
                <a:solidFill>
                  <a:srgbClr val="1C1917"/>
                </a:solidFill>
                <a:effectLst/>
                <a:latin typeface="__gtPlanar_9a6492"/>
              </a:rPr>
              <a:t>xample, N = 3 as we have 3 classes: {seal, panda, duck}, and the valid indices are 0, 1, and 2. Suppose you’re given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 [0.25, 1.23, -0.8] of raw outputs from the neural network.</a:t>
            </a:r>
          </a:p>
          <a:p>
            <a:pPr marL="0" indent="0" algn="l">
              <a:buNone/>
            </a:pPr>
            <a:r>
              <a:rPr lang="en-US" sz="2000" b="0" i="0" dirty="0">
                <a:solidFill>
                  <a:srgbClr val="1C1917"/>
                </a:solidFill>
                <a:effectLst/>
                <a:latin typeface="__gtPlanar_9a6492"/>
              </a:rPr>
              <a:t>Let’s apply the </a:t>
            </a:r>
            <a:r>
              <a:rPr lang="en-US" sz="2000" b="0" i="0" dirty="0" err="1">
                <a:solidFill>
                  <a:srgbClr val="1C1917"/>
                </a:solidFill>
                <a:effectLst/>
                <a:latin typeface="__gtPlanar_9a6492"/>
              </a:rPr>
              <a:t>softmax</a:t>
            </a:r>
            <a:r>
              <a:rPr lang="en-US" sz="2000" b="0" i="0" dirty="0">
                <a:solidFill>
                  <a:srgbClr val="1C1917"/>
                </a:solidFill>
                <a:effectLst/>
                <a:latin typeface="__gtPlanar_9a6492"/>
              </a:rPr>
              <a:t> formula on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using the steps below:</a:t>
            </a:r>
          </a:p>
          <a:p>
            <a:pPr algn="l">
              <a:buFont typeface="+mj-lt"/>
              <a:buAutoNum type="arabicPeriod"/>
            </a:pPr>
            <a:r>
              <a:rPr lang="en-US" sz="2000" b="0" i="0" dirty="0">
                <a:solidFill>
                  <a:srgbClr val="1C1917"/>
                </a:solidFill>
                <a:effectLst/>
                <a:latin typeface="__gtPlanar_9a6492"/>
              </a:rPr>
              <a:t>Calculate the exponent of each entry.</a:t>
            </a:r>
            <a:endParaRPr lang="en-US" sz="2000" b="0" i="0" dirty="0">
              <a:solidFill>
                <a:srgbClr val="000000"/>
              </a:solidFill>
              <a:effectLst/>
              <a:latin typeface="__gtPlanar_9a6492"/>
            </a:endParaRPr>
          </a:p>
          <a:p>
            <a:pPr algn="l">
              <a:buFont typeface="+mj-lt"/>
              <a:buAutoNum type="arabicPeriod"/>
            </a:pPr>
            <a:r>
              <a:rPr lang="en-US" sz="2000" b="0" i="0" dirty="0">
                <a:solidFill>
                  <a:srgbClr val="1C1917"/>
                </a:solidFill>
                <a:effectLst/>
                <a:latin typeface="__gtPlanar_9a6492"/>
              </a:rPr>
              <a:t>Divide the result of step 1 by the sum of the exponents of all entries.</a:t>
            </a:r>
            <a:endParaRPr lang="en-US" sz="2000" b="0" i="0" dirty="0">
              <a:solidFill>
                <a:srgbClr val="000000"/>
              </a:solidFill>
              <a:effectLst/>
              <a:latin typeface="__gtPlanar_9a6492"/>
            </a:endParaRPr>
          </a:p>
          <a:p>
            <a:pPr marL="0" indent="0">
              <a:buNone/>
            </a:pPr>
            <a:endParaRPr lang="en-IN" sz="2000" dirty="0"/>
          </a:p>
        </p:txBody>
      </p:sp>
      <p:sp>
        <p:nvSpPr>
          <p:cNvPr id="6" name="Slide Number Placeholder 5">
            <a:extLst>
              <a:ext uri="{FF2B5EF4-FFF2-40B4-BE49-F238E27FC236}">
                <a16:creationId xmlns:a16="http://schemas.microsoft.com/office/drawing/2014/main" id="{99536211-EEEA-41A1-8FCD-95309C88BA3B}"/>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7" name="Picture 6">
            <a:extLst>
              <a:ext uri="{FF2B5EF4-FFF2-40B4-BE49-F238E27FC236}">
                <a16:creationId xmlns:a16="http://schemas.microsoft.com/office/drawing/2014/main" id="{A56B57DD-754A-4290-AFAD-542B228A2F4D}"/>
              </a:ext>
            </a:extLst>
          </p:cNvPr>
          <p:cNvPicPr>
            <a:picLocks noChangeAspect="1"/>
          </p:cNvPicPr>
          <p:nvPr/>
        </p:nvPicPr>
        <p:blipFill>
          <a:blip r:embed="rId2"/>
          <a:stretch>
            <a:fillRect/>
          </a:stretch>
        </p:blipFill>
        <p:spPr>
          <a:xfrm>
            <a:off x="228600" y="3424237"/>
            <a:ext cx="5562600" cy="3128963"/>
          </a:xfrm>
          <a:prstGeom prst="rect">
            <a:avLst/>
          </a:prstGeom>
        </p:spPr>
      </p:pic>
    </p:spTree>
    <p:extLst>
      <p:ext uri="{BB962C8B-B14F-4D97-AF65-F5344CB8AC3E}">
        <p14:creationId xmlns:p14="http://schemas.microsoft.com/office/powerpoint/2010/main" val="8153581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CC02-1FA9-443A-BDBD-B807D61AB19D}"/>
              </a:ext>
            </a:extLst>
          </p:cNvPr>
          <p:cNvSpPr>
            <a:spLocks noGrp="1"/>
          </p:cNvSpPr>
          <p:nvPr>
            <p:ph type="title"/>
          </p:nvPr>
        </p:nvSpPr>
        <p:spPr/>
        <p:txBody>
          <a:bodyPr/>
          <a:lstStyle/>
          <a:p>
            <a:r>
              <a:rPr lang="en-US" dirty="0" err="1"/>
              <a:t>Softmax</a:t>
            </a:r>
            <a:endParaRPr lang="en-IN" dirty="0"/>
          </a:p>
        </p:txBody>
      </p:sp>
      <p:sp>
        <p:nvSpPr>
          <p:cNvPr id="3" name="Content Placeholder 2">
            <a:extLst>
              <a:ext uri="{FF2B5EF4-FFF2-40B4-BE49-F238E27FC236}">
                <a16:creationId xmlns:a16="http://schemas.microsoft.com/office/drawing/2014/main" id="{9F50D753-DBBE-41B3-8670-89BB92A319CB}"/>
              </a:ext>
            </a:extLst>
          </p:cNvPr>
          <p:cNvSpPr>
            <a:spLocks noGrp="1"/>
          </p:cNvSpPr>
          <p:nvPr>
            <p:ph idx="1"/>
          </p:nvPr>
        </p:nvSpPr>
        <p:spPr/>
        <p:txBody>
          <a:bodyPr/>
          <a:lstStyle/>
          <a:p>
            <a:pPr marL="0" indent="0" algn="l">
              <a:buNone/>
            </a:pPr>
            <a:r>
              <a:rPr lang="en-US" sz="2000" dirty="0">
                <a:solidFill>
                  <a:srgbClr val="1C1917"/>
                </a:solidFill>
                <a:latin typeface="__gtPlanar_9a6492"/>
              </a:rPr>
              <a:t>E</a:t>
            </a:r>
            <a:r>
              <a:rPr lang="en-US" sz="2000" b="0" i="0" dirty="0">
                <a:solidFill>
                  <a:srgbClr val="1C1917"/>
                </a:solidFill>
                <a:effectLst/>
                <a:latin typeface="__gtPlanar_9a6492"/>
              </a:rPr>
              <a:t>xample, N = 3 as we have 3 classes: {seal, panda, duck}, and the valid indices are 0, 1, and 2. Suppose you’re given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 [0.25, 1.23, -0.8] of raw outputs from the neural network.</a:t>
            </a:r>
          </a:p>
          <a:p>
            <a:pPr marL="0" indent="0" algn="l">
              <a:buNone/>
            </a:pPr>
            <a:r>
              <a:rPr lang="en-US" sz="2000" b="0" i="0" dirty="0">
                <a:solidFill>
                  <a:srgbClr val="1C1917"/>
                </a:solidFill>
                <a:effectLst/>
                <a:latin typeface="__gtPlanar_9a6492"/>
              </a:rPr>
              <a:t>Let’s apply the </a:t>
            </a:r>
            <a:r>
              <a:rPr lang="en-US" sz="2000" b="0" i="0" dirty="0" err="1">
                <a:solidFill>
                  <a:srgbClr val="1C1917"/>
                </a:solidFill>
                <a:effectLst/>
                <a:latin typeface="__gtPlanar_9a6492"/>
              </a:rPr>
              <a:t>softmax</a:t>
            </a:r>
            <a:r>
              <a:rPr lang="en-US" sz="2000" b="0" i="0" dirty="0">
                <a:solidFill>
                  <a:srgbClr val="1C1917"/>
                </a:solidFill>
                <a:effectLst/>
                <a:latin typeface="__gtPlanar_9a6492"/>
              </a:rPr>
              <a:t> formula on the vector </a:t>
            </a:r>
            <a:r>
              <a:rPr lang="en-US" sz="2000" b="1" i="0" dirty="0">
                <a:solidFill>
                  <a:srgbClr val="1C1917"/>
                </a:solidFill>
                <a:effectLst/>
                <a:latin typeface="__gtPlanar_9a6492"/>
              </a:rPr>
              <a:t>z</a:t>
            </a:r>
            <a:r>
              <a:rPr lang="en-US" sz="2000" b="0" i="0" dirty="0">
                <a:solidFill>
                  <a:srgbClr val="1C1917"/>
                </a:solidFill>
                <a:effectLst/>
                <a:latin typeface="__gtPlanar_9a6492"/>
              </a:rPr>
              <a:t>, using the steps below:</a:t>
            </a:r>
          </a:p>
          <a:p>
            <a:pPr algn="l">
              <a:buFont typeface="+mj-lt"/>
              <a:buAutoNum type="arabicPeriod"/>
            </a:pPr>
            <a:r>
              <a:rPr lang="en-US" sz="2000" b="0" i="0" dirty="0">
                <a:solidFill>
                  <a:srgbClr val="1C1917"/>
                </a:solidFill>
                <a:effectLst/>
                <a:latin typeface="__gtPlanar_9a6492"/>
              </a:rPr>
              <a:t>Calculate the exponent of each entry.</a:t>
            </a:r>
            <a:endParaRPr lang="en-US" sz="2000" b="0" i="0" dirty="0">
              <a:solidFill>
                <a:srgbClr val="000000"/>
              </a:solidFill>
              <a:effectLst/>
              <a:latin typeface="__gtPlanar_9a6492"/>
            </a:endParaRPr>
          </a:p>
          <a:p>
            <a:pPr algn="l">
              <a:buFont typeface="+mj-lt"/>
              <a:buAutoNum type="arabicPeriod"/>
            </a:pPr>
            <a:r>
              <a:rPr lang="en-US" sz="2000" b="0" i="0" dirty="0">
                <a:solidFill>
                  <a:srgbClr val="1C1917"/>
                </a:solidFill>
                <a:effectLst/>
                <a:latin typeface="__gtPlanar_9a6492"/>
              </a:rPr>
              <a:t>Divide the result of step 1 by the sum of the exponents of all entries.</a:t>
            </a:r>
            <a:endParaRPr lang="en-US" sz="2000" b="0" i="0" dirty="0">
              <a:solidFill>
                <a:srgbClr val="000000"/>
              </a:solidFill>
              <a:effectLst/>
              <a:latin typeface="__gtPlanar_9a6492"/>
            </a:endParaRPr>
          </a:p>
          <a:p>
            <a:pPr marL="0" indent="0">
              <a:buNone/>
            </a:pPr>
            <a:endParaRPr lang="en-IN" sz="2000" dirty="0"/>
          </a:p>
        </p:txBody>
      </p:sp>
      <p:sp>
        <p:nvSpPr>
          <p:cNvPr id="6" name="Slide Number Placeholder 5">
            <a:extLst>
              <a:ext uri="{FF2B5EF4-FFF2-40B4-BE49-F238E27FC236}">
                <a16:creationId xmlns:a16="http://schemas.microsoft.com/office/drawing/2014/main" id="{99536211-EEEA-41A1-8FCD-95309C88BA3B}"/>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8" name="Picture 7">
            <a:extLst>
              <a:ext uri="{FF2B5EF4-FFF2-40B4-BE49-F238E27FC236}">
                <a16:creationId xmlns:a16="http://schemas.microsoft.com/office/drawing/2014/main" id="{243FD2BC-1FC2-4594-B2CA-7171EAF7FFD7}"/>
              </a:ext>
            </a:extLst>
          </p:cNvPr>
          <p:cNvPicPr>
            <a:picLocks noChangeAspect="1"/>
          </p:cNvPicPr>
          <p:nvPr/>
        </p:nvPicPr>
        <p:blipFill>
          <a:blip r:embed="rId2"/>
          <a:stretch>
            <a:fillRect/>
          </a:stretch>
        </p:blipFill>
        <p:spPr>
          <a:xfrm>
            <a:off x="685800" y="3595817"/>
            <a:ext cx="4508756" cy="2536175"/>
          </a:xfrm>
          <a:prstGeom prst="rect">
            <a:avLst/>
          </a:prstGeom>
        </p:spPr>
      </p:pic>
      <p:sp>
        <p:nvSpPr>
          <p:cNvPr id="9" name="TextBox 8">
            <a:extLst>
              <a:ext uri="{FF2B5EF4-FFF2-40B4-BE49-F238E27FC236}">
                <a16:creationId xmlns:a16="http://schemas.microsoft.com/office/drawing/2014/main" id="{0B27F2C6-44DE-432A-B18C-739C70886E5C}"/>
              </a:ext>
            </a:extLst>
          </p:cNvPr>
          <p:cNvSpPr txBox="1"/>
          <p:nvPr/>
        </p:nvSpPr>
        <p:spPr>
          <a:xfrm>
            <a:off x="5486400" y="3615368"/>
            <a:ext cx="3507179" cy="2800767"/>
          </a:xfrm>
          <a:prstGeom prst="rect">
            <a:avLst/>
          </a:prstGeom>
          <a:noFill/>
        </p:spPr>
        <p:txBody>
          <a:bodyPr wrap="none" rtlCol="0">
            <a:spAutoFit/>
          </a:bodyPr>
          <a:lstStyle/>
          <a:p>
            <a:r>
              <a:rPr lang="en-US" sz="1600" b="0" i="0" dirty="0">
                <a:solidFill>
                  <a:srgbClr val="1C1917"/>
                </a:solidFill>
                <a:effectLst/>
                <a:latin typeface="__gtPlanar_9a6492"/>
              </a:rPr>
              <a:t>In the vector </a:t>
            </a:r>
            <a:r>
              <a:rPr lang="en-US" sz="1600" b="1" i="0" dirty="0">
                <a:solidFill>
                  <a:srgbClr val="1C1917"/>
                </a:solidFill>
                <a:effectLst/>
                <a:latin typeface="__gtPlanar_9a6492"/>
              </a:rPr>
              <a:t>z</a:t>
            </a:r>
            <a:r>
              <a:rPr lang="en-US" sz="1600" b="0" i="0" dirty="0">
                <a:solidFill>
                  <a:srgbClr val="1C1917"/>
                </a:solidFill>
                <a:effectLst/>
                <a:latin typeface="__gtPlanar_9a6492"/>
              </a:rPr>
              <a:t> of raw outputs, </a:t>
            </a:r>
          </a:p>
          <a:p>
            <a:r>
              <a:rPr lang="en-US" sz="1600" b="0" i="0" dirty="0">
                <a:solidFill>
                  <a:srgbClr val="1C1917"/>
                </a:solidFill>
                <a:effectLst/>
                <a:latin typeface="__gtPlanar_9a6492"/>
              </a:rPr>
              <a:t>the maximum value is 1.23, </a:t>
            </a:r>
          </a:p>
          <a:p>
            <a:r>
              <a:rPr lang="en-US" sz="1600" b="0" i="0" dirty="0">
                <a:solidFill>
                  <a:srgbClr val="1C1917"/>
                </a:solidFill>
                <a:effectLst/>
                <a:latin typeface="__gtPlanar_9a6492"/>
              </a:rPr>
              <a:t>which on applying </a:t>
            </a:r>
            <a:r>
              <a:rPr lang="en-US" sz="1600" b="0" i="0" dirty="0" err="1">
                <a:solidFill>
                  <a:srgbClr val="1C1917"/>
                </a:solidFill>
                <a:effectLst/>
                <a:latin typeface="__gtPlanar_9a6492"/>
              </a:rPr>
              <a:t>softmax</a:t>
            </a:r>
            <a:r>
              <a:rPr lang="en-US" sz="1600" b="0" i="0" dirty="0">
                <a:solidFill>
                  <a:srgbClr val="1C1917"/>
                </a:solidFill>
                <a:effectLst/>
                <a:latin typeface="__gtPlanar_9a6492"/>
              </a:rPr>
              <a:t> activation </a:t>
            </a:r>
          </a:p>
          <a:p>
            <a:r>
              <a:rPr lang="en-US" sz="1600" b="0" i="0" dirty="0">
                <a:solidFill>
                  <a:srgbClr val="1C1917"/>
                </a:solidFill>
                <a:effectLst/>
                <a:latin typeface="__gtPlanar_9a6492"/>
              </a:rPr>
              <a:t>maps to 0.664: the largest entry in the </a:t>
            </a:r>
          </a:p>
          <a:p>
            <a:r>
              <a:rPr lang="en-US" sz="1600" b="0" i="0" dirty="0" err="1">
                <a:solidFill>
                  <a:srgbClr val="1C1917"/>
                </a:solidFill>
                <a:effectLst/>
                <a:latin typeface="__gtPlanar_9a6492"/>
              </a:rPr>
              <a:t>softmax</a:t>
            </a:r>
            <a:r>
              <a:rPr lang="en-US" sz="1600" b="0" i="0" dirty="0">
                <a:solidFill>
                  <a:srgbClr val="1C1917"/>
                </a:solidFill>
                <a:effectLst/>
                <a:latin typeface="__gtPlanar_9a6492"/>
              </a:rPr>
              <a:t> output vector. Likewise, </a:t>
            </a:r>
          </a:p>
          <a:p>
            <a:r>
              <a:rPr lang="en-US" sz="1600" b="0" i="0" dirty="0">
                <a:solidFill>
                  <a:srgbClr val="1C1917"/>
                </a:solidFill>
                <a:effectLst/>
                <a:latin typeface="__gtPlanar_9a6492"/>
              </a:rPr>
              <a:t>0.25 and -0.8 map to 0.249 and 0.087: </a:t>
            </a:r>
          </a:p>
          <a:p>
            <a:r>
              <a:rPr lang="en-US" sz="1600" b="0" i="0" dirty="0">
                <a:solidFill>
                  <a:srgbClr val="1C1917"/>
                </a:solidFill>
                <a:effectLst/>
                <a:latin typeface="__gtPlanar_9a6492"/>
              </a:rPr>
              <a:t>the second and the third largest entries </a:t>
            </a:r>
          </a:p>
          <a:p>
            <a:r>
              <a:rPr lang="en-US" sz="1600" b="0" i="0" dirty="0">
                <a:solidFill>
                  <a:srgbClr val="1C1917"/>
                </a:solidFill>
                <a:effectLst/>
                <a:latin typeface="__gtPlanar_9a6492"/>
              </a:rPr>
              <a:t>in the </a:t>
            </a:r>
            <a:r>
              <a:rPr lang="en-US" sz="1600" b="0" i="0" dirty="0" err="1">
                <a:solidFill>
                  <a:srgbClr val="1C1917"/>
                </a:solidFill>
                <a:effectLst/>
                <a:latin typeface="__gtPlanar_9a6492"/>
              </a:rPr>
              <a:t>softmax</a:t>
            </a:r>
            <a:r>
              <a:rPr lang="en-US" sz="1600" b="0" i="0" dirty="0">
                <a:solidFill>
                  <a:srgbClr val="1C1917"/>
                </a:solidFill>
                <a:effectLst/>
                <a:latin typeface="__gtPlanar_9a6492"/>
              </a:rPr>
              <a:t> output respectively. </a:t>
            </a:r>
          </a:p>
          <a:p>
            <a:r>
              <a:rPr lang="en-US" sz="1600" b="0" i="0" dirty="0">
                <a:solidFill>
                  <a:srgbClr val="1C1917"/>
                </a:solidFill>
                <a:effectLst/>
                <a:latin typeface="__gtPlanar_9a6492"/>
              </a:rPr>
              <a:t>Thus, applying </a:t>
            </a:r>
            <a:r>
              <a:rPr lang="en-US" sz="1600" b="0" i="0" dirty="0" err="1">
                <a:solidFill>
                  <a:srgbClr val="1C1917"/>
                </a:solidFill>
                <a:effectLst/>
                <a:latin typeface="__gtPlanar_9a6492"/>
              </a:rPr>
              <a:t>softmax</a:t>
            </a:r>
            <a:r>
              <a:rPr lang="en-US" sz="1600" b="0" i="0" dirty="0">
                <a:solidFill>
                  <a:srgbClr val="1C1917"/>
                </a:solidFill>
                <a:effectLst/>
                <a:latin typeface="__gtPlanar_9a6492"/>
              </a:rPr>
              <a:t> preserves the </a:t>
            </a:r>
          </a:p>
          <a:p>
            <a:r>
              <a:rPr lang="en-US" sz="1600" b="0" i="1" dirty="0">
                <a:solidFill>
                  <a:srgbClr val="1C1917"/>
                </a:solidFill>
                <a:effectLst/>
                <a:latin typeface="GT Planar"/>
              </a:rPr>
              <a:t>relative ordering</a:t>
            </a:r>
            <a:r>
              <a:rPr lang="en-US" sz="1600" b="0" i="0" dirty="0">
                <a:solidFill>
                  <a:srgbClr val="1C1917"/>
                </a:solidFill>
                <a:effectLst/>
                <a:latin typeface="__gtPlanar_9a6492"/>
              </a:rPr>
              <a:t> of scores.</a:t>
            </a:r>
            <a:endParaRPr lang="en-US" sz="1600" b="0" i="0" dirty="0">
              <a:solidFill>
                <a:srgbClr val="000000"/>
              </a:solidFill>
              <a:effectLst/>
              <a:latin typeface="__gtPlanar_9a6492"/>
            </a:endParaRPr>
          </a:p>
          <a:p>
            <a:endParaRPr lang="en-IN" sz="1600" dirty="0"/>
          </a:p>
        </p:txBody>
      </p:sp>
    </p:spTree>
    <p:extLst>
      <p:ext uri="{BB962C8B-B14F-4D97-AF65-F5344CB8AC3E}">
        <p14:creationId xmlns:p14="http://schemas.microsoft.com/office/powerpoint/2010/main" val="37092629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3E1E1-BB92-1EC7-AFD5-D02301C83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2E51F-36C1-6A6D-39B5-0B535049250F}"/>
              </a:ext>
            </a:extLst>
          </p:cNvPr>
          <p:cNvSpPr>
            <a:spLocks noGrp="1"/>
          </p:cNvSpPr>
          <p:nvPr>
            <p:ph type="title"/>
          </p:nvPr>
        </p:nvSpPr>
        <p:spPr/>
        <p:txBody>
          <a:bodyPr/>
          <a:lstStyle/>
          <a:p>
            <a:r>
              <a:rPr lang="en-IN" dirty="0"/>
              <a:t>Activation function</a:t>
            </a:r>
          </a:p>
        </p:txBody>
      </p:sp>
      <p:sp>
        <p:nvSpPr>
          <p:cNvPr id="3" name="Content Placeholder 2">
            <a:extLst>
              <a:ext uri="{FF2B5EF4-FFF2-40B4-BE49-F238E27FC236}">
                <a16:creationId xmlns:a16="http://schemas.microsoft.com/office/drawing/2014/main" id="{6045FBB5-9524-9A8A-FF8C-6910E7F02A73}"/>
              </a:ext>
            </a:extLst>
          </p:cNvPr>
          <p:cNvSpPr>
            <a:spLocks noGrp="1"/>
          </p:cNvSpPr>
          <p:nvPr>
            <p:ph idx="1"/>
          </p:nvPr>
        </p:nvSpPr>
        <p:spPr/>
        <p:txBody>
          <a:bodyPr/>
          <a:lstStyle/>
          <a:p>
            <a:pPr algn="just"/>
            <a:r>
              <a:rPr lang="en-IN" sz="2000" dirty="0"/>
              <a:t>Tanh activation function:</a:t>
            </a:r>
            <a:r>
              <a:rPr lang="en-US" sz="2000" dirty="0"/>
              <a:t> The hyperbolic tangent function is also sigmoidal ('S' shaped curve) in nature but the value ranges between </a:t>
            </a:r>
            <a:r>
              <a:rPr lang="en-US" sz="2000" b="1" dirty="0"/>
              <a:t>-1 and +1</a:t>
            </a:r>
            <a:r>
              <a:rPr lang="en-US" sz="2000" dirty="0"/>
              <a:t>.</a:t>
            </a:r>
            <a:endParaRPr lang="en-IN" sz="2000" dirty="0"/>
          </a:p>
        </p:txBody>
      </p:sp>
      <p:sp>
        <p:nvSpPr>
          <p:cNvPr id="6" name="Slide Number Placeholder 5">
            <a:extLst>
              <a:ext uri="{FF2B5EF4-FFF2-40B4-BE49-F238E27FC236}">
                <a16:creationId xmlns:a16="http://schemas.microsoft.com/office/drawing/2014/main" id="{A15D92F3-CEA6-F4C1-7D16-E1C0068D84EC}"/>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8" name="Picture 7">
            <a:extLst>
              <a:ext uri="{FF2B5EF4-FFF2-40B4-BE49-F238E27FC236}">
                <a16:creationId xmlns:a16="http://schemas.microsoft.com/office/drawing/2014/main" id="{0F404E42-BF36-4FC8-2B8D-B53F15AAA3FC}"/>
              </a:ext>
            </a:extLst>
          </p:cNvPr>
          <p:cNvPicPr>
            <a:picLocks noChangeAspect="1"/>
          </p:cNvPicPr>
          <p:nvPr/>
        </p:nvPicPr>
        <p:blipFill>
          <a:blip r:embed="rId2"/>
          <a:stretch>
            <a:fillRect/>
          </a:stretch>
        </p:blipFill>
        <p:spPr>
          <a:xfrm>
            <a:off x="990600" y="2537738"/>
            <a:ext cx="6422571" cy="3786068"/>
          </a:xfrm>
          <a:prstGeom prst="rect">
            <a:avLst/>
          </a:prstGeom>
        </p:spPr>
      </p:pic>
    </p:spTree>
    <p:extLst>
      <p:ext uri="{BB962C8B-B14F-4D97-AF65-F5344CB8AC3E}">
        <p14:creationId xmlns:p14="http://schemas.microsoft.com/office/powerpoint/2010/main" val="3523225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5C2B-FB86-456D-59ED-8090A3829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57987-8C08-D94F-673C-2B705178DAFA}"/>
              </a:ext>
            </a:extLst>
          </p:cNvPr>
          <p:cNvSpPr>
            <a:spLocks noGrp="1"/>
          </p:cNvSpPr>
          <p:nvPr>
            <p:ph type="title"/>
          </p:nvPr>
        </p:nvSpPr>
        <p:spPr/>
        <p:txBody>
          <a:bodyPr/>
          <a:lstStyle/>
          <a:p>
            <a:r>
              <a:rPr lang="en-IN" dirty="0"/>
              <a:t>Activation function</a:t>
            </a:r>
          </a:p>
        </p:txBody>
      </p:sp>
      <p:sp>
        <p:nvSpPr>
          <p:cNvPr id="3" name="Content Placeholder 2">
            <a:extLst>
              <a:ext uri="{FF2B5EF4-FFF2-40B4-BE49-F238E27FC236}">
                <a16:creationId xmlns:a16="http://schemas.microsoft.com/office/drawing/2014/main" id="{4C2CE60D-F0F8-AD48-57EF-6D8B273C658D}"/>
              </a:ext>
            </a:extLst>
          </p:cNvPr>
          <p:cNvSpPr>
            <a:spLocks noGrp="1"/>
          </p:cNvSpPr>
          <p:nvPr>
            <p:ph idx="1"/>
          </p:nvPr>
        </p:nvSpPr>
        <p:spPr/>
        <p:txBody>
          <a:bodyPr/>
          <a:lstStyle/>
          <a:p>
            <a:pPr algn="just"/>
            <a:r>
              <a:rPr lang="en-IN" sz="2000" dirty="0" err="1"/>
              <a:t>ReLu</a:t>
            </a:r>
            <a:r>
              <a:rPr lang="en-IN" sz="2000" dirty="0"/>
              <a:t>: </a:t>
            </a:r>
            <a:r>
              <a:rPr lang="en-US" sz="2000" dirty="0">
                <a:solidFill>
                  <a:srgbClr val="0000FF"/>
                </a:solidFill>
              </a:rPr>
              <a:t>Rectified Linear Units</a:t>
            </a:r>
            <a:r>
              <a:rPr lang="en-US" sz="2000" dirty="0"/>
              <a:t>. Its some what similar to identity function for x greater than 0. Training of neural networks is considered to be faster with </a:t>
            </a:r>
            <a:r>
              <a:rPr lang="en-US" sz="2000" dirty="0" err="1"/>
              <a:t>ReLUs</a:t>
            </a:r>
            <a:r>
              <a:rPr lang="en-US" sz="2000" dirty="0"/>
              <a:t>.</a:t>
            </a:r>
          </a:p>
          <a:p>
            <a:pPr algn="just"/>
            <a:endParaRPr lang="en-IN" sz="2000" dirty="0"/>
          </a:p>
        </p:txBody>
      </p:sp>
      <p:sp>
        <p:nvSpPr>
          <p:cNvPr id="6" name="Slide Number Placeholder 5">
            <a:extLst>
              <a:ext uri="{FF2B5EF4-FFF2-40B4-BE49-F238E27FC236}">
                <a16:creationId xmlns:a16="http://schemas.microsoft.com/office/drawing/2014/main" id="{FA943D0D-8A5D-A173-E8A2-23DF2DA12679}"/>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8" name="Picture 7">
            <a:extLst>
              <a:ext uri="{FF2B5EF4-FFF2-40B4-BE49-F238E27FC236}">
                <a16:creationId xmlns:a16="http://schemas.microsoft.com/office/drawing/2014/main" id="{D41B3572-4784-2B04-91DF-1B19063B5681}"/>
              </a:ext>
            </a:extLst>
          </p:cNvPr>
          <p:cNvPicPr>
            <a:picLocks noChangeAspect="1"/>
          </p:cNvPicPr>
          <p:nvPr/>
        </p:nvPicPr>
        <p:blipFill>
          <a:blip r:embed="rId2"/>
          <a:stretch>
            <a:fillRect/>
          </a:stretch>
        </p:blipFill>
        <p:spPr>
          <a:xfrm>
            <a:off x="1752600" y="2346698"/>
            <a:ext cx="5231139" cy="3292102"/>
          </a:xfrm>
          <a:prstGeom prst="rect">
            <a:avLst/>
          </a:prstGeom>
        </p:spPr>
      </p:pic>
    </p:spTree>
    <p:extLst>
      <p:ext uri="{BB962C8B-B14F-4D97-AF65-F5344CB8AC3E}">
        <p14:creationId xmlns:p14="http://schemas.microsoft.com/office/powerpoint/2010/main" val="2077218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0AF7-D3A5-4A1F-9D2B-4681F8782B0B}"/>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0B7DEF51-625B-4C30-A02C-9ED0AF74EDC3}"/>
              </a:ext>
            </a:extLst>
          </p:cNvPr>
          <p:cNvSpPr>
            <a:spLocks noGrp="1"/>
          </p:cNvSpPr>
          <p:nvPr>
            <p:ph idx="1"/>
          </p:nvPr>
        </p:nvSpPr>
        <p:spPr/>
        <p:txBody>
          <a:bodyPr/>
          <a:lstStyle/>
          <a:p>
            <a:pPr marL="0" marR="0" indent="0" algn="just">
              <a:spcBef>
                <a:spcPts val="600"/>
              </a:spcBef>
              <a:spcAft>
                <a:spcPts val="600"/>
              </a:spcAft>
              <a:buNone/>
            </a:pPr>
            <a:r>
              <a:rPr lang="en-US" sz="2400" b="1" i="0" dirty="0">
                <a:solidFill>
                  <a:srgbClr val="222222"/>
                </a:solidFill>
                <a:effectLst/>
                <a:latin typeface="Book Antiqua" panose="02040602050305030304" pitchFamily="18" charset="0"/>
              </a:rPr>
              <a:t>Which of the following functions can be used as an activation function in the output layer if we wish to predict the probabilities of n classes (p</a:t>
            </a:r>
            <a:r>
              <a:rPr lang="en-US" sz="2400" b="1" i="0" baseline="-25000" dirty="0">
                <a:solidFill>
                  <a:srgbClr val="222222"/>
                </a:solidFill>
                <a:effectLst/>
                <a:latin typeface="Book Antiqua" panose="02040602050305030304" pitchFamily="18" charset="0"/>
              </a:rPr>
              <a:t>1</a:t>
            </a:r>
            <a:r>
              <a:rPr lang="en-US" sz="2400" b="1" i="0" dirty="0">
                <a:solidFill>
                  <a:srgbClr val="222222"/>
                </a:solidFill>
                <a:effectLst/>
                <a:latin typeface="Book Antiqua" panose="02040602050305030304" pitchFamily="18" charset="0"/>
              </a:rPr>
              <a:t>, p</a:t>
            </a:r>
            <a:r>
              <a:rPr lang="en-US" sz="2400" b="1" i="0" baseline="-25000" dirty="0">
                <a:solidFill>
                  <a:srgbClr val="222222"/>
                </a:solidFill>
                <a:effectLst/>
                <a:latin typeface="Book Antiqua" panose="02040602050305030304" pitchFamily="18" charset="0"/>
              </a:rPr>
              <a:t>2</a:t>
            </a:r>
            <a:r>
              <a:rPr lang="en-US" sz="2400" b="1" i="0" dirty="0">
                <a:solidFill>
                  <a:srgbClr val="222222"/>
                </a:solidFill>
                <a:effectLst/>
                <a:latin typeface="Book Antiqua" panose="02040602050305030304" pitchFamily="18" charset="0"/>
              </a:rPr>
              <a:t>, …, p</a:t>
            </a:r>
            <a:r>
              <a:rPr lang="en-US" sz="2400" b="1" i="0" baseline="-25000" dirty="0">
                <a:solidFill>
                  <a:srgbClr val="222222"/>
                </a:solidFill>
                <a:effectLst/>
                <a:latin typeface="Book Antiqua" panose="02040602050305030304" pitchFamily="18" charset="0"/>
              </a:rPr>
              <a:t>k</a:t>
            </a:r>
            <a:r>
              <a:rPr lang="en-US" sz="2400" b="1" i="0" dirty="0">
                <a:solidFill>
                  <a:srgbClr val="222222"/>
                </a:solidFill>
                <a:effectLst/>
                <a:latin typeface="Book Antiqua" panose="02040602050305030304" pitchFamily="18" charset="0"/>
              </a:rPr>
              <a:t>) such that sum of p over all n equals to 1?</a:t>
            </a:r>
            <a:endParaRPr lang="en-US" sz="2400" b="1"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600" b="0" i="0" dirty="0">
                <a:solidFill>
                  <a:srgbClr val="222222"/>
                </a:solidFill>
                <a:effectLst/>
                <a:latin typeface="Book Antiqua" panose="02040602050305030304" pitchFamily="18" charset="0"/>
              </a:rPr>
              <a:t>a) Sigmoid</a:t>
            </a:r>
            <a:endParaRPr lang="en-US" sz="28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600" b="0" i="0" dirty="0">
                <a:solidFill>
                  <a:srgbClr val="222222"/>
                </a:solidFill>
                <a:effectLst/>
                <a:latin typeface="Book Antiqua" panose="02040602050305030304" pitchFamily="18" charset="0"/>
              </a:rPr>
              <a:t>b) Rectified Linear Unit (</a:t>
            </a:r>
            <a:r>
              <a:rPr lang="en-US" sz="1600" b="0" i="0" dirty="0" err="1">
                <a:solidFill>
                  <a:srgbClr val="222222"/>
                </a:solidFill>
                <a:effectLst/>
                <a:latin typeface="Book Antiqua" panose="02040602050305030304" pitchFamily="18" charset="0"/>
              </a:rPr>
              <a:t>ReLU</a:t>
            </a:r>
            <a:r>
              <a:rPr lang="en-US" sz="1600" b="0" i="0" dirty="0">
                <a:solidFill>
                  <a:srgbClr val="222222"/>
                </a:solidFill>
                <a:effectLst/>
                <a:latin typeface="Book Antiqua" panose="02040602050305030304" pitchFamily="18" charset="0"/>
              </a:rPr>
              <a:t>)</a:t>
            </a:r>
            <a:endParaRPr lang="en-US" sz="28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600" b="0" i="0" dirty="0">
                <a:solidFill>
                  <a:srgbClr val="222222"/>
                </a:solidFill>
                <a:effectLst/>
                <a:latin typeface="Book Antiqua" panose="02040602050305030304" pitchFamily="18" charset="0"/>
              </a:rPr>
              <a:t>c) Tanh</a:t>
            </a:r>
            <a:endParaRPr lang="en-US" sz="28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600" b="0" i="0" dirty="0">
                <a:solidFill>
                  <a:srgbClr val="222222"/>
                </a:solidFill>
                <a:effectLst/>
                <a:latin typeface="Book Antiqua" panose="02040602050305030304" pitchFamily="18" charset="0"/>
              </a:rPr>
              <a:t>d) </a:t>
            </a:r>
            <a:r>
              <a:rPr lang="en-US" sz="1600" b="0" i="0" dirty="0" err="1">
                <a:solidFill>
                  <a:srgbClr val="222222"/>
                </a:solidFill>
                <a:effectLst/>
                <a:latin typeface="Book Antiqua" panose="02040602050305030304" pitchFamily="18" charset="0"/>
              </a:rPr>
              <a:t>Softmax</a:t>
            </a:r>
            <a:endParaRPr lang="en-US" sz="1600" b="0" i="0" dirty="0">
              <a:solidFill>
                <a:srgbClr val="222222"/>
              </a:solidFill>
              <a:effectLst/>
              <a:latin typeface="Book Antiqua" panose="02040602050305030304" pitchFamily="18" charset="0"/>
            </a:endParaRPr>
          </a:p>
          <a:p>
            <a:pPr marL="0" marR="0" indent="0" algn="just">
              <a:spcBef>
                <a:spcPts val="600"/>
              </a:spcBef>
              <a:spcAft>
                <a:spcPts val="600"/>
              </a:spcAft>
              <a:buNone/>
            </a:pPr>
            <a:endParaRPr lang="en-US" sz="1400" dirty="0">
              <a:solidFill>
                <a:srgbClr val="222222"/>
              </a:solidFill>
              <a:latin typeface="Book Antiqua" panose="02040602050305030304" pitchFamily="18" charset="0"/>
            </a:endParaRPr>
          </a:p>
          <a:p>
            <a:pPr marL="0" marR="0" indent="0" algn="just">
              <a:spcBef>
                <a:spcPts val="600"/>
              </a:spcBef>
              <a:spcAft>
                <a:spcPts val="600"/>
              </a:spcAft>
              <a:buNone/>
            </a:pPr>
            <a:endParaRPr lang="en-US" sz="2400" b="0" i="0" dirty="0">
              <a:solidFill>
                <a:srgbClr val="222222"/>
              </a:solidFill>
              <a:effectLst/>
              <a:latin typeface="Arial" panose="020B0604020202020204" pitchFamily="34" charset="0"/>
            </a:endParaRPr>
          </a:p>
          <a:p>
            <a:pPr marL="0" indent="0">
              <a:buNone/>
            </a:pPr>
            <a:endParaRPr lang="en-IN" sz="2400" dirty="0"/>
          </a:p>
        </p:txBody>
      </p:sp>
      <p:sp>
        <p:nvSpPr>
          <p:cNvPr id="6" name="Slide Number Placeholder 5">
            <a:extLst>
              <a:ext uri="{FF2B5EF4-FFF2-40B4-BE49-F238E27FC236}">
                <a16:creationId xmlns:a16="http://schemas.microsoft.com/office/drawing/2014/main" id="{940220E4-661F-4F8A-AE0C-1C37C150A6C9}"/>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10521987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0AF7-D3A5-4A1F-9D2B-4681F8782B0B}"/>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0B7DEF51-625B-4C30-A02C-9ED0AF74EDC3}"/>
              </a:ext>
            </a:extLst>
          </p:cNvPr>
          <p:cNvSpPr>
            <a:spLocks noGrp="1"/>
          </p:cNvSpPr>
          <p:nvPr>
            <p:ph idx="1"/>
          </p:nvPr>
        </p:nvSpPr>
        <p:spPr/>
        <p:txBody>
          <a:bodyPr/>
          <a:lstStyle/>
          <a:p>
            <a:pPr marL="0" marR="0" indent="0" algn="just">
              <a:spcBef>
                <a:spcPts val="600"/>
              </a:spcBef>
              <a:spcAft>
                <a:spcPts val="600"/>
              </a:spcAft>
              <a:buNone/>
            </a:pPr>
            <a:r>
              <a:rPr lang="en-US" sz="2400" b="1" i="0" dirty="0">
                <a:solidFill>
                  <a:srgbClr val="222222"/>
                </a:solidFill>
                <a:effectLst/>
                <a:latin typeface="Book Antiqua" panose="02040602050305030304" pitchFamily="18" charset="0"/>
              </a:rPr>
              <a:t>Which of the following functions can be used as an activation function in the output layer if we wish to predict the probabilities of n classes (p</a:t>
            </a:r>
            <a:r>
              <a:rPr lang="en-US" sz="2400" b="1" i="0" baseline="-25000" dirty="0">
                <a:solidFill>
                  <a:srgbClr val="222222"/>
                </a:solidFill>
                <a:effectLst/>
                <a:latin typeface="Book Antiqua" panose="02040602050305030304" pitchFamily="18" charset="0"/>
              </a:rPr>
              <a:t>1</a:t>
            </a:r>
            <a:r>
              <a:rPr lang="en-US" sz="2400" b="1" i="0" dirty="0">
                <a:solidFill>
                  <a:srgbClr val="222222"/>
                </a:solidFill>
                <a:effectLst/>
                <a:latin typeface="Book Antiqua" panose="02040602050305030304" pitchFamily="18" charset="0"/>
              </a:rPr>
              <a:t>, p</a:t>
            </a:r>
            <a:r>
              <a:rPr lang="en-US" sz="2400" b="1" i="0" baseline="-25000" dirty="0">
                <a:solidFill>
                  <a:srgbClr val="222222"/>
                </a:solidFill>
                <a:effectLst/>
                <a:latin typeface="Book Antiqua" panose="02040602050305030304" pitchFamily="18" charset="0"/>
              </a:rPr>
              <a:t>2</a:t>
            </a:r>
            <a:r>
              <a:rPr lang="en-US" sz="2400" b="1" i="0" dirty="0">
                <a:solidFill>
                  <a:srgbClr val="222222"/>
                </a:solidFill>
                <a:effectLst/>
                <a:latin typeface="Book Antiqua" panose="02040602050305030304" pitchFamily="18" charset="0"/>
              </a:rPr>
              <a:t>, …, p</a:t>
            </a:r>
            <a:r>
              <a:rPr lang="en-US" sz="2400" b="1" i="0" baseline="-25000" dirty="0">
                <a:solidFill>
                  <a:srgbClr val="222222"/>
                </a:solidFill>
                <a:effectLst/>
                <a:latin typeface="Book Antiqua" panose="02040602050305030304" pitchFamily="18" charset="0"/>
              </a:rPr>
              <a:t>k</a:t>
            </a:r>
            <a:r>
              <a:rPr lang="en-US" sz="2400" b="1" i="0" dirty="0">
                <a:solidFill>
                  <a:srgbClr val="222222"/>
                </a:solidFill>
                <a:effectLst/>
                <a:latin typeface="Book Antiqua" panose="02040602050305030304" pitchFamily="18" charset="0"/>
              </a:rPr>
              <a:t>) such that sum of p over all n equals to 1?</a:t>
            </a:r>
            <a:endParaRPr lang="en-US" sz="2400" b="1"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400" b="0" i="0" dirty="0">
                <a:solidFill>
                  <a:srgbClr val="222222"/>
                </a:solidFill>
                <a:effectLst/>
                <a:latin typeface="Book Antiqua" panose="02040602050305030304" pitchFamily="18" charset="0"/>
              </a:rPr>
              <a:t>a) Sigmoid</a:t>
            </a:r>
            <a:endParaRPr lang="en-US" sz="24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400" b="0" i="0" dirty="0">
                <a:solidFill>
                  <a:srgbClr val="222222"/>
                </a:solidFill>
                <a:effectLst/>
                <a:latin typeface="Book Antiqua" panose="02040602050305030304" pitchFamily="18" charset="0"/>
              </a:rPr>
              <a:t>b) Rectified Linear Unit (</a:t>
            </a:r>
            <a:r>
              <a:rPr lang="en-US" sz="1400" b="0" i="0" dirty="0" err="1">
                <a:solidFill>
                  <a:srgbClr val="222222"/>
                </a:solidFill>
                <a:effectLst/>
                <a:latin typeface="Book Antiqua" panose="02040602050305030304" pitchFamily="18" charset="0"/>
              </a:rPr>
              <a:t>ReLU</a:t>
            </a:r>
            <a:r>
              <a:rPr lang="en-US" sz="1400" b="0" i="0" dirty="0">
                <a:solidFill>
                  <a:srgbClr val="222222"/>
                </a:solidFill>
                <a:effectLst/>
                <a:latin typeface="Book Antiqua" panose="02040602050305030304" pitchFamily="18" charset="0"/>
              </a:rPr>
              <a:t>)</a:t>
            </a:r>
            <a:endParaRPr lang="en-US" sz="24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400" b="0" i="0" dirty="0">
                <a:solidFill>
                  <a:srgbClr val="222222"/>
                </a:solidFill>
                <a:effectLst/>
                <a:latin typeface="Book Antiqua" panose="02040602050305030304" pitchFamily="18" charset="0"/>
              </a:rPr>
              <a:t>c) Tanh</a:t>
            </a:r>
            <a:endParaRPr lang="en-US" sz="2400" b="0" i="0" dirty="0">
              <a:solidFill>
                <a:srgbClr val="222222"/>
              </a:solidFill>
              <a:effectLst/>
              <a:latin typeface="Arial" panose="020B0604020202020204" pitchFamily="34" charset="0"/>
            </a:endParaRPr>
          </a:p>
          <a:p>
            <a:pPr marL="0" marR="0" indent="0" algn="just">
              <a:spcBef>
                <a:spcPts val="600"/>
              </a:spcBef>
              <a:spcAft>
                <a:spcPts val="600"/>
              </a:spcAft>
              <a:buNone/>
            </a:pPr>
            <a:r>
              <a:rPr lang="en-US" sz="1400" b="0" i="0" dirty="0">
                <a:solidFill>
                  <a:srgbClr val="222222"/>
                </a:solidFill>
                <a:effectLst/>
                <a:latin typeface="Book Antiqua" panose="02040602050305030304" pitchFamily="18" charset="0"/>
              </a:rPr>
              <a:t>d) </a:t>
            </a:r>
            <a:r>
              <a:rPr lang="en-US" sz="1400" b="0" i="0" dirty="0" err="1">
                <a:solidFill>
                  <a:srgbClr val="222222"/>
                </a:solidFill>
                <a:effectLst/>
                <a:latin typeface="Book Antiqua" panose="02040602050305030304" pitchFamily="18" charset="0"/>
              </a:rPr>
              <a:t>Softmax</a:t>
            </a:r>
            <a:endParaRPr lang="en-US" sz="1400" b="0" i="0" dirty="0">
              <a:solidFill>
                <a:srgbClr val="222222"/>
              </a:solidFill>
              <a:effectLst/>
              <a:latin typeface="Book Antiqua" panose="02040602050305030304" pitchFamily="18" charset="0"/>
            </a:endParaRPr>
          </a:p>
          <a:p>
            <a:pPr marL="0" marR="0" indent="0" algn="just">
              <a:spcBef>
                <a:spcPts val="600"/>
              </a:spcBef>
              <a:spcAft>
                <a:spcPts val="600"/>
              </a:spcAft>
              <a:buNone/>
            </a:pPr>
            <a:endParaRPr lang="en-US" sz="1400" dirty="0">
              <a:solidFill>
                <a:srgbClr val="222222"/>
              </a:solidFill>
              <a:latin typeface="Book Antiqua" panose="02040602050305030304" pitchFamily="18" charset="0"/>
            </a:endParaRPr>
          </a:p>
          <a:p>
            <a:pPr marL="0" marR="0" indent="0" algn="just">
              <a:spcBef>
                <a:spcPts val="600"/>
              </a:spcBef>
              <a:spcAft>
                <a:spcPts val="600"/>
              </a:spcAft>
              <a:buNone/>
            </a:pPr>
            <a:r>
              <a:rPr lang="en-US" sz="1800" b="1" i="1" u="sng" dirty="0">
                <a:solidFill>
                  <a:srgbClr val="222222"/>
                </a:solidFill>
                <a:effectLst/>
                <a:latin typeface="Book Antiqua" panose="02040602050305030304" pitchFamily="18" charset="0"/>
              </a:rPr>
              <a:t>Answer:</a:t>
            </a:r>
            <a:r>
              <a:rPr lang="en-US" sz="1800" b="1" i="1" dirty="0">
                <a:solidFill>
                  <a:srgbClr val="222222"/>
                </a:solidFill>
                <a:effectLst/>
                <a:latin typeface="Book Antiqua" panose="02040602050305030304" pitchFamily="18" charset="0"/>
              </a:rPr>
              <a:t> </a:t>
            </a:r>
            <a:r>
              <a:rPr lang="en-US" sz="1800" b="1" i="1" dirty="0">
                <a:solidFill>
                  <a:srgbClr val="00B050"/>
                </a:solidFill>
                <a:effectLst/>
                <a:latin typeface="Book Antiqua" panose="02040602050305030304" pitchFamily="18" charset="0"/>
              </a:rPr>
              <a:t>(d) </a:t>
            </a:r>
            <a:r>
              <a:rPr lang="en-US" sz="1800" b="1" i="1" dirty="0" err="1">
                <a:solidFill>
                  <a:srgbClr val="00B050"/>
                </a:solidFill>
                <a:effectLst/>
                <a:latin typeface="Book Antiqua" panose="02040602050305030304" pitchFamily="18" charset="0"/>
              </a:rPr>
              <a:t>Softmax</a:t>
            </a:r>
            <a:endParaRPr lang="en-US" sz="1400" b="0" i="0" dirty="0">
              <a:solidFill>
                <a:srgbClr val="222222"/>
              </a:solidFill>
              <a:effectLst/>
              <a:latin typeface="Arial" panose="020B0604020202020204" pitchFamily="34" charset="0"/>
            </a:endParaRPr>
          </a:p>
          <a:p>
            <a:pPr marL="0" marR="0" algn="just">
              <a:spcBef>
                <a:spcPts val="600"/>
              </a:spcBef>
              <a:spcAft>
                <a:spcPts val="600"/>
              </a:spcAft>
            </a:pPr>
            <a:r>
              <a:rPr lang="en-US" sz="1800" b="1" i="1" dirty="0">
                <a:solidFill>
                  <a:srgbClr val="222222"/>
                </a:solidFill>
                <a:effectLst/>
                <a:latin typeface="Book Antiqua" panose="02040602050305030304" pitchFamily="18" charset="0"/>
              </a:rPr>
              <a:t>The </a:t>
            </a:r>
            <a:r>
              <a:rPr lang="en-US" sz="1800" b="1" i="1" dirty="0" err="1">
                <a:solidFill>
                  <a:srgbClr val="222222"/>
                </a:solidFill>
                <a:effectLst/>
                <a:latin typeface="Book Antiqua" panose="02040602050305030304" pitchFamily="18" charset="0"/>
              </a:rPr>
              <a:t>Softmax</a:t>
            </a:r>
            <a:r>
              <a:rPr lang="en-US" sz="1800" b="1" i="1" dirty="0">
                <a:solidFill>
                  <a:srgbClr val="222222"/>
                </a:solidFill>
                <a:effectLst/>
                <a:latin typeface="Book Antiqua" panose="02040602050305030304" pitchFamily="18" charset="0"/>
              </a:rPr>
              <a:t> activation function is commonly used as an activation function in the case of multi-class classification problems in machine learning. The output of the </a:t>
            </a:r>
            <a:r>
              <a:rPr lang="en-US" sz="1800" b="1" i="1" dirty="0" err="1">
                <a:solidFill>
                  <a:srgbClr val="222222"/>
                </a:solidFill>
                <a:effectLst/>
                <a:latin typeface="Book Antiqua" panose="02040602050305030304" pitchFamily="18" charset="0"/>
              </a:rPr>
              <a:t>Softmax</a:t>
            </a:r>
            <a:r>
              <a:rPr lang="en-US" sz="1800" b="1" i="1" dirty="0">
                <a:solidFill>
                  <a:srgbClr val="222222"/>
                </a:solidFill>
                <a:effectLst/>
                <a:latin typeface="Book Antiqua" panose="02040602050305030304" pitchFamily="18" charset="0"/>
              </a:rPr>
              <a:t> is interpreted as the probability of getting each class.</a:t>
            </a:r>
            <a:endParaRPr lang="en-US" sz="1400" b="1" i="0" dirty="0">
              <a:solidFill>
                <a:srgbClr val="222222"/>
              </a:solidFill>
              <a:effectLst/>
              <a:latin typeface="Arial" panose="020B0604020202020204" pitchFamily="34" charset="0"/>
            </a:endParaRPr>
          </a:p>
          <a:p>
            <a:pPr marL="0" marR="0" indent="0" algn="just">
              <a:spcBef>
                <a:spcPts val="600"/>
              </a:spcBef>
              <a:spcAft>
                <a:spcPts val="600"/>
              </a:spcAft>
              <a:buNone/>
            </a:pPr>
            <a:endParaRPr lang="en-US" sz="2400" b="0" i="0" dirty="0">
              <a:solidFill>
                <a:srgbClr val="222222"/>
              </a:solidFill>
              <a:effectLst/>
              <a:latin typeface="Arial" panose="020B0604020202020204" pitchFamily="34" charset="0"/>
            </a:endParaRPr>
          </a:p>
          <a:p>
            <a:pPr marL="0" indent="0">
              <a:buNone/>
            </a:pPr>
            <a:endParaRPr lang="en-IN" sz="2400" dirty="0"/>
          </a:p>
        </p:txBody>
      </p:sp>
      <p:sp>
        <p:nvSpPr>
          <p:cNvPr id="6" name="Slide Number Placeholder 5">
            <a:extLst>
              <a:ext uri="{FF2B5EF4-FFF2-40B4-BE49-F238E27FC236}">
                <a16:creationId xmlns:a16="http://schemas.microsoft.com/office/drawing/2014/main" id="{940220E4-661F-4F8A-AE0C-1C37C150A6C9}"/>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1608254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C343B-F365-4C61-8F65-B2B0E0505B79}"/>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CE3F4608-99B8-4D96-9409-8F62A49D6A36}"/>
              </a:ext>
            </a:extLst>
          </p:cNvPr>
          <p:cNvSpPr>
            <a:spLocks noGrp="1"/>
          </p:cNvSpPr>
          <p:nvPr>
            <p:ph idx="1"/>
          </p:nvPr>
        </p:nvSpPr>
        <p:spPr/>
        <p:txBody>
          <a:bodyPr/>
          <a:lstStyle/>
          <a:p>
            <a:r>
              <a:rPr lang="en-US" sz="2000" b="0" i="0" dirty="0">
                <a:solidFill>
                  <a:srgbClr val="273239"/>
                </a:solidFill>
                <a:effectLst/>
                <a:latin typeface="Nunito" pitchFamily="2" charset="0"/>
              </a:rPr>
              <a:t>Formula: sigma(x) = 1 / (1 + e</a:t>
            </a:r>
            <a:r>
              <a:rPr lang="en-US" sz="2000" b="0" i="0" baseline="30000" dirty="0">
                <a:solidFill>
                  <a:srgbClr val="273239"/>
                </a:solidFill>
                <a:effectLst/>
                <a:latin typeface="Nunito" pitchFamily="2" charset="0"/>
              </a:rPr>
              <a:t>-x</a:t>
            </a:r>
            <a:r>
              <a:rPr lang="en-US" sz="2000" b="0" i="0" dirty="0">
                <a:solidFill>
                  <a:srgbClr val="273239"/>
                </a:solidFill>
                <a:effectLst/>
                <a:latin typeface="Nunito" pitchFamily="2" charset="0"/>
              </a:rPr>
              <a:t>)</a:t>
            </a:r>
          </a:p>
          <a:p>
            <a:pPr marL="0" indent="0" algn="l" rtl="0" fontAlgn="base">
              <a:buNone/>
            </a:pPr>
            <a:r>
              <a:rPr lang="en-US" sz="2000" b="0" i="0" dirty="0">
                <a:solidFill>
                  <a:srgbClr val="273239"/>
                </a:solidFill>
                <a:effectLst/>
                <a:latin typeface="Nunito" pitchFamily="2" charset="0"/>
              </a:rPr>
              <a:t>Compute the output of the sigmoid activation function for the input values: -1, 0, and 1.</a:t>
            </a:r>
          </a:p>
          <a:p>
            <a:pPr algn="l" rtl="0" fontAlgn="base"/>
            <a:endParaRPr lang="en-US" sz="2000" dirty="0">
              <a:solidFill>
                <a:srgbClr val="273239"/>
              </a:solidFill>
              <a:latin typeface="Nunito" pitchFamily="2" charset="0"/>
            </a:endParaRPr>
          </a:p>
          <a:p>
            <a:pPr algn="l" rtl="0" fontAlgn="base"/>
            <a:r>
              <a:rPr lang="en-US" sz="2000" b="0" i="0" dirty="0">
                <a:solidFill>
                  <a:srgbClr val="273239"/>
                </a:solidFill>
                <a:effectLst/>
                <a:latin typeface="Nunito" pitchFamily="2" charset="0"/>
              </a:rPr>
              <a:t>Formula: </a:t>
            </a:r>
            <a:r>
              <a:rPr lang="en-US" sz="2000" b="0" i="0" dirty="0" err="1">
                <a:solidFill>
                  <a:srgbClr val="273239"/>
                </a:solidFill>
                <a:effectLst/>
                <a:latin typeface="Nunito" pitchFamily="2" charset="0"/>
              </a:rPr>
              <a:t>ReLU</a:t>
            </a:r>
            <a:r>
              <a:rPr lang="en-US" sz="2000" b="0" i="0" dirty="0">
                <a:solidFill>
                  <a:srgbClr val="273239"/>
                </a:solidFill>
                <a:effectLst/>
                <a:latin typeface="Nunito" pitchFamily="2" charset="0"/>
              </a:rPr>
              <a:t>(x) = max(0, x)</a:t>
            </a:r>
          </a:p>
          <a:p>
            <a:pPr marL="0" indent="0" algn="l" rtl="0" fontAlgn="base">
              <a:buNone/>
            </a:pPr>
            <a:r>
              <a:rPr lang="en-US" sz="2000" b="0" i="0" dirty="0">
                <a:solidFill>
                  <a:srgbClr val="273239"/>
                </a:solidFill>
                <a:effectLst/>
                <a:latin typeface="Nunito" pitchFamily="2" charset="0"/>
              </a:rPr>
              <a:t>Calculate the output of the </a:t>
            </a:r>
            <a:r>
              <a:rPr lang="en-US" sz="2000" b="0" i="0" dirty="0" err="1">
                <a:solidFill>
                  <a:srgbClr val="273239"/>
                </a:solidFill>
                <a:effectLst/>
                <a:latin typeface="Nunito" pitchFamily="2" charset="0"/>
              </a:rPr>
              <a:t>ReLU</a:t>
            </a:r>
            <a:r>
              <a:rPr lang="en-US" sz="2000" b="0" i="0" dirty="0">
                <a:solidFill>
                  <a:srgbClr val="273239"/>
                </a:solidFill>
                <a:effectLst/>
                <a:latin typeface="Nunito" pitchFamily="2" charset="0"/>
              </a:rPr>
              <a:t> activation function for the input values: -3, 0, and 3.</a:t>
            </a:r>
          </a:p>
          <a:p>
            <a:pPr marL="0" indent="0" algn="l" rtl="0" fontAlgn="base">
              <a:buNone/>
            </a:pPr>
            <a:endParaRPr lang="en-US" sz="2000" dirty="0">
              <a:solidFill>
                <a:srgbClr val="273239"/>
              </a:solidFill>
              <a:latin typeface="Nunito" pitchFamily="2" charset="0"/>
            </a:endParaRPr>
          </a:p>
          <a:p>
            <a:pPr marL="0" indent="0" algn="l" rtl="0" fontAlgn="base">
              <a:buNone/>
            </a:pPr>
            <a:r>
              <a:rPr lang="en-US" sz="1200" b="0" i="0" dirty="0">
                <a:solidFill>
                  <a:srgbClr val="273239"/>
                </a:solidFill>
                <a:effectLst/>
                <a:latin typeface="Nunito" pitchFamily="2" charset="0"/>
              </a:rPr>
              <a:t>Formula: </a:t>
            </a:r>
          </a:p>
          <a:p>
            <a:pPr marL="0" indent="0" algn="l" rtl="0" fontAlgn="base">
              <a:buNone/>
            </a:pPr>
            <a:endParaRPr lang="en-US" sz="1200" dirty="0">
              <a:solidFill>
                <a:srgbClr val="273239"/>
              </a:solidFill>
              <a:latin typeface="Nunito" pitchFamily="2" charset="0"/>
            </a:endParaRPr>
          </a:p>
          <a:p>
            <a:pPr marL="0" indent="0" algn="l" rtl="0" fontAlgn="base">
              <a:buNone/>
            </a:pPr>
            <a:r>
              <a:rPr lang="en-US" sz="1800" b="0" i="0" dirty="0">
                <a:solidFill>
                  <a:srgbClr val="273239"/>
                </a:solidFill>
                <a:effectLst/>
                <a:latin typeface="Nunito" pitchFamily="2" charset="0"/>
              </a:rPr>
              <a:t>For the input vector [1, 2, 3], compute the output of the SoftMax activation function.</a:t>
            </a:r>
          </a:p>
          <a:p>
            <a:pPr marL="0" indent="0" algn="l" rtl="0" fontAlgn="base">
              <a:buNone/>
            </a:pPr>
            <a:endParaRPr lang="en-US" sz="2000" b="0" i="0" dirty="0">
              <a:solidFill>
                <a:srgbClr val="273239"/>
              </a:solidFill>
              <a:effectLst/>
              <a:latin typeface="Nunito" pitchFamily="2" charset="0"/>
            </a:endParaRPr>
          </a:p>
          <a:p>
            <a:pPr marL="0" indent="0" algn="l" rtl="0" fontAlgn="base">
              <a:buNone/>
            </a:pPr>
            <a:endParaRPr lang="en-US" sz="2000" b="0" i="0" dirty="0">
              <a:solidFill>
                <a:srgbClr val="273239"/>
              </a:solidFill>
              <a:effectLst/>
              <a:latin typeface="Nunito" pitchFamily="2" charset="0"/>
            </a:endParaRPr>
          </a:p>
          <a:p>
            <a:pPr marL="0" indent="0">
              <a:buNone/>
            </a:pPr>
            <a:endParaRPr lang="en-IN" sz="2000" dirty="0"/>
          </a:p>
        </p:txBody>
      </p:sp>
      <p:sp>
        <p:nvSpPr>
          <p:cNvPr id="6" name="Slide Number Placeholder 5">
            <a:extLst>
              <a:ext uri="{FF2B5EF4-FFF2-40B4-BE49-F238E27FC236}">
                <a16:creationId xmlns:a16="http://schemas.microsoft.com/office/drawing/2014/main" id="{5E377ADD-D2EF-4D8A-A51F-1043A769E138}"/>
              </a:ext>
            </a:extLst>
          </p:cNvPr>
          <p:cNvSpPr>
            <a:spLocks noGrp="1"/>
          </p:cNvSpPr>
          <p:nvPr>
            <p:ph type="sldNum" sz="quarter" idx="12"/>
          </p:nvPr>
        </p:nvSpPr>
        <p:spPr/>
        <p:txBody>
          <a:bodyPr/>
          <a:lstStyle/>
          <a:p>
            <a:fld id="{BB2CE0DE-867F-455F-B20B-96D381B4AB71}" type="slidenum">
              <a:rPr lang="en-US" smtClean="0"/>
              <a:t>68</a:t>
            </a:fld>
            <a:endParaRPr lang="en-US"/>
          </a:p>
        </p:txBody>
      </p:sp>
      <p:pic>
        <p:nvPicPr>
          <p:cNvPr id="8" name="Picture 7">
            <a:extLst>
              <a:ext uri="{FF2B5EF4-FFF2-40B4-BE49-F238E27FC236}">
                <a16:creationId xmlns:a16="http://schemas.microsoft.com/office/drawing/2014/main" id="{987AC200-BD05-45BC-B0B4-95076479C211}"/>
              </a:ext>
            </a:extLst>
          </p:cNvPr>
          <p:cNvPicPr>
            <a:picLocks noChangeAspect="1"/>
          </p:cNvPicPr>
          <p:nvPr/>
        </p:nvPicPr>
        <p:blipFill>
          <a:blip r:embed="rId2"/>
          <a:stretch>
            <a:fillRect/>
          </a:stretch>
        </p:blipFill>
        <p:spPr>
          <a:xfrm>
            <a:off x="1589070" y="3810000"/>
            <a:ext cx="3943900" cy="666843"/>
          </a:xfrm>
          <a:prstGeom prst="rect">
            <a:avLst/>
          </a:prstGeom>
        </p:spPr>
      </p:pic>
    </p:spTree>
    <p:extLst>
      <p:ext uri="{BB962C8B-B14F-4D97-AF65-F5344CB8AC3E}">
        <p14:creationId xmlns:p14="http://schemas.microsoft.com/office/powerpoint/2010/main" val="2334124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A76B4-071C-46F9-AC47-072B818330D6}"/>
              </a:ext>
            </a:extLst>
          </p:cNvPr>
          <p:cNvSpPr>
            <a:spLocks noGrp="1"/>
          </p:cNvSpPr>
          <p:nvPr>
            <p:ph type="title"/>
          </p:nvPr>
        </p:nvSpPr>
        <p:spPr/>
        <p:txBody>
          <a:bodyPr/>
          <a:lstStyle/>
          <a:p>
            <a:r>
              <a:rPr lang="en-US" dirty="0"/>
              <a:t>Gradient Descent Algorithm</a:t>
            </a:r>
            <a:endParaRPr lang="en-IN" dirty="0"/>
          </a:p>
        </p:txBody>
      </p:sp>
      <p:sp>
        <p:nvSpPr>
          <p:cNvPr id="3" name="Content Placeholder 2">
            <a:extLst>
              <a:ext uri="{FF2B5EF4-FFF2-40B4-BE49-F238E27FC236}">
                <a16:creationId xmlns:a16="http://schemas.microsoft.com/office/drawing/2014/main" id="{85608FC4-234D-401C-9627-F0F999FDC75B}"/>
              </a:ext>
            </a:extLst>
          </p:cNvPr>
          <p:cNvSpPr>
            <a:spLocks noGrp="1"/>
          </p:cNvSpPr>
          <p:nvPr>
            <p:ph idx="1"/>
          </p:nvPr>
        </p:nvSpPr>
        <p:spPr/>
        <p:txBody>
          <a:bodyPr/>
          <a:lstStyle/>
          <a:p>
            <a:r>
              <a:rPr lang="en-US" dirty="0"/>
              <a:t>An algorithm to minimize a function by optimizing the parameters.</a:t>
            </a:r>
            <a:endParaRPr lang="en-IN" dirty="0"/>
          </a:p>
        </p:txBody>
      </p:sp>
      <p:sp>
        <p:nvSpPr>
          <p:cNvPr id="6" name="Slide Number Placeholder 5">
            <a:extLst>
              <a:ext uri="{FF2B5EF4-FFF2-40B4-BE49-F238E27FC236}">
                <a16:creationId xmlns:a16="http://schemas.microsoft.com/office/drawing/2014/main" id="{0A9FA529-1852-4174-9246-89BBA40CDC9D}"/>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1489341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1DEF1-421C-4B50-8F29-E5073ADF6A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2667D28-C943-4FB6-9A46-3BC6B842B5E9}"/>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3643C5D3-8542-479C-9490-2561DE045E85}"/>
              </a:ext>
            </a:extLst>
          </p:cNvPr>
          <p:cNvSpPr>
            <a:spLocks noGrp="1"/>
          </p:cNvSpPr>
          <p:nvPr>
            <p:ph type="sldNum" sz="quarter" idx="12"/>
          </p:nvPr>
        </p:nvSpPr>
        <p:spPr/>
        <p:txBody>
          <a:bodyPr/>
          <a:lstStyle/>
          <a:p>
            <a:fld id="{BB2CE0DE-867F-455F-B20B-96D381B4AB71}" type="slidenum">
              <a:rPr lang="en-US" smtClean="0"/>
              <a:t>70</a:t>
            </a:fld>
            <a:endParaRPr lang="en-US"/>
          </a:p>
        </p:txBody>
      </p:sp>
      <p:pic>
        <p:nvPicPr>
          <p:cNvPr id="7" name="Picture 6">
            <a:extLst>
              <a:ext uri="{FF2B5EF4-FFF2-40B4-BE49-F238E27FC236}">
                <a16:creationId xmlns:a16="http://schemas.microsoft.com/office/drawing/2014/main" id="{AC86FF74-233F-48C2-A23C-DA8068D92D59}"/>
              </a:ext>
            </a:extLst>
          </p:cNvPr>
          <p:cNvPicPr>
            <a:picLocks noChangeAspect="1"/>
          </p:cNvPicPr>
          <p:nvPr/>
        </p:nvPicPr>
        <p:blipFill>
          <a:blip r:embed="rId2"/>
          <a:stretch>
            <a:fillRect/>
          </a:stretch>
        </p:blipFill>
        <p:spPr>
          <a:xfrm>
            <a:off x="914400" y="1066800"/>
            <a:ext cx="7086600" cy="5314950"/>
          </a:xfrm>
          <a:prstGeom prst="rect">
            <a:avLst/>
          </a:prstGeom>
        </p:spPr>
      </p:pic>
    </p:spTree>
    <p:extLst>
      <p:ext uri="{BB962C8B-B14F-4D97-AF65-F5344CB8AC3E}">
        <p14:creationId xmlns:p14="http://schemas.microsoft.com/office/powerpoint/2010/main" val="17889355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64A47-2AEC-470D-9DBE-712D34AAF575}"/>
              </a:ext>
            </a:extLst>
          </p:cNvPr>
          <p:cNvSpPr>
            <a:spLocks noGrp="1"/>
          </p:cNvSpPr>
          <p:nvPr>
            <p:ph type="title"/>
          </p:nvPr>
        </p:nvSpPr>
        <p:spPr/>
        <p:txBody>
          <a:bodyPr/>
          <a:lstStyle/>
          <a:p>
            <a:pPr rtl="0" fontAlgn="auto"/>
            <a:r>
              <a:rPr lang="en-US" sz="1600" dirty="0"/>
              <a:t>Determine when the slope of the curve </a:t>
            </a:r>
            <a:r>
              <a:rPr lang="en-US" sz="1600" dirty="0">
                <a:effectLst/>
              </a:rPr>
              <a:t>𝑓(𝑥)=𝑥</a:t>
            </a:r>
            <a:r>
              <a:rPr lang="en-US" sz="1600" baseline="30000" dirty="0">
                <a:effectLst/>
              </a:rPr>
              <a:t>2</a:t>
            </a:r>
            <a:r>
              <a:rPr lang="en-US" sz="1600" dirty="0">
                <a:effectLst/>
              </a:rPr>
              <a:t> </a:t>
            </a:r>
            <a:r>
              <a:rPr lang="en-US" sz="1600" dirty="0"/>
              <a:t>is negative and positive.</a:t>
            </a:r>
            <a:endParaRPr lang="en-IN" sz="1600" dirty="0"/>
          </a:p>
        </p:txBody>
      </p:sp>
      <p:sp>
        <p:nvSpPr>
          <p:cNvPr id="3" name="Content Placeholder 2">
            <a:extLst>
              <a:ext uri="{FF2B5EF4-FFF2-40B4-BE49-F238E27FC236}">
                <a16:creationId xmlns:a16="http://schemas.microsoft.com/office/drawing/2014/main" id="{F09B9F90-47E6-4A8B-AF38-B048BE76F5B1}"/>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F10E9168-1BBD-4429-A29F-FAAD008FD8B2}"/>
              </a:ext>
            </a:extLst>
          </p:cNvPr>
          <p:cNvSpPr>
            <a:spLocks noGrp="1"/>
          </p:cNvSpPr>
          <p:nvPr>
            <p:ph type="sldNum" sz="quarter" idx="12"/>
          </p:nvPr>
        </p:nvSpPr>
        <p:spPr/>
        <p:txBody>
          <a:bodyPr/>
          <a:lstStyle/>
          <a:p>
            <a:fld id="{BB2CE0DE-867F-455F-B20B-96D381B4AB71}" type="slidenum">
              <a:rPr lang="en-US" smtClean="0"/>
              <a:t>71</a:t>
            </a:fld>
            <a:endParaRPr lang="en-US"/>
          </a:p>
        </p:txBody>
      </p:sp>
      <p:pic>
        <p:nvPicPr>
          <p:cNvPr id="10" name="Picture 9">
            <a:extLst>
              <a:ext uri="{FF2B5EF4-FFF2-40B4-BE49-F238E27FC236}">
                <a16:creationId xmlns:a16="http://schemas.microsoft.com/office/drawing/2014/main" id="{72AC7BE8-D395-4EC3-9B6C-C4D34DF5149E}"/>
              </a:ext>
            </a:extLst>
          </p:cNvPr>
          <p:cNvPicPr>
            <a:picLocks noChangeAspect="1"/>
          </p:cNvPicPr>
          <p:nvPr/>
        </p:nvPicPr>
        <p:blipFill>
          <a:blip r:embed="rId3"/>
          <a:stretch>
            <a:fillRect/>
          </a:stretch>
        </p:blipFill>
        <p:spPr>
          <a:xfrm>
            <a:off x="566738" y="1199530"/>
            <a:ext cx="6382641" cy="4439270"/>
          </a:xfrm>
          <a:prstGeom prst="rect">
            <a:avLst/>
          </a:prstGeom>
        </p:spPr>
      </p:pic>
    </p:spTree>
    <p:extLst>
      <p:ext uri="{BB962C8B-B14F-4D97-AF65-F5344CB8AC3E}">
        <p14:creationId xmlns:p14="http://schemas.microsoft.com/office/powerpoint/2010/main" val="35903571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83ED-AA95-45D8-AF3A-0C8D0D787F3E}"/>
              </a:ext>
            </a:extLst>
          </p:cNvPr>
          <p:cNvSpPr>
            <a:spLocks noGrp="1"/>
          </p:cNvSpPr>
          <p:nvPr>
            <p:ph type="title"/>
          </p:nvPr>
        </p:nvSpPr>
        <p:spPr/>
        <p:txBody>
          <a:bodyPr/>
          <a:lstStyle/>
          <a:p>
            <a:r>
              <a:rPr lang="en-US" sz="1600" dirty="0"/>
              <a:t>Determine when the slope of the curve </a:t>
            </a:r>
            <a:r>
              <a:rPr lang="en-US" sz="1600" dirty="0">
                <a:effectLst/>
              </a:rPr>
              <a:t>𝑓(𝑥)=𝑥</a:t>
            </a:r>
            <a:r>
              <a:rPr lang="en-US" sz="1600" baseline="30000" dirty="0">
                <a:effectLst/>
              </a:rPr>
              <a:t>2</a:t>
            </a:r>
            <a:r>
              <a:rPr lang="en-US" sz="1600" dirty="0">
                <a:effectLst/>
              </a:rPr>
              <a:t> </a:t>
            </a:r>
            <a:r>
              <a:rPr lang="en-US" sz="1600" dirty="0"/>
              <a:t>is negative and positive.</a:t>
            </a:r>
            <a:endParaRPr lang="en-IN" sz="1600" dirty="0"/>
          </a:p>
        </p:txBody>
      </p:sp>
      <p:sp>
        <p:nvSpPr>
          <p:cNvPr id="3" name="Content Placeholder 2">
            <a:extLst>
              <a:ext uri="{FF2B5EF4-FFF2-40B4-BE49-F238E27FC236}">
                <a16:creationId xmlns:a16="http://schemas.microsoft.com/office/drawing/2014/main" id="{CBD2A727-65E5-49D4-8CE2-4B3E7D45349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8226FC51-7E81-4D79-A6EF-A058C418B80C}"/>
              </a:ext>
            </a:extLst>
          </p:cNvPr>
          <p:cNvSpPr>
            <a:spLocks noGrp="1"/>
          </p:cNvSpPr>
          <p:nvPr>
            <p:ph type="sldNum" sz="quarter" idx="12"/>
          </p:nvPr>
        </p:nvSpPr>
        <p:spPr/>
        <p:txBody>
          <a:bodyPr/>
          <a:lstStyle/>
          <a:p>
            <a:fld id="{BB2CE0DE-867F-455F-B20B-96D381B4AB71}" type="slidenum">
              <a:rPr lang="en-US" smtClean="0"/>
              <a:t>72</a:t>
            </a:fld>
            <a:endParaRPr lang="en-US"/>
          </a:p>
        </p:txBody>
      </p:sp>
      <p:pic>
        <p:nvPicPr>
          <p:cNvPr id="8" name="Picture 7">
            <a:extLst>
              <a:ext uri="{FF2B5EF4-FFF2-40B4-BE49-F238E27FC236}">
                <a16:creationId xmlns:a16="http://schemas.microsoft.com/office/drawing/2014/main" id="{22F0CDC4-2CDD-4989-82E8-0568FA5CB501}"/>
              </a:ext>
            </a:extLst>
          </p:cNvPr>
          <p:cNvPicPr>
            <a:picLocks noChangeAspect="1"/>
          </p:cNvPicPr>
          <p:nvPr/>
        </p:nvPicPr>
        <p:blipFill>
          <a:blip r:embed="rId2"/>
          <a:stretch>
            <a:fillRect/>
          </a:stretch>
        </p:blipFill>
        <p:spPr>
          <a:xfrm>
            <a:off x="577065" y="1219200"/>
            <a:ext cx="6220693" cy="4686954"/>
          </a:xfrm>
          <a:prstGeom prst="rect">
            <a:avLst/>
          </a:prstGeom>
        </p:spPr>
      </p:pic>
    </p:spTree>
    <p:extLst>
      <p:ext uri="{BB962C8B-B14F-4D97-AF65-F5344CB8AC3E}">
        <p14:creationId xmlns:p14="http://schemas.microsoft.com/office/powerpoint/2010/main" val="584556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888E-499F-43A3-8E9A-87DBA1718709}"/>
              </a:ext>
            </a:extLst>
          </p:cNvPr>
          <p:cNvSpPr>
            <a:spLocks noGrp="1"/>
          </p:cNvSpPr>
          <p:nvPr>
            <p:ph type="title"/>
          </p:nvPr>
        </p:nvSpPr>
        <p:spPr/>
        <p:txBody>
          <a:bodyPr/>
          <a:lstStyle/>
          <a:p>
            <a:pPr rtl="0" fontAlgn="auto"/>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9DEEA47F-D0E4-4259-9CAD-0448EA224E8C}"/>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82FB9E90-0A8F-464F-B5AB-DD421443C839}"/>
              </a:ext>
            </a:extLst>
          </p:cNvPr>
          <p:cNvSpPr>
            <a:spLocks noGrp="1"/>
          </p:cNvSpPr>
          <p:nvPr>
            <p:ph type="sldNum" sz="quarter" idx="12"/>
          </p:nvPr>
        </p:nvSpPr>
        <p:spPr/>
        <p:txBody>
          <a:bodyPr/>
          <a:lstStyle/>
          <a:p>
            <a:fld id="{BB2CE0DE-867F-455F-B20B-96D381B4AB71}" type="slidenum">
              <a:rPr lang="en-US" smtClean="0"/>
              <a:t>73</a:t>
            </a:fld>
            <a:endParaRPr lang="en-US"/>
          </a:p>
        </p:txBody>
      </p:sp>
      <p:pic>
        <p:nvPicPr>
          <p:cNvPr id="10" name="Picture 9">
            <a:extLst>
              <a:ext uri="{FF2B5EF4-FFF2-40B4-BE49-F238E27FC236}">
                <a16:creationId xmlns:a16="http://schemas.microsoft.com/office/drawing/2014/main" id="{D2AE5DC7-BFE1-4464-9EB9-F5F1E536F6C1}"/>
              </a:ext>
            </a:extLst>
          </p:cNvPr>
          <p:cNvPicPr>
            <a:picLocks noChangeAspect="1"/>
          </p:cNvPicPr>
          <p:nvPr/>
        </p:nvPicPr>
        <p:blipFill>
          <a:blip r:embed="rId3"/>
          <a:stretch>
            <a:fillRect/>
          </a:stretch>
        </p:blipFill>
        <p:spPr>
          <a:xfrm>
            <a:off x="609599" y="1239748"/>
            <a:ext cx="7404355" cy="4551452"/>
          </a:xfrm>
          <a:prstGeom prst="rect">
            <a:avLst/>
          </a:prstGeom>
        </p:spPr>
      </p:pic>
    </p:spTree>
    <p:extLst>
      <p:ext uri="{BB962C8B-B14F-4D97-AF65-F5344CB8AC3E}">
        <p14:creationId xmlns:p14="http://schemas.microsoft.com/office/powerpoint/2010/main" val="20740626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227E6-693F-4891-B6B4-62B132256A76}"/>
              </a:ext>
            </a:extLst>
          </p:cNvPr>
          <p:cNvSpPr>
            <a:spLocks noGrp="1"/>
          </p:cNvSpPr>
          <p:nvPr>
            <p:ph type="title"/>
          </p:nvPr>
        </p:nvSpPr>
        <p:spPr/>
        <p:txBody>
          <a:bodyPr/>
          <a:lstStyle/>
          <a:p>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2DF6CC8C-D8DD-45BB-84AA-3F9ACE39E15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75BBE0DA-B6EC-458F-8AF0-646B0A1FDFED}"/>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8" name="Picture 7">
            <a:extLst>
              <a:ext uri="{FF2B5EF4-FFF2-40B4-BE49-F238E27FC236}">
                <a16:creationId xmlns:a16="http://schemas.microsoft.com/office/drawing/2014/main" id="{9DA9C181-6921-42D9-AEA8-8A35F063670B}"/>
              </a:ext>
            </a:extLst>
          </p:cNvPr>
          <p:cNvPicPr>
            <a:picLocks noChangeAspect="1"/>
          </p:cNvPicPr>
          <p:nvPr/>
        </p:nvPicPr>
        <p:blipFill>
          <a:blip r:embed="rId2"/>
          <a:stretch>
            <a:fillRect/>
          </a:stretch>
        </p:blipFill>
        <p:spPr>
          <a:xfrm>
            <a:off x="609600" y="1265028"/>
            <a:ext cx="7094410" cy="2448224"/>
          </a:xfrm>
          <a:prstGeom prst="rect">
            <a:avLst/>
          </a:prstGeom>
        </p:spPr>
      </p:pic>
    </p:spTree>
    <p:extLst>
      <p:ext uri="{BB962C8B-B14F-4D97-AF65-F5344CB8AC3E}">
        <p14:creationId xmlns:p14="http://schemas.microsoft.com/office/powerpoint/2010/main" val="282099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227E6-693F-4891-B6B4-62B132256A76}"/>
              </a:ext>
            </a:extLst>
          </p:cNvPr>
          <p:cNvSpPr>
            <a:spLocks noGrp="1"/>
          </p:cNvSpPr>
          <p:nvPr>
            <p:ph type="title"/>
          </p:nvPr>
        </p:nvSpPr>
        <p:spPr/>
        <p:txBody>
          <a:bodyPr/>
          <a:lstStyle/>
          <a:p>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2DF6CC8C-D8DD-45BB-84AA-3F9ACE39E15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75BBE0DA-B6EC-458F-8AF0-646B0A1FDFED}"/>
              </a:ext>
            </a:extLst>
          </p:cNvPr>
          <p:cNvSpPr>
            <a:spLocks noGrp="1"/>
          </p:cNvSpPr>
          <p:nvPr>
            <p:ph type="sldNum" sz="quarter" idx="12"/>
          </p:nvPr>
        </p:nvSpPr>
        <p:spPr/>
        <p:txBody>
          <a:bodyPr/>
          <a:lstStyle/>
          <a:p>
            <a:fld id="{BB2CE0DE-867F-455F-B20B-96D381B4AB71}" type="slidenum">
              <a:rPr lang="en-US" smtClean="0"/>
              <a:t>75</a:t>
            </a:fld>
            <a:endParaRPr lang="en-US"/>
          </a:p>
        </p:txBody>
      </p:sp>
      <p:pic>
        <p:nvPicPr>
          <p:cNvPr id="8" name="Picture 7">
            <a:extLst>
              <a:ext uri="{FF2B5EF4-FFF2-40B4-BE49-F238E27FC236}">
                <a16:creationId xmlns:a16="http://schemas.microsoft.com/office/drawing/2014/main" id="{9DA9C181-6921-42D9-AEA8-8A35F063670B}"/>
              </a:ext>
            </a:extLst>
          </p:cNvPr>
          <p:cNvPicPr>
            <a:picLocks noChangeAspect="1"/>
          </p:cNvPicPr>
          <p:nvPr/>
        </p:nvPicPr>
        <p:blipFill>
          <a:blip r:embed="rId2"/>
          <a:stretch>
            <a:fillRect/>
          </a:stretch>
        </p:blipFill>
        <p:spPr>
          <a:xfrm>
            <a:off x="609600" y="1265028"/>
            <a:ext cx="7094410" cy="2448224"/>
          </a:xfrm>
          <a:prstGeom prst="rect">
            <a:avLst/>
          </a:prstGeom>
        </p:spPr>
      </p:pic>
      <p:pic>
        <p:nvPicPr>
          <p:cNvPr id="10" name="Picture 9">
            <a:extLst>
              <a:ext uri="{FF2B5EF4-FFF2-40B4-BE49-F238E27FC236}">
                <a16:creationId xmlns:a16="http://schemas.microsoft.com/office/drawing/2014/main" id="{7518ACDF-B08C-488A-91C1-63B53E92DD17}"/>
              </a:ext>
            </a:extLst>
          </p:cNvPr>
          <p:cNvPicPr>
            <a:picLocks noChangeAspect="1"/>
          </p:cNvPicPr>
          <p:nvPr/>
        </p:nvPicPr>
        <p:blipFill>
          <a:blip r:embed="rId3"/>
          <a:stretch>
            <a:fillRect/>
          </a:stretch>
        </p:blipFill>
        <p:spPr>
          <a:xfrm>
            <a:off x="457200" y="3865652"/>
            <a:ext cx="8848161" cy="1371600"/>
          </a:xfrm>
          <a:prstGeom prst="rect">
            <a:avLst/>
          </a:prstGeom>
        </p:spPr>
      </p:pic>
    </p:spTree>
    <p:extLst>
      <p:ext uri="{BB962C8B-B14F-4D97-AF65-F5344CB8AC3E}">
        <p14:creationId xmlns:p14="http://schemas.microsoft.com/office/powerpoint/2010/main" val="23592007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A8641-85E8-4497-B115-CA0710002401}"/>
              </a:ext>
            </a:extLst>
          </p:cNvPr>
          <p:cNvSpPr>
            <a:spLocks noGrp="1"/>
          </p:cNvSpPr>
          <p:nvPr>
            <p:ph type="title"/>
          </p:nvPr>
        </p:nvSpPr>
        <p:spPr/>
        <p:txBody>
          <a:bodyPr/>
          <a:lstStyle/>
          <a:p>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52645333-85C8-4D48-9066-0DCBCE5B1EE1}"/>
              </a:ext>
            </a:extLst>
          </p:cNvPr>
          <p:cNvSpPr>
            <a:spLocks noGrp="1"/>
          </p:cNvSpPr>
          <p:nvPr>
            <p:ph idx="1"/>
          </p:nvPr>
        </p:nvSpPr>
        <p:spPr/>
        <p:txBody>
          <a:bodyPr/>
          <a:lstStyle/>
          <a:p>
            <a:endParaRPr lang="en-IN" dirty="0"/>
          </a:p>
        </p:txBody>
      </p:sp>
      <p:sp>
        <p:nvSpPr>
          <p:cNvPr id="6" name="Slide Number Placeholder 5">
            <a:extLst>
              <a:ext uri="{FF2B5EF4-FFF2-40B4-BE49-F238E27FC236}">
                <a16:creationId xmlns:a16="http://schemas.microsoft.com/office/drawing/2014/main" id="{26F99941-D425-4EA6-B131-A88A19F89954}"/>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8" name="Picture 7">
            <a:extLst>
              <a:ext uri="{FF2B5EF4-FFF2-40B4-BE49-F238E27FC236}">
                <a16:creationId xmlns:a16="http://schemas.microsoft.com/office/drawing/2014/main" id="{61E2E5A4-980A-427E-B4A5-9588228BB5BB}"/>
              </a:ext>
            </a:extLst>
          </p:cNvPr>
          <p:cNvPicPr>
            <a:picLocks noChangeAspect="1"/>
          </p:cNvPicPr>
          <p:nvPr/>
        </p:nvPicPr>
        <p:blipFill>
          <a:blip r:embed="rId2"/>
          <a:stretch>
            <a:fillRect/>
          </a:stretch>
        </p:blipFill>
        <p:spPr>
          <a:xfrm>
            <a:off x="381001" y="1219200"/>
            <a:ext cx="8534400" cy="1431235"/>
          </a:xfrm>
          <a:prstGeom prst="rect">
            <a:avLst/>
          </a:prstGeom>
        </p:spPr>
      </p:pic>
      <p:pic>
        <p:nvPicPr>
          <p:cNvPr id="12" name="Picture 11">
            <a:extLst>
              <a:ext uri="{FF2B5EF4-FFF2-40B4-BE49-F238E27FC236}">
                <a16:creationId xmlns:a16="http://schemas.microsoft.com/office/drawing/2014/main" id="{E72FD384-5E26-4E1A-BA74-17BB04691F60}"/>
              </a:ext>
            </a:extLst>
          </p:cNvPr>
          <p:cNvPicPr>
            <a:picLocks noChangeAspect="1"/>
          </p:cNvPicPr>
          <p:nvPr/>
        </p:nvPicPr>
        <p:blipFill>
          <a:blip r:embed="rId3"/>
          <a:stretch>
            <a:fillRect/>
          </a:stretch>
        </p:blipFill>
        <p:spPr>
          <a:xfrm>
            <a:off x="381000" y="2944105"/>
            <a:ext cx="7990455" cy="1170695"/>
          </a:xfrm>
          <a:prstGeom prst="rect">
            <a:avLst/>
          </a:prstGeom>
        </p:spPr>
      </p:pic>
    </p:spTree>
    <p:extLst>
      <p:ext uri="{BB962C8B-B14F-4D97-AF65-F5344CB8AC3E}">
        <p14:creationId xmlns:p14="http://schemas.microsoft.com/office/powerpoint/2010/main" val="9038178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7CC4-F253-4A8B-8F87-169741F0754F}"/>
              </a:ext>
            </a:extLst>
          </p:cNvPr>
          <p:cNvSpPr>
            <a:spLocks noGrp="1"/>
          </p:cNvSpPr>
          <p:nvPr>
            <p:ph type="title"/>
          </p:nvPr>
        </p:nvSpPr>
        <p:spPr/>
        <p:txBody>
          <a:bodyPr/>
          <a:lstStyle/>
          <a:p>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53EBC82D-12F0-4DE3-A670-202619FB9317}"/>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A33E81DC-E074-4FD9-A031-B77F669FE65A}"/>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8" name="Picture 7">
            <a:extLst>
              <a:ext uri="{FF2B5EF4-FFF2-40B4-BE49-F238E27FC236}">
                <a16:creationId xmlns:a16="http://schemas.microsoft.com/office/drawing/2014/main" id="{B949E40C-0260-4EFB-9DE7-782ECAA0B8F4}"/>
              </a:ext>
            </a:extLst>
          </p:cNvPr>
          <p:cNvPicPr>
            <a:picLocks noChangeAspect="1"/>
          </p:cNvPicPr>
          <p:nvPr/>
        </p:nvPicPr>
        <p:blipFill>
          <a:blip r:embed="rId2"/>
          <a:stretch>
            <a:fillRect/>
          </a:stretch>
        </p:blipFill>
        <p:spPr>
          <a:xfrm>
            <a:off x="457200" y="914400"/>
            <a:ext cx="5562600" cy="5441297"/>
          </a:xfrm>
          <a:prstGeom prst="rect">
            <a:avLst/>
          </a:prstGeom>
        </p:spPr>
      </p:pic>
    </p:spTree>
    <p:extLst>
      <p:ext uri="{BB962C8B-B14F-4D97-AF65-F5344CB8AC3E}">
        <p14:creationId xmlns:p14="http://schemas.microsoft.com/office/powerpoint/2010/main" val="30534964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32F7-BB12-4A36-98A0-F2E217972F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D856DF-4C84-419F-9BE5-4D910D537F4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16FAE540-DB28-46D6-973E-2C1A52DC6F5B}"/>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8" name="Picture 7">
            <a:extLst>
              <a:ext uri="{FF2B5EF4-FFF2-40B4-BE49-F238E27FC236}">
                <a16:creationId xmlns:a16="http://schemas.microsoft.com/office/drawing/2014/main" id="{3DD3D747-A262-4ADB-A5AE-DE27061DEC03}"/>
              </a:ext>
            </a:extLst>
          </p:cNvPr>
          <p:cNvPicPr>
            <a:picLocks noChangeAspect="1"/>
          </p:cNvPicPr>
          <p:nvPr/>
        </p:nvPicPr>
        <p:blipFill>
          <a:blip r:embed="rId2"/>
          <a:stretch>
            <a:fillRect/>
          </a:stretch>
        </p:blipFill>
        <p:spPr>
          <a:xfrm>
            <a:off x="30822" y="0"/>
            <a:ext cx="4210493" cy="6858000"/>
          </a:xfrm>
          <a:prstGeom prst="rect">
            <a:avLst/>
          </a:prstGeom>
        </p:spPr>
      </p:pic>
      <p:pic>
        <p:nvPicPr>
          <p:cNvPr id="10" name="Picture 9">
            <a:extLst>
              <a:ext uri="{FF2B5EF4-FFF2-40B4-BE49-F238E27FC236}">
                <a16:creationId xmlns:a16="http://schemas.microsoft.com/office/drawing/2014/main" id="{F6150D7F-20D7-44F4-AA9E-59FFEDB86622}"/>
              </a:ext>
            </a:extLst>
          </p:cNvPr>
          <p:cNvPicPr>
            <a:picLocks noChangeAspect="1"/>
          </p:cNvPicPr>
          <p:nvPr/>
        </p:nvPicPr>
        <p:blipFill>
          <a:blip r:embed="rId3"/>
          <a:stretch>
            <a:fillRect/>
          </a:stretch>
        </p:blipFill>
        <p:spPr>
          <a:xfrm>
            <a:off x="4836410" y="0"/>
            <a:ext cx="3850389" cy="6858000"/>
          </a:xfrm>
          <a:prstGeom prst="rect">
            <a:avLst/>
          </a:prstGeom>
        </p:spPr>
      </p:pic>
    </p:spTree>
    <p:extLst>
      <p:ext uri="{BB962C8B-B14F-4D97-AF65-F5344CB8AC3E}">
        <p14:creationId xmlns:p14="http://schemas.microsoft.com/office/powerpoint/2010/main" val="27337827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F3171-71AD-4B91-A4DE-D5FF97F50515}"/>
              </a:ext>
            </a:extLst>
          </p:cNvPr>
          <p:cNvSpPr>
            <a:spLocks noGrp="1"/>
          </p:cNvSpPr>
          <p:nvPr>
            <p:ph type="title"/>
          </p:nvPr>
        </p:nvSpPr>
        <p:spPr/>
        <p:txBody>
          <a:bodyPr/>
          <a:lstStyle/>
          <a:p>
            <a:r>
              <a:rPr lang="en-US" sz="1600" dirty="0"/>
              <a:t>Finding the minimum value of the function </a:t>
            </a:r>
            <a:r>
              <a:rPr lang="en-US" sz="1600" dirty="0">
                <a:effectLst/>
              </a:rPr>
              <a:t>f(x)=𝑥</a:t>
            </a:r>
            <a:r>
              <a:rPr lang="en-US" sz="1600" baseline="30000" dirty="0">
                <a:effectLst/>
              </a:rPr>
              <a:t>2 </a:t>
            </a:r>
            <a:r>
              <a:rPr lang="en-US" sz="1600" dirty="0"/>
              <a:t>using gradient descent.</a:t>
            </a:r>
            <a:endParaRPr lang="en-IN" sz="1600" dirty="0"/>
          </a:p>
        </p:txBody>
      </p:sp>
      <p:sp>
        <p:nvSpPr>
          <p:cNvPr id="3" name="Content Placeholder 2">
            <a:extLst>
              <a:ext uri="{FF2B5EF4-FFF2-40B4-BE49-F238E27FC236}">
                <a16:creationId xmlns:a16="http://schemas.microsoft.com/office/drawing/2014/main" id="{63A845C1-1395-4508-844D-2FF030EA56A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6136E181-328A-4DEF-A838-CB08E74E224A}"/>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8" name="Picture 7">
            <a:extLst>
              <a:ext uri="{FF2B5EF4-FFF2-40B4-BE49-F238E27FC236}">
                <a16:creationId xmlns:a16="http://schemas.microsoft.com/office/drawing/2014/main" id="{BF86B9D4-11D1-45F5-86E6-6400549664F1}"/>
              </a:ext>
            </a:extLst>
          </p:cNvPr>
          <p:cNvPicPr>
            <a:picLocks noChangeAspect="1"/>
          </p:cNvPicPr>
          <p:nvPr/>
        </p:nvPicPr>
        <p:blipFill>
          <a:blip r:embed="rId2"/>
          <a:stretch>
            <a:fillRect/>
          </a:stretch>
        </p:blipFill>
        <p:spPr>
          <a:xfrm>
            <a:off x="609600" y="1246598"/>
            <a:ext cx="8078163" cy="2334802"/>
          </a:xfrm>
          <a:prstGeom prst="rect">
            <a:avLst/>
          </a:prstGeom>
        </p:spPr>
      </p:pic>
    </p:spTree>
    <p:extLst>
      <p:ext uri="{BB962C8B-B14F-4D97-AF65-F5344CB8AC3E}">
        <p14:creationId xmlns:p14="http://schemas.microsoft.com/office/powerpoint/2010/main" val="14731451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E29D-0CE3-4583-8285-FDA68F6F047C}"/>
              </a:ext>
            </a:extLst>
          </p:cNvPr>
          <p:cNvSpPr>
            <a:spLocks noGrp="1"/>
          </p:cNvSpPr>
          <p:nvPr>
            <p:ph type="title"/>
          </p:nvPr>
        </p:nvSpPr>
        <p:spPr/>
        <p:txBody>
          <a:bodyPr/>
          <a:lstStyle/>
          <a:p>
            <a:r>
              <a:rPr lang="en-US" dirty="0"/>
              <a:t>Gradient Descent and Delta Rule</a:t>
            </a:r>
            <a:endParaRPr lang="en-IN" dirty="0"/>
          </a:p>
        </p:txBody>
      </p:sp>
      <p:sp>
        <p:nvSpPr>
          <p:cNvPr id="3" name="Content Placeholder 2">
            <a:extLst>
              <a:ext uri="{FF2B5EF4-FFF2-40B4-BE49-F238E27FC236}">
                <a16:creationId xmlns:a16="http://schemas.microsoft.com/office/drawing/2014/main" id="{91D2C261-D219-4745-A0D3-48F719B37F7B}"/>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478A8195-4CAA-40BB-B646-46CD0F775C92}"/>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8" name="Picture 7">
            <a:extLst>
              <a:ext uri="{FF2B5EF4-FFF2-40B4-BE49-F238E27FC236}">
                <a16:creationId xmlns:a16="http://schemas.microsoft.com/office/drawing/2014/main" id="{A363B14A-A53B-4FC3-B816-22077C74830C}"/>
              </a:ext>
            </a:extLst>
          </p:cNvPr>
          <p:cNvPicPr>
            <a:picLocks noChangeAspect="1"/>
          </p:cNvPicPr>
          <p:nvPr/>
        </p:nvPicPr>
        <p:blipFill>
          <a:blip r:embed="rId2"/>
          <a:stretch>
            <a:fillRect/>
          </a:stretch>
        </p:blipFill>
        <p:spPr>
          <a:xfrm>
            <a:off x="229394" y="1065212"/>
            <a:ext cx="8691562" cy="3925435"/>
          </a:xfrm>
          <a:prstGeom prst="rect">
            <a:avLst/>
          </a:prstGeom>
        </p:spPr>
      </p:pic>
    </p:spTree>
    <p:extLst>
      <p:ext uri="{BB962C8B-B14F-4D97-AF65-F5344CB8AC3E}">
        <p14:creationId xmlns:p14="http://schemas.microsoft.com/office/powerpoint/2010/main" val="20652581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0C0C-8164-4D27-8A43-2393A451E8AA}"/>
              </a:ext>
            </a:extLst>
          </p:cNvPr>
          <p:cNvSpPr>
            <a:spLocks noGrp="1"/>
          </p:cNvSpPr>
          <p:nvPr>
            <p:ph type="title"/>
          </p:nvPr>
        </p:nvSpPr>
        <p:spPr/>
        <p:txBody>
          <a:bodyPr/>
          <a:lstStyle/>
          <a:p>
            <a:r>
              <a:rPr lang="en-US" sz="2400" dirty="0"/>
              <a:t>What is Gradient Descent ? </a:t>
            </a:r>
            <a:endParaRPr lang="en-IN" sz="2400" dirty="0"/>
          </a:p>
        </p:txBody>
      </p:sp>
      <p:sp>
        <p:nvSpPr>
          <p:cNvPr id="3" name="Content Placeholder 2">
            <a:extLst>
              <a:ext uri="{FF2B5EF4-FFF2-40B4-BE49-F238E27FC236}">
                <a16:creationId xmlns:a16="http://schemas.microsoft.com/office/drawing/2014/main" id="{883D0BE0-ED61-4E93-98A5-8D800EF7F7C9}"/>
              </a:ext>
            </a:extLst>
          </p:cNvPr>
          <p:cNvSpPr>
            <a:spLocks noGrp="1"/>
          </p:cNvSpPr>
          <p:nvPr>
            <p:ph idx="1"/>
          </p:nvPr>
        </p:nvSpPr>
        <p:spPr/>
        <p:txBody>
          <a:bodyPr/>
          <a:lstStyle/>
          <a:p>
            <a:pPr marL="0" indent="0" algn="just">
              <a:buNone/>
            </a:pPr>
            <a:r>
              <a:rPr lang="en-US" sz="1600" dirty="0"/>
              <a:t>Gradient Descent: </a:t>
            </a:r>
            <a:r>
              <a:rPr lang="en-US" sz="1600" b="1" dirty="0"/>
              <a:t>Gradient Descent</a:t>
            </a:r>
            <a:r>
              <a:rPr lang="en-US" sz="1600" dirty="0"/>
              <a:t> is an </a:t>
            </a:r>
            <a:r>
              <a:rPr lang="en-US" sz="1600" b="1" dirty="0"/>
              <a:t>optimization algorithm</a:t>
            </a:r>
            <a:r>
              <a:rPr lang="en-US" sz="1600" dirty="0"/>
              <a:t> used to minimize the </a:t>
            </a:r>
            <a:r>
              <a:rPr lang="en-US" sz="1600" b="1" dirty="0"/>
              <a:t>loss function</a:t>
            </a:r>
            <a:r>
              <a:rPr lang="en-US" sz="1600" dirty="0"/>
              <a:t> (or error) in a neural network (or any ML model).</a:t>
            </a:r>
          </a:p>
          <a:p>
            <a:pPr marL="0" indent="0" algn="just">
              <a:buNone/>
            </a:pPr>
            <a:r>
              <a:rPr lang="en-US" sz="1600" b="1" dirty="0"/>
              <a:t>Intuition: </a:t>
            </a:r>
            <a:r>
              <a:rPr lang="en-US" sz="1600" dirty="0"/>
              <a:t>Think of it like </a:t>
            </a:r>
            <a:r>
              <a:rPr lang="en-US" sz="1600" b="1" dirty="0"/>
              <a:t>walking downhill</a:t>
            </a:r>
            <a:r>
              <a:rPr lang="en-US" sz="1600" dirty="0"/>
              <a:t> on a landscape (the error surface), where the goal is to reach the </a:t>
            </a:r>
            <a:r>
              <a:rPr lang="en-US" sz="1600" b="1" dirty="0"/>
              <a:t>lowest point</a:t>
            </a:r>
            <a:r>
              <a:rPr lang="en-US" sz="1600" dirty="0"/>
              <a:t> (minimum error). At each step, you look at the slope (gradient) and take a step in the </a:t>
            </a:r>
            <a:r>
              <a:rPr lang="en-US" sz="1600" b="1" dirty="0"/>
              <a:t>opposite direction</a:t>
            </a:r>
            <a:r>
              <a:rPr lang="en-US" sz="1600" dirty="0"/>
              <a:t>—because you want to go </a:t>
            </a:r>
            <a:r>
              <a:rPr lang="en-US" sz="1600" b="1" dirty="0"/>
              <a:t>downhill</a:t>
            </a:r>
            <a:r>
              <a:rPr lang="en-US" sz="1600" dirty="0"/>
              <a:t>.</a:t>
            </a:r>
          </a:p>
          <a:p>
            <a:pPr marL="0" indent="0" algn="just">
              <a:buNone/>
            </a:pPr>
            <a:endParaRPr lang="en-IN" sz="1600" dirty="0"/>
          </a:p>
          <a:p>
            <a:pPr marL="0" indent="0" algn="just">
              <a:buNone/>
            </a:pPr>
            <a:endParaRPr lang="en-IN" sz="1600" dirty="0"/>
          </a:p>
          <a:p>
            <a:pPr marL="0" indent="0" algn="just">
              <a:buNone/>
            </a:pPr>
            <a:endParaRPr lang="en-IN" sz="1600" dirty="0"/>
          </a:p>
        </p:txBody>
      </p:sp>
      <p:sp>
        <p:nvSpPr>
          <p:cNvPr id="6" name="Slide Number Placeholder 5">
            <a:extLst>
              <a:ext uri="{FF2B5EF4-FFF2-40B4-BE49-F238E27FC236}">
                <a16:creationId xmlns:a16="http://schemas.microsoft.com/office/drawing/2014/main" id="{3711975D-CF83-46F4-B0AF-04A5158F2C10}"/>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7" name="Picture 6">
            <a:extLst>
              <a:ext uri="{FF2B5EF4-FFF2-40B4-BE49-F238E27FC236}">
                <a16:creationId xmlns:a16="http://schemas.microsoft.com/office/drawing/2014/main" id="{7EE1CFB2-23C4-4FAE-A6B8-CD435F8AC085}"/>
              </a:ext>
            </a:extLst>
          </p:cNvPr>
          <p:cNvPicPr>
            <a:picLocks noChangeAspect="1"/>
          </p:cNvPicPr>
          <p:nvPr/>
        </p:nvPicPr>
        <p:blipFill>
          <a:blip r:embed="rId2"/>
          <a:stretch>
            <a:fillRect/>
          </a:stretch>
        </p:blipFill>
        <p:spPr>
          <a:xfrm>
            <a:off x="457200" y="3713252"/>
            <a:ext cx="3698010" cy="2218807"/>
          </a:xfrm>
          <a:prstGeom prst="rect">
            <a:avLst/>
          </a:prstGeom>
        </p:spPr>
      </p:pic>
      <p:pic>
        <p:nvPicPr>
          <p:cNvPr id="8" name="Content Placeholder 8">
            <a:extLst>
              <a:ext uri="{FF2B5EF4-FFF2-40B4-BE49-F238E27FC236}">
                <a16:creationId xmlns:a16="http://schemas.microsoft.com/office/drawing/2014/main" id="{66410215-2F05-4E82-ADAC-4DD0847588BD}"/>
              </a:ext>
            </a:extLst>
          </p:cNvPr>
          <p:cNvPicPr>
            <a:picLocks noChangeAspect="1"/>
          </p:cNvPicPr>
          <p:nvPr/>
        </p:nvPicPr>
        <p:blipFill>
          <a:blip r:embed="rId3"/>
          <a:stretch>
            <a:fillRect/>
          </a:stretch>
        </p:blipFill>
        <p:spPr bwMode="auto">
          <a:xfrm>
            <a:off x="4575175" y="3680664"/>
            <a:ext cx="4267212" cy="228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60566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040C-2805-43C6-B61F-5793F83290FB}"/>
              </a:ext>
            </a:extLst>
          </p:cNvPr>
          <p:cNvSpPr>
            <a:spLocks noGrp="1"/>
          </p:cNvSpPr>
          <p:nvPr>
            <p:ph type="title"/>
          </p:nvPr>
        </p:nvSpPr>
        <p:spPr/>
        <p:txBody>
          <a:bodyPr/>
          <a:lstStyle/>
          <a:p>
            <a:r>
              <a:rPr lang="en-US" dirty="0"/>
              <a:t>What is Delta Rule ?</a:t>
            </a:r>
            <a:endParaRPr lang="en-IN" dirty="0"/>
          </a:p>
        </p:txBody>
      </p:sp>
      <p:sp>
        <p:nvSpPr>
          <p:cNvPr id="3" name="Content Placeholder 2">
            <a:extLst>
              <a:ext uri="{FF2B5EF4-FFF2-40B4-BE49-F238E27FC236}">
                <a16:creationId xmlns:a16="http://schemas.microsoft.com/office/drawing/2014/main" id="{F5A74565-0F47-44BC-BA05-BD42EC8C14AE}"/>
              </a:ext>
            </a:extLst>
          </p:cNvPr>
          <p:cNvSpPr>
            <a:spLocks noGrp="1"/>
          </p:cNvSpPr>
          <p:nvPr>
            <p:ph idx="1"/>
          </p:nvPr>
        </p:nvSpPr>
        <p:spPr/>
        <p:txBody>
          <a:bodyPr/>
          <a:lstStyle/>
          <a:p>
            <a:r>
              <a:rPr lang="en-US" sz="1800" dirty="0"/>
              <a:t>The </a:t>
            </a:r>
            <a:r>
              <a:rPr lang="en-US" sz="1800" b="1" dirty="0"/>
              <a:t>Delta Rule</a:t>
            </a:r>
            <a:r>
              <a:rPr lang="en-US" sz="1800" dirty="0"/>
              <a:t> (also called the </a:t>
            </a:r>
            <a:r>
              <a:rPr lang="en-US" sz="1800" b="1" dirty="0" err="1"/>
              <a:t>Widrow</a:t>
            </a:r>
            <a:r>
              <a:rPr lang="en-US" sz="1800" b="1" dirty="0"/>
              <a:t>-Hoff Rule</a:t>
            </a:r>
            <a:r>
              <a:rPr lang="en-US" sz="1800" dirty="0"/>
              <a:t>) is a special case of gradient descent used in </a:t>
            </a:r>
            <a:r>
              <a:rPr lang="en-US" sz="1800" b="1" dirty="0"/>
              <a:t>single-layer neural networks</a:t>
            </a:r>
            <a:r>
              <a:rPr lang="en-US" sz="1800" dirty="0"/>
              <a:t> (like the perceptron), where the update to the weights is:</a:t>
            </a:r>
          </a:p>
          <a:p>
            <a:pPr marL="0" indent="0">
              <a:buNone/>
            </a:pPr>
            <a:r>
              <a:rPr lang="en-US" sz="1800" dirty="0"/>
              <a:t>	</a:t>
            </a:r>
            <a:r>
              <a:rPr lang="en-US" sz="1800" dirty="0" err="1"/>
              <a:t>Δw</a:t>
            </a:r>
            <a:r>
              <a:rPr lang="en-US" sz="1800" dirty="0"/>
              <a:t>=η(t−o)x</a:t>
            </a:r>
          </a:p>
          <a:p>
            <a:pPr marL="0" indent="0">
              <a:buNone/>
            </a:pPr>
            <a:r>
              <a:rPr lang="en-US" sz="1800" dirty="0"/>
              <a:t>Where:</a:t>
            </a:r>
          </a:p>
          <a:p>
            <a:pPr>
              <a:buFont typeface="Arial" panose="020B0604020202020204" pitchFamily="34" charset="0"/>
              <a:buChar char="•"/>
            </a:pPr>
            <a:r>
              <a:rPr lang="en-US" sz="1800" dirty="0"/>
              <a:t>η: learning rate (step size)</a:t>
            </a:r>
          </a:p>
          <a:p>
            <a:pPr>
              <a:buFont typeface="Arial" panose="020B0604020202020204" pitchFamily="34" charset="0"/>
              <a:buChar char="•"/>
            </a:pPr>
            <a:r>
              <a:rPr lang="en-US" sz="1800" dirty="0"/>
              <a:t>t: target output</a:t>
            </a:r>
          </a:p>
          <a:p>
            <a:pPr>
              <a:buFont typeface="Arial" panose="020B0604020202020204" pitchFamily="34" charset="0"/>
              <a:buChar char="•"/>
            </a:pPr>
            <a:r>
              <a:rPr lang="en-US" sz="1800" dirty="0"/>
              <a:t>o: actual output</a:t>
            </a:r>
          </a:p>
          <a:p>
            <a:pPr>
              <a:buFont typeface="Arial" panose="020B0604020202020204" pitchFamily="34" charset="0"/>
              <a:buChar char="•"/>
            </a:pPr>
            <a:r>
              <a:rPr lang="en-US" sz="1800" dirty="0"/>
              <a:t>x: input feature</a:t>
            </a:r>
          </a:p>
          <a:p>
            <a:pPr marL="0" indent="0">
              <a:buNone/>
            </a:pPr>
            <a:endParaRPr lang="en-US" sz="1800" dirty="0"/>
          </a:p>
          <a:p>
            <a:pPr marL="0" indent="0">
              <a:buNone/>
            </a:pPr>
            <a:r>
              <a:rPr lang="en-US" sz="1800" dirty="0"/>
              <a:t>This rule adjusts the weights in the direction that </a:t>
            </a:r>
            <a:r>
              <a:rPr lang="en-US" sz="1800" b="1" dirty="0"/>
              <a:t>reduces the error</a:t>
            </a:r>
            <a:r>
              <a:rPr lang="en-US" sz="1800" dirty="0"/>
              <a:t> between predicted output and actual output.</a:t>
            </a:r>
          </a:p>
          <a:p>
            <a:pPr marL="0" indent="0">
              <a:buNone/>
            </a:pPr>
            <a:endParaRPr lang="en-IN" sz="1800" dirty="0"/>
          </a:p>
        </p:txBody>
      </p:sp>
      <p:sp>
        <p:nvSpPr>
          <p:cNvPr id="6" name="Slide Number Placeholder 5">
            <a:extLst>
              <a:ext uri="{FF2B5EF4-FFF2-40B4-BE49-F238E27FC236}">
                <a16:creationId xmlns:a16="http://schemas.microsoft.com/office/drawing/2014/main" id="{26191548-6D15-42E0-8B38-CD44FE62A992}"/>
              </a:ext>
            </a:extLst>
          </p:cNvPr>
          <p:cNvSpPr>
            <a:spLocks noGrp="1"/>
          </p:cNvSpPr>
          <p:nvPr>
            <p:ph type="sldNum" sz="quarter" idx="12"/>
          </p:nvPr>
        </p:nvSpPr>
        <p:spPr/>
        <p:txBody>
          <a:bodyPr/>
          <a:lstStyle/>
          <a:p>
            <a:fld id="{BB2CE0DE-867F-455F-B20B-96D381B4AB71}" type="slidenum">
              <a:rPr lang="en-US" smtClean="0"/>
              <a:t>82</a:t>
            </a:fld>
            <a:endParaRPr lang="en-US"/>
          </a:p>
        </p:txBody>
      </p:sp>
    </p:spTree>
    <p:extLst>
      <p:ext uri="{BB962C8B-B14F-4D97-AF65-F5344CB8AC3E}">
        <p14:creationId xmlns:p14="http://schemas.microsoft.com/office/powerpoint/2010/main" val="27785502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94F9-A9E3-4DAB-B2F5-034CA4D6AEC3}"/>
              </a:ext>
            </a:extLst>
          </p:cNvPr>
          <p:cNvSpPr>
            <a:spLocks noGrp="1"/>
          </p:cNvSpPr>
          <p:nvPr>
            <p:ph type="title"/>
          </p:nvPr>
        </p:nvSpPr>
        <p:spPr/>
        <p:txBody>
          <a:bodyPr/>
          <a:lstStyle/>
          <a:p>
            <a:r>
              <a:rPr lang="en-US" sz="2400" dirty="0"/>
              <a:t>Gradient Descent Algorithm (for learning weights)</a:t>
            </a:r>
            <a:endParaRPr lang="en-IN" sz="2400" dirty="0"/>
          </a:p>
        </p:txBody>
      </p:sp>
      <p:sp>
        <p:nvSpPr>
          <p:cNvPr id="3" name="Content Placeholder 2">
            <a:extLst>
              <a:ext uri="{FF2B5EF4-FFF2-40B4-BE49-F238E27FC236}">
                <a16:creationId xmlns:a16="http://schemas.microsoft.com/office/drawing/2014/main" id="{D5B65D98-ABDD-4B7E-B298-6F267EFB626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74CA19B0-32F6-4B4B-8EDD-8FC3E9D0B580}"/>
              </a:ext>
            </a:extLst>
          </p:cNvPr>
          <p:cNvSpPr>
            <a:spLocks noGrp="1"/>
          </p:cNvSpPr>
          <p:nvPr>
            <p:ph type="sldNum" sz="quarter" idx="12"/>
          </p:nvPr>
        </p:nvSpPr>
        <p:spPr/>
        <p:txBody>
          <a:bodyPr/>
          <a:lstStyle/>
          <a:p>
            <a:fld id="{BB2CE0DE-867F-455F-B20B-96D381B4AB71}" type="slidenum">
              <a:rPr lang="en-US" smtClean="0"/>
              <a:t>83</a:t>
            </a:fld>
            <a:endParaRPr lang="en-US"/>
          </a:p>
        </p:txBody>
      </p:sp>
      <p:pic>
        <p:nvPicPr>
          <p:cNvPr id="8" name="Picture 7">
            <a:extLst>
              <a:ext uri="{FF2B5EF4-FFF2-40B4-BE49-F238E27FC236}">
                <a16:creationId xmlns:a16="http://schemas.microsoft.com/office/drawing/2014/main" id="{91FF2121-D70D-44DA-BD12-4CC5F6D0B52C}"/>
              </a:ext>
            </a:extLst>
          </p:cNvPr>
          <p:cNvPicPr>
            <a:picLocks noChangeAspect="1"/>
          </p:cNvPicPr>
          <p:nvPr/>
        </p:nvPicPr>
        <p:blipFill>
          <a:blip r:embed="rId2"/>
          <a:stretch>
            <a:fillRect/>
          </a:stretch>
        </p:blipFill>
        <p:spPr>
          <a:xfrm>
            <a:off x="381000" y="1200363"/>
            <a:ext cx="7670195" cy="5502275"/>
          </a:xfrm>
          <a:prstGeom prst="rect">
            <a:avLst/>
          </a:prstGeom>
        </p:spPr>
      </p:pic>
    </p:spTree>
    <p:extLst>
      <p:ext uri="{BB962C8B-B14F-4D97-AF65-F5344CB8AC3E}">
        <p14:creationId xmlns:p14="http://schemas.microsoft.com/office/powerpoint/2010/main" val="8316976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D0D0-BEF1-4484-A301-E8EF56326708}"/>
              </a:ext>
            </a:extLst>
          </p:cNvPr>
          <p:cNvSpPr>
            <a:spLocks noGrp="1"/>
          </p:cNvSpPr>
          <p:nvPr>
            <p:ph type="title"/>
          </p:nvPr>
        </p:nvSpPr>
        <p:spPr/>
        <p:txBody>
          <a:bodyPr/>
          <a:lstStyle/>
          <a:p>
            <a:r>
              <a:rPr lang="en-US" dirty="0"/>
              <a:t>Basics of Neural Network</a:t>
            </a:r>
            <a:endParaRPr lang="en-IN" dirty="0"/>
          </a:p>
        </p:txBody>
      </p:sp>
      <p:sp>
        <p:nvSpPr>
          <p:cNvPr id="3" name="Content Placeholder 2">
            <a:extLst>
              <a:ext uri="{FF2B5EF4-FFF2-40B4-BE49-F238E27FC236}">
                <a16:creationId xmlns:a16="http://schemas.microsoft.com/office/drawing/2014/main" id="{2B800CC5-333C-43C5-AB0D-1362F51672DC}"/>
              </a:ext>
            </a:extLst>
          </p:cNvPr>
          <p:cNvSpPr>
            <a:spLocks noGrp="1"/>
          </p:cNvSpPr>
          <p:nvPr>
            <p:ph idx="1"/>
          </p:nvPr>
        </p:nvSpPr>
        <p:spPr/>
        <p:txBody>
          <a:bodyPr/>
          <a:lstStyle/>
          <a:p>
            <a:pPr algn="just"/>
            <a:r>
              <a:rPr lang="en-US" sz="2000" dirty="0"/>
              <a:t>A neural network consists of interconnected nodes, called neurons, organized into layers. </a:t>
            </a:r>
          </a:p>
          <a:p>
            <a:pPr algn="just"/>
            <a:r>
              <a:rPr lang="en-US" sz="2000" dirty="0"/>
              <a:t>Each neuron receives input signals, performs a computation on them using an activation function, and produces an output signal that may be passed to other neurons in the network. </a:t>
            </a:r>
          </a:p>
          <a:p>
            <a:pPr algn="just"/>
            <a:r>
              <a:rPr lang="en-US" sz="2000" dirty="0"/>
              <a:t>An activation function determines the output of a neuron given its input. These functions introduce nonlinearity into the network, enabling it to learn complex patterns in data.</a:t>
            </a:r>
          </a:p>
          <a:p>
            <a:pPr algn="just"/>
            <a:r>
              <a:rPr lang="en-US" sz="2000" dirty="0"/>
              <a:t>The network is typically organized into layers, starting with the input layer, where data is introduced. Followed by hidden layers where computations are performed and finally, the output layer where predictions or decisions are made.</a:t>
            </a:r>
            <a:endParaRPr lang="en-IN" sz="2000" dirty="0"/>
          </a:p>
        </p:txBody>
      </p:sp>
      <p:sp>
        <p:nvSpPr>
          <p:cNvPr id="6" name="Slide Number Placeholder 5">
            <a:extLst>
              <a:ext uri="{FF2B5EF4-FFF2-40B4-BE49-F238E27FC236}">
                <a16:creationId xmlns:a16="http://schemas.microsoft.com/office/drawing/2014/main" id="{60E56DD5-3581-49D5-B496-73C50E652779}"/>
              </a:ext>
            </a:extLst>
          </p:cNvPr>
          <p:cNvSpPr>
            <a:spLocks noGrp="1"/>
          </p:cNvSpPr>
          <p:nvPr>
            <p:ph type="sldNum" sz="quarter" idx="12"/>
          </p:nvPr>
        </p:nvSpPr>
        <p:spPr/>
        <p:txBody>
          <a:bodyPr/>
          <a:lstStyle/>
          <a:p>
            <a:fld id="{BB2CE0DE-867F-455F-B20B-96D381B4AB71}" type="slidenum">
              <a:rPr lang="en-US" smtClean="0"/>
              <a:t>84</a:t>
            </a:fld>
            <a:endParaRPr lang="en-US"/>
          </a:p>
        </p:txBody>
      </p:sp>
    </p:spTree>
    <p:extLst>
      <p:ext uri="{BB962C8B-B14F-4D97-AF65-F5344CB8AC3E}">
        <p14:creationId xmlns:p14="http://schemas.microsoft.com/office/powerpoint/2010/main" val="11840268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31F2-9A71-4DC7-8D46-D622F6E73C12}"/>
              </a:ext>
            </a:extLst>
          </p:cNvPr>
          <p:cNvSpPr>
            <a:spLocks noGrp="1"/>
          </p:cNvSpPr>
          <p:nvPr>
            <p:ph type="title"/>
          </p:nvPr>
        </p:nvSpPr>
        <p:spPr/>
        <p:txBody>
          <a:bodyPr/>
          <a:lstStyle/>
          <a:p>
            <a:r>
              <a:rPr lang="en-US" dirty="0"/>
              <a:t>Basics of Neural Network</a:t>
            </a:r>
            <a:endParaRPr lang="en-IN" dirty="0"/>
          </a:p>
        </p:txBody>
      </p:sp>
      <p:sp>
        <p:nvSpPr>
          <p:cNvPr id="3" name="Content Placeholder 2">
            <a:extLst>
              <a:ext uri="{FF2B5EF4-FFF2-40B4-BE49-F238E27FC236}">
                <a16:creationId xmlns:a16="http://schemas.microsoft.com/office/drawing/2014/main" id="{A3F00892-50CB-476E-9395-B5C808426E8B}"/>
              </a:ext>
            </a:extLst>
          </p:cNvPr>
          <p:cNvSpPr>
            <a:spLocks noGrp="1"/>
          </p:cNvSpPr>
          <p:nvPr>
            <p:ph idx="1"/>
          </p:nvPr>
        </p:nvSpPr>
        <p:spPr/>
        <p:txBody>
          <a:bodyPr/>
          <a:lstStyle/>
          <a:p>
            <a:pPr algn="just"/>
            <a:r>
              <a:rPr lang="en-US" sz="1800" dirty="0"/>
              <a:t>Neurons in adjacent layers are connected by weighted connections, which transmit signals from one layer to the next. The strength of these connections, represented by weights, determines how much influence one neuron's output has on another neuron's input. </a:t>
            </a:r>
          </a:p>
          <a:p>
            <a:pPr algn="just"/>
            <a:r>
              <a:rPr lang="en-US" sz="1800" dirty="0"/>
              <a:t>During the training process, the network learns to adjust its weights based on examples provided in a training dataset. Additionally, each neuron typically has an associated bias, which allows the neuron to adjust its output threshold.</a:t>
            </a:r>
            <a:endParaRPr lang="en-IN" sz="1800" dirty="0"/>
          </a:p>
        </p:txBody>
      </p:sp>
      <p:sp>
        <p:nvSpPr>
          <p:cNvPr id="6" name="Slide Number Placeholder 5">
            <a:extLst>
              <a:ext uri="{FF2B5EF4-FFF2-40B4-BE49-F238E27FC236}">
                <a16:creationId xmlns:a16="http://schemas.microsoft.com/office/drawing/2014/main" id="{CA8C9047-4395-4F9F-B89F-090DA5F019C1}"/>
              </a:ext>
            </a:extLst>
          </p:cNvPr>
          <p:cNvSpPr>
            <a:spLocks noGrp="1"/>
          </p:cNvSpPr>
          <p:nvPr>
            <p:ph type="sldNum" sz="quarter" idx="12"/>
          </p:nvPr>
        </p:nvSpPr>
        <p:spPr/>
        <p:txBody>
          <a:bodyPr/>
          <a:lstStyle/>
          <a:p>
            <a:fld id="{BB2CE0DE-867F-455F-B20B-96D381B4AB71}" type="slidenum">
              <a:rPr lang="en-US" smtClean="0"/>
              <a:t>85</a:t>
            </a:fld>
            <a:endParaRPr lang="en-US"/>
          </a:p>
        </p:txBody>
      </p:sp>
    </p:spTree>
    <p:extLst>
      <p:ext uri="{BB962C8B-B14F-4D97-AF65-F5344CB8AC3E}">
        <p14:creationId xmlns:p14="http://schemas.microsoft.com/office/powerpoint/2010/main" val="40116337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50477-9884-4CAD-A4C5-75CE2680C0C3}"/>
              </a:ext>
            </a:extLst>
          </p:cNvPr>
          <p:cNvSpPr>
            <a:spLocks noGrp="1"/>
          </p:cNvSpPr>
          <p:nvPr>
            <p:ph type="title"/>
          </p:nvPr>
        </p:nvSpPr>
        <p:spPr/>
        <p:txBody>
          <a:bodyPr/>
          <a:lstStyle/>
          <a:p>
            <a:r>
              <a:rPr lang="en-US" dirty="0"/>
              <a:t>Basics of Neural Network</a:t>
            </a:r>
            <a:endParaRPr lang="en-IN" dirty="0"/>
          </a:p>
        </p:txBody>
      </p:sp>
      <p:sp>
        <p:nvSpPr>
          <p:cNvPr id="3" name="Content Placeholder 2">
            <a:extLst>
              <a:ext uri="{FF2B5EF4-FFF2-40B4-BE49-F238E27FC236}">
                <a16:creationId xmlns:a16="http://schemas.microsoft.com/office/drawing/2014/main" id="{1EEA17CD-412F-41B6-8A9E-8C5C68CA79F7}"/>
              </a:ext>
            </a:extLst>
          </p:cNvPr>
          <p:cNvSpPr>
            <a:spLocks noGrp="1"/>
          </p:cNvSpPr>
          <p:nvPr>
            <p:ph idx="1"/>
          </p:nvPr>
        </p:nvSpPr>
        <p:spPr/>
        <p:txBody>
          <a:bodyPr/>
          <a:lstStyle/>
          <a:p>
            <a:pPr algn="just"/>
            <a:r>
              <a:rPr lang="en-US" sz="1800" dirty="0"/>
              <a:t>Neural networks are trained using techniques called </a:t>
            </a:r>
            <a:r>
              <a:rPr lang="en-US" sz="1800" b="1" dirty="0"/>
              <a:t>feedforward propagation</a:t>
            </a:r>
            <a:r>
              <a:rPr lang="en-US" sz="1800" dirty="0"/>
              <a:t> and </a:t>
            </a:r>
            <a:r>
              <a:rPr lang="en-US" sz="1800" b="1" dirty="0"/>
              <a:t>backpropagation</a:t>
            </a:r>
            <a:r>
              <a:rPr lang="en-US" sz="1800" dirty="0"/>
              <a:t>. </a:t>
            </a:r>
          </a:p>
          <a:p>
            <a:pPr algn="just"/>
            <a:r>
              <a:rPr lang="en-US" sz="1800" dirty="0"/>
              <a:t>During feedforward propagation, input data is passed through the network layer by layer, with each layer performing a computation based on the inputs it receives and passing the result to the next layer.</a:t>
            </a:r>
            <a:endParaRPr lang="en-IN" sz="1800" dirty="0"/>
          </a:p>
        </p:txBody>
      </p:sp>
      <p:sp>
        <p:nvSpPr>
          <p:cNvPr id="6" name="Slide Number Placeholder 5">
            <a:extLst>
              <a:ext uri="{FF2B5EF4-FFF2-40B4-BE49-F238E27FC236}">
                <a16:creationId xmlns:a16="http://schemas.microsoft.com/office/drawing/2014/main" id="{2A8E92FC-4747-4EE8-B79E-B95E37B4D0F6}"/>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28015612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0B7FD-4585-4C1F-BB4B-63E0CFC68079}"/>
              </a:ext>
            </a:extLst>
          </p:cNvPr>
          <p:cNvSpPr>
            <a:spLocks noGrp="1"/>
          </p:cNvSpPr>
          <p:nvPr>
            <p:ph type="title"/>
          </p:nvPr>
        </p:nvSpPr>
        <p:spPr/>
        <p:txBody>
          <a:bodyPr/>
          <a:lstStyle/>
          <a:p>
            <a:r>
              <a:rPr lang="en-US" dirty="0"/>
              <a:t>Basics of Neural Network</a:t>
            </a:r>
            <a:endParaRPr lang="en-IN" dirty="0"/>
          </a:p>
        </p:txBody>
      </p:sp>
      <p:sp>
        <p:nvSpPr>
          <p:cNvPr id="3" name="Content Placeholder 2">
            <a:extLst>
              <a:ext uri="{FF2B5EF4-FFF2-40B4-BE49-F238E27FC236}">
                <a16:creationId xmlns:a16="http://schemas.microsoft.com/office/drawing/2014/main" id="{BDC24A3D-36FB-4A61-9AF3-17E92C2A63B0}"/>
              </a:ext>
            </a:extLst>
          </p:cNvPr>
          <p:cNvSpPr>
            <a:spLocks noGrp="1"/>
          </p:cNvSpPr>
          <p:nvPr>
            <p:ph idx="1"/>
          </p:nvPr>
        </p:nvSpPr>
        <p:spPr/>
        <p:txBody>
          <a:bodyPr/>
          <a:lstStyle/>
          <a:p>
            <a:pPr algn="just" rtl="0"/>
            <a:r>
              <a:rPr lang="en-US" sz="2000" b="0" i="0" dirty="0">
                <a:solidFill>
                  <a:srgbClr val="05192D"/>
                </a:solidFill>
                <a:effectLst/>
                <a:latin typeface="Studio-Feixen-Sans"/>
              </a:rPr>
              <a:t>Backpropagation is an algorithm used to train neural networks by iteratively adjusting the network's weights and biases in order to minimize the loss function. </a:t>
            </a:r>
          </a:p>
          <a:p>
            <a:pPr algn="just" rtl="0"/>
            <a:r>
              <a:rPr lang="en-US" sz="2000" b="0" i="0" dirty="0">
                <a:solidFill>
                  <a:srgbClr val="05192D"/>
                </a:solidFill>
                <a:effectLst/>
                <a:latin typeface="Studio-Feixen-Sans"/>
              </a:rPr>
              <a:t>A loss function (also known as a cost function or objective function) is a measure of how well the model's predictions match the true target values in the training data. </a:t>
            </a:r>
          </a:p>
          <a:p>
            <a:pPr algn="just" rtl="0"/>
            <a:r>
              <a:rPr lang="en-US" sz="2000" b="0" i="0" dirty="0">
                <a:solidFill>
                  <a:srgbClr val="05192D"/>
                </a:solidFill>
                <a:effectLst/>
                <a:latin typeface="Studio-Feixen-Sans"/>
              </a:rPr>
              <a:t>The loss function quantifies the difference between the predicted output of the model and the actual output, providing a signal that guides the optimization process during training.</a:t>
            </a:r>
          </a:p>
          <a:p>
            <a:pPr algn="just" rtl="0"/>
            <a:r>
              <a:rPr lang="en-US" sz="2000" b="0" i="0" dirty="0">
                <a:solidFill>
                  <a:srgbClr val="05192D"/>
                </a:solidFill>
                <a:effectLst/>
                <a:latin typeface="Studio-Feixen-Sans"/>
              </a:rPr>
              <a:t>The goal of training a neural network is to minimize this loss function by adjusting the weights and biases. The adjustments are guided by an optimization algorithm, such as gradient descent. </a:t>
            </a:r>
            <a:endParaRPr lang="en-IN" sz="2000" dirty="0"/>
          </a:p>
        </p:txBody>
      </p:sp>
      <p:sp>
        <p:nvSpPr>
          <p:cNvPr id="6" name="Slide Number Placeholder 5">
            <a:extLst>
              <a:ext uri="{FF2B5EF4-FFF2-40B4-BE49-F238E27FC236}">
                <a16:creationId xmlns:a16="http://schemas.microsoft.com/office/drawing/2014/main" id="{48585160-5F4D-48C5-B8D3-EC66197517B6}"/>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1556727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BA38-AAA5-4167-88C9-F1FACB550252}"/>
              </a:ext>
            </a:extLst>
          </p:cNvPr>
          <p:cNvSpPr>
            <a:spLocks noGrp="1"/>
          </p:cNvSpPr>
          <p:nvPr>
            <p:ph type="title"/>
          </p:nvPr>
        </p:nvSpPr>
        <p:spPr/>
        <p:txBody>
          <a:bodyPr/>
          <a:lstStyle/>
          <a:p>
            <a:r>
              <a:rPr lang="en-US" dirty="0"/>
              <a:t>Derivative of Sigmoid function</a:t>
            </a:r>
            <a:endParaRPr lang="en-IN" dirty="0"/>
          </a:p>
        </p:txBody>
      </p:sp>
      <p:sp>
        <p:nvSpPr>
          <p:cNvPr id="6" name="Slide Number Placeholder 5">
            <a:extLst>
              <a:ext uri="{FF2B5EF4-FFF2-40B4-BE49-F238E27FC236}">
                <a16:creationId xmlns:a16="http://schemas.microsoft.com/office/drawing/2014/main" id="{E99F4004-247E-4B6E-B043-A39F6CCBB612}"/>
              </a:ext>
            </a:extLst>
          </p:cNvPr>
          <p:cNvSpPr>
            <a:spLocks noGrp="1"/>
          </p:cNvSpPr>
          <p:nvPr>
            <p:ph type="sldNum" sz="quarter" idx="12"/>
          </p:nvPr>
        </p:nvSpPr>
        <p:spPr/>
        <p:txBody>
          <a:bodyPr/>
          <a:lstStyle/>
          <a:p>
            <a:fld id="{BB2CE0DE-867F-455F-B20B-96D381B4AB71}" type="slidenum">
              <a:rPr lang="en-US" smtClean="0"/>
              <a:t>88</a:t>
            </a:fld>
            <a:endParaRPr lang="en-US"/>
          </a:p>
        </p:txBody>
      </p:sp>
      <p:pic>
        <p:nvPicPr>
          <p:cNvPr id="7" name="Picture 6">
            <a:extLst>
              <a:ext uri="{FF2B5EF4-FFF2-40B4-BE49-F238E27FC236}">
                <a16:creationId xmlns:a16="http://schemas.microsoft.com/office/drawing/2014/main" id="{00E9DCE5-CBF0-43AB-8453-DF0ADDB107D6}"/>
              </a:ext>
            </a:extLst>
          </p:cNvPr>
          <p:cNvPicPr>
            <a:picLocks noChangeAspect="1"/>
          </p:cNvPicPr>
          <p:nvPr/>
        </p:nvPicPr>
        <p:blipFill>
          <a:blip r:embed="rId2"/>
          <a:stretch>
            <a:fillRect/>
          </a:stretch>
        </p:blipFill>
        <p:spPr>
          <a:xfrm>
            <a:off x="0" y="1143000"/>
            <a:ext cx="4419600" cy="3314700"/>
          </a:xfrm>
          <a:prstGeom prst="rect">
            <a:avLst/>
          </a:prstGeom>
        </p:spPr>
      </p:pic>
      <p:pic>
        <p:nvPicPr>
          <p:cNvPr id="9" name="Picture 8">
            <a:extLst>
              <a:ext uri="{FF2B5EF4-FFF2-40B4-BE49-F238E27FC236}">
                <a16:creationId xmlns:a16="http://schemas.microsoft.com/office/drawing/2014/main" id="{2478D424-1304-4814-9E02-546A1CB20B26}"/>
              </a:ext>
            </a:extLst>
          </p:cNvPr>
          <p:cNvPicPr>
            <a:picLocks noChangeAspect="1"/>
          </p:cNvPicPr>
          <p:nvPr/>
        </p:nvPicPr>
        <p:blipFill>
          <a:blip r:embed="rId3"/>
          <a:stretch>
            <a:fillRect/>
          </a:stretch>
        </p:blipFill>
        <p:spPr>
          <a:xfrm>
            <a:off x="1828800" y="4459805"/>
            <a:ext cx="7139752" cy="2133600"/>
          </a:xfrm>
          <a:prstGeom prst="rect">
            <a:avLst/>
          </a:prstGeom>
        </p:spPr>
      </p:pic>
    </p:spTree>
    <p:extLst>
      <p:ext uri="{BB962C8B-B14F-4D97-AF65-F5344CB8AC3E}">
        <p14:creationId xmlns:p14="http://schemas.microsoft.com/office/powerpoint/2010/main" val="36280040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Neural Network: Training process </a:t>
            </a:r>
          </a:p>
        </p:txBody>
      </p:sp>
      <p:sp>
        <p:nvSpPr>
          <p:cNvPr id="6" name="Slide Number Placeholder 5"/>
          <p:cNvSpPr>
            <a:spLocks noGrp="1"/>
          </p:cNvSpPr>
          <p:nvPr>
            <p:ph type="sldNum" sz="quarter" idx="12"/>
          </p:nvPr>
        </p:nvSpPr>
        <p:spPr/>
        <p:txBody>
          <a:bodyPr/>
          <a:lstStyle/>
          <a:p>
            <a:fld id="{BB2CE0DE-867F-455F-B20B-96D381B4AB71}" type="slidenum">
              <a:rPr lang="en-US" smtClean="0"/>
              <a:t>89</a:t>
            </a:fld>
            <a:endParaRPr lang="en-US"/>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342" y="1650091"/>
            <a:ext cx="5486400" cy="3264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bwMode="auto">
          <a:xfrm>
            <a:off x="3462342" y="1650091"/>
            <a:ext cx="1905000" cy="7620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Verdana" pitchFamily="34" charset="0"/>
            </a:endParaRPr>
          </a:p>
        </p:txBody>
      </p:sp>
      <p:sp>
        <p:nvSpPr>
          <p:cNvPr id="9" name="TextBox 8"/>
          <p:cNvSpPr txBox="1"/>
          <p:nvPr/>
        </p:nvSpPr>
        <p:spPr>
          <a:xfrm>
            <a:off x="3124200" y="1280759"/>
            <a:ext cx="2581284" cy="369332"/>
          </a:xfrm>
          <a:prstGeom prst="rect">
            <a:avLst/>
          </a:prstGeom>
          <a:noFill/>
        </p:spPr>
        <p:txBody>
          <a:bodyPr wrap="none" rtlCol="0">
            <a:spAutoFit/>
          </a:bodyPr>
          <a:lstStyle/>
          <a:p>
            <a:r>
              <a:rPr lang="en-US" dirty="0"/>
              <a:t>Forward Propagation</a:t>
            </a:r>
          </a:p>
        </p:txBody>
      </p:sp>
      <p:sp>
        <p:nvSpPr>
          <p:cNvPr id="11" name="Rectangle 10"/>
          <p:cNvSpPr/>
          <p:nvPr/>
        </p:nvSpPr>
        <p:spPr bwMode="auto">
          <a:xfrm>
            <a:off x="1938342" y="3402691"/>
            <a:ext cx="5257800" cy="10668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Verdana" pitchFamily="34" charset="0"/>
            </a:endParaRPr>
          </a:p>
        </p:txBody>
      </p:sp>
      <p:sp>
        <p:nvSpPr>
          <p:cNvPr id="12" name="TextBox 11"/>
          <p:cNvSpPr txBox="1"/>
          <p:nvPr/>
        </p:nvSpPr>
        <p:spPr>
          <a:xfrm>
            <a:off x="3690942" y="4517018"/>
            <a:ext cx="2768065" cy="369332"/>
          </a:xfrm>
          <a:prstGeom prst="rect">
            <a:avLst/>
          </a:prstGeom>
          <a:noFill/>
        </p:spPr>
        <p:txBody>
          <a:bodyPr wrap="none" rtlCol="0">
            <a:spAutoFit/>
          </a:bodyPr>
          <a:lstStyle/>
          <a:p>
            <a:r>
              <a:rPr lang="en-US" dirty="0"/>
              <a:t>Backward Propagation</a:t>
            </a:r>
          </a:p>
        </p:txBody>
      </p:sp>
      <p:pic>
        <p:nvPicPr>
          <p:cNvPr id="13" name="Picture 2" descr="https://cdn-images-1.medium.com/max/1600/1*SQBjpbBcCT3lTQlPEdr1e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600102"/>
            <a:ext cx="7351495" cy="2496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81000" y="5218908"/>
            <a:ext cx="2376933" cy="369332"/>
          </a:xfrm>
          <a:prstGeom prst="rect">
            <a:avLst/>
          </a:prstGeom>
          <a:noFill/>
        </p:spPr>
        <p:txBody>
          <a:bodyPr wrap="none" rtlCol="0">
            <a:spAutoFit/>
          </a:bodyPr>
          <a:lstStyle/>
          <a:p>
            <a:r>
              <a:rPr lang="en-US" dirty="0">
                <a:solidFill>
                  <a:srgbClr val="FF0000"/>
                </a:solidFill>
              </a:rPr>
              <a:t>Why this formula ?</a:t>
            </a:r>
          </a:p>
        </p:txBody>
      </p:sp>
    </p:spTree>
    <p:extLst>
      <p:ext uri="{BB962C8B-B14F-4D97-AF65-F5344CB8AC3E}">
        <p14:creationId xmlns:p14="http://schemas.microsoft.com/office/powerpoint/2010/main" val="11593502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 for adjusting the weights</a:t>
            </a:r>
          </a:p>
        </p:txBody>
      </p:sp>
      <p:sp>
        <p:nvSpPr>
          <p:cNvPr id="3" name="Content Placeholder 2"/>
          <p:cNvSpPr>
            <a:spLocks noGrp="1"/>
          </p:cNvSpPr>
          <p:nvPr>
            <p:ph idx="1"/>
          </p:nvPr>
        </p:nvSpPr>
        <p:spPr/>
        <p:txBody>
          <a:bodyPr/>
          <a:lstStyle/>
          <a:p>
            <a:r>
              <a:rPr lang="en-US" sz="1400" dirty="0"/>
              <a:t>Why this formula?</a:t>
            </a:r>
            <a:r>
              <a:rPr lang="en-US" sz="1800" dirty="0"/>
              <a:t> </a:t>
            </a:r>
          </a:p>
          <a:p>
            <a:endParaRPr lang="en-US" sz="1600" dirty="0"/>
          </a:p>
          <a:p>
            <a:r>
              <a:rPr lang="en-US" sz="1400" dirty="0"/>
              <a:t>First we want to make the adjustment proportional to the size of the error. Secondly, we multiply by the input, which is either a 0 or a 1. If the input is 0, the weight isn’t adjusted. Finally, we multiply by the gradient of the Sigmoid curve (Refer diagram).</a:t>
            </a:r>
            <a:endParaRPr lang="en-US" sz="1600" dirty="0"/>
          </a:p>
          <a:p>
            <a:pPr marL="0" indent="0">
              <a:buNone/>
            </a:pPr>
            <a:r>
              <a:rPr lang="en-US" sz="1400" dirty="0"/>
              <a:t>To understand this last one, consider that:</a:t>
            </a:r>
          </a:p>
          <a:p>
            <a:r>
              <a:rPr lang="en-US" sz="1400" dirty="0"/>
              <a:t>We used the Sigmoid curve to calculate the output of the neuron.</a:t>
            </a:r>
          </a:p>
          <a:p>
            <a:r>
              <a:rPr lang="en-US" sz="1400" dirty="0"/>
              <a:t>If the output is a large positive or negative number, it signifies the neuron was quite confident one way or another.</a:t>
            </a:r>
          </a:p>
          <a:p>
            <a:r>
              <a:rPr lang="en-US" sz="1400" dirty="0"/>
              <a:t>From diagram, we can see that at large numbers, the Sigmoid curve has a shallow gradient.</a:t>
            </a:r>
          </a:p>
          <a:p>
            <a:r>
              <a:rPr lang="en-US" sz="1400" dirty="0"/>
              <a:t>If the neuron is confident that the existing weight is correct, it doesn’t want to adjust it very much. Multiplying by the Sigmoid curve gradient achieves this.</a:t>
            </a:r>
          </a:p>
          <a:p>
            <a:r>
              <a:rPr lang="en-US" sz="1400" dirty="0"/>
              <a:t>The gradient of the Sigmoid curve, can be found by taking the derivative:</a:t>
            </a:r>
          </a:p>
          <a:p>
            <a:r>
              <a:rPr lang="en-US" sz="1400" dirty="0"/>
              <a:t>So by substituting the second equation into the first equation, the final formula for adjusting the weights is:</a:t>
            </a:r>
            <a:br>
              <a:rPr lang="en-US" sz="1800" dirty="0"/>
            </a:br>
            <a:endParaRPr lang="en-US" sz="1800" dirty="0"/>
          </a:p>
        </p:txBody>
      </p:sp>
      <p:sp>
        <p:nvSpPr>
          <p:cNvPr id="6" name="Slide Number Placeholder 5"/>
          <p:cNvSpPr>
            <a:spLocks noGrp="1"/>
          </p:cNvSpPr>
          <p:nvPr>
            <p:ph type="sldNum" sz="quarter" idx="12"/>
          </p:nvPr>
        </p:nvSpPr>
        <p:spPr/>
        <p:txBody>
          <a:bodyPr/>
          <a:lstStyle/>
          <a:p>
            <a:fld id="{BB2CE0DE-867F-455F-B20B-96D381B4AB71}" type="slidenum">
              <a:rPr lang="en-US" smtClean="0"/>
              <a:t>90</a:t>
            </a:fld>
            <a:endParaRPr lang="en-US"/>
          </a:p>
        </p:txBody>
      </p:sp>
      <p:pic>
        <p:nvPicPr>
          <p:cNvPr id="12290" name="Picture 2" descr="https://cdn-images-1.medium.com/max/1600/1*SQBjpbBcCT3lTQlPEdr1e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505" y="1592223"/>
            <a:ext cx="7351495" cy="249673"/>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s://cdn-images-1.medium.com/max/1600/1*Jow4WVWNOp6rtiJ7vNQ0gQ.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805" y="5410200"/>
            <a:ext cx="73660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https://cdn-images-1.medium.com/max/1600/1*sK6hjHszCwTE8GqtKNe1Y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71286" y="2514600"/>
            <a:ext cx="1144114" cy="76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7141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99371-4902-24D0-0DDE-D228DEB81D56}"/>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1FC0CED1-9747-5579-E80E-EAD8F5D44052}"/>
              </a:ext>
            </a:extLst>
          </p:cNvPr>
          <p:cNvSpPr>
            <a:spLocks noGrp="1"/>
          </p:cNvSpPr>
          <p:nvPr>
            <p:ph idx="1"/>
          </p:nvPr>
        </p:nvSpPr>
        <p:spPr/>
        <p:txBody>
          <a:bodyPr/>
          <a:lstStyle/>
          <a:p>
            <a:pPr algn="just">
              <a:buNone/>
            </a:pPr>
            <a:r>
              <a:rPr lang="en-US" sz="1400" b="0" i="0" dirty="0">
                <a:solidFill>
                  <a:srgbClr val="2A2A2A"/>
                </a:solidFill>
                <a:effectLst/>
                <a:latin typeface="Work Sans" pitchFamily="2" charset="0"/>
              </a:rPr>
              <a:t>The objective of the training process is to find the weights (W) and biases (b) that  </a:t>
            </a:r>
          </a:p>
          <a:p>
            <a:pPr algn="just">
              <a:buNone/>
            </a:pPr>
            <a:r>
              <a:rPr lang="en-US" sz="1400" b="0" i="0" dirty="0">
                <a:solidFill>
                  <a:srgbClr val="2A2A2A"/>
                </a:solidFill>
                <a:effectLst/>
                <a:latin typeface="Work Sans" pitchFamily="2" charset="0"/>
              </a:rPr>
              <a:t>minimize the error. This minimization is achieved through the </a:t>
            </a:r>
            <a:r>
              <a:rPr lang="en-US" sz="1400" b="1" i="0" dirty="0">
                <a:solidFill>
                  <a:srgbClr val="2A2A2A"/>
                </a:solidFill>
                <a:effectLst/>
                <a:latin typeface="Work Sans" pitchFamily="2" charset="0"/>
              </a:rPr>
              <a:t>gradient</a:t>
            </a:r>
          </a:p>
          <a:p>
            <a:pPr algn="just">
              <a:buNone/>
            </a:pPr>
            <a:r>
              <a:rPr lang="en-US" sz="1400" b="1" i="0" dirty="0">
                <a:solidFill>
                  <a:srgbClr val="2A2A2A"/>
                </a:solidFill>
                <a:effectLst/>
                <a:latin typeface="Work Sans" pitchFamily="2" charset="0"/>
              </a:rPr>
              <a:t>descent</a:t>
            </a:r>
            <a:r>
              <a:rPr lang="en-US" sz="1400" b="0" i="0" dirty="0">
                <a:solidFill>
                  <a:srgbClr val="2A2A2A"/>
                </a:solidFill>
                <a:effectLst/>
                <a:latin typeface="Work Sans" pitchFamily="2" charset="0"/>
              </a:rPr>
              <a:t> algorithm. To begin with, the weights are randomly initialized, and an iterative </a:t>
            </a:r>
          </a:p>
          <a:p>
            <a:pPr algn="just">
              <a:buNone/>
            </a:pPr>
            <a:r>
              <a:rPr lang="en-US" sz="1400" b="0" i="0" dirty="0">
                <a:solidFill>
                  <a:srgbClr val="2A2A2A"/>
                </a:solidFill>
                <a:effectLst/>
                <a:latin typeface="Work Sans" pitchFamily="2" charset="0"/>
              </a:rPr>
              <a:t>process of a subtle weights change is performed until convergence.</a:t>
            </a:r>
          </a:p>
          <a:p>
            <a:pPr marL="0" indent="0" algn="just">
              <a:buNone/>
            </a:pPr>
            <a:r>
              <a:rPr lang="en-US" sz="1400" b="0" i="0" dirty="0">
                <a:solidFill>
                  <a:srgbClr val="2A2A2A"/>
                </a:solidFill>
                <a:effectLst/>
                <a:latin typeface="Work Sans" pitchFamily="2" charset="0"/>
              </a:rPr>
              <a:t>Each iteration begins with a forward pass, that outputs the current prediction and evaluates the model’s error by a cost function J Next, a backward pass is conducted to compute the weights gradient.</a:t>
            </a:r>
          </a:p>
          <a:p>
            <a:pPr marL="0" indent="0" algn="just">
              <a:buNone/>
            </a:pPr>
            <a:endParaRPr lang="en-IN" sz="1400" dirty="0"/>
          </a:p>
        </p:txBody>
      </p:sp>
      <p:sp>
        <p:nvSpPr>
          <p:cNvPr id="6" name="Slide Number Placeholder 5">
            <a:extLst>
              <a:ext uri="{FF2B5EF4-FFF2-40B4-BE49-F238E27FC236}">
                <a16:creationId xmlns:a16="http://schemas.microsoft.com/office/drawing/2014/main" id="{06087074-6FBC-C5AD-BFBA-4FFAC6F8A389}"/>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7" name="Picture 6">
            <a:extLst>
              <a:ext uri="{FF2B5EF4-FFF2-40B4-BE49-F238E27FC236}">
                <a16:creationId xmlns:a16="http://schemas.microsoft.com/office/drawing/2014/main" id="{9E53CDD6-B447-B552-14F7-9B700235F712}"/>
              </a:ext>
            </a:extLst>
          </p:cNvPr>
          <p:cNvPicPr>
            <a:picLocks noChangeAspect="1"/>
          </p:cNvPicPr>
          <p:nvPr/>
        </p:nvPicPr>
        <p:blipFill>
          <a:blip r:embed="rId2"/>
          <a:stretch>
            <a:fillRect/>
          </a:stretch>
        </p:blipFill>
        <p:spPr>
          <a:xfrm>
            <a:off x="1847083" y="2971800"/>
            <a:ext cx="4913366" cy="3429000"/>
          </a:xfrm>
          <a:prstGeom prst="rect">
            <a:avLst/>
          </a:prstGeom>
        </p:spPr>
      </p:pic>
    </p:spTree>
    <p:extLst>
      <p:ext uri="{BB962C8B-B14F-4D97-AF65-F5344CB8AC3E}">
        <p14:creationId xmlns:p14="http://schemas.microsoft.com/office/powerpoint/2010/main" val="9626518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BB4BE-72DB-5AED-A5D7-878DC2FDBC7F}"/>
              </a:ext>
            </a:extLst>
          </p:cNvPr>
          <p:cNvSpPr>
            <a:spLocks noGrp="1"/>
          </p:cNvSpPr>
          <p:nvPr>
            <p:ph type="title"/>
          </p:nvPr>
        </p:nvSpPr>
        <p:spPr/>
        <p:txBody>
          <a:bodyPr/>
          <a:lstStyle/>
          <a:p>
            <a:r>
              <a:rPr lang="en-IN" sz="2000" dirty="0"/>
              <a:t>Maths behind Neural Network training Process</a:t>
            </a:r>
          </a:p>
        </p:txBody>
      </p:sp>
      <p:sp>
        <p:nvSpPr>
          <p:cNvPr id="3" name="Content Placeholder 2">
            <a:extLst>
              <a:ext uri="{FF2B5EF4-FFF2-40B4-BE49-F238E27FC236}">
                <a16:creationId xmlns:a16="http://schemas.microsoft.com/office/drawing/2014/main" id="{26B0ED95-077B-53BA-4404-4C0FE6F5D639}"/>
              </a:ext>
            </a:extLst>
          </p:cNvPr>
          <p:cNvSpPr>
            <a:spLocks noGrp="1"/>
          </p:cNvSpPr>
          <p:nvPr>
            <p:ph idx="1"/>
          </p:nvPr>
        </p:nvSpPr>
        <p:spPr/>
        <p:txBody>
          <a:bodyPr/>
          <a:lstStyle/>
          <a:p>
            <a:pPr marL="0" indent="0" algn="just">
              <a:buNone/>
            </a:pPr>
            <a:r>
              <a:rPr lang="en-US" sz="2000" b="0" i="0" dirty="0">
                <a:solidFill>
                  <a:srgbClr val="2A2A2A"/>
                </a:solidFill>
                <a:effectLst/>
                <a:latin typeface="Work Sans" pitchFamily="2" charset="0"/>
              </a:rPr>
              <a:t>To find the best parameters that minimize the error, we use the gradient descent algorithm. The goal is to find the minimum point of the cost function (J), where the gradient is close to zero. </a:t>
            </a:r>
          </a:p>
          <a:p>
            <a:pPr marL="0" indent="0" algn="just">
              <a:buNone/>
            </a:pPr>
            <a:r>
              <a:rPr lang="en-US" sz="2000" b="0" i="0" dirty="0">
                <a:solidFill>
                  <a:srgbClr val="2A2A2A"/>
                </a:solidFill>
                <a:effectLst/>
                <a:latin typeface="Work Sans" pitchFamily="2" charset="0"/>
              </a:rPr>
              <a:t>The algorithm iteratively moves, step by step, in the direction of steepest descent, toward the minimum point. The step size is named the ‘</a:t>
            </a:r>
            <a:r>
              <a:rPr lang="en-US" sz="2000" b="1" i="0" dirty="0">
                <a:solidFill>
                  <a:srgbClr val="2A2A2A"/>
                </a:solidFill>
                <a:effectLst/>
                <a:latin typeface="Work Sans" pitchFamily="2" charset="0"/>
              </a:rPr>
              <a:t>learning rate</a:t>
            </a:r>
            <a:r>
              <a:rPr lang="en-US" sz="2000" b="0" i="0" dirty="0">
                <a:solidFill>
                  <a:srgbClr val="2A2A2A"/>
                </a:solidFill>
                <a:effectLst/>
                <a:latin typeface="Work Sans" pitchFamily="2" charset="0"/>
              </a:rPr>
              <a:t>‘, and it is a scalar that determines how much the weights change in each iteration, and therefore how quickly the NN converges. </a:t>
            </a:r>
          </a:p>
          <a:p>
            <a:pPr marL="0" indent="0" algn="just">
              <a:buNone/>
            </a:pPr>
            <a:r>
              <a:rPr lang="en-US" sz="2000" b="0" i="0" dirty="0">
                <a:solidFill>
                  <a:srgbClr val="2A2A2A"/>
                </a:solidFill>
                <a:effectLst/>
                <a:latin typeface="Work Sans" pitchFamily="2" charset="0"/>
              </a:rPr>
              <a:t>The learning rate is a hyperparameter that has to be tuned. Smaller learning rates require more training time, whereas larger learning rates result in rapid training, but might suffer from compromised performances and instability.</a:t>
            </a:r>
            <a:endParaRPr lang="en-IN" sz="2000" dirty="0"/>
          </a:p>
          <a:p>
            <a:pPr marL="0" indent="0" algn="just">
              <a:buNone/>
            </a:pPr>
            <a:endParaRPr lang="en-IN" sz="2000" dirty="0"/>
          </a:p>
        </p:txBody>
      </p:sp>
      <p:sp>
        <p:nvSpPr>
          <p:cNvPr id="6" name="Slide Number Placeholder 5">
            <a:extLst>
              <a:ext uri="{FF2B5EF4-FFF2-40B4-BE49-F238E27FC236}">
                <a16:creationId xmlns:a16="http://schemas.microsoft.com/office/drawing/2014/main" id="{DF167239-584C-1E42-9692-01B99058F94B}"/>
              </a:ext>
            </a:extLst>
          </p:cNvPr>
          <p:cNvSpPr>
            <a:spLocks noGrp="1"/>
          </p:cNvSpPr>
          <p:nvPr>
            <p:ph type="sldNum" sz="quarter" idx="12"/>
          </p:nvPr>
        </p:nvSpPr>
        <p:spPr/>
        <p:txBody>
          <a:bodyPr/>
          <a:lstStyle/>
          <a:p>
            <a:fld id="{BB2CE0DE-867F-455F-B20B-96D381B4AB71}" type="slidenum">
              <a:rPr lang="en-US" smtClean="0"/>
              <a:t>92</a:t>
            </a:fld>
            <a:endParaRPr lang="en-US"/>
          </a:p>
        </p:txBody>
      </p:sp>
    </p:spTree>
    <p:extLst>
      <p:ext uri="{BB962C8B-B14F-4D97-AF65-F5344CB8AC3E}">
        <p14:creationId xmlns:p14="http://schemas.microsoft.com/office/powerpoint/2010/main" val="21134256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ADA76-1807-E315-8A7E-77EF3A8CE39C}"/>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D53C345D-49CE-F7C3-1A93-3563F9F9BD5A}"/>
              </a:ext>
            </a:extLst>
          </p:cNvPr>
          <p:cNvSpPr>
            <a:spLocks noGrp="1"/>
          </p:cNvSpPr>
          <p:nvPr>
            <p:ph idx="1"/>
          </p:nvPr>
        </p:nvSpPr>
        <p:spPr/>
        <p:txBody>
          <a:bodyPr/>
          <a:lstStyle/>
          <a:p>
            <a:pPr marL="0" indent="0" algn="just">
              <a:buNone/>
            </a:pPr>
            <a:r>
              <a:rPr lang="en-US" sz="2000" b="0" i="0" dirty="0">
                <a:solidFill>
                  <a:srgbClr val="2A2A2A"/>
                </a:solidFill>
                <a:effectLst/>
                <a:latin typeface="Work Sans" pitchFamily="2" charset="0"/>
              </a:rPr>
              <a:t>To update the weights, the gradients are multiplied by the learning rate (alpha), and the new weights are calculated by the following formula:</a:t>
            </a:r>
            <a:endParaRPr lang="en-IN" sz="2000" dirty="0"/>
          </a:p>
        </p:txBody>
      </p:sp>
      <p:sp>
        <p:nvSpPr>
          <p:cNvPr id="6" name="Slide Number Placeholder 5">
            <a:extLst>
              <a:ext uri="{FF2B5EF4-FFF2-40B4-BE49-F238E27FC236}">
                <a16:creationId xmlns:a16="http://schemas.microsoft.com/office/drawing/2014/main" id="{A5687A55-5AB0-D710-CB59-C5C7CA05FD8D}"/>
              </a:ext>
            </a:extLst>
          </p:cNvPr>
          <p:cNvSpPr>
            <a:spLocks noGrp="1"/>
          </p:cNvSpPr>
          <p:nvPr>
            <p:ph type="sldNum" sz="quarter" idx="12"/>
          </p:nvPr>
        </p:nvSpPr>
        <p:spPr/>
        <p:txBody>
          <a:bodyPr/>
          <a:lstStyle/>
          <a:p>
            <a:fld id="{BB2CE0DE-867F-455F-B20B-96D381B4AB71}" type="slidenum">
              <a:rPr lang="en-US" smtClean="0"/>
              <a:t>93</a:t>
            </a:fld>
            <a:endParaRPr lang="en-US"/>
          </a:p>
        </p:txBody>
      </p:sp>
      <p:pic>
        <p:nvPicPr>
          <p:cNvPr id="8" name="Picture 7">
            <a:extLst>
              <a:ext uri="{FF2B5EF4-FFF2-40B4-BE49-F238E27FC236}">
                <a16:creationId xmlns:a16="http://schemas.microsoft.com/office/drawing/2014/main" id="{45BD234A-C749-E20A-EA19-70A6C28C368B}"/>
              </a:ext>
            </a:extLst>
          </p:cNvPr>
          <p:cNvPicPr>
            <a:picLocks noChangeAspect="1"/>
          </p:cNvPicPr>
          <p:nvPr/>
        </p:nvPicPr>
        <p:blipFill>
          <a:blip r:embed="rId2"/>
          <a:stretch>
            <a:fillRect/>
          </a:stretch>
        </p:blipFill>
        <p:spPr>
          <a:xfrm>
            <a:off x="1533303" y="2438400"/>
            <a:ext cx="3635828" cy="1676400"/>
          </a:xfrm>
          <a:prstGeom prst="rect">
            <a:avLst/>
          </a:prstGeom>
        </p:spPr>
      </p:pic>
    </p:spTree>
    <p:extLst>
      <p:ext uri="{BB962C8B-B14F-4D97-AF65-F5344CB8AC3E}">
        <p14:creationId xmlns:p14="http://schemas.microsoft.com/office/powerpoint/2010/main" val="36229870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974A-B541-5722-365C-17193A6A8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F5EA0-59DC-07A5-9C52-3707F1AA5E42}"/>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94EA4AA6-8ADD-88B7-ED69-8F1F78852D36}"/>
              </a:ext>
            </a:extLst>
          </p:cNvPr>
          <p:cNvSpPr>
            <a:spLocks noGrp="1"/>
          </p:cNvSpPr>
          <p:nvPr>
            <p:ph idx="1"/>
          </p:nvPr>
        </p:nvSpPr>
        <p:spPr/>
        <p:txBody>
          <a:bodyPr/>
          <a:lstStyle/>
          <a:p>
            <a:pPr marL="0" indent="0">
              <a:buNone/>
            </a:pPr>
            <a:r>
              <a:rPr lang="en-IN" sz="2000" dirty="0"/>
              <a:t>Considering Two layered Neural Network Structure.</a:t>
            </a:r>
          </a:p>
          <a:p>
            <a:pPr marL="0" indent="0">
              <a:buNone/>
            </a:pPr>
            <a:r>
              <a:rPr lang="en-IN" sz="2000" dirty="0"/>
              <a:t>Forward Pass:</a:t>
            </a:r>
          </a:p>
          <a:p>
            <a:pPr marL="0" indent="0">
              <a:buNone/>
            </a:pPr>
            <a:endParaRPr lang="en-IN" sz="2000" dirty="0"/>
          </a:p>
        </p:txBody>
      </p:sp>
      <p:sp>
        <p:nvSpPr>
          <p:cNvPr id="6" name="Slide Number Placeholder 5">
            <a:extLst>
              <a:ext uri="{FF2B5EF4-FFF2-40B4-BE49-F238E27FC236}">
                <a16:creationId xmlns:a16="http://schemas.microsoft.com/office/drawing/2014/main" id="{2C72C8BF-8765-20B6-4D9F-4AE43E7E9FA1}"/>
              </a:ext>
            </a:extLst>
          </p:cNvPr>
          <p:cNvSpPr>
            <a:spLocks noGrp="1"/>
          </p:cNvSpPr>
          <p:nvPr>
            <p:ph type="sldNum" sz="quarter" idx="12"/>
          </p:nvPr>
        </p:nvSpPr>
        <p:spPr/>
        <p:txBody>
          <a:bodyPr/>
          <a:lstStyle/>
          <a:p>
            <a:fld id="{BB2CE0DE-867F-455F-B20B-96D381B4AB71}" type="slidenum">
              <a:rPr lang="en-US" smtClean="0"/>
              <a:t>94</a:t>
            </a:fld>
            <a:endParaRPr lang="en-US"/>
          </a:p>
        </p:txBody>
      </p:sp>
      <p:pic>
        <p:nvPicPr>
          <p:cNvPr id="7" name="Picture 6">
            <a:extLst>
              <a:ext uri="{FF2B5EF4-FFF2-40B4-BE49-F238E27FC236}">
                <a16:creationId xmlns:a16="http://schemas.microsoft.com/office/drawing/2014/main" id="{12814E90-3AB2-174F-45AE-839359F0B025}"/>
              </a:ext>
            </a:extLst>
          </p:cNvPr>
          <p:cNvPicPr>
            <a:picLocks noChangeAspect="1"/>
          </p:cNvPicPr>
          <p:nvPr/>
        </p:nvPicPr>
        <p:blipFill>
          <a:blip r:embed="rId2"/>
          <a:stretch>
            <a:fillRect/>
          </a:stretch>
        </p:blipFill>
        <p:spPr>
          <a:xfrm>
            <a:off x="346074" y="2057400"/>
            <a:ext cx="8569325" cy="2251122"/>
          </a:xfrm>
          <a:prstGeom prst="rect">
            <a:avLst/>
          </a:prstGeom>
        </p:spPr>
      </p:pic>
      <p:pic>
        <p:nvPicPr>
          <p:cNvPr id="8" name="Picture 7">
            <a:extLst>
              <a:ext uri="{FF2B5EF4-FFF2-40B4-BE49-F238E27FC236}">
                <a16:creationId xmlns:a16="http://schemas.microsoft.com/office/drawing/2014/main" id="{1170ABA1-523E-A5AF-DF66-0F5617E3AD18}"/>
              </a:ext>
            </a:extLst>
          </p:cNvPr>
          <p:cNvPicPr>
            <a:picLocks noChangeAspect="1"/>
          </p:cNvPicPr>
          <p:nvPr/>
        </p:nvPicPr>
        <p:blipFill>
          <a:blip r:embed="rId3"/>
          <a:stretch>
            <a:fillRect/>
          </a:stretch>
        </p:blipFill>
        <p:spPr>
          <a:xfrm>
            <a:off x="6019800" y="4936241"/>
            <a:ext cx="2768602" cy="731541"/>
          </a:xfrm>
          <a:prstGeom prst="rect">
            <a:avLst/>
          </a:prstGeom>
        </p:spPr>
      </p:pic>
    </p:spTree>
    <p:extLst>
      <p:ext uri="{BB962C8B-B14F-4D97-AF65-F5344CB8AC3E}">
        <p14:creationId xmlns:p14="http://schemas.microsoft.com/office/powerpoint/2010/main" val="27710410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49157-13AE-97EC-4744-61D3E2538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9BEB1-4AB3-9209-0B53-5A9AA5B80B8E}"/>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9C90EC61-CFF6-9446-943C-89B879D0BE42}"/>
              </a:ext>
            </a:extLst>
          </p:cNvPr>
          <p:cNvSpPr>
            <a:spLocks noGrp="1"/>
          </p:cNvSpPr>
          <p:nvPr>
            <p:ph idx="1"/>
          </p:nvPr>
        </p:nvSpPr>
        <p:spPr/>
        <p:txBody>
          <a:bodyPr/>
          <a:lstStyle/>
          <a:p>
            <a:pPr marL="0" indent="0" algn="just">
              <a:buNone/>
            </a:pPr>
            <a:r>
              <a:rPr lang="en-IN" sz="1800" b="1" i="0" dirty="0">
                <a:solidFill>
                  <a:srgbClr val="2A2A2A"/>
                </a:solidFill>
                <a:effectLst/>
                <a:latin typeface="Work Sans" pitchFamily="2" charset="0"/>
              </a:rPr>
              <a:t>Backward pass</a:t>
            </a:r>
          </a:p>
          <a:p>
            <a:pPr marL="0" indent="0" algn="just">
              <a:buNone/>
            </a:pPr>
            <a:r>
              <a:rPr lang="en-US" sz="1800" b="0" i="0" dirty="0">
                <a:solidFill>
                  <a:srgbClr val="2A2A2A"/>
                </a:solidFill>
                <a:effectLst/>
                <a:latin typeface="Work Sans" pitchFamily="2" charset="0"/>
              </a:rPr>
              <a:t>In order to update the weights and biases after each iteration, we need to compute the gradients. In our two layered net there are 4 parameters to be updated: W[2], b[2], W[1] and b[1], and therefore 4 gradients to be computed:</a:t>
            </a:r>
            <a:endParaRPr lang="en-IN" sz="1800" dirty="0"/>
          </a:p>
        </p:txBody>
      </p:sp>
      <p:sp>
        <p:nvSpPr>
          <p:cNvPr id="6" name="Slide Number Placeholder 5">
            <a:extLst>
              <a:ext uri="{FF2B5EF4-FFF2-40B4-BE49-F238E27FC236}">
                <a16:creationId xmlns:a16="http://schemas.microsoft.com/office/drawing/2014/main" id="{D853D332-AC76-065F-2BD9-16386B23E9A0}"/>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7" name="Picture 6">
            <a:extLst>
              <a:ext uri="{FF2B5EF4-FFF2-40B4-BE49-F238E27FC236}">
                <a16:creationId xmlns:a16="http://schemas.microsoft.com/office/drawing/2014/main" id="{827E60FE-E6C8-AC86-309F-32A70B6B3EAD}"/>
              </a:ext>
            </a:extLst>
          </p:cNvPr>
          <p:cNvPicPr>
            <a:picLocks noChangeAspect="1"/>
          </p:cNvPicPr>
          <p:nvPr/>
        </p:nvPicPr>
        <p:blipFill>
          <a:blip r:embed="rId2"/>
          <a:stretch>
            <a:fillRect/>
          </a:stretch>
        </p:blipFill>
        <p:spPr>
          <a:xfrm>
            <a:off x="609600" y="3086100"/>
            <a:ext cx="7250642" cy="1181100"/>
          </a:xfrm>
          <a:prstGeom prst="rect">
            <a:avLst/>
          </a:prstGeom>
        </p:spPr>
      </p:pic>
    </p:spTree>
    <p:extLst>
      <p:ext uri="{BB962C8B-B14F-4D97-AF65-F5344CB8AC3E}">
        <p14:creationId xmlns:p14="http://schemas.microsoft.com/office/powerpoint/2010/main" val="5318643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5662-7717-C956-9721-0EEA4AC42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676BB-D190-334F-F6BA-3EFD187E7725}"/>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340FD898-E8A3-E61B-3468-4859AA72EFC3}"/>
              </a:ext>
            </a:extLst>
          </p:cNvPr>
          <p:cNvSpPr>
            <a:spLocks noGrp="1"/>
          </p:cNvSpPr>
          <p:nvPr>
            <p:ph idx="1"/>
          </p:nvPr>
        </p:nvSpPr>
        <p:spPr/>
        <p:txBody>
          <a:bodyPr/>
          <a:lstStyle/>
          <a:p>
            <a:pPr marL="0" indent="0" algn="just">
              <a:buNone/>
            </a:pPr>
            <a:r>
              <a:rPr lang="en-IN" sz="2000" dirty="0"/>
              <a:t>Backward Pass:</a:t>
            </a:r>
          </a:p>
          <a:p>
            <a:pPr marL="0" indent="0" algn="just">
              <a:buNone/>
            </a:pPr>
            <a:r>
              <a:rPr lang="en-US" sz="2000" b="0" i="0" dirty="0">
                <a:solidFill>
                  <a:srgbClr val="2A2A2A"/>
                </a:solidFill>
                <a:effectLst/>
                <a:latin typeface="Work Sans" pitchFamily="2" charset="0"/>
              </a:rPr>
              <a:t>According to the ‘</a:t>
            </a:r>
            <a:r>
              <a:rPr lang="en-US" sz="2000" b="1" i="0" dirty="0">
                <a:solidFill>
                  <a:srgbClr val="2A2A2A"/>
                </a:solidFill>
                <a:effectLst/>
                <a:latin typeface="Work Sans" pitchFamily="2" charset="0"/>
              </a:rPr>
              <a:t>chain rule</a:t>
            </a:r>
            <a:r>
              <a:rPr lang="en-US" sz="2000" b="0" i="0" dirty="0">
                <a:solidFill>
                  <a:srgbClr val="2A2A2A"/>
                </a:solidFill>
                <a:effectLst/>
                <a:latin typeface="Work Sans" pitchFamily="2" charset="0"/>
              </a:rPr>
              <a:t>‘, we’ll construct the product of the derivatives along all paths connecting the variables. Let’s follow the weights of the second layer (W[2]) gradient:</a:t>
            </a:r>
            <a:endParaRPr lang="en-IN" sz="2000" dirty="0"/>
          </a:p>
        </p:txBody>
      </p:sp>
      <p:sp>
        <p:nvSpPr>
          <p:cNvPr id="6" name="Slide Number Placeholder 5">
            <a:extLst>
              <a:ext uri="{FF2B5EF4-FFF2-40B4-BE49-F238E27FC236}">
                <a16:creationId xmlns:a16="http://schemas.microsoft.com/office/drawing/2014/main" id="{7D53E664-95DA-FF42-3693-45883E8BECD4}"/>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7" name="Picture 6">
            <a:extLst>
              <a:ext uri="{FF2B5EF4-FFF2-40B4-BE49-F238E27FC236}">
                <a16:creationId xmlns:a16="http://schemas.microsoft.com/office/drawing/2014/main" id="{5DEE50F2-1EAF-E882-62F0-E55A095932A4}"/>
              </a:ext>
            </a:extLst>
          </p:cNvPr>
          <p:cNvPicPr>
            <a:picLocks noChangeAspect="1"/>
          </p:cNvPicPr>
          <p:nvPr/>
        </p:nvPicPr>
        <p:blipFill>
          <a:blip r:embed="rId2"/>
          <a:stretch>
            <a:fillRect/>
          </a:stretch>
        </p:blipFill>
        <p:spPr>
          <a:xfrm>
            <a:off x="642257" y="2820628"/>
            <a:ext cx="7696200" cy="1826344"/>
          </a:xfrm>
          <a:prstGeom prst="rect">
            <a:avLst/>
          </a:prstGeom>
        </p:spPr>
      </p:pic>
      <p:pic>
        <p:nvPicPr>
          <p:cNvPr id="8" name="Picture 7">
            <a:extLst>
              <a:ext uri="{FF2B5EF4-FFF2-40B4-BE49-F238E27FC236}">
                <a16:creationId xmlns:a16="http://schemas.microsoft.com/office/drawing/2014/main" id="{7FDA14C8-4BD4-E4F7-1719-2AC615C39490}"/>
              </a:ext>
            </a:extLst>
          </p:cNvPr>
          <p:cNvPicPr>
            <a:picLocks noChangeAspect="1"/>
          </p:cNvPicPr>
          <p:nvPr/>
        </p:nvPicPr>
        <p:blipFill>
          <a:blip r:embed="rId3"/>
          <a:stretch>
            <a:fillRect/>
          </a:stretch>
        </p:blipFill>
        <p:spPr>
          <a:xfrm>
            <a:off x="1905000" y="4951772"/>
            <a:ext cx="4300719" cy="1144228"/>
          </a:xfrm>
          <a:prstGeom prst="rect">
            <a:avLst/>
          </a:prstGeom>
        </p:spPr>
      </p:pic>
    </p:spTree>
    <p:extLst>
      <p:ext uri="{BB962C8B-B14F-4D97-AF65-F5344CB8AC3E}">
        <p14:creationId xmlns:p14="http://schemas.microsoft.com/office/powerpoint/2010/main" val="19967543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8A353-4D90-2FBD-003D-E2FA1B41B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FC452B-B3D1-B20C-2A7E-E1FEF41E98FC}"/>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8FF8CBD3-27CA-DA3B-9FC8-5D2E80558325}"/>
              </a:ext>
            </a:extLst>
          </p:cNvPr>
          <p:cNvSpPr>
            <a:spLocks noGrp="1"/>
          </p:cNvSpPr>
          <p:nvPr>
            <p:ph idx="1"/>
          </p:nvPr>
        </p:nvSpPr>
        <p:spPr/>
        <p:txBody>
          <a:bodyPr/>
          <a:lstStyle/>
          <a:p>
            <a:pPr marL="0" indent="0">
              <a:buNone/>
            </a:pPr>
            <a:r>
              <a:rPr lang="en-IN" dirty="0"/>
              <a:t>Backward Pass:</a:t>
            </a:r>
          </a:p>
        </p:txBody>
      </p:sp>
      <p:sp>
        <p:nvSpPr>
          <p:cNvPr id="6" name="Slide Number Placeholder 5">
            <a:extLst>
              <a:ext uri="{FF2B5EF4-FFF2-40B4-BE49-F238E27FC236}">
                <a16:creationId xmlns:a16="http://schemas.microsoft.com/office/drawing/2014/main" id="{60E8C546-4D46-3542-A804-DE023DEC45A6}"/>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7" name="Picture 6">
            <a:extLst>
              <a:ext uri="{FF2B5EF4-FFF2-40B4-BE49-F238E27FC236}">
                <a16:creationId xmlns:a16="http://schemas.microsoft.com/office/drawing/2014/main" id="{B3CCB55A-79A7-026B-C13B-800DF1FCAE9D}"/>
              </a:ext>
            </a:extLst>
          </p:cNvPr>
          <p:cNvPicPr>
            <a:picLocks noChangeAspect="1"/>
          </p:cNvPicPr>
          <p:nvPr/>
        </p:nvPicPr>
        <p:blipFill>
          <a:blip r:embed="rId2"/>
          <a:stretch>
            <a:fillRect/>
          </a:stretch>
        </p:blipFill>
        <p:spPr>
          <a:xfrm>
            <a:off x="685800" y="1905000"/>
            <a:ext cx="6629400" cy="1287064"/>
          </a:xfrm>
          <a:prstGeom prst="rect">
            <a:avLst/>
          </a:prstGeom>
        </p:spPr>
      </p:pic>
      <p:pic>
        <p:nvPicPr>
          <p:cNvPr id="8" name="Picture 7">
            <a:extLst>
              <a:ext uri="{FF2B5EF4-FFF2-40B4-BE49-F238E27FC236}">
                <a16:creationId xmlns:a16="http://schemas.microsoft.com/office/drawing/2014/main" id="{A0A0FC2D-E2E9-D779-F64E-869577BB6E38}"/>
              </a:ext>
            </a:extLst>
          </p:cNvPr>
          <p:cNvPicPr>
            <a:picLocks noChangeAspect="1"/>
          </p:cNvPicPr>
          <p:nvPr/>
        </p:nvPicPr>
        <p:blipFill>
          <a:blip r:embed="rId3"/>
          <a:stretch>
            <a:fillRect/>
          </a:stretch>
        </p:blipFill>
        <p:spPr>
          <a:xfrm>
            <a:off x="560832" y="3344464"/>
            <a:ext cx="6754368" cy="1290972"/>
          </a:xfrm>
          <a:prstGeom prst="rect">
            <a:avLst/>
          </a:prstGeom>
        </p:spPr>
      </p:pic>
      <p:pic>
        <p:nvPicPr>
          <p:cNvPr id="9" name="Picture 8">
            <a:extLst>
              <a:ext uri="{FF2B5EF4-FFF2-40B4-BE49-F238E27FC236}">
                <a16:creationId xmlns:a16="http://schemas.microsoft.com/office/drawing/2014/main" id="{13AC9E85-3E2B-7C4D-F187-ECE435076775}"/>
              </a:ext>
            </a:extLst>
          </p:cNvPr>
          <p:cNvPicPr>
            <a:picLocks noChangeAspect="1"/>
          </p:cNvPicPr>
          <p:nvPr/>
        </p:nvPicPr>
        <p:blipFill>
          <a:blip r:embed="rId4"/>
          <a:stretch>
            <a:fillRect/>
          </a:stretch>
        </p:blipFill>
        <p:spPr>
          <a:xfrm>
            <a:off x="609599" y="4853690"/>
            <a:ext cx="7084241" cy="1394710"/>
          </a:xfrm>
          <a:prstGeom prst="rect">
            <a:avLst/>
          </a:prstGeom>
        </p:spPr>
      </p:pic>
    </p:spTree>
    <p:extLst>
      <p:ext uri="{BB962C8B-B14F-4D97-AF65-F5344CB8AC3E}">
        <p14:creationId xmlns:p14="http://schemas.microsoft.com/office/powerpoint/2010/main" val="10229138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C5899-C023-BEA8-754D-9BF2E66EC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70E25-05BE-91E6-3EF2-4C4A1E9E669B}"/>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3ED2AA52-0A1D-E552-2A6C-AF7AEE7AAFDD}"/>
              </a:ext>
            </a:extLst>
          </p:cNvPr>
          <p:cNvSpPr>
            <a:spLocks noGrp="1"/>
          </p:cNvSpPr>
          <p:nvPr>
            <p:ph idx="1"/>
          </p:nvPr>
        </p:nvSpPr>
        <p:spPr>
          <a:xfrm>
            <a:off x="500743" y="1219200"/>
            <a:ext cx="8001000" cy="5029200"/>
          </a:xfrm>
        </p:spPr>
        <p:txBody>
          <a:bodyPr/>
          <a:lstStyle/>
          <a:p>
            <a:pPr marL="0" indent="0">
              <a:buNone/>
            </a:pPr>
            <a:r>
              <a:rPr lang="en-IN" dirty="0"/>
              <a:t>Backward Pass:</a:t>
            </a:r>
          </a:p>
        </p:txBody>
      </p:sp>
      <p:sp>
        <p:nvSpPr>
          <p:cNvPr id="6" name="Slide Number Placeholder 5">
            <a:extLst>
              <a:ext uri="{FF2B5EF4-FFF2-40B4-BE49-F238E27FC236}">
                <a16:creationId xmlns:a16="http://schemas.microsoft.com/office/drawing/2014/main" id="{880E237D-A580-012B-E44B-B9B2EA8DD490}"/>
              </a:ext>
            </a:extLst>
          </p:cNvPr>
          <p:cNvSpPr>
            <a:spLocks noGrp="1"/>
          </p:cNvSpPr>
          <p:nvPr>
            <p:ph type="sldNum" sz="quarter" idx="12"/>
          </p:nvPr>
        </p:nvSpPr>
        <p:spPr/>
        <p:txBody>
          <a:bodyPr/>
          <a:lstStyle/>
          <a:p>
            <a:fld id="{BB2CE0DE-867F-455F-B20B-96D381B4AB71}" type="slidenum">
              <a:rPr lang="en-US" smtClean="0"/>
              <a:t>98</a:t>
            </a:fld>
            <a:endParaRPr lang="en-US"/>
          </a:p>
        </p:txBody>
      </p:sp>
      <p:pic>
        <p:nvPicPr>
          <p:cNvPr id="7" name="Picture 6">
            <a:extLst>
              <a:ext uri="{FF2B5EF4-FFF2-40B4-BE49-F238E27FC236}">
                <a16:creationId xmlns:a16="http://schemas.microsoft.com/office/drawing/2014/main" id="{EB3EB7E5-3EB5-D4B9-2EB4-3E99529F306F}"/>
              </a:ext>
            </a:extLst>
          </p:cNvPr>
          <p:cNvPicPr>
            <a:picLocks noChangeAspect="1"/>
          </p:cNvPicPr>
          <p:nvPr/>
        </p:nvPicPr>
        <p:blipFill>
          <a:blip r:embed="rId2"/>
          <a:stretch>
            <a:fillRect/>
          </a:stretch>
        </p:blipFill>
        <p:spPr>
          <a:xfrm>
            <a:off x="574674" y="1828800"/>
            <a:ext cx="6969125" cy="916488"/>
          </a:xfrm>
          <a:prstGeom prst="rect">
            <a:avLst/>
          </a:prstGeom>
        </p:spPr>
      </p:pic>
      <p:sp>
        <p:nvSpPr>
          <p:cNvPr id="8" name="Right Brace 7">
            <a:extLst>
              <a:ext uri="{FF2B5EF4-FFF2-40B4-BE49-F238E27FC236}">
                <a16:creationId xmlns:a16="http://schemas.microsoft.com/office/drawing/2014/main" id="{E65CA6DB-5C8F-624B-8BB3-C0056E147B6F}"/>
              </a:ext>
            </a:extLst>
          </p:cNvPr>
          <p:cNvSpPr/>
          <p:nvPr/>
        </p:nvSpPr>
        <p:spPr bwMode="auto">
          <a:xfrm rot="5400000">
            <a:off x="5215095" y="1559584"/>
            <a:ext cx="281351" cy="2394857"/>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9" name="TextBox 8">
            <a:extLst>
              <a:ext uri="{FF2B5EF4-FFF2-40B4-BE49-F238E27FC236}">
                <a16:creationId xmlns:a16="http://schemas.microsoft.com/office/drawing/2014/main" id="{16A4D2EC-22CF-9939-5A88-26687485F860}"/>
              </a:ext>
            </a:extLst>
          </p:cNvPr>
          <p:cNvSpPr txBox="1"/>
          <p:nvPr/>
        </p:nvSpPr>
        <p:spPr>
          <a:xfrm>
            <a:off x="4974094" y="2930345"/>
            <a:ext cx="763351" cy="369332"/>
          </a:xfrm>
          <a:prstGeom prst="rect">
            <a:avLst/>
          </a:prstGeom>
          <a:noFill/>
        </p:spPr>
        <p:txBody>
          <a:bodyPr wrap="none" rtlCol="0">
            <a:spAutoFit/>
          </a:bodyPr>
          <a:lstStyle/>
          <a:p>
            <a:r>
              <a:rPr lang="en-IN" dirty="0"/>
              <a:t>Error</a:t>
            </a:r>
          </a:p>
        </p:txBody>
      </p:sp>
      <p:pic>
        <p:nvPicPr>
          <p:cNvPr id="10" name="Picture 9">
            <a:extLst>
              <a:ext uri="{FF2B5EF4-FFF2-40B4-BE49-F238E27FC236}">
                <a16:creationId xmlns:a16="http://schemas.microsoft.com/office/drawing/2014/main" id="{2213F0AB-4B9B-C233-B5E9-64D58CE81F62}"/>
              </a:ext>
            </a:extLst>
          </p:cNvPr>
          <p:cNvPicPr>
            <a:picLocks noChangeAspect="1"/>
          </p:cNvPicPr>
          <p:nvPr/>
        </p:nvPicPr>
        <p:blipFill>
          <a:blip r:embed="rId3"/>
          <a:stretch>
            <a:fillRect/>
          </a:stretch>
        </p:blipFill>
        <p:spPr>
          <a:xfrm>
            <a:off x="653143" y="3733800"/>
            <a:ext cx="7696200" cy="1826344"/>
          </a:xfrm>
          <a:prstGeom prst="rect">
            <a:avLst/>
          </a:prstGeom>
        </p:spPr>
      </p:pic>
    </p:spTree>
    <p:extLst>
      <p:ext uri="{BB962C8B-B14F-4D97-AF65-F5344CB8AC3E}">
        <p14:creationId xmlns:p14="http://schemas.microsoft.com/office/powerpoint/2010/main" val="30883907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E9D9-1694-2CFA-A244-9E6ECC94F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E7735-7160-71A7-D61F-21278608CCB0}"/>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4DDB7FCE-3F5D-9B2C-30E6-D030EE91E57F}"/>
              </a:ext>
            </a:extLst>
          </p:cNvPr>
          <p:cNvSpPr>
            <a:spLocks noGrp="1"/>
          </p:cNvSpPr>
          <p:nvPr>
            <p:ph idx="1"/>
          </p:nvPr>
        </p:nvSpPr>
        <p:spPr/>
        <p:txBody>
          <a:bodyPr/>
          <a:lstStyle/>
          <a:p>
            <a:pPr marL="0" indent="0">
              <a:buNone/>
            </a:pPr>
            <a:r>
              <a:rPr lang="en-IN" sz="1600" dirty="0"/>
              <a:t>Backward Pass: </a:t>
            </a:r>
          </a:p>
          <a:p>
            <a:pPr marL="0" indent="0">
              <a:buNone/>
            </a:pPr>
            <a:r>
              <a:rPr lang="en-US" sz="1600" b="0" i="0" dirty="0">
                <a:solidFill>
                  <a:srgbClr val="2A2A2A"/>
                </a:solidFill>
                <a:effectLst/>
                <a:latin typeface="Work Sans" pitchFamily="2" charset="0"/>
              </a:rPr>
              <a:t>Next, we will compute the b[1] gradient in a similar way. Lets follow the gradient:</a:t>
            </a:r>
            <a:endParaRPr lang="en-IN" sz="1600" dirty="0"/>
          </a:p>
        </p:txBody>
      </p:sp>
      <p:sp>
        <p:nvSpPr>
          <p:cNvPr id="6" name="Slide Number Placeholder 5">
            <a:extLst>
              <a:ext uri="{FF2B5EF4-FFF2-40B4-BE49-F238E27FC236}">
                <a16:creationId xmlns:a16="http://schemas.microsoft.com/office/drawing/2014/main" id="{155AC432-6E1D-8E32-7761-41C609698FBA}"/>
              </a:ext>
            </a:extLst>
          </p:cNvPr>
          <p:cNvSpPr>
            <a:spLocks noGrp="1"/>
          </p:cNvSpPr>
          <p:nvPr>
            <p:ph type="sldNum" sz="quarter" idx="12"/>
          </p:nvPr>
        </p:nvSpPr>
        <p:spPr/>
        <p:txBody>
          <a:bodyPr/>
          <a:lstStyle/>
          <a:p>
            <a:fld id="{BB2CE0DE-867F-455F-B20B-96D381B4AB71}" type="slidenum">
              <a:rPr lang="en-US" smtClean="0"/>
              <a:t>99</a:t>
            </a:fld>
            <a:endParaRPr lang="en-US"/>
          </a:p>
        </p:txBody>
      </p:sp>
      <p:pic>
        <p:nvPicPr>
          <p:cNvPr id="7" name="Picture 6">
            <a:extLst>
              <a:ext uri="{FF2B5EF4-FFF2-40B4-BE49-F238E27FC236}">
                <a16:creationId xmlns:a16="http://schemas.microsoft.com/office/drawing/2014/main" id="{91CEDEDA-89AD-D8B1-CCDC-362F04BE72C1}"/>
              </a:ext>
            </a:extLst>
          </p:cNvPr>
          <p:cNvPicPr>
            <a:picLocks noChangeAspect="1"/>
          </p:cNvPicPr>
          <p:nvPr/>
        </p:nvPicPr>
        <p:blipFill>
          <a:blip r:embed="rId2"/>
          <a:stretch>
            <a:fillRect/>
          </a:stretch>
        </p:blipFill>
        <p:spPr>
          <a:xfrm>
            <a:off x="685800" y="2209800"/>
            <a:ext cx="7848600" cy="1862510"/>
          </a:xfrm>
          <a:prstGeom prst="rect">
            <a:avLst/>
          </a:prstGeom>
        </p:spPr>
      </p:pic>
      <p:pic>
        <p:nvPicPr>
          <p:cNvPr id="8" name="Picture 7">
            <a:extLst>
              <a:ext uri="{FF2B5EF4-FFF2-40B4-BE49-F238E27FC236}">
                <a16:creationId xmlns:a16="http://schemas.microsoft.com/office/drawing/2014/main" id="{507B5BF6-C61B-6784-28C3-5664F64E17C4}"/>
              </a:ext>
            </a:extLst>
          </p:cNvPr>
          <p:cNvPicPr>
            <a:picLocks noChangeAspect="1"/>
          </p:cNvPicPr>
          <p:nvPr/>
        </p:nvPicPr>
        <p:blipFill>
          <a:blip r:embed="rId3"/>
          <a:stretch>
            <a:fillRect/>
          </a:stretch>
        </p:blipFill>
        <p:spPr>
          <a:xfrm>
            <a:off x="1219199" y="4409766"/>
            <a:ext cx="4851079" cy="1381433"/>
          </a:xfrm>
          <a:prstGeom prst="rect">
            <a:avLst/>
          </a:prstGeom>
        </p:spPr>
      </p:pic>
    </p:spTree>
    <p:extLst>
      <p:ext uri="{BB962C8B-B14F-4D97-AF65-F5344CB8AC3E}">
        <p14:creationId xmlns:p14="http://schemas.microsoft.com/office/powerpoint/2010/main" val="312064584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FC48-F060-564D-046E-EABF6AA55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3B5EE-CBD3-631F-4A7E-0E3396AFD43A}"/>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1577F3E4-C989-5E42-A7D2-F31DF09CE900}"/>
              </a:ext>
            </a:extLst>
          </p:cNvPr>
          <p:cNvSpPr>
            <a:spLocks noGrp="1"/>
          </p:cNvSpPr>
          <p:nvPr>
            <p:ph idx="1"/>
          </p:nvPr>
        </p:nvSpPr>
        <p:spPr/>
        <p:txBody>
          <a:bodyPr/>
          <a:lstStyle/>
          <a:p>
            <a:pPr marL="0" indent="0">
              <a:buNone/>
            </a:pPr>
            <a:r>
              <a:rPr lang="en-IN" dirty="0"/>
              <a:t>Backward Pass</a:t>
            </a:r>
          </a:p>
        </p:txBody>
      </p:sp>
      <p:sp>
        <p:nvSpPr>
          <p:cNvPr id="6" name="Slide Number Placeholder 5">
            <a:extLst>
              <a:ext uri="{FF2B5EF4-FFF2-40B4-BE49-F238E27FC236}">
                <a16:creationId xmlns:a16="http://schemas.microsoft.com/office/drawing/2014/main" id="{34620CAB-D8FC-9168-D411-5C7F8FBF4A9C}"/>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8" name="Picture 7">
            <a:extLst>
              <a:ext uri="{FF2B5EF4-FFF2-40B4-BE49-F238E27FC236}">
                <a16:creationId xmlns:a16="http://schemas.microsoft.com/office/drawing/2014/main" id="{AD38B9BD-3AC5-C5EE-B7D9-1EDD4A966AA0}"/>
              </a:ext>
            </a:extLst>
          </p:cNvPr>
          <p:cNvPicPr>
            <a:picLocks noChangeAspect="1"/>
          </p:cNvPicPr>
          <p:nvPr/>
        </p:nvPicPr>
        <p:blipFill>
          <a:blip r:embed="rId2"/>
          <a:stretch>
            <a:fillRect/>
          </a:stretch>
        </p:blipFill>
        <p:spPr>
          <a:xfrm>
            <a:off x="644298" y="1866900"/>
            <a:ext cx="5743575" cy="1295400"/>
          </a:xfrm>
          <a:prstGeom prst="rect">
            <a:avLst/>
          </a:prstGeom>
        </p:spPr>
      </p:pic>
      <p:pic>
        <p:nvPicPr>
          <p:cNvPr id="9" name="Picture 8">
            <a:extLst>
              <a:ext uri="{FF2B5EF4-FFF2-40B4-BE49-F238E27FC236}">
                <a16:creationId xmlns:a16="http://schemas.microsoft.com/office/drawing/2014/main" id="{50F1DD00-2692-80F1-290B-A8357BBA11D9}"/>
              </a:ext>
            </a:extLst>
          </p:cNvPr>
          <p:cNvPicPr>
            <a:picLocks noChangeAspect="1"/>
          </p:cNvPicPr>
          <p:nvPr/>
        </p:nvPicPr>
        <p:blipFill>
          <a:blip r:embed="rId3"/>
          <a:stretch>
            <a:fillRect/>
          </a:stretch>
        </p:blipFill>
        <p:spPr>
          <a:xfrm>
            <a:off x="457200" y="3467100"/>
            <a:ext cx="7381875" cy="847725"/>
          </a:xfrm>
          <a:prstGeom prst="rect">
            <a:avLst/>
          </a:prstGeom>
        </p:spPr>
      </p:pic>
    </p:spTree>
    <p:extLst>
      <p:ext uri="{BB962C8B-B14F-4D97-AF65-F5344CB8AC3E}">
        <p14:creationId xmlns:p14="http://schemas.microsoft.com/office/powerpoint/2010/main" val="31673894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7DBF0-B0EE-0ECB-170C-E4C5E368E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77D11-B377-E1F8-BA82-3CD7FE9C131B}"/>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54AE02B0-BB2D-A122-2C7F-C0AEEF04A464}"/>
              </a:ext>
            </a:extLst>
          </p:cNvPr>
          <p:cNvSpPr>
            <a:spLocks noGrp="1"/>
          </p:cNvSpPr>
          <p:nvPr>
            <p:ph idx="1"/>
          </p:nvPr>
        </p:nvSpPr>
        <p:spPr/>
        <p:txBody>
          <a:bodyPr/>
          <a:lstStyle/>
          <a:p>
            <a:pPr marL="0" indent="0">
              <a:buNone/>
            </a:pPr>
            <a:r>
              <a:rPr lang="en-IN" sz="2400" dirty="0"/>
              <a:t>Backward Pass:</a:t>
            </a:r>
          </a:p>
          <a:p>
            <a:pPr marL="0" indent="0">
              <a:buNone/>
            </a:pPr>
            <a:r>
              <a:rPr lang="en-US" sz="1400" b="0" i="0" dirty="0">
                <a:solidFill>
                  <a:srgbClr val="2A2A2A"/>
                </a:solidFill>
                <a:effectLst/>
                <a:latin typeface="Work Sans" pitchFamily="2" charset="0"/>
              </a:rPr>
              <a:t>At last, we finished computing the gradients for the second layer. The gradients for first layer are a bit longer, but we already computed parts of it. Lets follow the gradient for W[1] update:</a:t>
            </a:r>
            <a:endParaRPr lang="en-IN" sz="2400" dirty="0"/>
          </a:p>
        </p:txBody>
      </p:sp>
      <p:sp>
        <p:nvSpPr>
          <p:cNvPr id="6" name="Slide Number Placeholder 5">
            <a:extLst>
              <a:ext uri="{FF2B5EF4-FFF2-40B4-BE49-F238E27FC236}">
                <a16:creationId xmlns:a16="http://schemas.microsoft.com/office/drawing/2014/main" id="{AA5724E6-A064-5953-4E28-49FC104D785B}"/>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7" name="Picture 6">
            <a:extLst>
              <a:ext uri="{FF2B5EF4-FFF2-40B4-BE49-F238E27FC236}">
                <a16:creationId xmlns:a16="http://schemas.microsoft.com/office/drawing/2014/main" id="{C6508918-4750-3E41-1E94-D27B98F44CB6}"/>
              </a:ext>
            </a:extLst>
          </p:cNvPr>
          <p:cNvPicPr>
            <a:picLocks noChangeAspect="1"/>
          </p:cNvPicPr>
          <p:nvPr/>
        </p:nvPicPr>
        <p:blipFill>
          <a:blip r:embed="rId2"/>
          <a:stretch>
            <a:fillRect/>
          </a:stretch>
        </p:blipFill>
        <p:spPr>
          <a:xfrm>
            <a:off x="631371" y="2479662"/>
            <a:ext cx="6760029" cy="1604187"/>
          </a:xfrm>
          <a:prstGeom prst="rect">
            <a:avLst/>
          </a:prstGeom>
        </p:spPr>
      </p:pic>
      <p:pic>
        <p:nvPicPr>
          <p:cNvPr id="8" name="Picture 7">
            <a:extLst>
              <a:ext uri="{FF2B5EF4-FFF2-40B4-BE49-F238E27FC236}">
                <a16:creationId xmlns:a16="http://schemas.microsoft.com/office/drawing/2014/main" id="{67C2069C-7B2E-413E-5617-55241D2B1767}"/>
              </a:ext>
            </a:extLst>
          </p:cNvPr>
          <p:cNvPicPr>
            <a:picLocks noChangeAspect="1"/>
          </p:cNvPicPr>
          <p:nvPr/>
        </p:nvPicPr>
        <p:blipFill>
          <a:blip r:embed="rId3"/>
          <a:stretch>
            <a:fillRect/>
          </a:stretch>
        </p:blipFill>
        <p:spPr>
          <a:xfrm>
            <a:off x="631371" y="4300989"/>
            <a:ext cx="4618264" cy="887549"/>
          </a:xfrm>
          <a:prstGeom prst="rect">
            <a:avLst/>
          </a:prstGeom>
        </p:spPr>
      </p:pic>
      <p:pic>
        <p:nvPicPr>
          <p:cNvPr id="9" name="Picture 8">
            <a:extLst>
              <a:ext uri="{FF2B5EF4-FFF2-40B4-BE49-F238E27FC236}">
                <a16:creationId xmlns:a16="http://schemas.microsoft.com/office/drawing/2014/main" id="{7C7B4BCC-27A2-9302-5E62-90C82BBB1894}"/>
              </a:ext>
            </a:extLst>
          </p:cNvPr>
          <p:cNvPicPr>
            <a:picLocks noChangeAspect="1"/>
          </p:cNvPicPr>
          <p:nvPr/>
        </p:nvPicPr>
        <p:blipFill>
          <a:blip r:embed="rId4"/>
          <a:stretch>
            <a:fillRect/>
          </a:stretch>
        </p:blipFill>
        <p:spPr>
          <a:xfrm>
            <a:off x="338138" y="5435997"/>
            <a:ext cx="8229600" cy="1125140"/>
          </a:xfrm>
          <a:prstGeom prst="rect">
            <a:avLst/>
          </a:prstGeom>
        </p:spPr>
      </p:pic>
    </p:spTree>
    <p:extLst>
      <p:ext uri="{BB962C8B-B14F-4D97-AF65-F5344CB8AC3E}">
        <p14:creationId xmlns:p14="http://schemas.microsoft.com/office/powerpoint/2010/main" val="4150916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49F5C-4C94-68FC-61EF-87DA42454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FE018-7604-B9EF-B72A-A4E1CF90EB12}"/>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8AB2B124-02AE-BF02-08CE-894808471ECB}"/>
              </a:ext>
            </a:extLst>
          </p:cNvPr>
          <p:cNvSpPr>
            <a:spLocks noGrp="1"/>
          </p:cNvSpPr>
          <p:nvPr>
            <p:ph idx="1"/>
          </p:nvPr>
        </p:nvSpPr>
        <p:spPr/>
        <p:txBody>
          <a:bodyPr/>
          <a:lstStyle/>
          <a:p>
            <a:pPr marL="0" indent="0">
              <a:buNone/>
            </a:pPr>
            <a:r>
              <a:rPr lang="en-IN" sz="2400" dirty="0"/>
              <a:t>Backward Pass</a:t>
            </a:r>
          </a:p>
        </p:txBody>
      </p:sp>
      <p:sp>
        <p:nvSpPr>
          <p:cNvPr id="6" name="Slide Number Placeholder 5">
            <a:extLst>
              <a:ext uri="{FF2B5EF4-FFF2-40B4-BE49-F238E27FC236}">
                <a16:creationId xmlns:a16="http://schemas.microsoft.com/office/drawing/2014/main" id="{09DD24BB-13D8-AF37-4C63-03DEB3D20874}"/>
              </a:ext>
            </a:extLst>
          </p:cNvPr>
          <p:cNvSpPr>
            <a:spLocks noGrp="1"/>
          </p:cNvSpPr>
          <p:nvPr>
            <p:ph type="sldNum" sz="quarter" idx="12"/>
          </p:nvPr>
        </p:nvSpPr>
        <p:spPr/>
        <p:txBody>
          <a:bodyPr/>
          <a:lstStyle/>
          <a:p>
            <a:fld id="{BB2CE0DE-867F-455F-B20B-96D381B4AB71}" type="slidenum">
              <a:rPr lang="en-US" smtClean="0"/>
              <a:t>102</a:t>
            </a:fld>
            <a:endParaRPr lang="en-US"/>
          </a:p>
        </p:txBody>
      </p:sp>
      <p:pic>
        <p:nvPicPr>
          <p:cNvPr id="10" name="Picture 9">
            <a:extLst>
              <a:ext uri="{FF2B5EF4-FFF2-40B4-BE49-F238E27FC236}">
                <a16:creationId xmlns:a16="http://schemas.microsoft.com/office/drawing/2014/main" id="{D5EA9594-0C2F-2628-CE0B-6F5BD7516255}"/>
              </a:ext>
            </a:extLst>
          </p:cNvPr>
          <p:cNvPicPr>
            <a:picLocks noChangeAspect="1"/>
          </p:cNvPicPr>
          <p:nvPr/>
        </p:nvPicPr>
        <p:blipFill>
          <a:blip r:embed="rId2"/>
          <a:stretch>
            <a:fillRect/>
          </a:stretch>
        </p:blipFill>
        <p:spPr>
          <a:xfrm>
            <a:off x="609600" y="1754513"/>
            <a:ext cx="7010400" cy="1663601"/>
          </a:xfrm>
          <a:prstGeom prst="rect">
            <a:avLst/>
          </a:prstGeom>
        </p:spPr>
      </p:pic>
      <p:pic>
        <p:nvPicPr>
          <p:cNvPr id="11" name="Picture 10">
            <a:extLst>
              <a:ext uri="{FF2B5EF4-FFF2-40B4-BE49-F238E27FC236}">
                <a16:creationId xmlns:a16="http://schemas.microsoft.com/office/drawing/2014/main" id="{563C73B8-57B5-380F-7D8E-D8392A170517}"/>
              </a:ext>
            </a:extLst>
          </p:cNvPr>
          <p:cNvPicPr>
            <a:picLocks noChangeAspect="1"/>
          </p:cNvPicPr>
          <p:nvPr/>
        </p:nvPicPr>
        <p:blipFill>
          <a:blip r:embed="rId3"/>
          <a:stretch>
            <a:fillRect/>
          </a:stretch>
        </p:blipFill>
        <p:spPr>
          <a:xfrm>
            <a:off x="304800" y="3986084"/>
            <a:ext cx="9144000" cy="1116211"/>
          </a:xfrm>
          <a:prstGeom prst="rect">
            <a:avLst/>
          </a:prstGeom>
        </p:spPr>
      </p:pic>
    </p:spTree>
    <p:extLst>
      <p:ext uri="{BB962C8B-B14F-4D97-AF65-F5344CB8AC3E}">
        <p14:creationId xmlns:p14="http://schemas.microsoft.com/office/powerpoint/2010/main" val="2827985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E7422-1C8C-31A5-3003-F4F5FF5C3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4C05A-3BD8-FCDA-D6A0-D3DE5949C66A}"/>
              </a:ext>
            </a:extLst>
          </p:cNvPr>
          <p:cNvSpPr>
            <a:spLocks noGrp="1"/>
          </p:cNvSpPr>
          <p:nvPr>
            <p:ph type="title"/>
          </p:nvPr>
        </p:nvSpPr>
        <p:spPr/>
        <p:txBody>
          <a:bodyPr/>
          <a:lstStyle/>
          <a:p>
            <a:r>
              <a:rPr lang="en-IN" sz="2400" dirty="0"/>
              <a:t>Maths behind Neural Network training Process</a:t>
            </a:r>
          </a:p>
        </p:txBody>
      </p:sp>
      <p:sp>
        <p:nvSpPr>
          <p:cNvPr id="3" name="Content Placeholder 2">
            <a:extLst>
              <a:ext uri="{FF2B5EF4-FFF2-40B4-BE49-F238E27FC236}">
                <a16:creationId xmlns:a16="http://schemas.microsoft.com/office/drawing/2014/main" id="{A593AACC-ACEB-B6F4-0139-83CF9699BE32}"/>
              </a:ext>
            </a:extLst>
          </p:cNvPr>
          <p:cNvSpPr>
            <a:spLocks noGrp="1"/>
          </p:cNvSpPr>
          <p:nvPr>
            <p:ph idx="1"/>
          </p:nvPr>
        </p:nvSpPr>
        <p:spPr/>
        <p:txBody>
          <a:bodyPr/>
          <a:lstStyle/>
          <a:p>
            <a:pPr marL="0" indent="0">
              <a:buNone/>
            </a:pPr>
            <a:r>
              <a:rPr lang="en-IN" sz="2400" dirty="0"/>
              <a:t>Weight Update</a:t>
            </a:r>
          </a:p>
        </p:txBody>
      </p:sp>
      <p:sp>
        <p:nvSpPr>
          <p:cNvPr id="6" name="Slide Number Placeholder 5">
            <a:extLst>
              <a:ext uri="{FF2B5EF4-FFF2-40B4-BE49-F238E27FC236}">
                <a16:creationId xmlns:a16="http://schemas.microsoft.com/office/drawing/2014/main" id="{2FF039EA-ED7C-D5F7-F2B0-50771D63EB04}"/>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7" name="Picture 6">
            <a:extLst>
              <a:ext uri="{FF2B5EF4-FFF2-40B4-BE49-F238E27FC236}">
                <a16:creationId xmlns:a16="http://schemas.microsoft.com/office/drawing/2014/main" id="{49614D19-64F6-6210-A241-7B03911060EC}"/>
              </a:ext>
            </a:extLst>
          </p:cNvPr>
          <p:cNvPicPr>
            <a:picLocks noChangeAspect="1"/>
          </p:cNvPicPr>
          <p:nvPr/>
        </p:nvPicPr>
        <p:blipFill>
          <a:blip r:embed="rId2"/>
          <a:stretch>
            <a:fillRect/>
          </a:stretch>
        </p:blipFill>
        <p:spPr>
          <a:xfrm>
            <a:off x="685800" y="1850570"/>
            <a:ext cx="7378702" cy="1807029"/>
          </a:xfrm>
          <a:prstGeom prst="rect">
            <a:avLst/>
          </a:prstGeom>
        </p:spPr>
      </p:pic>
    </p:spTree>
    <p:extLst>
      <p:ext uri="{BB962C8B-B14F-4D97-AF65-F5344CB8AC3E}">
        <p14:creationId xmlns:p14="http://schemas.microsoft.com/office/powerpoint/2010/main" val="26655004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EAFAC-D39B-7761-CE51-F3C1C7429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217B9-0421-9B70-FD4B-2E2345F56466}"/>
              </a:ext>
            </a:extLst>
          </p:cNvPr>
          <p:cNvSpPr>
            <a:spLocks noGrp="1"/>
          </p:cNvSpPr>
          <p:nvPr>
            <p:ph type="title"/>
          </p:nvPr>
        </p:nvSpPr>
        <p:spPr/>
        <p:txBody>
          <a:bodyPr/>
          <a:lstStyle/>
          <a:p>
            <a:r>
              <a:rPr lang="en-IN" sz="2400" dirty="0"/>
              <a:t>Problem</a:t>
            </a:r>
          </a:p>
        </p:txBody>
      </p:sp>
      <p:sp>
        <p:nvSpPr>
          <p:cNvPr id="3" name="Content Placeholder 2">
            <a:extLst>
              <a:ext uri="{FF2B5EF4-FFF2-40B4-BE49-F238E27FC236}">
                <a16:creationId xmlns:a16="http://schemas.microsoft.com/office/drawing/2014/main" id="{902B0168-C4D6-73D8-D1C2-9143E6CBF95B}"/>
              </a:ext>
            </a:extLst>
          </p:cNvPr>
          <p:cNvSpPr>
            <a:spLocks noGrp="1"/>
          </p:cNvSpPr>
          <p:nvPr>
            <p:ph idx="1"/>
          </p:nvPr>
        </p:nvSpPr>
        <p:spPr/>
        <p:txBody>
          <a:bodyPr/>
          <a:lstStyle/>
          <a:p>
            <a:pPr marL="0" indent="0">
              <a:buNone/>
            </a:pPr>
            <a:endParaRPr lang="en-IN" sz="2400" dirty="0"/>
          </a:p>
        </p:txBody>
      </p:sp>
      <p:sp>
        <p:nvSpPr>
          <p:cNvPr id="6" name="Slide Number Placeholder 5">
            <a:extLst>
              <a:ext uri="{FF2B5EF4-FFF2-40B4-BE49-F238E27FC236}">
                <a16:creationId xmlns:a16="http://schemas.microsoft.com/office/drawing/2014/main" id="{EE7AABC8-F33F-7103-5803-92799AF24DCC}"/>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8" name="Picture 7">
            <a:extLst>
              <a:ext uri="{FF2B5EF4-FFF2-40B4-BE49-F238E27FC236}">
                <a16:creationId xmlns:a16="http://schemas.microsoft.com/office/drawing/2014/main" id="{58B633CB-BEC3-FDB9-4806-6CBFE41B851A}"/>
              </a:ext>
            </a:extLst>
          </p:cNvPr>
          <p:cNvPicPr>
            <a:picLocks noChangeAspect="1"/>
          </p:cNvPicPr>
          <p:nvPr/>
        </p:nvPicPr>
        <p:blipFill>
          <a:blip r:embed="rId2"/>
          <a:stretch>
            <a:fillRect/>
          </a:stretch>
        </p:blipFill>
        <p:spPr>
          <a:xfrm>
            <a:off x="533400" y="1219200"/>
            <a:ext cx="8001000" cy="1808569"/>
          </a:xfrm>
          <a:prstGeom prst="rect">
            <a:avLst/>
          </a:prstGeom>
        </p:spPr>
      </p:pic>
      <p:pic>
        <p:nvPicPr>
          <p:cNvPr id="10" name="Picture 9">
            <a:extLst>
              <a:ext uri="{FF2B5EF4-FFF2-40B4-BE49-F238E27FC236}">
                <a16:creationId xmlns:a16="http://schemas.microsoft.com/office/drawing/2014/main" id="{10BB2709-A9D8-8EB8-5CAD-09CC9E705145}"/>
              </a:ext>
            </a:extLst>
          </p:cNvPr>
          <p:cNvPicPr>
            <a:picLocks noChangeAspect="1"/>
          </p:cNvPicPr>
          <p:nvPr/>
        </p:nvPicPr>
        <p:blipFill>
          <a:blip r:embed="rId3"/>
          <a:stretch>
            <a:fillRect/>
          </a:stretch>
        </p:blipFill>
        <p:spPr>
          <a:xfrm>
            <a:off x="1295400" y="3429000"/>
            <a:ext cx="6172200" cy="2098445"/>
          </a:xfrm>
          <a:prstGeom prst="rect">
            <a:avLst/>
          </a:prstGeom>
        </p:spPr>
      </p:pic>
    </p:spTree>
    <p:extLst>
      <p:ext uri="{BB962C8B-B14F-4D97-AF65-F5344CB8AC3E}">
        <p14:creationId xmlns:p14="http://schemas.microsoft.com/office/powerpoint/2010/main" val="22982083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8A447-5C91-C13B-4AE7-5E375282980C}"/>
              </a:ext>
            </a:extLst>
          </p:cNvPr>
          <p:cNvSpPr>
            <a:spLocks noGrp="1"/>
          </p:cNvSpPr>
          <p:nvPr>
            <p:ph type="title"/>
          </p:nvPr>
        </p:nvSpPr>
        <p:spPr/>
        <p:txBody>
          <a:bodyPr/>
          <a:lstStyle/>
          <a:p>
            <a:r>
              <a:rPr lang="en-IN" dirty="0"/>
              <a:t>Solution</a:t>
            </a:r>
          </a:p>
        </p:txBody>
      </p:sp>
      <p:sp>
        <p:nvSpPr>
          <p:cNvPr id="6" name="Slide Number Placeholder 5">
            <a:extLst>
              <a:ext uri="{FF2B5EF4-FFF2-40B4-BE49-F238E27FC236}">
                <a16:creationId xmlns:a16="http://schemas.microsoft.com/office/drawing/2014/main" id="{30FED60F-77D6-A3E4-31D0-35E942FBD6FE}"/>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8" name="Picture 7">
            <a:extLst>
              <a:ext uri="{FF2B5EF4-FFF2-40B4-BE49-F238E27FC236}">
                <a16:creationId xmlns:a16="http://schemas.microsoft.com/office/drawing/2014/main" id="{602605AF-B231-784F-983A-CC0562673DF8}"/>
              </a:ext>
            </a:extLst>
          </p:cNvPr>
          <p:cNvPicPr>
            <a:picLocks noChangeAspect="1"/>
          </p:cNvPicPr>
          <p:nvPr/>
        </p:nvPicPr>
        <p:blipFill>
          <a:blip r:embed="rId2"/>
          <a:stretch>
            <a:fillRect/>
          </a:stretch>
        </p:blipFill>
        <p:spPr>
          <a:xfrm>
            <a:off x="1219200" y="3271490"/>
            <a:ext cx="7160345" cy="1721110"/>
          </a:xfrm>
          <a:prstGeom prst="rect">
            <a:avLst/>
          </a:prstGeom>
        </p:spPr>
      </p:pic>
      <p:pic>
        <p:nvPicPr>
          <p:cNvPr id="9" name="Picture 8">
            <a:extLst>
              <a:ext uri="{FF2B5EF4-FFF2-40B4-BE49-F238E27FC236}">
                <a16:creationId xmlns:a16="http://schemas.microsoft.com/office/drawing/2014/main" id="{7C9A3E18-ECB8-A0D6-F5F4-510467BC39AE}"/>
              </a:ext>
            </a:extLst>
          </p:cNvPr>
          <p:cNvPicPr>
            <a:picLocks noChangeAspect="1"/>
          </p:cNvPicPr>
          <p:nvPr/>
        </p:nvPicPr>
        <p:blipFill>
          <a:blip r:embed="rId3"/>
          <a:stretch>
            <a:fillRect/>
          </a:stretch>
        </p:blipFill>
        <p:spPr>
          <a:xfrm>
            <a:off x="142496" y="1137890"/>
            <a:ext cx="5618245" cy="1910109"/>
          </a:xfrm>
          <a:prstGeom prst="rect">
            <a:avLst/>
          </a:prstGeom>
        </p:spPr>
      </p:pic>
    </p:spTree>
    <p:extLst>
      <p:ext uri="{BB962C8B-B14F-4D97-AF65-F5344CB8AC3E}">
        <p14:creationId xmlns:p14="http://schemas.microsoft.com/office/powerpoint/2010/main" val="27465320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D00F-8BE6-D7FC-D962-5C91D3A29F5B}"/>
              </a:ext>
            </a:extLst>
          </p:cNvPr>
          <p:cNvSpPr>
            <a:spLocks noGrp="1"/>
          </p:cNvSpPr>
          <p:nvPr>
            <p:ph type="title"/>
          </p:nvPr>
        </p:nvSpPr>
        <p:spPr/>
        <p:txBody>
          <a:bodyPr/>
          <a:lstStyle/>
          <a:p>
            <a:r>
              <a:rPr lang="en-IN" dirty="0"/>
              <a:t>Solutions</a:t>
            </a:r>
          </a:p>
        </p:txBody>
      </p:sp>
      <p:sp>
        <p:nvSpPr>
          <p:cNvPr id="3" name="Content Placeholder 2">
            <a:extLst>
              <a:ext uri="{FF2B5EF4-FFF2-40B4-BE49-F238E27FC236}">
                <a16:creationId xmlns:a16="http://schemas.microsoft.com/office/drawing/2014/main" id="{97A0301D-31F0-CCA1-211C-7C672C6F7F70}"/>
              </a:ext>
            </a:extLst>
          </p:cNvPr>
          <p:cNvSpPr>
            <a:spLocks noGrp="1"/>
          </p:cNvSpPr>
          <p:nvPr>
            <p:ph idx="1"/>
          </p:nvPr>
        </p:nvSpPr>
        <p:spPr/>
        <p:txBody>
          <a:bodyPr/>
          <a:lstStyle/>
          <a:p>
            <a:endParaRPr lang="en-IN" dirty="0"/>
          </a:p>
        </p:txBody>
      </p:sp>
      <p:sp>
        <p:nvSpPr>
          <p:cNvPr id="6" name="Slide Number Placeholder 5">
            <a:extLst>
              <a:ext uri="{FF2B5EF4-FFF2-40B4-BE49-F238E27FC236}">
                <a16:creationId xmlns:a16="http://schemas.microsoft.com/office/drawing/2014/main" id="{942F752A-C0CC-9DFA-4AD2-F1B3315AFFAA}"/>
              </a:ext>
            </a:extLst>
          </p:cNvPr>
          <p:cNvSpPr>
            <a:spLocks noGrp="1"/>
          </p:cNvSpPr>
          <p:nvPr>
            <p:ph type="sldNum" sz="quarter" idx="12"/>
          </p:nvPr>
        </p:nvSpPr>
        <p:spPr/>
        <p:txBody>
          <a:bodyPr/>
          <a:lstStyle/>
          <a:p>
            <a:fld id="{BB2CE0DE-867F-455F-B20B-96D381B4AB71}" type="slidenum">
              <a:rPr lang="en-US" smtClean="0"/>
              <a:t>106</a:t>
            </a:fld>
            <a:endParaRPr lang="en-US"/>
          </a:p>
        </p:txBody>
      </p:sp>
      <p:pic>
        <p:nvPicPr>
          <p:cNvPr id="8" name="Picture 7">
            <a:extLst>
              <a:ext uri="{FF2B5EF4-FFF2-40B4-BE49-F238E27FC236}">
                <a16:creationId xmlns:a16="http://schemas.microsoft.com/office/drawing/2014/main" id="{D441B225-66CA-80D0-E46C-CF32242017E6}"/>
              </a:ext>
            </a:extLst>
          </p:cNvPr>
          <p:cNvPicPr>
            <a:picLocks noChangeAspect="1"/>
          </p:cNvPicPr>
          <p:nvPr/>
        </p:nvPicPr>
        <p:blipFill>
          <a:blip r:embed="rId2"/>
          <a:stretch>
            <a:fillRect/>
          </a:stretch>
        </p:blipFill>
        <p:spPr>
          <a:xfrm>
            <a:off x="1686304" y="2919152"/>
            <a:ext cx="5791200" cy="3261120"/>
          </a:xfrm>
          <a:prstGeom prst="rect">
            <a:avLst/>
          </a:prstGeom>
        </p:spPr>
      </p:pic>
      <p:pic>
        <p:nvPicPr>
          <p:cNvPr id="9" name="Picture 8">
            <a:extLst>
              <a:ext uri="{FF2B5EF4-FFF2-40B4-BE49-F238E27FC236}">
                <a16:creationId xmlns:a16="http://schemas.microsoft.com/office/drawing/2014/main" id="{7384F681-3B6A-6D74-F6EB-55F08C75F68B}"/>
              </a:ext>
            </a:extLst>
          </p:cNvPr>
          <p:cNvPicPr>
            <a:picLocks noChangeAspect="1"/>
          </p:cNvPicPr>
          <p:nvPr/>
        </p:nvPicPr>
        <p:blipFill>
          <a:blip r:embed="rId3"/>
          <a:stretch>
            <a:fillRect/>
          </a:stretch>
        </p:blipFill>
        <p:spPr>
          <a:xfrm>
            <a:off x="4897589" y="1219200"/>
            <a:ext cx="4114800" cy="989062"/>
          </a:xfrm>
          <a:prstGeom prst="rect">
            <a:avLst/>
          </a:prstGeom>
        </p:spPr>
      </p:pic>
      <p:pic>
        <p:nvPicPr>
          <p:cNvPr id="10" name="Picture 9">
            <a:extLst>
              <a:ext uri="{FF2B5EF4-FFF2-40B4-BE49-F238E27FC236}">
                <a16:creationId xmlns:a16="http://schemas.microsoft.com/office/drawing/2014/main" id="{B9B75B48-279A-2028-90C7-BCF00C03CA22}"/>
              </a:ext>
            </a:extLst>
          </p:cNvPr>
          <p:cNvPicPr>
            <a:picLocks noChangeAspect="1"/>
          </p:cNvPicPr>
          <p:nvPr/>
        </p:nvPicPr>
        <p:blipFill>
          <a:blip r:embed="rId4"/>
          <a:stretch>
            <a:fillRect/>
          </a:stretch>
        </p:blipFill>
        <p:spPr>
          <a:xfrm>
            <a:off x="142497" y="1137891"/>
            <a:ext cx="4581904" cy="1557770"/>
          </a:xfrm>
          <a:prstGeom prst="rect">
            <a:avLst/>
          </a:prstGeom>
        </p:spPr>
      </p:pic>
    </p:spTree>
    <p:extLst>
      <p:ext uri="{BB962C8B-B14F-4D97-AF65-F5344CB8AC3E}">
        <p14:creationId xmlns:p14="http://schemas.microsoft.com/office/powerpoint/2010/main" val="74122776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3FF79-0BA2-5265-16F7-2F0F02BA4EF5}"/>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0F3026E7-1BF0-19BB-6F40-5CC58EFD57C6}"/>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E2BC0811-7754-DD99-AF0B-9892B83417DD}"/>
              </a:ext>
            </a:extLst>
          </p:cNvPr>
          <p:cNvSpPr>
            <a:spLocks noGrp="1"/>
          </p:cNvSpPr>
          <p:nvPr>
            <p:ph type="sldNum" sz="quarter" idx="12"/>
          </p:nvPr>
        </p:nvSpPr>
        <p:spPr/>
        <p:txBody>
          <a:bodyPr/>
          <a:lstStyle/>
          <a:p>
            <a:fld id="{BB2CE0DE-867F-455F-B20B-96D381B4AB71}" type="slidenum">
              <a:rPr lang="en-US" smtClean="0"/>
              <a:t>107</a:t>
            </a:fld>
            <a:endParaRPr lang="en-US"/>
          </a:p>
        </p:txBody>
      </p:sp>
      <p:pic>
        <p:nvPicPr>
          <p:cNvPr id="8" name="Picture 7">
            <a:extLst>
              <a:ext uri="{FF2B5EF4-FFF2-40B4-BE49-F238E27FC236}">
                <a16:creationId xmlns:a16="http://schemas.microsoft.com/office/drawing/2014/main" id="{291531CE-8D80-5AA0-556C-0CCF82450B4C}"/>
              </a:ext>
            </a:extLst>
          </p:cNvPr>
          <p:cNvPicPr>
            <a:picLocks noChangeAspect="1"/>
          </p:cNvPicPr>
          <p:nvPr/>
        </p:nvPicPr>
        <p:blipFill>
          <a:blip r:embed="rId2"/>
          <a:stretch>
            <a:fillRect/>
          </a:stretch>
        </p:blipFill>
        <p:spPr>
          <a:xfrm>
            <a:off x="152400" y="3024240"/>
            <a:ext cx="3429000" cy="809519"/>
          </a:xfrm>
          <a:prstGeom prst="rect">
            <a:avLst/>
          </a:prstGeom>
        </p:spPr>
      </p:pic>
      <p:pic>
        <p:nvPicPr>
          <p:cNvPr id="9" name="Picture 8">
            <a:extLst>
              <a:ext uri="{FF2B5EF4-FFF2-40B4-BE49-F238E27FC236}">
                <a16:creationId xmlns:a16="http://schemas.microsoft.com/office/drawing/2014/main" id="{2C3A503D-7568-3629-C9C9-F9B92D97F274}"/>
              </a:ext>
            </a:extLst>
          </p:cNvPr>
          <p:cNvPicPr>
            <a:picLocks noChangeAspect="1"/>
          </p:cNvPicPr>
          <p:nvPr/>
        </p:nvPicPr>
        <p:blipFill>
          <a:blip r:embed="rId3"/>
          <a:stretch>
            <a:fillRect/>
          </a:stretch>
        </p:blipFill>
        <p:spPr>
          <a:xfrm>
            <a:off x="414447" y="1197429"/>
            <a:ext cx="4581904" cy="1557770"/>
          </a:xfrm>
          <a:prstGeom prst="rect">
            <a:avLst/>
          </a:prstGeom>
        </p:spPr>
      </p:pic>
      <p:pic>
        <p:nvPicPr>
          <p:cNvPr id="10" name="Picture 9">
            <a:extLst>
              <a:ext uri="{FF2B5EF4-FFF2-40B4-BE49-F238E27FC236}">
                <a16:creationId xmlns:a16="http://schemas.microsoft.com/office/drawing/2014/main" id="{2F53E172-2199-6F8C-F96B-8879BBBA750C}"/>
              </a:ext>
            </a:extLst>
          </p:cNvPr>
          <p:cNvPicPr>
            <a:picLocks noChangeAspect="1"/>
          </p:cNvPicPr>
          <p:nvPr/>
        </p:nvPicPr>
        <p:blipFill>
          <a:blip r:embed="rId4"/>
          <a:stretch>
            <a:fillRect/>
          </a:stretch>
        </p:blipFill>
        <p:spPr>
          <a:xfrm>
            <a:off x="4251878" y="3428999"/>
            <a:ext cx="4714496" cy="2654810"/>
          </a:xfrm>
          <a:prstGeom prst="rect">
            <a:avLst/>
          </a:prstGeom>
        </p:spPr>
      </p:pic>
    </p:spTree>
    <p:extLst>
      <p:ext uri="{BB962C8B-B14F-4D97-AF65-F5344CB8AC3E}">
        <p14:creationId xmlns:p14="http://schemas.microsoft.com/office/powerpoint/2010/main" val="11083747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071DA-719B-E112-F91A-1A2F4D01EA92}"/>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CEA6EF14-1CB4-14CB-6BB3-0877E8B83302}"/>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26F179FE-9EEE-41F5-5082-6104D20385F1}"/>
              </a:ext>
            </a:extLst>
          </p:cNvPr>
          <p:cNvSpPr>
            <a:spLocks noGrp="1"/>
          </p:cNvSpPr>
          <p:nvPr>
            <p:ph type="sldNum" sz="quarter" idx="12"/>
          </p:nvPr>
        </p:nvSpPr>
        <p:spPr/>
        <p:txBody>
          <a:bodyPr/>
          <a:lstStyle/>
          <a:p>
            <a:fld id="{BB2CE0DE-867F-455F-B20B-96D381B4AB71}" type="slidenum">
              <a:rPr lang="en-US" smtClean="0"/>
              <a:t>108</a:t>
            </a:fld>
            <a:endParaRPr lang="en-US"/>
          </a:p>
        </p:txBody>
      </p:sp>
      <p:pic>
        <p:nvPicPr>
          <p:cNvPr id="9" name="Picture 8">
            <a:extLst>
              <a:ext uri="{FF2B5EF4-FFF2-40B4-BE49-F238E27FC236}">
                <a16:creationId xmlns:a16="http://schemas.microsoft.com/office/drawing/2014/main" id="{18F9E2DF-7552-CD42-3A0D-E7377A8DF398}"/>
              </a:ext>
            </a:extLst>
          </p:cNvPr>
          <p:cNvPicPr>
            <a:picLocks noChangeAspect="1"/>
          </p:cNvPicPr>
          <p:nvPr/>
        </p:nvPicPr>
        <p:blipFill>
          <a:blip r:embed="rId2"/>
          <a:stretch>
            <a:fillRect/>
          </a:stretch>
        </p:blipFill>
        <p:spPr>
          <a:xfrm>
            <a:off x="413757" y="1352260"/>
            <a:ext cx="8316486" cy="4153480"/>
          </a:xfrm>
          <a:prstGeom prst="rect">
            <a:avLst/>
          </a:prstGeom>
        </p:spPr>
      </p:pic>
      <p:sp>
        <p:nvSpPr>
          <p:cNvPr id="10" name="TextBox 9">
            <a:extLst>
              <a:ext uri="{FF2B5EF4-FFF2-40B4-BE49-F238E27FC236}">
                <a16:creationId xmlns:a16="http://schemas.microsoft.com/office/drawing/2014/main" id="{D454AC87-56AA-868C-725D-A22D3AD8B526}"/>
              </a:ext>
            </a:extLst>
          </p:cNvPr>
          <p:cNvSpPr txBox="1"/>
          <p:nvPr/>
        </p:nvSpPr>
        <p:spPr>
          <a:xfrm>
            <a:off x="3276600" y="4572000"/>
            <a:ext cx="1119217" cy="461665"/>
          </a:xfrm>
          <a:prstGeom prst="rect">
            <a:avLst/>
          </a:prstGeom>
          <a:noFill/>
        </p:spPr>
        <p:txBody>
          <a:bodyPr wrap="none" rtlCol="0">
            <a:spAutoFit/>
          </a:bodyPr>
          <a:lstStyle/>
          <a:p>
            <a:r>
              <a:rPr lang="en-IN" sz="2400" dirty="0"/>
              <a:t>target</a:t>
            </a:r>
          </a:p>
        </p:txBody>
      </p:sp>
    </p:spTree>
    <p:extLst>
      <p:ext uri="{BB962C8B-B14F-4D97-AF65-F5344CB8AC3E}">
        <p14:creationId xmlns:p14="http://schemas.microsoft.com/office/powerpoint/2010/main" val="5959291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362B6-4EE1-CF2C-144B-B6D5E97035E4}"/>
              </a:ext>
            </a:extLst>
          </p:cNvPr>
          <p:cNvSpPr>
            <a:spLocks noGrp="1"/>
          </p:cNvSpPr>
          <p:nvPr>
            <p:ph type="title"/>
          </p:nvPr>
        </p:nvSpPr>
        <p:spPr/>
        <p:txBody>
          <a:bodyPr/>
          <a:lstStyle/>
          <a:p>
            <a:r>
              <a:rPr lang="en-IN" dirty="0"/>
              <a:t>Solution</a:t>
            </a:r>
          </a:p>
        </p:txBody>
      </p:sp>
      <p:pic>
        <p:nvPicPr>
          <p:cNvPr id="10" name="Content Placeholder 9">
            <a:extLst>
              <a:ext uri="{FF2B5EF4-FFF2-40B4-BE49-F238E27FC236}">
                <a16:creationId xmlns:a16="http://schemas.microsoft.com/office/drawing/2014/main" id="{E67236D6-6C50-2B56-2AC8-EF7520446482}"/>
              </a:ext>
            </a:extLst>
          </p:cNvPr>
          <p:cNvPicPr>
            <a:picLocks noGrp="1" noChangeAspect="1"/>
          </p:cNvPicPr>
          <p:nvPr>
            <p:ph idx="1"/>
          </p:nvPr>
        </p:nvPicPr>
        <p:blipFill>
          <a:blip r:embed="rId2"/>
          <a:stretch>
            <a:fillRect/>
          </a:stretch>
        </p:blipFill>
        <p:spPr>
          <a:xfrm>
            <a:off x="4267200" y="3062113"/>
            <a:ext cx="4876800" cy="2761772"/>
          </a:xfrm>
        </p:spPr>
      </p:pic>
      <p:sp>
        <p:nvSpPr>
          <p:cNvPr id="6" name="Slide Number Placeholder 5">
            <a:extLst>
              <a:ext uri="{FF2B5EF4-FFF2-40B4-BE49-F238E27FC236}">
                <a16:creationId xmlns:a16="http://schemas.microsoft.com/office/drawing/2014/main" id="{7F3CB102-48D9-25FB-45BD-16D561BDB375}"/>
              </a:ext>
            </a:extLst>
          </p:cNvPr>
          <p:cNvSpPr>
            <a:spLocks noGrp="1"/>
          </p:cNvSpPr>
          <p:nvPr>
            <p:ph type="sldNum" sz="quarter" idx="12"/>
          </p:nvPr>
        </p:nvSpPr>
        <p:spPr/>
        <p:txBody>
          <a:bodyPr/>
          <a:lstStyle/>
          <a:p>
            <a:fld id="{BB2CE0DE-867F-455F-B20B-96D381B4AB71}" type="slidenum">
              <a:rPr lang="en-US" smtClean="0"/>
              <a:t>109</a:t>
            </a:fld>
            <a:endParaRPr lang="en-US"/>
          </a:p>
        </p:txBody>
      </p:sp>
      <p:pic>
        <p:nvPicPr>
          <p:cNvPr id="12" name="Picture 11">
            <a:extLst>
              <a:ext uri="{FF2B5EF4-FFF2-40B4-BE49-F238E27FC236}">
                <a16:creationId xmlns:a16="http://schemas.microsoft.com/office/drawing/2014/main" id="{26F74414-EEB3-B912-E832-7891C431C2C2}"/>
              </a:ext>
            </a:extLst>
          </p:cNvPr>
          <p:cNvPicPr>
            <a:picLocks noChangeAspect="1"/>
          </p:cNvPicPr>
          <p:nvPr/>
        </p:nvPicPr>
        <p:blipFill>
          <a:blip r:embed="rId3"/>
          <a:stretch>
            <a:fillRect/>
          </a:stretch>
        </p:blipFill>
        <p:spPr>
          <a:xfrm>
            <a:off x="228600" y="3168408"/>
            <a:ext cx="3733800" cy="1084679"/>
          </a:xfrm>
          <a:prstGeom prst="rect">
            <a:avLst/>
          </a:prstGeom>
        </p:spPr>
      </p:pic>
      <p:pic>
        <p:nvPicPr>
          <p:cNvPr id="14" name="Picture 13">
            <a:extLst>
              <a:ext uri="{FF2B5EF4-FFF2-40B4-BE49-F238E27FC236}">
                <a16:creationId xmlns:a16="http://schemas.microsoft.com/office/drawing/2014/main" id="{84B41365-E708-87FA-3BFA-0BD394851C6D}"/>
              </a:ext>
            </a:extLst>
          </p:cNvPr>
          <p:cNvPicPr>
            <a:picLocks noChangeAspect="1"/>
          </p:cNvPicPr>
          <p:nvPr/>
        </p:nvPicPr>
        <p:blipFill>
          <a:blip r:embed="rId4"/>
          <a:stretch>
            <a:fillRect/>
          </a:stretch>
        </p:blipFill>
        <p:spPr>
          <a:xfrm>
            <a:off x="228600" y="1124428"/>
            <a:ext cx="4534533" cy="2067213"/>
          </a:xfrm>
          <a:prstGeom prst="rect">
            <a:avLst/>
          </a:prstGeom>
        </p:spPr>
      </p:pic>
      <p:pic>
        <p:nvPicPr>
          <p:cNvPr id="16" name="Picture 15">
            <a:extLst>
              <a:ext uri="{FF2B5EF4-FFF2-40B4-BE49-F238E27FC236}">
                <a16:creationId xmlns:a16="http://schemas.microsoft.com/office/drawing/2014/main" id="{4207B9E2-F202-2149-9568-99E0EC4D12E5}"/>
              </a:ext>
            </a:extLst>
          </p:cNvPr>
          <p:cNvPicPr>
            <a:picLocks noChangeAspect="1"/>
          </p:cNvPicPr>
          <p:nvPr/>
        </p:nvPicPr>
        <p:blipFill>
          <a:blip r:embed="rId5"/>
          <a:stretch>
            <a:fillRect/>
          </a:stretch>
        </p:blipFill>
        <p:spPr>
          <a:xfrm>
            <a:off x="4572000" y="5733572"/>
            <a:ext cx="4667923" cy="544283"/>
          </a:xfrm>
          <a:prstGeom prst="rect">
            <a:avLst/>
          </a:prstGeom>
        </p:spPr>
      </p:pic>
    </p:spTree>
    <p:extLst>
      <p:ext uri="{BB962C8B-B14F-4D97-AF65-F5344CB8AC3E}">
        <p14:creationId xmlns:p14="http://schemas.microsoft.com/office/powerpoint/2010/main" val="26086571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B1A97-BE10-1C7A-0A90-87DE6244C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FC2EC-00C3-DED1-5AA6-A3C9F18E6ADA}"/>
              </a:ext>
            </a:extLst>
          </p:cNvPr>
          <p:cNvSpPr>
            <a:spLocks noGrp="1"/>
          </p:cNvSpPr>
          <p:nvPr>
            <p:ph type="title"/>
          </p:nvPr>
        </p:nvSpPr>
        <p:spPr/>
        <p:txBody>
          <a:bodyPr/>
          <a:lstStyle/>
          <a:p>
            <a:r>
              <a:rPr lang="en-IN" dirty="0"/>
              <a:t>Solution</a:t>
            </a:r>
          </a:p>
        </p:txBody>
      </p:sp>
      <p:pic>
        <p:nvPicPr>
          <p:cNvPr id="10" name="Content Placeholder 9">
            <a:extLst>
              <a:ext uri="{FF2B5EF4-FFF2-40B4-BE49-F238E27FC236}">
                <a16:creationId xmlns:a16="http://schemas.microsoft.com/office/drawing/2014/main" id="{10ED3DE1-54FA-3D7C-D170-5E0E63097B9A}"/>
              </a:ext>
            </a:extLst>
          </p:cNvPr>
          <p:cNvPicPr>
            <a:picLocks noGrp="1" noChangeAspect="1"/>
          </p:cNvPicPr>
          <p:nvPr>
            <p:ph idx="1"/>
          </p:nvPr>
        </p:nvPicPr>
        <p:blipFill>
          <a:blip r:embed="rId2"/>
          <a:stretch>
            <a:fillRect/>
          </a:stretch>
        </p:blipFill>
        <p:spPr>
          <a:xfrm>
            <a:off x="4267200" y="3062113"/>
            <a:ext cx="4876800" cy="2761772"/>
          </a:xfrm>
        </p:spPr>
      </p:pic>
      <p:sp>
        <p:nvSpPr>
          <p:cNvPr id="6" name="Slide Number Placeholder 5">
            <a:extLst>
              <a:ext uri="{FF2B5EF4-FFF2-40B4-BE49-F238E27FC236}">
                <a16:creationId xmlns:a16="http://schemas.microsoft.com/office/drawing/2014/main" id="{B810408D-429F-23CA-92F0-E141D22A0585}"/>
              </a:ext>
            </a:extLst>
          </p:cNvPr>
          <p:cNvSpPr>
            <a:spLocks noGrp="1"/>
          </p:cNvSpPr>
          <p:nvPr>
            <p:ph type="sldNum" sz="quarter" idx="12"/>
          </p:nvPr>
        </p:nvSpPr>
        <p:spPr/>
        <p:txBody>
          <a:bodyPr/>
          <a:lstStyle/>
          <a:p>
            <a:fld id="{BB2CE0DE-867F-455F-B20B-96D381B4AB71}" type="slidenum">
              <a:rPr lang="en-US" smtClean="0"/>
              <a:t>110</a:t>
            </a:fld>
            <a:endParaRPr lang="en-US"/>
          </a:p>
        </p:txBody>
      </p:sp>
      <p:pic>
        <p:nvPicPr>
          <p:cNvPr id="12" name="Picture 11">
            <a:extLst>
              <a:ext uri="{FF2B5EF4-FFF2-40B4-BE49-F238E27FC236}">
                <a16:creationId xmlns:a16="http://schemas.microsoft.com/office/drawing/2014/main" id="{A1155D97-3DBF-9886-3773-C5238BEEA95D}"/>
              </a:ext>
            </a:extLst>
          </p:cNvPr>
          <p:cNvPicPr>
            <a:picLocks noChangeAspect="1"/>
          </p:cNvPicPr>
          <p:nvPr/>
        </p:nvPicPr>
        <p:blipFill>
          <a:blip r:embed="rId3"/>
          <a:stretch>
            <a:fillRect/>
          </a:stretch>
        </p:blipFill>
        <p:spPr>
          <a:xfrm>
            <a:off x="228600" y="3168408"/>
            <a:ext cx="3733800" cy="1084679"/>
          </a:xfrm>
          <a:prstGeom prst="rect">
            <a:avLst/>
          </a:prstGeom>
        </p:spPr>
      </p:pic>
      <p:pic>
        <p:nvPicPr>
          <p:cNvPr id="14" name="Picture 13">
            <a:extLst>
              <a:ext uri="{FF2B5EF4-FFF2-40B4-BE49-F238E27FC236}">
                <a16:creationId xmlns:a16="http://schemas.microsoft.com/office/drawing/2014/main" id="{DBB8FC16-A3C9-76F0-4FDA-749FCE354CBE}"/>
              </a:ext>
            </a:extLst>
          </p:cNvPr>
          <p:cNvPicPr>
            <a:picLocks noChangeAspect="1"/>
          </p:cNvPicPr>
          <p:nvPr/>
        </p:nvPicPr>
        <p:blipFill>
          <a:blip r:embed="rId4"/>
          <a:stretch>
            <a:fillRect/>
          </a:stretch>
        </p:blipFill>
        <p:spPr>
          <a:xfrm>
            <a:off x="228600" y="1124428"/>
            <a:ext cx="4534533" cy="2067213"/>
          </a:xfrm>
          <a:prstGeom prst="rect">
            <a:avLst/>
          </a:prstGeom>
        </p:spPr>
      </p:pic>
      <p:pic>
        <p:nvPicPr>
          <p:cNvPr id="16" name="Picture 15">
            <a:extLst>
              <a:ext uri="{FF2B5EF4-FFF2-40B4-BE49-F238E27FC236}">
                <a16:creationId xmlns:a16="http://schemas.microsoft.com/office/drawing/2014/main" id="{B1B90126-3E7F-E073-F1D1-3E54CBD5432A}"/>
              </a:ext>
            </a:extLst>
          </p:cNvPr>
          <p:cNvPicPr>
            <a:picLocks noChangeAspect="1"/>
          </p:cNvPicPr>
          <p:nvPr/>
        </p:nvPicPr>
        <p:blipFill>
          <a:blip r:embed="rId5"/>
          <a:stretch>
            <a:fillRect/>
          </a:stretch>
        </p:blipFill>
        <p:spPr>
          <a:xfrm>
            <a:off x="4572000" y="5733572"/>
            <a:ext cx="4667923" cy="544283"/>
          </a:xfrm>
          <a:prstGeom prst="rect">
            <a:avLst/>
          </a:prstGeom>
        </p:spPr>
      </p:pic>
      <p:pic>
        <p:nvPicPr>
          <p:cNvPr id="18" name="Picture 17">
            <a:extLst>
              <a:ext uri="{FF2B5EF4-FFF2-40B4-BE49-F238E27FC236}">
                <a16:creationId xmlns:a16="http://schemas.microsoft.com/office/drawing/2014/main" id="{0FE1B6D0-B694-BC41-93E5-11027E6D729F}"/>
              </a:ext>
            </a:extLst>
          </p:cNvPr>
          <p:cNvPicPr>
            <a:picLocks noChangeAspect="1"/>
          </p:cNvPicPr>
          <p:nvPr/>
        </p:nvPicPr>
        <p:blipFill>
          <a:blip r:embed="rId6"/>
          <a:stretch>
            <a:fillRect/>
          </a:stretch>
        </p:blipFill>
        <p:spPr>
          <a:xfrm>
            <a:off x="335298" y="4338237"/>
            <a:ext cx="3910131" cy="1774106"/>
          </a:xfrm>
          <a:prstGeom prst="rect">
            <a:avLst/>
          </a:prstGeom>
        </p:spPr>
      </p:pic>
    </p:spTree>
    <p:extLst>
      <p:ext uri="{BB962C8B-B14F-4D97-AF65-F5344CB8AC3E}">
        <p14:creationId xmlns:p14="http://schemas.microsoft.com/office/powerpoint/2010/main" val="18980251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07F5-CF22-BA99-CB90-322BE26F17DC}"/>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EB75CA3A-EA4B-82A5-E109-3092D7ACE159}"/>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B9429957-F81E-A813-194D-9A2D1211FCBD}"/>
              </a:ext>
            </a:extLst>
          </p:cNvPr>
          <p:cNvSpPr>
            <a:spLocks noGrp="1"/>
          </p:cNvSpPr>
          <p:nvPr>
            <p:ph type="sldNum" sz="quarter" idx="12"/>
          </p:nvPr>
        </p:nvSpPr>
        <p:spPr/>
        <p:txBody>
          <a:bodyPr/>
          <a:lstStyle/>
          <a:p>
            <a:fld id="{BB2CE0DE-867F-455F-B20B-96D381B4AB71}" type="slidenum">
              <a:rPr lang="en-US" smtClean="0"/>
              <a:t>111</a:t>
            </a:fld>
            <a:endParaRPr lang="en-US"/>
          </a:p>
        </p:txBody>
      </p:sp>
      <p:pic>
        <p:nvPicPr>
          <p:cNvPr id="8" name="Picture 7">
            <a:extLst>
              <a:ext uri="{FF2B5EF4-FFF2-40B4-BE49-F238E27FC236}">
                <a16:creationId xmlns:a16="http://schemas.microsoft.com/office/drawing/2014/main" id="{C261B5DE-7C94-A449-6B1E-195F9AFB0DD9}"/>
              </a:ext>
            </a:extLst>
          </p:cNvPr>
          <p:cNvPicPr>
            <a:picLocks noChangeAspect="1"/>
          </p:cNvPicPr>
          <p:nvPr/>
        </p:nvPicPr>
        <p:blipFill>
          <a:blip r:embed="rId2"/>
          <a:stretch>
            <a:fillRect/>
          </a:stretch>
        </p:blipFill>
        <p:spPr>
          <a:xfrm>
            <a:off x="307975" y="1065212"/>
            <a:ext cx="8534400" cy="3910616"/>
          </a:xfrm>
          <a:prstGeom prst="rect">
            <a:avLst/>
          </a:prstGeom>
        </p:spPr>
      </p:pic>
    </p:spTree>
    <p:extLst>
      <p:ext uri="{BB962C8B-B14F-4D97-AF65-F5344CB8AC3E}">
        <p14:creationId xmlns:p14="http://schemas.microsoft.com/office/powerpoint/2010/main" val="10182305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BEBA-F0A9-C0B7-6DD0-7CA587BE736A}"/>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3FC542C8-81A8-7DD2-A064-8A21E343DCF9}"/>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928FACCE-12DE-6E0F-9366-DBCF3080ECF0}"/>
              </a:ext>
            </a:extLst>
          </p:cNvPr>
          <p:cNvSpPr>
            <a:spLocks noGrp="1"/>
          </p:cNvSpPr>
          <p:nvPr>
            <p:ph type="sldNum" sz="quarter" idx="12"/>
          </p:nvPr>
        </p:nvSpPr>
        <p:spPr/>
        <p:txBody>
          <a:bodyPr/>
          <a:lstStyle/>
          <a:p>
            <a:fld id="{BB2CE0DE-867F-455F-B20B-96D381B4AB71}" type="slidenum">
              <a:rPr lang="en-US" smtClean="0"/>
              <a:t>112</a:t>
            </a:fld>
            <a:endParaRPr lang="en-US"/>
          </a:p>
        </p:txBody>
      </p:sp>
      <p:pic>
        <p:nvPicPr>
          <p:cNvPr id="8" name="Picture 7">
            <a:extLst>
              <a:ext uri="{FF2B5EF4-FFF2-40B4-BE49-F238E27FC236}">
                <a16:creationId xmlns:a16="http://schemas.microsoft.com/office/drawing/2014/main" id="{C3D01B51-B921-36DB-13E8-B84A3393D3D5}"/>
              </a:ext>
            </a:extLst>
          </p:cNvPr>
          <p:cNvPicPr>
            <a:picLocks noChangeAspect="1"/>
          </p:cNvPicPr>
          <p:nvPr/>
        </p:nvPicPr>
        <p:blipFill>
          <a:blip r:embed="rId2"/>
          <a:stretch>
            <a:fillRect/>
          </a:stretch>
        </p:blipFill>
        <p:spPr>
          <a:xfrm>
            <a:off x="152400" y="1219200"/>
            <a:ext cx="4173682" cy="1905000"/>
          </a:xfrm>
          <a:prstGeom prst="rect">
            <a:avLst/>
          </a:prstGeom>
        </p:spPr>
      </p:pic>
      <p:pic>
        <p:nvPicPr>
          <p:cNvPr id="13" name="Picture 12">
            <a:extLst>
              <a:ext uri="{FF2B5EF4-FFF2-40B4-BE49-F238E27FC236}">
                <a16:creationId xmlns:a16="http://schemas.microsoft.com/office/drawing/2014/main" id="{031672CE-7061-FC0E-C1C2-8E8EB381819F}"/>
              </a:ext>
            </a:extLst>
          </p:cNvPr>
          <p:cNvPicPr>
            <a:picLocks noChangeAspect="1"/>
          </p:cNvPicPr>
          <p:nvPr/>
        </p:nvPicPr>
        <p:blipFill>
          <a:blip r:embed="rId3"/>
          <a:stretch>
            <a:fillRect/>
          </a:stretch>
        </p:blipFill>
        <p:spPr>
          <a:xfrm>
            <a:off x="4484887" y="2777675"/>
            <a:ext cx="4625084" cy="3470725"/>
          </a:xfrm>
          <a:prstGeom prst="rect">
            <a:avLst/>
          </a:prstGeom>
        </p:spPr>
      </p:pic>
    </p:spTree>
    <p:extLst>
      <p:ext uri="{BB962C8B-B14F-4D97-AF65-F5344CB8AC3E}">
        <p14:creationId xmlns:p14="http://schemas.microsoft.com/office/powerpoint/2010/main" val="11102854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C6D05-38A5-35F4-66E4-DFFD40F4E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B6ACD-44C1-F3DB-C535-F084CCCA46B2}"/>
              </a:ext>
            </a:extLst>
          </p:cNvPr>
          <p:cNvSpPr>
            <a:spLocks noGrp="1"/>
          </p:cNvSpPr>
          <p:nvPr>
            <p:ph type="title"/>
          </p:nvPr>
        </p:nvSpPr>
        <p:spPr/>
        <p:txBody>
          <a:bodyPr/>
          <a:lstStyle/>
          <a:p>
            <a:r>
              <a:rPr lang="en-IN" dirty="0"/>
              <a:t>Solution</a:t>
            </a:r>
          </a:p>
        </p:txBody>
      </p:sp>
      <p:sp>
        <p:nvSpPr>
          <p:cNvPr id="3" name="Content Placeholder 2">
            <a:extLst>
              <a:ext uri="{FF2B5EF4-FFF2-40B4-BE49-F238E27FC236}">
                <a16:creationId xmlns:a16="http://schemas.microsoft.com/office/drawing/2014/main" id="{67BE479F-67E1-7B12-C15F-050C1B32518E}"/>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F83AD5CA-74FA-BADD-FA09-573EF4CF8A16}"/>
              </a:ext>
            </a:extLst>
          </p:cNvPr>
          <p:cNvSpPr>
            <a:spLocks noGrp="1"/>
          </p:cNvSpPr>
          <p:nvPr>
            <p:ph type="sldNum" sz="quarter" idx="12"/>
          </p:nvPr>
        </p:nvSpPr>
        <p:spPr/>
        <p:txBody>
          <a:bodyPr/>
          <a:lstStyle/>
          <a:p>
            <a:fld id="{BB2CE0DE-867F-455F-B20B-96D381B4AB71}" type="slidenum">
              <a:rPr lang="en-US" smtClean="0"/>
              <a:t>113</a:t>
            </a:fld>
            <a:endParaRPr lang="en-US"/>
          </a:p>
        </p:txBody>
      </p:sp>
      <p:pic>
        <p:nvPicPr>
          <p:cNvPr id="10" name="Picture 9">
            <a:extLst>
              <a:ext uri="{FF2B5EF4-FFF2-40B4-BE49-F238E27FC236}">
                <a16:creationId xmlns:a16="http://schemas.microsoft.com/office/drawing/2014/main" id="{43EE8564-49AE-4521-9B25-130180B8D49A}"/>
              </a:ext>
            </a:extLst>
          </p:cNvPr>
          <p:cNvPicPr>
            <a:picLocks noChangeAspect="1"/>
          </p:cNvPicPr>
          <p:nvPr/>
        </p:nvPicPr>
        <p:blipFill>
          <a:blip r:embed="rId2"/>
          <a:stretch>
            <a:fillRect/>
          </a:stretch>
        </p:blipFill>
        <p:spPr>
          <a:xfrm>
            <a:off x="228600" y="1981200"/>
            <a:ext cx="3962401" cy="413982"/>
          </a:xfrm>
          <a:prstGeom prst="rect">
            <a:avLst/>
          </a:prstGeom>
        </p:spPr>
      </p:pic>
      <p:pic>
        <p:nvPicPr>
          <p:cNvPr id="9" name="Picture 8">
            <a:extLst>
              <a:ext uri="{FF2B5EF4-FFF2-40B4-BE49-F238E27FC236}">
                <a16:creationId xmlns:a16="http://schemas.microsoft.com/office/drawing/2014/main" id="{0D73EA2E-5082-B545-33C9-6746C5D7C5E5}"/>
              </a:ext>
            </a:extLst>
          </p:cNvPr>
          <p:cNvPicPr>
            <a:picLocks noChangeAspect="1"/>
          </p:cNvPicPr>
          <p:nvPr/>
        </p:nvPicPr>
        <p:blipFill>
          <a:blip r:embed="rId3"/>
          <a:stretch>
            <a:fillRect/>
          </a:stretch>
        </p:blipFill>
        <p:spPr>
          <a:xfrm>
            <a:off x="4240658" y="1138413"/>
            <a:ext cx="4625084" cy="3470725"/>
          </a:xfrm>
          <a:prstGeom prst="rect">
            <a:avLst/>
          </a:prstGeom>
        </p:spPr>
      </p:pic>
    </p:spTree>
    <p:extLst>
      <p:ext uri="{BB962C8B-B14F-4D97-AF65-F5344CB8AC3E}">
        <p14:creationId xmlns:p14="http://schemas.microsoft.com/office/powerpoint/2010/main" val="2435296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FA68-E2E0-494A-9BB9-54F679FE7C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C8F911-7013-451D-AAD7-5264F346D66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1CC920E-34D5-4AD7-B069-1C4EFAF515D6}"/>
              </a:ext>
            </a:extLst>
          </p:cNvPr>
          <p:cNvSpPr>
            <a:spLocks noGrp="1"/>
          </p:cNvSpPr>
          <p:nvPr>
            <p:ph type="sldNum" sz="quarter" idx="12"/>
          </p:nvPr>
        </p:nvSpPr>
        <p:spPr/>
        <p:txBody>
          <a:bodyPr/>
          <a:lstStyle/>
          <a:p>
            <a:fld id="{BB2CE0DE-867F-455F-B20B-96D381B4AB71}" type="slidenum">
              <a:rPr lang="en-US" smtClean="0"/>
              <a:t>114</a:t>
            </a:fld>
            <a:endParaRPr lang="en-US"/>
          </a:p>
        </p:txBody>
      </p:sp>
      <p:pic>
        <p:nvPicPr>
          <p:cNvPr id="6" name="Picture 5">
            <a:extLst>
              <a:ext uri="{FF2B5EF4-FFF2-40B4-BE49-F238E27FC236}">
                <a16:creationId xmlns:a16="http://schemas.microsoft.com/office/drawing/2014/main" id="{5CEDC80B-4F56-4906-908A-C2607CB06086}"/>
              </a:ext>
            </a:extLst>
          </p:cNvPr>
          <p:cNvPicPr>
            <a:picLocks noChangeAspect="1"/>
          </p:cNvPicPr>
          <p:nvPr/>
        </p:nvPicPr>
        <p:blipFill>
          <a:blip r:embed="rId2"/>
          <a:stretch>
            <a:fillRect/>
          </a:stretch>
        </p:blipFill>
        <p:spPr>
          <a:xfrm>
            <a:off x="131294" y="167811"/>
            <a:ext cx="4755229" cy="5691865"/>
          </a:xfrm>
          <a:prstGeom prst="rect">
            <a:avLst/>
          </a:prstGeom>
        </p:spPr>
      </p:pic>
      <p:pic>
        <p:nvPicPr>
          <p:cNvPr id="7" name="Picture 6">
            <a:extLst>
              <a:ext uri="{FF2B5EF4-FFF2-40B4-BE49-F238E27FC236}">
                <a16:creationId xmlns:a16="http://schemas.microsoft.com/office/drawing/2014/main" id="{A395A5BD-7914-4583-A816-73E6C77BA78D}"/>
              </a:ext>
            </a:extLst>
          </p:cNvPr>
          <p:cNvPicPr>
            <a:picLocks noChangeAspect="1"/>
          </p:cNvPicPr>
          <p:nvPr/>
        </p:nvPicPr>
        <p:blipFill>
          <a:blip r:embed="rId3"/>
          <a:stretch>
            <a:fillRect/>
          </a:stretch>
        </p:blipFill>
        <p:spPr>
          <a:xfrm>
            <a:off x="5410200" y="204213"/>
            <a:ext cx="3733800" cy="1269430"/>
          </a:xfrm>
          <a:prstGeom prst="rect">
            <a:avLst/>
          </a:prstGeom>
        </p:spPr>
      </p:pic>
      <p:pic>
        <p:nvPicPr>
          <p:cNvPr id="9" name="Picture 8">
            <a:extLst>
              <a:ext uri="{FF2B5EF4-FFF2-40B4-BE49-F238E27FC236}">
                <a16:creationId xmlns:a16="http://schemas.microsoft.com/office/drawing/2014/main" id="{D1D23869-4D3C-40D3-B0A2-7F391221EFD4}"/>
              </a:ext>
            </a:extLst>
          </p:cNvPr>
          <p:cNvPicPr>
            <a:picLocks noChangeAspect="1"/>
          </p:cNvPicPr>
          <p:nvPr/>
        </p:nvPicPr>
        <p:blipFill>
          <a:blip r:embed="rId4"/>
          <a:stretch>
            <a:fillRect/>
          </a:stretch>
        </p:blipFill>
        <p:spPr>
          <a:xfrm>
            <a:off x="4953000" y="1732209"/>
            <a:ext cx="4020216" cy="4165157"/>
          </a:xfrm>
          <a:prstGeom prst="rect">
            <a:avLst/>
          </a:prstGeom>
        </p:spPr>
      </p:pic>
    </p:spTree>
    <p:extLst>
      <p:ext uri="{BB962C8B-B14F-4D97-AF65-F5344CB8AC3E}">
        <p14:creationId xmlns:p14="http://schemas.microsoft.com/office/powerpoint/2010/main" val="5669957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96425-3F9C-4BCD-BA89-FDC257CAF7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A30E3D-E352-4FAA-887C-95EE84B02BF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456A98C-0C1C-4872-B1C9-330C8E089010}"/>
              </a:ext>
            </a:extLst>
          </p:cNvPr>
          <p:cNvSpPr>
            <a:spLocks noGrp="1"/>
          </p:cNvSpPr>
          <p:nvPr>
            <p:ph type="sldNum" sz="quarter" idx="12"/>
          </p:nvPr>
        </p:nvSpPr>
        <p:spPr/>
        <p:txBody>
          <a:bodyPr/>
          <a:lstStyle/>
          <a:p>
            <a:fld id="{BB2CE0DE-867F-455F-B20B-96D381B4AB71}" type="slidenum">
              <a:rPr lang="en-US" smtClean="0"/>
              <a:t>115</a:t>
            </a:fld>
            <a:endParaRPr lang="en-US"/>
          </a:p>
        </p:txBody>
      </p:sp>
      <p:pic>
        <p:nvPicPr>
          <p:cNvPr id="6" name="Picture 5">
            <a:extLst>
              <a:ext uri="{FF2B5EF4-FFF2-40B4-BE49-F238E27FC236}">
                <a16:creationId xmlns:a16="http://schemas.microsoft.com/office/drawing/2014/main" id="{7D0B792B-6DF3-4E57-AF45-323BE9C8A610}"/>
              </a:ext>
            </a:extLst>
          </p:cNvPr>
          <p:cNvPicPr>
            <a:picLocks noChangeAspect="1"/>
          </p:cNvPicPr>
          <p:nvPr/>
        </p:nvPicPr>
        <p:blipFill>
          <a:blip r:embed="rId2"/>
          <a:stretch>
            <a:fillRect/>
          </a:stretch>
        </p:blipFill>
        <p:spPr>
          <a:xfrm>
            <a:off x="167436" y="113872"/>
            <a:ext cx="4407739" cy="5517222"/>
          </a:xfrm>
          <a:prstGeom prst="rect">
            <a:avLst/>
          </a:prstGeom>
        </p:spPr>
      </p:pic>
      <p:pic>
        <p:nvPicPr>
          <p:cNvPr id="8" name="Picture 7">
            <a:extLst>
              <a:ext uri="{FF2B5EF4-FFF2-40B4-BE49-F238E27FC236}">
                <a16:creationId xmlns:a16="http://schemas.microsoft.com/office/drawing/2014/main" id="{01CDB211-EA4F-4F66-900A-10FD25C0764F}"/>
              </a:ext>
            </a:extLst>
          </p:cNvPr>
          <p:cNvPicPr>
            <a:picLocks noChangeAspect="1"/>
          </p:cNvPicPr>
          <p:nvPr/>
        </p:nvPicPr>
        <p:blipFill>
          <a:blip r:embed="rId3"/>
          <a:stretch>
            <a:fillRect/>
          </a:stretch>
        </p:blipFill>
        <p:spPr>
          <a:xfrm>
            <a:off x="4773665" y="93711"/>
            <a:ext cx="4250577" cy="5570774"/>
          </a:xfrm>
          <a:prstGeom prst="rect">
            <a:avLst/>
          </a:prstGeom>
        </p:spPr>
      </p:pic>
    </p:spTree>
    <p:extLst>
      <p:ext uri="{BB962C8B-B14F-4D97-AF65-F5344CB8AC3E}">
        <p14:creationId xmlns:p14="http://schemas.microsoft.com/office/powerpoint/2010/main" val="29055943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F1306-50BE-4762-A83D-294F82C1068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656D47-CD15-4EEE-A881-23104BEC290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4B70998-B3C7-4E23-A50C-DFDCF4E19F68}"/>
              </a:ext>
            </a:extLst>
          </p:cNvPr>
          <p:cNvSpPr>
            <a:spLocks noGrp="1"/>
          </p:cNvSpPr>
          <p:nvPr>
            <p:ph type="sldNum" sz="quarter" idx="12"/>
          </p:nvPr>
        </p:nvSpPr>
        <p:spPr/>
        <p:txBody>
          <a:bodyPr/>
          <a:lstStyle/>
          <a:p>
            <a:fld id="{BB2CE0DE-867F-455F-B20B-96D381B4AB71}" type="slidenum">
              <a:rPr lang="en-US" smtClean="0"/>
              <a:t>116</a:t>
            </a:fld>
            <a:endParaRPr lang="en-US"/>
          </a:p>
        </p:txBody>
      </p:sp>
      <p:pic>
        <p:nvPicPr>
          <p:cNvPr id="6" name="Picture 5">
            <a:extLst>
              <a:ext uri="{FF2B5EF4-FFF2-40B4-BE49-F238E27FC236}">
                <a16:creationId xmlns:a16="http://schemas.microsoft.com/office/drawing/2014/main" id="{22DD7AAC-4D25-4B60-B816-56C9E4EFEED5}"/>
              </a:ext>
            </a:extLst>
          </p:cNvPr>
          <p:cNvPicPr>
            <a:picLocks noChangeAspect="1"/>
          </p:cNvPicPr>
          <p:nvPr/>
        </p:nvPicPr>
        <p:blipFill>
          <a:blip r:embed="rId2"/>
          <a:stretch>
            <a:fillRect/>
          </a:stretch>
        </p:blipFill>
        <p:spPr>
          <a:xfrm>
            <a:off x="91445" y="103135"/>
            <a:ext cx="4767000" cy="5820669"/>
          </a:xfrm>
          <a:prstGeom prst="rect">
            <a:avLst/>
          </a:prstGeom>
        </p:spPr>
      </p:pic>
      <p:pic>
        <p:nvPicPr>
          <p:cNvPr id="8" name="Picture 7">
            <a:extLst>
              <a:ext uri="{FF2B5EF4-FFF2-40B4-BE49-F238E27FC236}">
                <a16:creationId xmlns:a16="http://schemas.microsoft.com/office/drawing/2014/main" id="{B77375C0-2486-48A4-B6E3-C5E905EE6F1C}"/>
              </a:ext>
            </a:extLst>
          </p:cNvPr>
          <p:cNvPicPr>
            <a:picLocks noChangeAspect="1"/>
          </p:cNvPicPr>
          <p:nvPr/>
        </p:nvPicPr>
        <p:blipFill>
          <a:blip r:embed="rId3"/>
          <a:stretch>
            <a:fillRect/>
          </a:stretch>
        </p:blipFill>
        <p:spPr>
          <a:xfrm>
            <a:off x="4968666" y="103135"/>
            <a:ext cx="4093664" cy="4849866"/>
          </a:xfrm>
          <a:prstGeom prst="rect">
            <a:avLst/>
          </a:prstGeom>
        </p:spPr>
      </p:pic>
    </p:spTree>
    <p:extLst>
      <p:ext uri="{BB962C8B-B14F-4D97-AF65-F5344CB8AC3E}">
        <p14:creationId xmlns:p14="http://schemas.microsoft.com/office/powerpoint/2010/main" val="215325992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B5BE-54C0-4479-BDC2-D952B1F124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779A5B-FB3C-4E50-B95D-035BAD29ABA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98AB247-A60F-4E90-9D9E-8C29ECA55ED1}"/>
              </a:ext>
            </a:extLst>
          </p:cNvPr>
          <p:cNvSpPr>
            <a:spLocks noGrp="1"/>
          </p:cNvSpPr>
          <p:nvPr>
            <p:ph type="sldNum" sz="quarter" idx="12"/>
          </p:nvPr>
        </p:nvSpPr>
        <p:spPr/>
        <p:txBody>
          <a:bodyPr/>
          <a:lstStyle/>
          <a:p>
            <a:fld id="{BB2CE0DE-867F-455F-B20B-96D381B4AB71}" type="slidenum">
              <a:rPr lang="en-US" smtClean="0"/>
              <a:t>117</a:t>
            </a:fld>
            <a:endParaRPr lang="en-US"/>
          </a:p>
        </p:txBody>
      </p:sp>
      <p:pic>
        <p:nvPicPr>
          <p:cNvPr id="6" name="Picture 5">
            <a:extLst>
              <a:ext uri="{FF2B5EF4-FFF2-40B4-BE49-F238E27FC236}">
                <a16:creationId xmlns:a16="http://schemas.microsoft.com/office/drawing/2014/main" id="{36328AE1-F691-48B2-A239-AD9CB4D017AA}"/>
              </a:ext>
            </a:extLst>
          </p:cNvPr>
          <p:cNvPicPr>
            <a:picLocks noChangeAspect="1"/>
          </p:cNvPicPr>
          <p:nvPr/>
        </p:nvPicPr>
        <p:blipFill>
          <a:blip r:embed="rId2"/>
          <a:stretch>
            <a:fillRect/>
          </a:stretch>
        </p:blipFill>
        <p:spPr>
          <a:xfrm>
            <a:off x="503981" y="112552"/>
            <a:ext cx="6049219" cy="5372850"/>
          </a:xfrm>
          <a:prstGeom prst="rect">
            <a:avLst/>
          </a:prstGeom>
        </p:spPr>
      </p:pic>
    </p:spTree>
    <p:extLst>
      <p:ext uri="{BB962C8B-B14F-4D97-AF65-F5344CB8AC3E}">
        <p14:creationId xmlns:p14="http://schemas.microsoft.com/office/powerpoint/2010/main" val="318863443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DDD7-D99F-C137-35FE-52E1040542D7}"/>
              </a:ext>
            </a:extLst>
          </p:cNvPr>
          <p:cNvSpPr>
            <a:spLocks noGrp="1"/>
          </p:cNvSpPr>
          <p:nvPr>
            <p:ph type="title"/>
          </p:nvPr>
        </p:nvSpPr>
        <p:spPr/>
        <p:txBody>
          <a:bodyPr/>
          <a:lstStyle/>
          <a:p>
            <a:r>
              <a:rPr lang="en-IN" dirty="0"/>
              <a:t>Solve</a:t>
            </a:r>
          </a:p>
        </p:txBody>
      </p:sp>
      <p:sp>
        <p:nvSpPr>
          <p:cNvPr id="3" name="Content Placeholder 2">
            <a:extLst>
              <a:ext uri="{FF2B5EF4-FFF2-40B4-BE49-F238E27FC236}">
                <a16:creationId xmlns:a16="http://schemas.microsoft.com/office/drawing/2014/main" id="{A50DB75F-5E9B-C97A-9787-65E5BF84EB45}"/>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8CDD4C7C-BDF1-C5EB-3B9B-B3306266A077}"/>
              </a:ext>
            </a:extLst>
          </p:cNvPr>
          <p:cNvSpPr>
            <a:spLocks noGrp="1"/>
          </p:cNvSpPr>
          <p:nvPr>
            <p:ph type="sldNum" sz="quarter" idx="12"/>
          </p:nvPr>
        </p:nvSpPr>
        <p:spPr/>
        <p:txBody>
          <a:bodyPr/>
          <a:lstStyle/>
          <a:p>
            <a:fld id="{BB2CE0DE-867F-455F-B20B-96D381B4AB71}" type="slidenum">
              <a:rPr lang="en-US" smtClean="0"/>
              <a:t>118</a:t>
            </a:fld>
            <a:endParaRPr lang="en-US"/>
          </a:p>
        </p:txBody>
      </p:sp>
      <p:pic>
        <p:nvPicPr>
          <p:cNvPr id="7" name="Picture 6">
            <a:extLst>
              <a:ext uri="{FF2B5EF4-FFF2-40B4-BE49-F238E27FC236}">
                <a16:creationId xmlns:a16="http://schemas.microsoft.com/office/drawing/2014/main" id="{E5C8C50F-76B2-8BBC-225A-224E28F2647D}"/>
              </a:ext>
            </a:extLst>
          </p:cNvPr>
          <p:cNvPicPr>
            <a:picLocks noChangeAspect="1"/>
          </p:cNvPicPr>
          <p:nvPr/>
        </p:nvPicPr>
        <p:blipFill>
          <a:blip r:embed="rId2"/>
          <a:stretch>
            <a:fillRect/>
          </a:stretch>
        </p:blipFill>
        <p:spPr>
          <a:xfrm>
            <a:off x="914400" y="2988144"/>
            <a:ext cx="6858000" cy="3260256"/>
          </a:xfrm>
          <a:prstGeom prst="rect">
            <a:avLst/>
          </a:prstGeom>
        </p:spPr>
      </p:pic>
      <p:pic>
        <p:nvPicPr>
          <p:cNvPr id="8" name="Picture 7">
            <a:extLst>
              <a:ext uri="{FF2B5EF4-FFF2-40B4-BE49-F238E27FC236}">
                <a16:creationId xmlns:a16="http://schemas.microsoft.com/office/drawing/2014/main" id="{68F548B2-54EA-8F98-70C9-E5A3FAA8C722}"/>
              </a:ext>
            </a:extLst>
          </p:cNvPr>
          <p:cNvPicPr>
            <a:picLocks noChangeAspect="1"/>
          </p:cNvPicPr>
          <p:nvPr/>
        </p:nvPicPr>
        <p:blipFill>
          <a:blip r:embed="rId3"/>
          <a:stretch>
            <a:fillRect/>
          </a:stretch>
        </p:blipFill>
        <p:spPr>
          <a:xfrm>
            <a:off x="533400" y="1219200"/>
            <a:ext cx="8001000" cy="1808569"/>
          </a:xfrm>
          <a:prstGeom prst="rect">
            <a:avLst/>
          </a:prstGeom>
        </p:spPr>
      </p:pic>
    </p:spTree>
    <p:extLst>
      <p:ext uri="{BB962C8B-B14F-4D97-AF65-F5344CB8AC3E}">
        <p14:creationId xmlns:p14="http://schemas.microsoft.com/office/powerpoint/2010/main" val="28205173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6D89-128D-7866-CF3C-5104826290FA}"/>
              </a:ext>
            </a:extLst>
          </p:cNvPr>
          <p:cNvSpPr>
            <a:spLocks noGrp="1"/>
          </p:cNvSpPr>
          <p:nvPr>
            <p:ph type="title"/>
          </p:nvPr>
        </p:nvSpPr>
        <p:spPr/>
        <p:txBody>
          <a:bodyPr/>
          <a:lstStyle/>
          <a:p>
            <a:r>
              <a:rPr lang="en-IN" dirty="0"/>
              <a:t>Solution</a:t>
            </a:r>
          </a:p>
        </p:txBody>
      </p:sp>
      <p:pic>
        <p:nvPicPr>
          <p:cNvPr id="7" name="Content Placeholder 6">
            <a:extLst>
              <a:ext uri="{FF2B5EF4-FFF2-40B4-BE49-F238E27FC236}">
                <a16:creationId xmlns:a16="http://schemas.microsoft.com/office/drawing/2014/main" id="{F2964F26-2D01-59E2-F808-B8AA70F99C0D}"/>
              </a:ext>
            </a:extLst>
          </p:cNvPr>
          <p:cNvPicPr>
            <a:picLocks noGrp="1" noChangeAspect="1"/>
          </p:cNvPicPr>
          <p:nvPr>
            <p:ph idx="1"/>
          </p:nvPr>
        </p:nvPicPr>
        <p:blipFill>
          <a:blip r:embed="rId2"/>
          <a:stretch>
            <a:fillRect/>
          </a:stretch>
        </p:blipFill>
        <p:spPr>
          <a:xfrm>
            <a:off x="609600" y="1371600"/>
            <a:ext cx="8001000" cy="3803632"/>
          </a:xfrm>
          <a:prstGeom prst="rect">
            <a:avLst/>
          </a:prstGeom>
        </p:spPr>
      </p:pic>
      <p:sp>
        <p:nvSpPr>
          <p:cNvPr id="6" name="Slide Number Placeholder 5">
            <a:extLst>
              <a:ext uri="{FF2B5EF4-FFF2-40B4-BE49-F238E27FC236}">
                <a16:creationId xmlns:a16="http://schemas.microsoft.com/office/drawing/2014/main" id="{510C9F52-30EA-5C6E-FED6-210002EC53AE}"/>
              </a:ext>
            </a:extLst>
          </p:cNvPr>
          <p:cNvSpPr>
            <a:spLocks noGrp="1"/>
          </p:cNvSpPr>
          <p:nvPr>
            <p:ph type="sldNum" sz="quarter" idx="12"/>
          </p:nvPr>
        </p:nvSpPr>
        <p:spPr/>
        <p:txBody>
          <a:bodyPr/>
          <a:lstStyle/>
          <a:p>
            <a:fld id="{BB2CE0DE-867F-455F-B20B-96D381B4AB71}" type="slidenum">
              <a:rPr lang="en-US" smtClean="0"/>
              <a:t>119</a:t>
            </a:fld>
            <a:endParaRPr lang="en-US"/>
          </a:p>
        </p:txBody>
      </p:sp>
    </p:spTree>
    <p:extLst>
      <p:ext uri="{BB962C8B-B14F-4D97-AF65-F5344CB8AC3E}">
        <p14:creationId xmlns:p14="http://schemas.microsoft.com/office/powerpoint/2010/main" val="8124531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AD1F8-F410-4BC4-800F-3544BDA646CD}"/>
              </a:ext>
            </a:extLst>
          </p:cNvPr>
          <p:cNvSpPr>
            <a:spLocks noGrp="1"/>
          </p:cNvSpPr>
          <p:nvPr>
            <p:ph type="title"/>
          </p:nvPr>
        </p:nvSpPr>
        <p:spPr/>
        <p:txBody>
          <a:bodyPr/>
          <a:lstStyle/>
          <a:p>
            <a:r>
              <a:rPr lang="en-US" sz="2000" dirty="0"/>
              <a:t>Calculating Number of Weight updates required during Backpropagation in Neural Network</a:t>
            </a:r>
            <a:endParaRPr lang="en-IN" sz="2000" dirty="0"/>
          </a:p>
        </p:txBody>
      </p:sp>
      <p:sp>
        <p:nvSpPr>
          <p:cNvPr id="3" name="Content Placeholder 2">
            <a:extLst>
              <a:ext uri="{FF2B5EF4-FFF2-40B4-BE49-F238E27FC236}">
                <a16:creationId xmlns:a16="http://schemas.microsoft.com/office/drawing/2014/main" id="{9CA0AB7E-F879-431B-966C-EA1BD9CFF498}"/>
              </a:ext>
            </a:extLst>
          </p:cNvPr>
          <p:cNvSpPr>
            <a:spLocks noGrp="1"/>
          </p:cNvSpPr>
          <p:nvPr>
            <p:ph idx="1"/>
          </p:nvPr>
        </p:nvSpPr>
        <p:spPr/>
        <p:txBody>
          <a:bodyPr/>
          <a:lstStyle/>
          <a:p>
            <a:pPr marL="0" indent="0">
              <a:buNone/>
            </a:pPr>
            <a:r>
              <a:rPr lang="en-US" sz="2000" dirty="0"/>
              <a:t>The number of weights to be updated is equal to the total number of connections (or edges) in the network.</a:t>
            </a:r>
          </a:p>
          <a:p>
            <a:pPr marL="0" indent="0">
              <a:buNone/>
            </a:pPr>
            <a:endParaRPr lang="en-US" sz="2000" dirty="0"/>
          </a:p>
          <a:p>
            <a:pPr marL="0" indent="0" algn="l" fontAlgn="ctr">
              <a:buNone/>
            </a:pPr>
            <a:r>
              <a:rPr lang="en-US" sz="1400" b="1" i="0" u="sng" dirty="0">
                <a:solidFill>
                  <a:srgbClr val="001D35"/>
                </a:solidFill>
                <a:effectLst/>
                <a:latin typeface="Google Sans"/>
              </a:rPr>
              <a:t>Consider a neural network with: </a:t>
            </a:r>
            <a:endParaRPr lang="en-US" sz="1400" b="1" i="0" u="sng" dirty="0">
              <a:solidFill>
                <a:srgbClr val="0B57D0"/>
              </a:solidFill>
              <a:effectLst/>
              <a:latin typeface="Google Sans"/>
            </a:endParaRPr>
          </a:p>
          <a:p>
            <a:pPr algn="l">
              <a:buFont typeface="Arial" panose="020B0604020202020204" pitchFamily="34" charset="0"/>
              <a:buChar char="•"/>
            </a:pPr>
            <a:r>
              <a:rPr lang="en-US" sz="1400" b="1" i="0" dirty="0">
                <a:solidFill>
                  <a:srgbClr val="001D35"/>
                </a:solidFill>
                <a:effectLst/>
                <a:latin typeface="Google Sans"/>
              </a:rPr>
              <a:t>Input Layer:</a:t>
            </a:r>
            <a:r>
              <a:rPr lang="en-US" sz="1400" b="0" i="0" dirty="0">
                <a:solidFill>
                  <a:srgbClr val="001D35"/>
                </a:solidFill>
                <a:effectLst/>
                <a:latin typeface="Google Sans"/>
              </a:rPr>
              <a:t> 2 nodes</a:t>
            </a:r>
          </a:p>
          <a:p>
            <a:pPr algn="l">
              <a:buFont typeface="Arial" panose="020B0604020202020204" pitchFamily="34" charset="0"/>
              <a:buChar char="•"/>
            </a:pPr>
            <a:r>
              <a:rPr lang="en-US" sz="1400" b="1" i="0" dirty="0">
                <a:solidFill>
                  <a:srgbClr val="001D35"/>
                </a:solidFill>
                <a:effectLst/>
                <a:latin typeface="Google Sans"/>
              </a:rPr>
              <a:t>Hidden Layer:</a:t>
            </a:r>
            <a:r>
              <a:rPr lang="en-US" sz="1400" b="0" i="0" dirty="0">
                <a:solidFill>
                  <a:srgbClr val="001D35"/>
                </a:solidFill>
                <a:effectLst/>
                <a:latin typeface="Google Sans"/>
              </a:rPr>
              <a:t> 3 nodes</a:t>
            </a:r>
          </a:p>
          <a:p>
            <a:pPr algn="l">
              <a:buFont typeface="Arial" panose="020B0604020202020204" pitchFamily="34" charset="0"/>
              <a:buChar char="•"/>
            </a:pPr>
            <a:r>
              <a:rPr lang="en-US" sz="1400" b="1" i="0" dirty="0">
                <a:solidFill>
                  <a:srgbClr val="001D35"/>
                </a:solidFill>
                <a:effectLst/>
                <a:latin typeface="Google Sans"/>
              </a:rPr>
              <a:t>Output Layer:</a:t>
            </a:r>
            <a:r>
              <a:rPr lang="en-US" sz="1400" b="0" i="0" dirty="0">
                <a:solidFill>
                  <a:srgbClr val="001D35"/>
                </a:solidFill>
                <a:effectLst/>
                <a:latin typeface="Google Sans"/>
              </a:rPr>
              <a:t> 1 node</a:t>
            </a:r>
          </a:p>
          <a:p>
            <a:pPr marL="0" indent="0" algn="l" fontAlgn="ctr">
              <a:buNone/>
            </a:pPr>
            <a:r>
              <a:rPr lang="en-US" sz="1400" b="1" i="0" u="sng" dirty="0">
                <a:solidFill>
                  <a:srgbClr val="001D35"/>
                </a:solidFill>
                <a:effectLst/>
                <a:latin typeface="Google Sans"/>
              </a:rPr>
              <a:t>Calculations:</a:t>
            </a:r>
            <a:endParaRPr lang="en-US" sz="1400" b="1" i="0" u="sng" dirty="0">
              <a:solidFill>
                <a:srgbClr val="0B57D0"/>
              </a:solidFill>
              <a:effectLst/>
              <a:latin typeface="Google Sans"/>
            </a:endParaRPr>
          </a:p>
          <a:p>
            <a:pPr algn="l">
              <a:buFont typeface="Arial" panose="020B0604020202020204" pitchFamily="34" charset="0"/>
              <a:buChar char="•"/>
            </a:pPr>
            <a:r>
              <a:rPr lang="en-US" sz="1400" b="1" i="0" dirty="0">
                <a:solidFill>
                  <a:srgbClr val="001D35"/>
                </a:solidFill>
                <a:effectLst/>
                <a:latin typeface="Google Sans"/>
              </a:rPr>
              <a:t>Input to Hidden:</a:t>
            </a:r>
            <a:r>
              <a:rPr lang="en-US" sz="1400" b="0" i="0" dirty="0">
                <a:solidFill>
                  <a:srgbClr val="001D35"/>
                </a:solidFill>
                <a:effectLst/>
                <a:latin typeface="Google Sans"/>
              </a:rPr>
              <a:t> 2 nodes (input) * 3 nodes (hidden) = 6 weights</a:t>
            </a:r>
          </a:p>
          <a:p>
            <a:pPr algn="l">
              <a:buFont typeface="Arial" panose="020B0604020202020204" pitchFamily="34" charset="0"/>
              <a:buChar char="•"/>
            </a:pPr>
            <a:r>
              <a:rPr lang="en-US" sz="1400" b="1" i="0" dirty="0">
                <a:solidFill>
                  <a:srgbClr val="001D35"/>
                </a:solidFill>
                <a:effectLst/>
                <a:latin typeface="Google Sans"/>
              </a:rPr>
              <a:t>Hidden to Output:</a:t>
            </a:r>
            <a:r>
              <a:rPr lang="en-US" sz="1400" b="0" i="0" dirty="0">
                <a:solidFill>
                  <a:srgbClr val="001D35"/>
                </a:solidFill>
                <a:effectLst/>
                <a:latin typeface="Google Sans"/>
              </a:rPr>
              <a:t> 3 nodes (hidden) * 1 node (output) = 3 weights</a:t>
            </a:r>
          </a:p>
          <a:p>
            <a:pPr algn="l" fontAlgn="ctr">
              <a:buFont typeface="Arial" panose="020B0604020202020204" pitchFamily="34" charset="0"/>
              <a:buChar char="•"/>
            </a:pPr>
            <a:r>
              <a:rPr lang="en-US" sz="1400" b="1" i="0" dirty="0">
                <a:solidFill>
                  <a:srgbClr val="001D35"/>
                </a:solidFill>
                <a:effectLst/>
                <a:latin typeface="Google Sans"/>
              </a:rPr>
              <a:t>Total Weights:</a:t>
            </a:r>
            <a:r>
              <a:rPr lang="en-US" sz="1400" b="0" i="0" dirty="0">
                <a:solidFill>
                  <a:srgbClr val="001D35"/>
                </a:solidFill>
                <a:effectLst/>
                <a:latin typeface="Google Sans"/>
              </a:rPr>
              <a:t> 6 weights + 3 weights = 9 weights </a:t>
            </a:r>
            <a:endParaRPr lang="en-US" sz="1400" b="0" i="0" dirty="0">
              <a:solidFill>
                <a:srgbClr val="0B57D0"/>
              </a:solidFill>
              <a:effectLst/>
              <a:latin typeface="Google Sans"/>
            </a:endParaRPr>
          </a:p>
          <a:p>
            <a:pPr marL="0" indent="0" algn="l" fontAlgn="ctr">
              <a:buNone/>
            </a:pPr>
            <a:r>
              <a:rPr lang="en-US" sz="1400" b="1" i="0" dirty="0">
                <a:solidFill>
                  <a:srgbClr val="001D35"/>
                </a:solidFill>
                <a:effectLst/>
                <a:latin typeface="Google Sans"/>
              </a:rPr>
              <a:t>Important Considerations:</a:t>
            </a:r>
            <a:endParaRPr lang="en-US" sz="1400" b="1" i="0" dirty="0">
              <a:solidFill>
                <a:srgbClr val="0B57D0"/>
              </a:solidFill>
              <a:effectLst/>
              <a:latin typeface="Google Sans"/>
            </a:endParaRPr>
          </a:p>
          <a:p>
            <a:pPr marL="0" indent="0" algn="l">
              <a:buNone/>
            </a:pPr>
            <a:r>
              <a:rPr lang="en-US" sz="1400" b="1" i="0" dirty="0">
                <a:solidFill>
                  <a:srgbClr val="001D35"/>
                </a:solidFill>
                <a:effectLst/>
                <a:latin typeface="Google Sans"/>
              </a:rPr>
              <a:t>Bias: </a:t>
            </a:r>
            <a:r>
              <a:rPr lang="en-US" sz="1400" b="0" i="0" dirty="0">
                <a:solidFill>
                  <a:srgbClr val="545D7E"/>
                </a:solidFill>
                <a:effectLst/>
                <a:latin typeface="Google Sans"/>
              </a:rPr>
              <a:t>Each neuron (except input) also has a bias term, which is another parameter that needs to be updated. The number of biases is equal to the number of neurons in the hidden and output layers. In our example, we would have 3 biases in the hidden layer and 1 bias in the output layer.</a:t>
            </a:r>
          </a:p>
          <a:p>
            <a:pPr marL="0" indent="0" algn="l">
              <a:buNone/>
            </a:pPr>
            <a:r>
              <a:rPr lang="en-US" sz="1400" b="1" i="0" dirty="0">
                <a:solidFill>
                  <a:srgbClr val="001D35"/>
                </a:solidFill>
                <a:effectLst/>
                <a:latin typeface="Google Sans"/>
              </a:rPr>
              <a:t>Network Architecture: </a:t>
            </a:r>
            <a:r>
              <a:rPr lang="en-US" sz="1400" b="0" i="0" dirty="0">
                <a:solidFill>
                  <a:srgbClr val="545D7E"/>
                </a:solidFill>
                <a:effectLst/>
                <a:latin typeface="Google Sans"/>
              </a:rPr>
              <a:t>The number of hidden layers and nodes within each layer also affects the total number of weights. More complex networks with multiple hidden layers will have more weights.</a:t>
            </a:r>
          </a:p>
          <a:p>
            <a:pPr marL="0" indent="0">
              <a:buNone/>
            </a:pPr>
            <a:endParaRPr lang="en-IN" sz="2000" dirty="0"/>
          </a:p>
        </p:txBody>
      </p:sp>
      <p:sp>
        <p:nvSpPr>
          <p:cNvPr id="6" name="Slide Number Placeholder 5">
            <a:extLst>
              <a:ext uri="{FF2B5EF4-FFF2-40B4-BE49-F238E27FC236}">
                <a16:creationId xmlns:a16="http://schemas.microsoft.com/office/drawing/2014/main" id="{C40F030B-C4F1-4647-B62A-3095B6E47F4B}"/>
              </a:ext>
            </a:extLst>
          </p:cNvPr>
          <p:cNvSpPr>
            <a:spLocks noGrp="1"/>
          </p:cNvSpPr>
          <p:nvPr>
            <p:ph type="sldNum" sz="quarter" idx="12"/>
          </p:nvPr>
        </p:nvSpPr>
        <p:spPr/>
        <p:txBody>
          <a:bodyPr/>
          <a:lstStyle/>
          <a:p>
            <a:fld id="{BB2CE0DE-867F-455F-B20B-96D381B4AB71}" type="slidenum">
              <a:rPr lang="en-US" smtClean="0"/>
              <a:t>120</a:t>
            </a:fld>
            <a:endParaRPr lang="en-US"/>
          </a:p>
        </p:txBody>
      </p:sp>
    </p:spTree>
    <p:extLst>
      <p:ext uri="{BB962C8B-B14F-4D97-AF65-F5344CB8AC3E}">
        <p14:creationId xmlns:p14="http://schemas.microsoft.com/office/powerpoint/2010/main" val="19419254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6E67-5393-5366-46A9-4A5F72A88E75}"/>
              </a:ext>
            </a:extLst>
          </p:cNvPr>
          <p:cNvSpPr>
            <a:spLocks noGrp="1"/>
          </p:cNvSpPr>
          <p:nvPr>
            <p:ph type="title"/>
          </p:nvPr>
        </p:nvSpPr>
        <p:spPr/>
        <p:txBody>
          <a:bodyPr/>
          <a:lstStyle/>
          <a:p>
            <a:r>
              <a:rPr lang="en-US" sz="2400" dirty="0"/>
              <a:t>Equation of the Gradient Descent Algorithm</a:t>
            </a:r>
            <a:endParaRPr lang="en-IN" sz="2400" dirty="0"/>
          </a:p>
        </p:txBody>
      </p:sp>
      <p:sp>
        <p:nvSpPr>
          <p:cNvPr id="3" name="Content Placeholder 2">
            <a:extLst>
              <a:ext uri="{FF2B5EF4-FFF2-40B4-BE49-F238E27FC236}">
                <a16:creationId xmlns:a16="http://schemas.microsoft.com/office/drawing/2014/main" id="{C79DC98B-D52E-A05B-ABEE-3F472669164C}"/>
              </a:ext>
            </a:extLst>
          </p:cNvPr>
          <p:cNvSpPr>
            <a:spLocks noGrp="1"/>
          </p:cNvSpPr>
          <p:nvPr>
            <p:ph idx="1"/>
          </p:nvPr>
        </p:nvSpPr>
        <p:spPr/>
        <p:txBody>
          <a:bodyPr/>
          <a:lstStyle/>
          <a:p>
            <a:pPr algn="just"/>
            <a:endParaRPr lang="en-US" sz="1800" dirty="0"/>
          </a:p>
          <a:p>
            <a:pPr algn="just"/>
            <a:endParaRPr lang="en-IN" sz="1800" dirty="0"/>
          </a:p>
          <a:p>
            <a:pPr algn="just"/>
            <a:endParaRPr lang="en-IN" sz="1800" dirty="0"/>
          </a:p>
          <a:p>
            <a:pPr algn="just"/>
            <a:endParaRPr lang="en-IN" sz="1800" dirty="0"/>
          </a:p>
          <a:p>
            <a:pPr marL="0" indent="0" algn="just">
              <a:buNone/>
            </a:pPr>
            <a:r>
              <a:rPr lang="en-US" sz="1800" b="0" i="0" dirty="0">
                <a:solidFill>
                  <a:srgbClr val="383838"/>
                </a:solidFill>
                <a:effectLst/>
                <a:latin typeface="Inter"/>
              </a:rPr>
              <a:t>Here </a:t>
            </a:r>
            <a:r>
              <a:rPr lang="en-US" sz="1800" b="1" i="0" dirty="0">
                <a:solidFill>
                  <a:srgbClr val="383838"/>
                </a:solidFill>
                <a:effectLst/>
                <a:latin typeface="Inter"/>
              </a:rPr>
              <a:t>θ</a:t>
            </a:r>
            <a:r>
              <a:rPr lang="en-US" sz="1800" b="0" i="0" dirty="0">
                <a:solidFill>
                  <a:srgbClr val="383838"/>
                </a:solidFill>
                <a:effectLst/>
                <a:latin typeface="Inter"/>
              </a:rPr>
              <a:t> is the parameter we wish to update, </a:t>
            </a:r>
            <a:r>
              <a:rPr lang="en-US" sz="1800" b="1" i="0" dirty="0" err="1">
                <a:solidFill>
                  <a:srgbClr val="383838"/>
                </a:solidFill>
                <a:effectLst/>
                <a:latin typeface="Inter"/>
              </a:rPr>
              <a:t>dJ</a:t>
            </a:r>
            <a:r>
              <a:rPr lang="en-US" sz="1800" b="1" i="0" dirty="0">
                <a:solidFill>
                  <a:srgbClr val="383838"/>
                </a:solidFill>
                <a:effectLst/>
                <a:latin typeface="Inter"/>
              </a:rPr>
              <a:t>/</a:t>
            </a:r>
            <a:r>
              <a:rPr lang="en-US" sz="1800" b="1" i="0" dirty="0" err="1">
                <a:solidFill>
                  <a:srgbClr val="383838"/>
                </a:solidFill>
                <a:effectLst/>
                <a:latin typeface="Inter"/>
              </a:rPr>
              <a:t>dθ</a:t>
            </a:r>
            <a:r>
              <a:rPr lang="en-US" sz="1800" b="0" i="0" dirty="0">
                <a:solidFill>
                  <a:srgbClr val="383838"/>
                </a:solidFill>
                <a:effectLst/>
                <a:latin typeface="Inter"/>
              </a:rPr>
              <a:t> is the partial derivative which tells us the rate of change of error on the cost function with respect to the parameter θ and </a:t>
            </a:r>
            <a:r>
              <a:rPr lang="en-US" sz="1800" b="1" i="0" dirty="0">
                <a:solidFill>
                  <a:srgbClr val="383838"/>
                </a:solidFill>
                <a:effectLst/>
                <a:latin typeface="Inter"/>
              </a:rPr>
              <a:t>α </a:t>
            </a:r>
            <a:r>
              <a:rPr lang="en-US" sz="1800" b="0" i="0" dirty="0">
                <a:solidFill>
                  <a:srgbClr val="383838"/>
                </a:solidFill>
                <a:effectLst/>
                <a:latin typeface="Inter"/>
              </a:rPr>
              <a:t>here is the Learning Rate.</a:t>
            </a:r>
          </a:p>
          <a:p>
            <a:pPr marL="0" indent="0" algn="just">
              <a:buNone/>
            </a:pPr>
            <a:endParaRPr lang="en-US" sz="1800" dirty="0">
              <a:solidFill>
                <a:srgbClr val="383838"/>
              </a:solidFill>
              <a:latin typeface="Inter"/>
            </a:endParaRPr>
          </a:p>
          <a:p>
            <a:pPr marL="0" indent="0" algn="just">
              <a:buNone/>
            </a:pPr>
            <a:endParaRPr lang="en-US" sz="1800" dirty="0">
              <a:solidFill>
                <a:srgbClr val="383838"/>
              </a:solidFill>
              <a:latin typeface="Inter"/>
            </a:endParaRPr>
          </a:p>
          <a:p>
            <a:pPr marL="0" indent="0" algn="just">
              <a:buNone/>
            </a:pPr>
            <a:endParaRPr lang="en-US" sz="1800" dirty="0">
              <a:solidFill>
                <a:srgbClr val="383838"/>
              </a:solidFill>
              <a:latin typeface="Inter"/>
            </a:endParaRPr>
          </a:p>
          <a:p>
            <a:pPr marL="0" indent="0" algn="just">
              <a:buNone/>
            </a:pPr>
            <a:endParaRPr lang="en-US" sz="1800" dirty="0">
              <a:solidFill>
                <a:srgbClr val="383838"/>
              </a:solidFill>
              <a:latin typeface="Inter"/>
            </a:endParaRPr>
          </a:p>
          <a:p>
            <a:pPr marL="0" indent="0" algn="just">
              <a:buNone/>
            </a:pPr>
            <a:endParaRPr lang="en-US" sz="2000" b="1" i="0" dirty="0">
              <a:solidFill>
                <a:srgbClr val="383838"/>
              </a:solidFill>
              <a:effectLst/>
              <a:latin typeface="Inter"/>
            </a:endParaRPr>
          </a:p>
          <a:p>
            <a:pPr marL="0" indent="0" algn="just">
              <a:buNone/>
            </a:pPr>
            <a:r>
              <a:rPr lang="en-US" sz="2000" b="1" i="0" dirty="0">
                <a:solidFill>
                  <a:srgbClr val="383838"/>
                </a:solidFill>
                <a:effectLst/>
                <a:latin typeface="Inter"/>
              </a:rPr>
              <a:t>J </a:t>
            </a:r>
            <a:r>
              <a:rPr lang="en-US" sz="2000" b="0" i="0" dirty="0">
                <a:solidFill>
                  <a:srgbClr val="383838"/>
                </a:solidFill>
                <a:effectLst/>
                <a:latin typeface="Inter"/>
              </a:rPr>
              <a:t>here represents the cost function and there are multiple ways to calculate this cost. Based on the </a:t>
            </a:r>
            <a:r>
              <a:rPr lang="en-US" sz="2000" b="0" i="0" dirty="0">
                <a:solidFill>
                  <a:srgbClr val="00B050"/>
                </a:solidFill>
                <a:effectLst/>
                <a:latin typeface="Inter"/>
              </a:rPr>
              <a:t>way we are calculating this cost function there are different </a:t>
            </a:r>
            <a:r>
              <a:rPr lang="en-US" sz="2000" b="1" i="0" dirty="0">
                <a:solidFill>
                  <a:srgbClr val="00B050"/>
                </a:solidFill>
                <a:effectLst/>
                <a:latin typeface="Inter"/>
              </a:rPr>
              <a:t>variants of Gradient Descent</a:t>
            </a:r>
            <a:r>
              <a:rPr lang="en-US" sz="2000" b="0" i="0" dirty="0">
                <a:solidFill>
                  <a:srgbClr val="383838"/>
                </a:solidFill>
                <a:effectLst/>
                <a:latin typeface="Inter"/>
              </a:rPr>
              <a:t>.</a:t>
            </a:r>
            <a:endParaRPr lang="en-IN" sz="3600" dirty="0"/>
          </a:p>
        </p:txBody>
      </p:sp>
      <p:sp>
        <p:nvSpPr>
          <p:cNvPr id="6" name="Slide Number Placeholder 5">
            <a:extLst>
              <a:ext uri="{FF2B5EF4-FFF2-40B4-BE49-F238E27FC236}">
                <a16:creationId xmlns:a16="http://schemas.microsoft.com/office/drawing/2014/main" id="{46E196F9-0A72-3AC5-BE4E-760F1188B4AA}"/>
              </a:ext>
            </a:extLst>
          </p:cNvPr>
          <p:cNvSpPr>
            <a:spLocks noGrp="1"/>
          </p:cNvSpPr>
          <p:nvPr>
            <p:ph type="sldNum" sz="quarter" idx="12"/>
          </p:nvPr>
        </p:nvSpPr>
        <p:spPr/>
        <p:txBody>
          <a:bodyPr/>
          <a:lstStyle/>
          <a:p>
            <a:fld id="{BB2CE0DE-867F-455F-B20B-96D381B4AB71}" type="slidenum">
              <a:rPr lang="en-US" smtClean="0"/>
              <a:t>121</a:t>
            </a:fld>
            <a:endParaRPr lang="en-US"/>
          </a:p>
        </p:txBody>
      </p:sp>
      <p:pic>
        <p:nvPicPr>
          <p:cNvPr id="7" name="Picture 6">
            <a:extLst>
              <a:ext uri="{FF2B5EF4-FFF2-40B4-BE49-F238E27FC236}">
                <a16:creationId xmlns:a16="http://schemas.microsoft.com/office/drawing/2014/main" id="{BBD84C97-14FC-4711-2AF2-C875D1C64976}"/>
              </a:ext>
            </a:extLst>
          </p:cNvPr>
          <p:cNvPicPr>
            <a:picLocks noChangeAspect="1"/>
          </p:cNvPicPr>
          <p:nvPr/>
        </p:nvPicPr>
        <p:blipFill>
          <a:blip r:embed="rId2"/>
          <a:stretch>
            <a:fillRect/>
          </a:stretch>
        </p:blipFill>
        <p:spPr>
          <a:xfrm>
            <a:off x="2064973" y="1006648"/>
            <a:ext cx="4452257" cy="1424722"/>
          </a:xfrm>
          <a:prstGeom prst="rect">
            <a:avLst/>
          </a:prstGeom>
        </p:spPr>
      </p:pic>
      <p:pic>
        <p:nvPicPr>
          <p:cNvPr id="8" name="Picture 7">
            <a:extLst>
              <a:ext uri="{FF2B5EF4-FFF2-40B4-BE49-F238E27FC236}">
                <a16:creationId xmlns:a16="http://schemas.microsoft.com/office/drawing/2014/main" id="{99822E61-E00B-50D4-722F-DC795D7106DF}"/>
              </a:ext>
            </a:extLst>
          </p:cNvPr>
          <p:cNvPicPr>
            <a:picLocks noChangeAspect="1"/>
          </p:cNvPicPr>
          <p:nvPr/>
        </p:nvPicPr>
        <p:blipFill>
          <a:blip r:embed="rId3"/>
          <a:stretch>
            <a:fillRect/>
          </a:stretch>
        </p:blipFill>
        <p:spPr>
          <a:xfrm>
            <a:off x="2064973" y="3615985"/>
            <a:ext cx="4721087" cy="1447800"/>
          </a:xfrm>
          <a:prstGeom prst="rect">
            <a:avLst/>
          </a:prstGeom>
        </p:spPr>
      </p:pic>
    </p:spTree>
    <p:extLst>
      <p:ext uri="{BB962C8B-B14F-4D97-AF65-F5344CB8AC3E}">
        <p14:creationId xmlns:p14="http://schemas.microsoft.com/office/powerpoint/2010/main" val="70356776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2EFC2-25D5-2670-D7CA-4E0DAB23558D}"/>
              </a:ext>
            </a:extLst>
          </p:cNvPr>
          <p:cNvSpPr>
            <a:spLocks noGrp="1"/>
          </p:cNvSpPr>
          <p:nvPr>
            <p:ph type="title"/>
          </p:nvPr>
        </p:nvSpPr>
        <p:spPr/>
        <p:txBody>
          <a:bodyPr/>
          <a:lstStyle/>
          <a:p>
            <a:r>
              <a:rPr lang="en-IN" b="0" i="0" dirty="0">
                <a:solidFill>
                  <a:srgbClr val="383838"/>
                </a:solidFill>
                <a:effectLst/>
                <a:latin typeface="Inter"/>
              </a:rPr>
              <a:t>Batch Gradient Descent</a:t>
            </a:r>
            <a:endParaRPr lang="en-IN" dirty="0"/>
          </a:p>
        </p:txBody>
      </p:sp>
      <p:sp>
        <p:nvSpPr>
          <p:cNvPr id="6" name="Slide Number Placeholder 5">
            <a:extLst>
              <a:ext uri="{FF2B5EF4-FFF2-40B4-BE49-F238E27FC236}">
                <a16:creationId xmlns:a16="http://schemas.microsoft.com/office/drawing/2014/main" id="{A672CD27-7201-138F-A865-16944342B22F}"/>
              </a:ext>
            </a:extLst>
          </p:cNvPr>
          <p:cNvSpPr>
            <a:spLocks noGrp="1"/>
          </p:cNvSpPr>
          <p:nvPr>
            <p:ph type="sldNum" sz="quarter" idx="12"/>
          </p:nvPr>
        </p:nvSpPr>
        <p:spPr/>
        <p:txBody>
          <a:bodyPr/>
          <a:lstStyle/>
          <a:p>
            <a:fld id="{BB2CE0DE-867F-455F-B20B-96D381B4AB71}" type="slidenum">
              <a:rPr lang="en-US" smtClean="0"/>
              <a:t>122</a:t>
            </a:fld>
            <a:endParaRPr lang="en-US"/>
          </a:p>
        </p:txBody>
      </p:sp>
      <p:sp>
        <p:nvSpPr>
          <p:cNvPr id="8" name="Content Placeholder 7">
            <a:extLst>
              <a:ext uri="{FF2B5EF4-FFF2-40B4-BE49-F238E27FC236}">
                <a16:creationId xmlns:a16="http://schemas.microsoft.com/office/drawing/2014/main" id="{BABAD972-FD37-3731-3AC9-ACA94ACB7603}"/>
              </a:ext>
            </a:extLst>
          </p:cNvPr>
          <p:cNvSpPr>
            <a:spLocks noGrp="1"/>
          </p:cNvSpPr>
          <p:nvPr>
            <p:ph idx="1"/>
          </p:nvPr>
        </p:nvSpPr>
        <p:spPr/>
        <p:txBody>
          <a:bodyPr/>
          <a:lstStyle/>
          <a:p>
            <a:pPr marL="0" indent="0" algn="just">
              <a:buNone/>
            </a:pPr>
            <a:r>
              <a:rPr lang="en-US" sz="1600" dirty="0"/>
              <a:t>Let’s say there are a total of ‘m’ observations in a data set and we use all these observations to calculate the cost function J, then this is known as Batch Gradient Descent.</a:t>
            </a: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r>
              <a:rPr lang="en-US" sz="1600" dirty="0"/>
              <a:t>So we take the entire training set, perform forward propagation and calculate the cost function. And then we update the parameters using the rate of change of this cost function with respect to the parameters. An epoch is when the entire training set is passed through the model, forward propagation and backward propagation are performed and the parameters are updated. In batch Gradient Descent since we are using the entire training set, the parameters will be updated only once per epoch.</a:t>
            </a:r>
            <a:endParaRPr lang="en-IN" sz="1600" dirty="0"/>
          </a:p>
        </p:txBody>
      </p:sp>
      <p:pic>
        <p:nvPicPr>
          <p:cNvPr id="9" name="Picture 8">
            <a:extLst>
              <a:ext uri="{FF2B5EF4-FFF2-40B4-BE49-F238E27FC236}">
                <a16:creationId xmlns:a16="http://schemas.microsoft.com/office/drawing/2014/main" id="{671EEFEF-8998-6348-CFA5-F2E1493A9422}"/>
              </a:ext>
            </a:extLst>
          </p:cNvPr>
          <p:cNvPicPr>
            <a:picLocks noChangeAspect="1"/>
          </p:cNvPicPr>
          <p:nvPr/>
        </p:nvPicPr>
        <p:blipFill>
          <a:blip r:embed="rId2"/>
          <a:stretch>
            <a:fillRect/>
          </a:stretch>
        </p:blipFill>
        <p:spPr>
          <a:xfrm>
            <a:off x="1981200" y="2362200"/>
            <a:ext cx="4572000" cy="838200"/>
          </a:xfrm>
          <a:prstGeom prst="rect">
            <a:avLst/>
          </a:prstGeom>
        </p:spPr>
      </p:pic>
    </p:spTree>
    <p:extLst>
      <p:ext uri="{BB962C8B-B14F-4D97-AF65-F5344CB8AC3E}">
        <p14:creationId xmlns:p14="http://schemas.microsoft.com/office/powerpoint/2010/main" val="2686089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0C00C-9CA5-C214-4801-333D1930F6D6}"/>
              </a:ext>
            </a:extLst>
          </p:cNvPr>
          <p:cNvSpPr>
            <a:spLocks noGrp="1"/>
          </p:cNvSpPr>
          <p:nvPr>
            <p:ph type="title"/>
          </p:nvPr>
        </p:nvSpPr>
        <p:spPr/>
        <p:txBody>
          <a:bodyPr/>
          <a:lstStyle/>
          <a:p>
            <a:r>
              <a:rPr lang="en-IN" dirty="0"/>
              <a:t>Stochastic Gradient Descent(SGD)</a:t>
            </a:r>
          </a:p>
        </p:txBody>
      </p:sp>
      <p:sp>
        <p:nvSpPr>
          <p:cNvPr id="3" name="Content Placeholder 2">
            <a:extLst>
              <a:ext uri="{FF2B5EF4-FFF2-40B4-BE49-F238E27FC236}">
                <a16:creationId xmlns:a16="http://schemas.microsoft.com/office/drawing/2014/main" id="{41EDC1DC-187C-4BE8-ADC9-43EB6BD8C39C}"/>
              </a:ext>
            </a:extLst>
          </p:cNvPr>
          <p:cNvSpPr>
            <a:spLocks noGrp="1"/>
          </p:cNvSpPr>
          <p:nvPr>
            <p:ph idx="1"/>
          </p:nvPr>
        </p:nvSpPr>
        <p:spPr/>
        <p:txBody>
          <a:bodyPr/>
          <a:lstStyle/>
          <a:p>
            <a:pPr marL="0" indent="0">
              <a:buNone/>
            </a:pPr>
            <a:r>
              <a:rPr lang="en-US" b="0" i="0" dirty="0">
                <a:solidFill>
                  <a:srgbClr val="383838"/>
                </a:solidFill>
                <a:effectLst/>
                <a:latin typeface="Inter"/>
              </a:rPr>
              <a:t>If you use a single observation to calculate the cost function it is known as </a:t>
            </a:r>
            <a:r>
              <a:rPr lang="en-US" b="1" i="0" dirty="0">
                <a:solidFill>
                  <a:srgbClr val="383838"/>
                </a:solidFill>
                <a:effectLst/>
                <a:latin typeface="Inter"/>
              </a:rPr>
              <a:t>Stochastic Gradient Descent, </a:t>
            </a:r>
            <a:r>
              <a:rPr lang="en-US" b="0" i="0" dirty="0">
                <a:solidFill>
                  <a:srgbClr val="383838"/>
                </a:solidFill>
                <a:effectLst/>
                <a:latin typeface="Inter"/>
              </a:rPr>
              <a:t>commonly abbreviated as </a:t>
            </a:r>
            <a:r>
              <a:rPr lang="en-US" b="1" i="0" dirty="0">
                <a:solidFill>
                  <a:srgbClr val="383838"/>
                </a:solidFill>
                <a:effectLst/>
                <a:latin typeface="Inter"/>
              </a:rPr>
              <a:t>SGD</a:t>
            </a:r>
            <a:r>
              <a:rPr lang="en-US" b="0" i="0" dirty="0">
                <a:solidFill>
                  <a:srgbClr val="383838"/>
                </a:solidFill>
                <a:effectLst/>
                <a:latin typeface="Inter"/>
              </a:rPr>
              <a:t>. We pass a single observation at a time, calculate the cost and update the parameters.</a:t>
            </a:r>
            <a:endParaRPr lang="en-IN" dirty="0"/>
          </a:p>
        </p:txBody>
      </p:sp>
      <p:sp>
        <p:nvSpPr>
          <p:cNvPr id="6" name="Slide Number Placeholder 5">
            <a:extLst>
              <a:ext uri="{FF2B5EF4-FFF2-40B4-BE49-F238E27FC236}">
                <a16:creationId xmlns:a16="http://schemas.microsoft.com/office/drawing/2014/main" id="{FE299365-BAF3-4553-7E93-191C3882572D}"/>
              </a:ext>
            </a:extLst>
          </p:cNvPr>
          <p:cNvSpPr>
            <a:spLocks noGrp="1"/>
          </p:cNvSpPr>
          <p:nvPr>
            <p:ph type="sldNum" sz="quarter" idx="12"/>
          </p:nvPr>
        </p:nvSpPr>
        <p:spPr/>
        <p:txBody>
          <a:bodyPr/>
          <a:lstStyle/>
          <a:p>
            <a:fld id="{BB2CE0DE-867F-455F-B20B-96D381B4AB71}" type="slidenum">
              <a:rPr lang="en-US" smtClean="0"/>
              <a:t>123</a:t>
            </a:fld>
            <a:endParaRPr lang="en-US"/>
          </a:p>
        </p:txBody>
      </p:sp>
      <p:pic>
        <p:nvPicPr>
          <p:cNvPr id="7" name="Picture 6">
            <a:extLst>
              <a:ext uri="{FF2B5EF4-FFF2-40B4-BE49-F238E27FC236}">
                <a16:creationId xmlns:a16="http://schemas.microsoft.com/office/drawing/2014/main" id="{B41B76AA-C44B-C47D-39A6-A4E8F2E7D37D}"/>
              </a:ext>
            </a:extLst>
          </p:cNvPr>
          <p:cNvPicPr>
            <a:picLocks noChangeAspect="1"/>
          </p:cNvPicPr>
          <p:nvPr/>
        </p:nvPicPr>
        <p:blipFill>
          <a:blip r:embed="rId2"/>
          <a:stretch>
            <a:fillRect/>
          </a:stretch>
        </p:blipFill>
        <p:spPr>
          <a:xfrm>
            <a:off x="1177067" y="3962400"/>
            <a:ext cx="6796216" cy="838200"/>
          </a:xfrm>
          <a:prstGeom prst="rect">
            <a:avLst/>
          </a:prstGeom>
        </p:spPr>
      </p:pic>
    </p:spTree>
    <p:extLst>
      <p:ext uri="{BB962C8B-B14F-4D97-AF65-F5344CB8AC3E}">
        <p14:creationId xmlns:p14="http://schemas.microsoft.com/office/powerpoint/2010/main" val="4635436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0501-B599-753D-C820-072CA0243EB3}"/>
              </a:ext>
            </a:extLst>
          </p:cNvPr>
          <p:cNvSpPr>
            <a:spLocks noGrp="1"/>
          </p:cNvSpPr>
          <p:nvPr>
            <p:ph type="title"/>
          </p:nvPr>
        </p:nvSpPr>
        <p:spPr/>
        <p:txBody>
          <a:bodyPr/>
          <a:lstStyle/>
          <a:p>
            <a:r>
              <a:rPr lang="en-IN" dirty="0"/>
              <a:t>Stochastic Gradient Descent(SGD)</a:t>
            </a:r>
          </a:p>
        </p:txBody>
      </p:sp>
      <p:sp>
        <p:nvSpPr>
          <p:cNvPr id="3" name="Content Placeholder 2">
            <a:extLst>
              <a:ext uri="{FF2B5EF4-FFF2-40B4-BE49-F238E27FC236}">
                <a16:creationId xmlns:a16="http://schemas.microsoft.com/office/drawing/2014/main" id="{E99551A0-B6A0-B6BA-6D8C-7250F8A9BC19}"/>
              </a:ext>
            </a:extLst>
          </p:cNvPr>
          <p:cNvSpPr>
            <a:spLocks noGrp="1"/>
          </p:cNvSpPr>
          <p:nvPr>
            <p:ph idx="1"/>
          </p:nvPr>
        </p:nvSpPr>
        <p:spPr/>
        <p:txBody>
          <a:bodyPr/>
          <a:lstStyle/>
          <a:p>
            <a:pPr marL="0" indent="0">
              <a:buNone/>
            </a:pPr>
            <a:r>
              <a:rPr lang="en-US" sz="2000" b="0" i="0" dirty="0">
                <a:solidFill>
                  <a:srgbClr val="383838"/>
                </a:solidFill>
                <a:effectLst/>
                <a:latin typeface="Inter"/>
              </a:rPr>
              <a:t>Let’s say we have 5 observations and each observation has three features and the values taken are completely random.</a:t>
            </a:r>
            <a:endParaRPr lang="en-IN" sz="2000" dirty="0"/>
          </a:p>
        </p:txBody>
      </p:sp>
      <p:sp>
        <p:nvSpPr>
          <p:cNvPr id="6" name="Slide Number Placeholder 5">
            <a:extLst>
              <a:ext uri="{FF2B5EF4-FFF2-40B4-BE49-F238E27FC236}">
                <a16:creationId xmlns:a16="http://schemas.microsoft.com/office/drawing/2014/main" id="{C1237A0F-F6EF-31E4-2EEA-72F7BB216980}"/>
              </a:ext>
            </a:extLst>
          </p:cNvPr>
          <p:cNvSpPr>
            <a:spLocks noGrp="1"/>
          </p:cNvSpPr>
          <p:nvPr>
            <p:ph type="sldNum" sz="quarter" idx="12"/>
          </p:nvPr>
        </p:nvSpPr>
        <p:spPr/>
        <p:txBody>
          <a:bodyPr/>
          <a:lstStyle/>
          <a:p>
            <a:fld id="{BB2CE0DE-867F-455F-B20B-96D381B4AB71}" type="slidenum">
              <a:rPr lang="en-US" smtClean="0"/>
              <a:t>124</a:t>
            </a:fld>
            <a:endParaRPr lang="en-US"/>
          </a:p>
        </p:txBody>
      </p:sp>
      <p:pic>
        <p:nvPicPr>
          <p:cNvPr id="7" name="Picture 6">
            <a:extLst>
              <a:ext uri="{FF2B5EF4-FFF2-40B4-BE49-F238E27FC236}">
                <a16:creationId xmlns:a16="http://schemas.microsoft.com/office/drawing/2014/main" id="{E44535AA-CB5A-77B2-BC15-532034C40AAA}"/>
              </a:ext>
            </a:extLst>
          </p:cNvPr>
          <p:cNvPicPr>
            <a:picLocks noChangeAspect="1"/>
          </p:cNvPicPr>
          <p:nvPr/>
        </p:nvPicPr>
        <p:blipFill>
          <a:blip r:embed="rId2"/>
          <a:stretch>
            <a:fillRect/>
          </a:stretch>
        </p:blipFill>
        <p:spPr>
          <a:xfrm>
            <a:off x="1981200" y="2157980"/>
            <a:ext cx="2857500" cy="2733675"/>
          </a:xfrm>
          <a:prstGeom prst="rect">
            <a:avLst/>
          </a:prstGeom>
        </p:spPr>
      </p:pic>
    </p:spTree>
    <p:extLst>
      <p:ext uri="{BB962C8B-B14F-4D97-AF65-F5344CB8AC3E}">
        <p14:creationId xmlns:p14="http://schemas.microsoft.com/office/powerpoint/2010/main" val="49968285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E09A1-0836-97D1-1D57-D7FFF16CADBA}"/>
              </a:ext>
            </a:extLst>
          </p:cNvPr>
          <p:cNvSpPr>
            <a:spLocks noGrp="1"/>
          </p:cNvSpPr>
          <p:nvPr>
            <p:ph type="title"/>
          </p:nvPr>
        </p:nvSpPr>
        <p:spPr/>
        <p:txBody>
          <a:bodyPr/>
          <a:lstStyle/>
          <a:p>
            <a:r>
              <a:rPr lang="en-IN" dirty="0"/>
              <a:t>Stochastic Gradient Descent(SGD)</a:t>
            </a:r>
          </a:p>
        </p:txBody>
      </p:sp>
      <p:sp>
        <p:nvSpPr>
          <p:cNvPr id="3" name="Content Placeholder 2">
            <a:extLst>
              <a:ext uri="{FF2B5EF4-FFF2-40B4-BE49-F238E27FC236}">
                <a16:creationId xmlns:a16="http://schemas.microsoft.com/office/drawing/2014/main" id="{BCDE9CA7-8D5E-E068-8F94-26E5083FF67F}"/>
              </a:ext>
            </a:extLst>
          </p:cNvPr>
          <p:cNvSpPr>
            <a:spLocks noGrp="1"/>
          </p:cNvSpPr>
          <p:nvPr>
            <p:ph idx="1"/>
          </p:nvPr>
        </p:nvSpPr>
        <p:spPr/>
        <p:txBody>
          <a:bodyPr/>
          <a:lstStyle/>
          <a:p>
            <a:pPr marL="0" indent="0">
              <a:buNone/>
            </a:pPr>
            <a:r>
              <a:rPr lang="en-US" sz="2000" b="0" i="0" dirty="0">
                <a:solidFill>
                  <a:srgbClr val="383838"/>
                </a:solidFill>
                <a:effectLst/>
                <a:latin typeface="Inter"/>
              </a:rPr>
              <a:t>Now if we use the SGD, will take the first observation, then pass it through the neural network, calculate the error and then update the parameters.</a:t>
            </a:r>
            <a:endParaRPr lang="en-IN" sz="2000" dirty="0"/>
          </a:p>
        </p:txBody>
      </p:sp>
      <p:sp>
        <p:nvSpPr>
          <p:cNvPr id="6" name="Slide Number Placeholder 5">
            <a:extLst>
              <a:ext uri="{FF2B5EF4-FFF2-40B4-BE49-F238E27FC236}">
                <a16:creationId xmlns:a16="http://schemas.microsoft.com/office/drawing/2014/main" id="{8EFA3856-ECE4-E423-2FEE-2968F8DE9E4F}"/>
              </a:ext>
            </a:extLst>
          </p:cNvPr>
          <p:cNvSpPr>
            <a:spLocks noGrp="1"/>
          </p:cNvSpPr>
          <p:nvPr>
            <p:ph type="sldNum" sz="quarter" idx="12"/>
          </p:nvPr>
        </p:nvSpPr>
        <p:spPr/>
        <p:txBody>
          <a:bodyPr/>
          <a:lstStyle/>
          <a:p>
            <a:fld id="{BB2CE0DE-867F-455F-B20B-96D381B4AB71}" type="slidenum">
              <a:rPr lang="en-US" smtClean="0"/>
              <a:t>125</a:t>
            </a:fld>
            <a:endParaRPr lang="en-US"/>
          </a:p>
        </p:txBody>
      </p:sp>
      <p:pic>
        <p:nvPicPr>
          <p:cNvPr id="9" name="Picture 8">
            <a:extLst>
              <a:ext uri="{FF2B5EF4-FFF2-40B4-BE49-F238E27FC236}">
                <a16:creationId xmlns:a16="http://schemas.microsoft.com/office/drawing/2014/main" id="{AE63E952-055E-D28B-F01C-EC1DE4B5D921}"/>
              </a:ext>
            </a:extLst>
          </p:cNvPr>
          <p:cNvPicPr>
            <a:picLocks noChangeAspect="1"/>
          </p:cNvPicPr>
          <p:nvPr/>
        </p:nvPicPr>
        <p:blipFill>
          <a:blip r:embed="rId2"/>
          <a:stretch>
            <a:fillRect/>
          </a:stretch>
        </p:blipFill>
        <p:spPr>
          <a:xfrm>
            <a:off x="631371" y="2626519"/>
            <a:ext cx="7356331" cy="2214562"/>
          </a:xfrm>
          <a:prstGeom prst="rect">
            <a:avLst/>
          </a:prstGeom>
        </p:spPr>
      </p:pic>
    </p:spTree>
    <p:extLst>
      <p:ext uri="{BB962C8B-B14F-4D97-AF65-F5344CB8AC3E}">
        <p14:creationId xmlns:p14="http://schemas.microsoft.com/office/powerpoint/2010/main" val="351450452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8C739-30B8-02D7-4AFF-C25CD0DA3A64}"/>
              </a:ext>
            </a:extLst>
          </p:cNvPr>
          <p:cNvSpPr>
            <a:spLocks noGrp="1"/>
          </p:cNvSpPr>
          <p:nvPr>
            <p:ph type="title"/>
          </p:nvPr>
        </p:nvSpPr>
        <p:spPr/>
        <p:txBody>
          <a:bodyPr/>
          <a:lstStyle/>
          <a:p>
            <a:r>
              <a:rPr lang="en-IN" dirty="0"/>
              <a:t>Stochastic Gradient Descent(SGD)</a:t>
            </a:r>
          </a:p>
        </p:txBody>
      </p:sp>
      <p:sp>
        <p:nvSpPr>
          <p:cNvPr id="3" name="Content Placeholder 2">
            <a:extLst>
              <a:ext uri="{FF2B5EF4-FFF2-40B4-BE49-F238E27FC236}">
                <a16:creationId xmlns:a16="http://schemas.microsoft.com/office/drawing/2014/main" id="{FA29432F-4FC7-3C0B-0C9C-8E6E21F70A34}"/>
              </a:ext>
            </a:extLst>
          </p:cNvPr>
          <p:cNvSpPr>
            <a:spLocks noGrp="1"/>
          </p:cNvSpPr>
          <p:nvPr>
            <p:ph idx="1"/>
          </p:nvPr>
        </p:nvSpPr>
        <p:spPr/>
        <p:txBody>
          <a:bodyPr/>
          <a:lstStyle/>
          <a:p>
            <a:pPr marL="0" indent="0" algn="just">
              <a:buNone/>
            </a:pPr>
            <a:r>
              <a:rPr lang="en-US" sz="2000" b="0" i="0" dirty="0">
                <a:solidFill>
                  <a:srgbClr val="383838"/>
                </a:solidFill>
                <a:effectLst/>
                <a:latin typeface="Inter"/>
              </a:rPr>
              <a:t>Then will take the second observation and perform similar steps with it. This step will be repeated until all observations have been passed through the network and the parameters have been updated.</a:t>
            </a: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endParaRPr lang="en-US" sz="2000" dirty="0">
              <a:solidFill>
                <a:srgbClr val="383838"/>
              </a:solidFill>
              <a:latin typeface="Inter"/>
            </a:endParaRPr>
          </a:p>
          <a:p>
            <a:pPr marL="0" indent="0" algn="just">
              <a:buNone/>
            </a:pPr>
            <a:r>
              <a:rPr lang="en-US" sz="1600" b="0" i="0" dirty="0">
                <a:solidFill>
                  <a:srgbClr val="383838"/>
                </a:solidFill>
                <a:effectLst/>
                <a:latin typeface="Inter"/>
              </a:rPr>
              <a:t>Each time the parameter is updated, it is known as an Iteration. Here since we have 5 observations, the parameters will be updated 5 times or we can say that there will be 5 iterations. Had this been the Batch Gradient Descent we would have passed all the observations together and the parameters have been updated only once. In the case of SGD, there will be ‘m’ iterations per epoch, where ‘m’ is the number of observations in a dataset.</a:t>
            </a:r>
            <a:endParaRPr lang="en-IN" sz="2800" dirty="0"/>
          </a:p>
        </p:txBody>
      </p:sp>
      <p:sp>
        <p:nvSpPr>
          <p:cNvPr id="6" name="Slide Number Placeholder 5">
            <a:extLst>
              <a:ext uri="{FF2B5EF4-FFF2-40B4-BE49-F238E27FC236}">
                <a16:creationId xmlns:a16="http://schemas.microsoft.com/office/drawing/2014/main" id="{C551A7A3-051B-7220-78B0-729BC7AA15C7}"/>
              </a:ext>
            </a:extLst>
          </p:cNvPr>
          <p:cNvSpPr>
            <a:spLocks noGrp="1"/>
          </p:cNvSpPr>
          <p:nvPr>
            <p:ph type="sldNum" sz="quarter" idx="12"/>
          </p:nvPr>
        </p:nvSpPr>
        <p:spPr/>
        <p:txBody>
          <a:bodyPr/>
          <a:lstStyle/>
          <a:p>
            <a:fld id="{BB2CE0DE-867F-455F-B20B-96D381B4AB71}" type="slidenum">
              <a:rPr lang="en-US" smtClean="0"/>
              <a:t>126</a:t>
            </a:fld>
            <a:endParaRPr lang="en-US"/>
          </a:p>
        </p:txBody>
      </p:sp>
      <p:pic>
        <p:nvPicPr>
          <p:cNvPr id="8" name="Picture 7">
            <a:extLst>
              <a:ext uri="{FF2B5EF4-FFF2-40B4-BE49-F238E27FC236}">
                <a16:creationId xmlns:a16="http://schemas.microsoft.com/office/drawing/2014/main" id="{5B771595-B1E9-B11D-C810-D7453EC7B499}"/>
              </a:ext>
            </a:extLst>
          </p:cNvPr>
          <p:cNvPicPr>
            <a:picLocks noChangeAspect="1"/>
          </p:cNvPicPr>
          <p:nvPr/>
        </p:nvPicPr>
        <p:blipFill>
          <a:blip r:embed="rId2"/>
          <a:stretch>
            <a:fillRect/>
          </a:stretch>
        </p:blipFill>
        <p:spPr>
          <a:xfrm>
            <a:off x="762000" y="2362200"/>
            <a:ext cx="6509657" cy="1932651"/>
          </a:xfrm>
          <a:prstGeom prst="rect">
            <a:avLst/>
          </a:prstGeom>
        </p:spPr>
      </p:pic>
    </p:spTree>
    <p:extLst>
      <p:ext uri="{BB962C8B-B14F-4D97-AF65-F5344CB8AC3E}">
        <p14:creationId xmlns:p14="http://schemas.microsoft.com/office/powerpoint/2010/main" val="5539357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04769-6DD9-51A6-CE3D-4B32652A4012}"/>
              </a:ext>
            </a:extLst>
          </p:cNvPr>
          <p:cNvSpPr>
            <a:spLocks noGrp="1"/>
          </p:cNvSpPr>
          <p:nvPr>
            <p:ph type="title"/>
          </p:nvPr>
        </p:nvSpPr>
        <p:spPr/>
        <p:txBody>
          <a:bodyPr/>
          <a:lstStyle/>
          <a:p>
            <a:r>
              <a:rPr lang="en-IN" dirty="0"/>
              <a:t>Mini-batch Gradient Descent</a:t>
            </a:r>
          </a:p>
        </p:txBody>
      </p:sp>
      <p:sp>
        <p:nvSpPr>
          <p:cNvPr id="3" name="Content Placeholder 2">
            <a:extLst>
              <a:ext uri="{FF2B5EF4-FFF2-40B4-BE49-F238E27FC236}">
                <a16:creationId xmlns:a16="http://schemas.microsoft.com/office/drawing/2014/main" id="{BD78D63F-C5A1-1F5C-7EA1-C9C1F8805D70}"/>
              </a:ext>
            </a:extLst>
          </p:cNvPr>
          <p:cNvSpPr>
            <a:spLocks noGrp="1"/>
          </p:cNvSpPr>
          <p:nvPr>
            <p:ph idx="1"/>
          </p:nvPr>
        </p:nvSpPr>
        <p:spPr/>
        <p:txBody>
          <a:bodyPr/>
          <a:lstStyle/>
          <a:p>
            <a:pPr marL="0" indent="0" algn="just">
              <a:buNone/>
            </a:pPr>
            <a:r>
              <a:rPr lang="en-US" sz="2000" b="0" i="0" dirty="0">
                <a:solidFill>
                  <a:srgbClr val="383838"/>
                </a:solidFill>
                <a:effectLst/>
                <a:latin typeface="Inter"/>
              </a:rPr>
              <a:t>Another type of Gradient Descent is the Mini-batch Gradient Descent. It takes a subset of the entire dataset to calculate the cost function. So if there are ‘m’ observations then the number of observations in each subset or mini-batches will be more than 1 and less than ‘m’.</a:t>
            </a:r>
            <a:endParaRPr lang="en-IN" dirty="0"/>
          </a:p>
        </p:txBody>
      </p:sp>
      <p:sp>
        <p:nvSpPr>
          <p:cNvPr id="6" name="Slide Number Placeholder 5">
            <a:extLst>
              <a:ext uri="{FF2B5EF4-FFF2-40B4-BE49-F238E27FC236}">
                <a16:creationId xmlns:a16="http://schemas.microsoft.com/office/drawing/2014/main" id="{30A957F7-4F77-4FE3-D2AA-0A1EB3261F07}"/>
              </a:ext>
            </a:extLst>
          </p:cNvPr>
          <p:cNvSpPr>
            <a:spLocks noGrp="1"/>
          </p:cNvSpPr>
          <p:nvPr>
            <p:ph type="sldNum" sz="quarter" idx="12"/>
          </p:nvPr>
        </p:nvSpPr>
        <p:spPr/>
        <p:txBody>
          <a:bodyPr/>
          <a:lstStyle/>
          <a:p>
            <a:fld id="{BB2CE0DE-867F-455F-B20B-96D381B4AB71}" type="slidenum">
              <a:rPr lang="en-US" smtClean="0"/>
              <a:t>127</a:t>
            </a:fld>
            <a:endParaRPr lang="en-US"/>
          </a:p>
        </p:txBody>
      </p:sp>
      <p:pic>
        <p:nvPicPr>
          <p:cNvPr id="7" name="Picture 6">
            <a:extLst>
              <a:ext uri="{FF2B5EF4-FFF2-40B4-BE49-F238E27FC236}">
                <a16:creationId xmlns:a16="http://schemas.microsoft.com/office/drawing/2014/main" id="{82F9AA2C-6A5E-2D8B-9CA8-C51ECA570531}"/>
              </a:ext>
            </a:extLst>
          </p:cNvPr>
          <p:cNvPicPr>
            <a:picLocks noChangeAspect="1"/>
          </p:cNvPicPr>
          <p:nvPr/>
        </p:nvPicPr>
        <p:blipFill>
          <a:blip r:embed="rId2"/>
          <a:stretch>
            <a:fillRect/>
          </a:stretch>
        </p:blipFill>
        <p:spPr>
          <a:xfrm>
            <a:off x="457200" y="2528848"/>
            <a:ext cx="7805738" cy="834838"/>
          </a:xfrm>
          <a:prstGeom prst="rect">
            <a:avLst/>
          </a:prstGeom>
        </p:spPr>
      </p:pic>
    </p:spTree>
    <p:extLst>
      <p:ext uri="{BB962C8B-B14F-4D97-AF65-F5344CB8AC3E}">
        <p14:creationId xmlns:p14="http://schemas.microsoft.com/office/powerpoint/2010/main" val="325136997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66338-ED7F-5C42-B3A0-B75026DB5C1D}"/>
              </a:ext>
            </a:extLst>
          </p:cNvPr>
          <p:cNvSpPr>
            <a:spLocks noGrp="1"/>
          </p:cNvSpPr>
          <p:nvPr>
            <p:ph type="title"/>
          </p:nvPr>
        </p:nvSpPr>
        <p:spPr/>
        <p:txBody>
          <a:bodyPr/>
          <a:lstStyle/>
          <a:p>
            <a:r>
              <a:rPr lang="en-IN" dirty="0"/>
              <a:t>Mini-batch Gradient Descent</a:t>
            </a:r>
          </a:p>
        </p:txBody>
      </p:sp>
      <p:sp>
        <p:nvSpPr>
          <p:cNvPr id="3" name="Content Placeholder 2">
            <a:extLst>
              <a:ext uri="{FF2B5EF4-FFF2-40B4-BE49-F238E27FC236}">
                <a16:creationId xmlns:a16="http://schemas.microsoft.com/office/drawing/2014/main" id="{97BDCBEC-FE4C-6A8D-0ACF-C3A346448C35}"/>
              </a:ext>
            </a:extLst>
          </p:cNvPr>
          <p:cNvSpPr>
            <a:spLocks noGrp="1"/>
          </p:cNvSpPr>
          <p:nvPr>
            <p:ph idx="1"/>
          </p:nvPr>
        </p:nvSpPr>
        <p:spPr/>
        <p:txBody>
          <a:bodyPr/>
          <a:lstStyle/>
          <a:p>
            <a:pPr marL="0" indent="0" algn="just">
              <a:buNone/>
            </a:pPr>
            <a:r>
              <a:rPr lang="en-US" sz="2000" b="0" i="0" dirty="0">
                <a:solidFill>
                  <a:srgbClr val="383838"/>
                </a:solidFill>
                <a:effectLst/>
                <a:latin typeface="Inter"/>
              </a:rPr>
              <a:t>Again let’s take the same example. Assume that the batch size is 2. So we’ll take the first two observations, pass them through the neural network, calculate the error and then update the parameters.</a:t>
            </a:r>
            <a:endParaRPr lang="en-IN" sz="2000" dirty="0"/>
          </a:p>
        </p:txBody>
      </p:sp>
      <p:sp>
        <p:nvSpPr>
          <p:cNvPr id="6" name="Slide Number Placeholder 5">
            <a:extLst>
              <a:ext uri="{FF2B5EF4-FFF2-40B4-BE49-F238E27FC236}">
                <a16:creationId xmlns:a16="http://schemas.microsoft.com/office/drawing/2014/main" id="{E27941AF-8457-E947-E1EA-964B32DA5DB9}"/>
              </a:ext>
            </a:extLst>
          </p:cNvPr>
          <p:cNvSpPr>
            <a:spLocks noGrp="1"/>
          </p:cNvSpPr>
          <p:nvPr>
            <p:ph type="sldNum" sz="quarter" idx="12"/>
          </p:nvPr>
        </p:nvSpPr>
        <p:spPr/>
        <p:txBody>
          <a:bodyPr/>
          <a:lstStyle/>
          <a:p>
            <a:fld id="{BB2CE0DE-867F-455F-B20B-96D381B4AB71}" type="slidenum">
              <a:rPr lang="en-US" smtClean="0"/>
              <a:t>128</a:t>
            </a:fld>
            <a:endParaRPr lang="en-US"/>
          </a:p>
        </p:txBody>
      </p:sp>
      <p:pic>
        <p:nvPicPr>
          <p:cNvPr id="8" name="Picture 7">
            <a:extLst>
              <a:ext uri="{FF2B5EF4-FFF2-40B4-BE49-F238E27FC236}">
                <a16:creationId xmlns:a16="http://schemas.microsoft.com/office/drawing/2014/main" id="{99FBEC50-BD68-3B61-039E-2BBD9ED7028A}"/>
              </a:ext>
            </a:extLst>
          </p:cNvPr>
          <p:cNvPicPr>
            <a:picLocks noChangeAspect="1"/>
          </p:cNvPicPr>
          <p:nvPr/>
        </p:nvPicPr>
        <p:blipFill>
          <a:blip r:embed="rId2"/>
          <a:stretch>
            <a:fillRect/>
          </a:stretch>
        </p:blipFill>
        <p:spPr>
          <a:xfrm>
            <a:off x="620486" y="2623457"/>
            <a:ext cx="7315200" cy="2220686"/>
          </a:xfrm>
          <a:prstGeom prst="rect">
            <a:avLst/>
          </a:prstGeom>
        </p:spPr>
      </p:pic>
    </p:spTree>
    <p:extLst>
      <p:ext uri="{BB962C8B-B14F-4D97-AF65-F5344CB8AC3E}">
        <p14:creationId xmlns:p14="http://schemas.microsoft.com/office/powerpoint/2010/main" val="21628856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CCC4-1DF4-0157-F8AD-41C98E8D2ECF}"/>
              </a:ext>
            </a:extLst>
          </p:cNvPr>
          <p:cNvSpPr>
            <a:spLocks noGrp="1"/>
          </p:cNvSpPr>
          <p:nvPr>
            <p:ph type="title"/>
          </p:nvPr>
        </p:nvSpPr>
        <p:spPr/>
        <p:txBody>
          <a:bodyPr/>
          <a:lstStyle/>
          <a:p>
            <a:r>
              <a:rPr lang="en-IN" dirty="0"/>
              <a:t>Mini-batch Gradient Descent</a:t>
            </a:r>
          </a:p>
        </p:txBody>
      </p:sp>
      <p:sp>
        <p:nvSpPr>
          <p:cNvPr id="3" name="Content Placeholder 2">
            <a:extLst>
              <a:ext uri="{FF2B5EF4-FFF2-40B4-BE49-F238E27FC236}">
                <a16:creationId xmlns:a16="http://schemas.microsoft.com/office/drawing/2014/main" id="{095494C9-E324-15B5-1F17-2F7C6B00B1DF}"/>
              </a:ext>
            </a:extLst>
          </p:cNvPr>
          <p:cNvSpPr>
            <a:spLocks noGrp="1"/>
          </p:cNvSpPr>
          <p:nvPr>
            <p:ph idx="1"/>
          </p:nvPr>
        </p:nvSpPr>
        <p:spPr/>
        <p:txBody>
          <a:bodyPr/>
          <a:lstStyle/>
          <a:p>
            <a:pPr marL="0" indent="0">
              <a:buNone/>
            </a:pPr>
            <a:r>
              <a:rPr lang="en-US" sz="1800" b="0" i="0" dirty="0">
                <a:solidFill>
                  <a:srgbClr val="383838"/>
                </a:solidFill>
                <a:effectLst/>
                <a:latin typeface="Inter"/>
              </a:rPr>
              <a:t>Then we will take the next two observations and perform similar steps </a:t>
            </a:r>
            <a:r>
              <a:rPr lang="en-US" sz="1800" b="0" i="0" dirty="0" err="1">
                <a:solidFill>
                  <a:srgbClr val="383838"/>
                </a:solidFill>
                <a:effectLst/>
                <a:latin typeface="Inter"/>
              </a:rPr>
              <a:t>i.e</a:t>
            </a:r>
            <a:r>
              <a:rPr lang="en-US" sz="1800" b="0" i="0" dirty="0">
                <a:solidFill>
                  <a:srgbClr val="383838"/>
                </a:solidFill>
                <a:effectLst/>
                <a:latin typeface="Inter"/>
              </a:rPr>
              <a:t> will pass through the network, calculate the error and update the parameters.</a:t>
            </a: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endParaRPr lang="en-US" sz="1800" dirty="0">
              <a:solidFill>
                <a:srgbClr val="383838"/>
              </a:solidFill>
              <a:latin typeface="Inter"/>
            </a:endParaRPr>
          </a:p>
          <a:p>
            <a:pPr marL="0" indent="0">
              <a:buNone/>
            </a:pPr>
            <a:r>
              <a:rPr lang="en-US" sz="1100" b="0" i="0" dirty="0">
                <a:solidFill>
                  <a:srgbClr val="383838"/>
                </a:solidFill>
                <a:effectLst/>
                <a:latin typeface="Inter"/>
              </a:rPr>
              <a:t>Now since we’re left with the single observation in the final iteration, there will be only a single observation and will update the parameters using this observation.</a:t>
            </a:r>
            <a:endParaRPr lang="en-IN" sz="1800" dirty="0"/>
          </a:p>
        </p:txBody>
      </p:sp>
      <p:sp>
        <p:nvSpPr>
          <p:cNvPr id="6" name="Slide Number Placeholder 5">
            <a:extLst>
              <a:ext uri="{FF2B5EF4-FFF2-40B4-BE49-F238E27FC236}">
                <a16:creationId xmlns:a16="http://schemas.microsoft.com/office/drawing/2014/main" id="{E2882689-4EB2-1F0F-65C4-0423B75A27F5}"/>
              </a:ext>
            </a:extLst>
          </p:cNvPr>
          <p:cNvSpPr>
            <a:spLocks noGrp="1"/>
          </p:cNvSpPr>
          <p:nvPr>
            <p:ph type="sldNum" sz="quarter" idx="12"/>
          </p:nvPr>
        </p:nvSpPr>
        <p:spPr/>
        <p:txBody>
          <a:bodyPr/>
          <a:lstStyle/>
          <a:p>
            <a:fld id="{BB2CE0DE-867F-455F-B20B-96D381B4AB71}" type="slidenum">
              <a:rPr lang="en-US" smtClean="0"/>
              <a:t>129</a:t>
            </a:fld>
            <a:endParaRPr lang="en-US"/>
          </a:p>
        </p:txBody>
      </p:sp>
      <p:pic>
        <p:nvPicPr>
          <p:cNvPr id="8" name="Picture 7">
            <a:extLst>
              <a:ext uri="{FF2B5EF4-FFF2-40B4-BE49-F238E27FC236}">
                <a16:creationId xmlns:a16="http://schemas.microsoft.com/office/drawing/2014/main" id="{D3DA65F3-38C4-88E9-CE5C-2E9CFB7D6283}"/>
              </a:ext>
            </a:extLst>
          </p:cNvPr>
          <p:cNvPicPr>
            <a:picLocks noChangeAspect="1"/>
          </p:cNvPicPr>
          <p:nvPr/>
        </p:nvPicPr>
        <p:blipFill>
          <a:blip r:embed="rId2"/>
          <a:stretch>
            <a:fillRect/>
          </a:stretch>
        </p:blipFill>
        <p:spPr>
          <a:xfrm>
            <a:off x="762000" y="1905000"/>
            <a:ext cx="7239000" cy="2189950"/>
          </a:xfrm>
          <a:prstGeom prst="rect">
            <a:avLst/>
          </a:prstGeom>
        </p:spPr>
      </p:pic>
      <p:pic>
        <p:nvPicPr>
          <p:cNvPr id="11" name="Picture 10">
            <a:extLst>
              <a:ext uri="{FF2B5EF4-FFF2-40B4-BE49-F238E27FC236}">
                <a16:creationId xmlns:a16="http://schemas.microsoft.com/office/drawing/2014/main" id="{D4C2FA19-59B9-6C34-0C6A-9C1B2DFA84C8}"/>
              </a:ext>
            </a:extLst>
          </p:cNvPr>
          <p:cNvPicPr>
            <a:picLocks noChangeAspect="1"/>
          </p:cNvPicPr>
          <p:nvPr/>
        </p:nvPicPr>
        <p:blipFill>
          <a:blip r:embed="rId3"/>
          <a:stretch>
            <a:fillRect/>
          </a:stretch>
        </p:blipFill>
        <p:spPr>
          <a:xfrm>
            <a:off x="1219200" y="4646995"/>
            <a:ext cx="6324600" cy="1906205"/>
          </a:xfrm>
          <a:prstGeom prst="rect">
            <a:avLst/>
          </a:prstGeom>
        </p:spPr>
      </p:pic>
    </p:spTree>
    <p:extLst>
      <p:ext uri="{BB962C8B-B14F-4D97-AF65-F5344CB8AC3E}">
        <p14:creationId xmlns:p14="http://schemas.microsoft.com/office/powerpoint/2010/main" val="6579050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85FC-C748-2C7B-9162-5BF17BAF36D5}"/>
              </a:ext>
            </a:extLst>
          </p:cNvPr>
          <p:cNvSpPr>
            <a:spLocks noGrp="1"/>
          </p:cNvSpPr>
          <p:nvPr>
            <p:ph type="title"/>
          </p:nvPr>
        </p:nvSpPr>
        <p:spPr/>
        <p:txBody>
          <a:bodyPr/>
          <a:lstStyle/>
          <a:p>
            <a:r>
              <a:rPr lang="en-US" sz="2000" dirty="0"/>
              <a:t>Comparison between Batch GD, SGD, and Mini-batch GD</a:t>
            </a:r>
            <a:endParaRPr lang="en-IN" sz="2000" dirty="0"/>
          </a:p>
        </p:txBody>
      </p:sp>
      <p:sp>
        <p:nvSpPr>
          <p:cNvPr id="3" name="Content Placeholder 2">
            <a:extLst>
              <a:ext uri="{FF2B5EF4-FFF2-40B4-BE49-F238E27FC236}">
                <a16:creationId xmlns:a16="http://schemas.microsoft.com/office/drawing/2014/main" id="{60FDC52C-EF9D-0930-3462-62F47BE330E8}"/>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EDA8448-10A3-CD9A-08C0-32F5BB031739}"/>
              </a:ext>
            </a:extLst>
          </p:cNvPr>
          <p:cNvSpPr>
            <a:spLocks noGrp="1"/>
          </p:cNvSpPr>
          <p:nvPr>
            <p:ph type="sldNum" sz="quarter" idx="12"/>
          </p:nvPr>
        </p:nvSpPr>
        <p:spPr/>
        <p:txBody>
          <a:bodyPr/>
          <a:lstStyle/>
          <a:p>
            <a:fld id="{BB2CE0DE-867F-455F-B20B-96D381B4AB71}" type="slidenum">
              <a:rPr lang="en-US" smtClean="0"/>
              <a:t>130</a:t>
            </a:fld>
            <a:endParaRPr lang="en-US"/>
          </a:p>
        </p:txBody>
      </p:sp>
      <p:pic>
        <p:nvPicPr>
          <p:cNvPr id="7" name="Picture 6">
            <a:extLst>
              <a:ext uri="{FF2B5EF4-FFF2-40B4-BE49-F238E27FC236}">
                <a16:creationId xmlns:a16="http://schemas.microsoft.com/office/drawing/2014/main" id="{0EF092A3-6786-4E92-C0D8-1583619302A1}"/>
              </a:ext>
            </a:extLst>
          </p:cNvPr>
          <p:cNvPicPr>
            <a:picLocks noChangeAspect="1"/>
          </p:cNvPicPr>
          <p:nvPr/>
        </p:nvPicPr>
        <p:blipFill>
          <a:blip r:embed="rId2"/>
          <a:stretch>
            <a:fillRect/>
          </a:stretch>
        </p:blipFill>
        <p:spPr>
          <a:xfrm>
            <a:off x="223838" y="1197429"/>
            <a:ext cx="8686800" cy="1437201"/>
          </a:xfrm>
          <a:prstGeom prst="rect">
            <a:avLst/>
          </a:prstGeom>
        </p:spPr>
      </p:pic>
    </p:spTree>
    <p:extLst>
      <p:ext uri="{BB962C8B-B14F-4D97-AF65-F5344CB8AC3E}">
        <p14:creationId xmlns:p14="http://schemas.microsoft.com/office/powerpoint/2010/main" val="24308367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9443-3406-2BA6-E326-E5DD65518254}"/>
              </a:ext>
            </a:extLst>
          </p:cNvPr>
          <p:cNvSpPr>
            <a:spLocks noGrp="1"/>
          </p:cNvSpPr>
          <p:nvPr>
            <p:ph type="title"/>
          </p:nvPr>
        </p:nvSpPr>
        <p:spPr/>
        <p:txBody>
          <a:bodyPr/>
          <a:lstStyle/>
          <a:p>
            <a:r>
              <a:rPr lang="en-IN" dirty="0"/>
              <a:t>Comparison: Cost function</a:t>
            </a:r>
          </a:p>
        </p:txBody>
      </p:sp>
      <p:sp>
        <p:nvSpPr>
          <p:cNvPr id="3" name="Content Placeholder 2">
            <a:extLst>
              <a:ext uri="{FF2B5EF4-FFF2-40B4-BE49-F238E27FC236}">
                <a16:creationId xmlns:a16="http://schemas.microsoft.com/office/drawing/2014/main" id="{F1405C39-CD00-EF50-4C86-A77D038D77C6}"/>
              </a:ext>
            </a:extLst>
          </p:cNvPr>
          <p:cNvSpPr>
            <a:spLocks noGrp="1"/>
          </p:cNvSpPr>
          <p:nvPr>
            <p:ph idx="1"/>
          </p:nvPr>
        </p:nvSpPr>
        <p:spPr/>
        <p:txBody>
          <a:bodyPr/>
          <a:lstStyle/>
          <a:p>
            <a:pPr algn="just">
              <a:lnSpc>
                <a:spcPts val="2700"/>
              </a:lnSpc>
              <a:spcAft>
                <a:spcPts val="750"/>
              </a:spcAft>
              <a:buFont typeface="Arial" panose="020B0604020202020204" pitchFamily="34" charset="0"/>
              <a:buChar char="•"/>
            </a:pPr>
            <a:r>
              <a:rPr lang="en-US" sz="1400" b="0" i="0" dirty="0">
                <a:solidFill>
                  <a:srgbClr val="383838"/>
                </a:solidFill>
                <a:effectLst/>
                <a:latin typeface="Inter"/>
              </a:rPr>
              <a:t>Now since we update the parameters using the entire data set in the case of the Batch GD, the cost function, in this case, reduces smoothly.</a:t>
            </a:r>
          </a:p>
          <a:p>
            <a:pPr algn="just">
              <a:lnSpc>
                <a:spcPts val="2700"/>
              </a:lnSpc>
              <a:spcAft>
                <a:spcPts val="750"/>
              </a:spcAft>
              <a:buFont typeface="Arial" panose="020B0604020202020204" pitchFamily="34" charset="0"/>
              <a:buChar char="•"/>
            </a:pPr>
            <a:r>
              <a:rPr lang="en-US" sz="1400" b="0" i="0" dirty="0">
                <a:solidFill>
                  <a:srgbClr val="383838"/>
                </a:solidFill>
                <a:effectLst/>
                <a:latin typeface="Inter"/>
              </a:rPr>
              <a:t>On the other hand, this </a:t>
            </a:r>
            <a:r>
              <a:rPr lang="en-US" sz="1400" b="0" i="0" dirty="0" err="1">
                <a:solidFill>
                  <a:srgbClr val="383838"/>
                </a:solidFill>
                <a:effectLst/>
                <a:latin typeface="Inter"/>
              </a:rPr>
              <a:t>updation</a:t>
            </a:r>
            <a:r>
              <a:rPr lang="en-US" sz="1400" b="0" i="0" dirty="0">
                <a:solidFill>
                  <a:srgbClr val="383838"/>
                </a:solidFill>
                <a:effectLst/>
                <a:latin typeface="Inter"/>
              </a:rPr>
              <a:t> in the case of SGD is not that smooth. Since we’re updating the parameters based on a single observation, there are a lot of iterations. It might also be possible that the model starts learning noise as well.</a:t>
            </a:r>
          </a:p>
          <a:p>
            <a:pPr algn="just">
              <a:lnSpc>
                <a:spcPts val="2700"/>
              </a:lnSpc>
              <a:spcAft>
                <a:spcPts val="750"/>
              </a:spcAft>
              <a:buFont typeface="Arial" panose="020B0604020202020204" pitchFamily="34" charset="0"/>
              <a:buChar char="•"/>
            </a:pPr>
            <a:r>
              <a:rPr lang="en-US" sz="1400" b="0" i="0" dirty="0">
                <a:solidFill>
                  <a:srgbClr val="383838"/>
                </a:solidFill>
                <a:effectLst/>
                <a:latin typeface="Inter"/>
              </a:rPr>
              <a:t>The </a:t>
            </a:r>
            <a:r>
              <a:rPr lang="en-US" sz="1400" b="0" i="0" dirty="0" err="1">
                <a:solidFill>
                  <a:srgbClr val="383838"/>
                </a:solidFill>
                <a:effectLst/>
                <a:latin typeface="Inter"/>
              </a:rPr>
              <a:t>updation</a:t>
            </a:r>
            <a:r>
              <a:rPr lang="en-US" sz="1400" b="0" i="0" dirty="0">
                <a:solidFill>
                  <a:srgbClr val="383838"/>
                </a:solidFill>
                <a:effectLst/>
                <a:latin typeface="Inter"/>
              </a:rPr>
              <a:t> of the cost function in the case of Mini-batch Gradient Descent is smoother as compared to that of the cost function in SGD. Since we’re not updating the parameters after every single observation but after every subset of the data.</a:t>
            </a:r>
          </a:p>
          <a:p>
            <a:pPr marL="0" indent="0" algn="just">
              <a:buNone/>
            </a:pPr>
            <a:endParaRPr lang="en-IN" sz="1400" dirty="0"/>
          </a:p>
        </p:txBody>
      </p:sp>
      <p:sp>
        <p:nvSpPr>
          <p:cNvPr id="6" name="Slide Number Placeholder 5">
            <a:extLst>
              <a:ext uri="{FF2B5EF4-FFF2-40B4-BE49-F238E27FC236}">
                <a16:creationId xmlns:a16="http://schemas.microsoft.com/office/drawing/2014/main" id="{14972EA5-F821-9C88-0583-9C393645A8AB}"/>
              </a:ext>
            </a:extLst>
          </p:cNvPr>
          <p:cNvSpPr>
            <a:spLocks noGrp="1"/>
          </p:cNvSpPr>
          <p:nvPr>
            <p:ph type="sldNum" sz="quarter" idx="12"/>
          </p:nvPr>
        </p:nvSpPr>
        <p:spPr/>
        <p:txBody>
          <a:bodyPr/>
          <a:lstStyle/>
          <a:p>
            <a:fld id="{BB2CE0DE-867F-455F-B20B-96D381B4AB71}" type="slidenum">
              <a:rPr lang="en-US" smtClean="0"/>
              <a:t>131</a:t>
            </a:fld>
            <a:endParaRPr lang="en-US"/>
          </a:p>
        </p:txBody>
      </p:sp>
      <p:pic>
        <p:nvPicPr>
          <p:cNvPr id="7" name="Picture 6">
            <a:extLst>
              <a:ext uri="{FF2B5EF4-FFF2-40B4-BE49-F238E27FC236}">
                <a16:creationId xmlns:a16="http://schemas.microsoft.com/office/drawing/2014/main" id="{BA19DA21-C576-4252-07E7-FD8BB55B440D}"/>
              </a:ext>
            </a:extLst>
          </p:cNvPr>
          <p:cNvPicPr>
            <a:picLocks noChangeAspect="1"/>
          </p:cNvPicPr>
          <p:nvPr/>
        </p:nvPicPr>
        <p:blipFill>
          <a:blip r:embed="rId2"/>
          <a:stretch>
            <a:fillRect/>
          </a:stretch>
        </p:blipFill>
        <p:spPr>
          <a:xfrm>
            <a:off x="566738" y="4370511"/>
            <a:ext cx="8153400" cy="2313318"/>
          </a:xfrm>
          <a:prstGeom prst="rect">
            <a:avLst/>
          </a:prstGeom>
        </p:spPr>
      </p:pic>
    </p:spTree>
    <p:extLst>
      <p:ext uri="{BB962C8B-B14F-4D97-AF65-F5344CB8AC3E}">
        <p14:creationId xmlns:p14="http://schemas.microsoft.com/office/powerpoint/2010/main" val="403309547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16E3-A753-A5F4-CFD9-EDF61F282C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9684CE-1D0A-0C46-BB49-FE4C982B3FB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269E2408-C694-54FB-83FE-11F0E2561AEE}"/>
              </a:ext>
            </a:extLst>
          </p:cNvPr>
          <p:cNvSpPr>
            <a:spLocks noGrp="1"/>
          </p:cNvSpPr>
          <p:nvPr>
            <p:ph type="sldNum" sz="quarter" idx="12"/>
          </p:nvPr>
        </p:nvSpPr>
        <p:spPr/>
        <p:txBody>
          <a:bodyPr/>
          <a:lstStyle/>
          <a:p>
            <a:fld id="{BB2CE0DE-867F-455F-B20B-96D381B4AB71}" type="slidenum">
              <a:rPr lang="en-US" smtClean="0"/>
              <a:t>132</a:t>
            </a:fld>
            <a:endParaRPr lang="en-US"/>
          </a:p>
        </p:txBody>
      </p:sp>
      <p:pic>
        <p:nvPicPr>
          <p:cNvPr id="7" name="Picture 6">
            <a:extLst>
              <a:ext uri="{FF2B5EF4-FFF2-40B4-BE49-F238E27FC236}">
                <a16:creationId xmlns:a16="http://schemas.microsoft.com/office/drawing/2014/main" id="{60E73E28-DD2A-CB32-48BD-625EE016882F}"/>
              </a:ext>
            </a:extLst>
          </p:cNvPr>
          <p:cNvPicPr>
            <a:picLocks noChangeAspect="1"/>
          </p:cNvPicPr>
          <p:nvPr/>
        </p:nvPicPr>
        <p:blipFill>
          <a:blip r:embed="rId2"/>
          <a:stretch>
            <a:fillRect/>
          </a:stretch>
        </p:blipFill>
        <p:spPr>
          <a:xfrm>
            <a:off x="152400" y="1065212"/>
            <a:ext cx="8575675" cy="3239420"/>
          </a:xfrm>
          <a:prstGeom prst="rect">
            <a:avLst/>
          </a:prstGeom>
        </p:spPr>
      </p:pic>
    </p:spTree>
    <p:extLst>
      <p:ext uri="{BB962C8B-B14F-4D97-AF65-F5344CB8AC3E}">
        <p14:creationId xmlns:p14="http://schemas.microsoft.com/office/powerpoint/2010/main" val="12847175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r>
              <a:rPr lang="en-US" sz="2400" dirty="0"/>
              <a:t>Multilayer Neural Network for </a:t>
            </a:r>
            <a:r>
              <a:rPr lang="en-US" sz="2400" b="1" dirty="0"/>
              <a:t>Email Spam Detection</a:t>
            </a:r>
            <a:endParaRPr lang="en-US" altLang="en-US" sz="2400" b="1" dirty="0"/>
          </a:p>
        </p:txBody>
      </p:sp>
      <p:sp>
        <p:nvSpPr>
          <p:cNvPr id="3" name="Slide Number Placeholder 2"/>
          <p:cNvSpPr>
            <a:spLocks noGrp="1"/>
          </p:cNvSpPr>
          <p:nvPr>
            <p:ph type="sldNum" sz="quarter" idx="12"/>
          </p:nvPr>
        </p:nvSpPr>
        <p:spPr/>
        <p:txBody>
          <a:bodyPr/>
          <a:lstStyle/>
          <a:p>
            <a:fld id="{5DCC653A-8BE1-4A16-A754-27859D86C4A9}" type="slidenum">
              <a:rPr lang="en-US" smtClean="0"/>
              <a:t>133</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Subtitle 2"/>
          <p:cNvSpPr>
            <a:spLocks noGrp="1"/>
          </p:cNvSpPr>
          <p:nvPr>
            <p:ph type="subTitle" idx="1"/>
          </p:nvPr>
        </p:nvSpPr>
        <p:spPr>
          <a:xfrm>
            <a:off x="1447800" y="3429000"/>
            <a:ext cx="7010400" cy="1600200"/>
          </a:xfrm>
        </p:spPr>
        <p:txBody>
          <a:bodyPr/>
          <a:lstStyle/>
          <a:p>
            <a:endParaRPr lang="en-US" sz="24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3124200"/>
            <a:ext cx="3571875" cy="2695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200400"/>
            <a:ext cx="2524125" cy="2705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296541"/>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Multilayer Neural Network for Email Spam Detection</a:t>
            </a:r>
          </a:p>
        </p:txBody>
      </p:sp>
      <p:sp>
        <p:nvSpPr>
          <p:cNvPr id="3" name="Content Placeholder 2"/>
          <p:cNvSpPr>
            <a:spLocks noGrp="1"/>
          </p:cNvSpPr>
          <p:nvPr>
            <p:ph idx="1"/>
          </p:nvPr>
        </p:nvSpPr>
        <p:spPr/>
        <p:txBody>
          <a:bodyPr/>
          <a:lstStyle/>
          <a:p>
            <a:pPr marL="0" indent="0">
              <a:buNone/>
            </a:pPr>
            <a:r>
              <a:rPr lang="en-US" sz="1400" dirty="0"/>
              <a:t>Three layer neural network for spam detection:</a:t>
            </a:r>
          </a:p>
          <a:p>
            <a:r>
              <a:rPr lang="en-US" sz="1400" dirty="0"/>
              <a:t>The first layer is the input layer which has </a:t>
            </a:r>
            <a:r>
              <a:rPr lang="en-US" sz="1400" b="1" dirty="0"/>
              <a:t>57</a:t>
            </a:r>
            <a:r>
              <a:rPr lang="en-US" sz="1400" dirty="0"/>
              <a:t> nodes, 1 node for each feature of the email</a:t>
            </a:r>
          </a:p>
          <a:p>
            <a:r>
              <a:rPr lang="en-US" sz="1400" dirty="0"/>
              <a:t>The second layer is the middle layer which has </a:t>
            </a:r>
            <a:r>
              <a:rPr lang="en-US" sz="1400" b="1" dirty="0"/>
              <a:t>4</a:t>
            </a:r>
            <a:r>
              <a:rPr lang="en-US" sz="1400" dirty="0"/>
              <a:t> node</a:t>
            </a:r>
          </a:p>
          <a:p>
            <a:r>
              <a:rPr lang="en-US" sz="1400" dirty="0"/>
              <a:t>The final layer is the output layer which has just </a:t>
            </a:r>
            <a:r>
              <a:rPr lang="en-US" sz="1400" b="1" dirty="0"/>
              <a:t>1</a:t>
            </a:r>
            <a:r>
              <a:rPr lang="en-US" sz="1400" dirty="0"/>
              <a:t> node</a:t>
            </a:r>
          </a:p>
          <a:p>
            <a:endParaRPr lang="en-US" sz="1400" dirty="0"/>
          </a:p>
        </p:txBody>
      </p:sp>
      <p:sp>
        <p:nvSpPr>
          <p:cNvPr id="6" name="Slide Number Placeholder 5"/>
          <p:cNvSpPr>
            <a:spLocks noGrp="1"/>
          </p:cNvSpPr>
          <p:nvPr>
            <p:ph type="sldNum" sz="quarter" idx="12"/>
          </p:nvPr>
        </p:nvSpPr>
        <p:spPr/>
        <p:txBody>
          <a:bodyPr/>
          <a:lstStyle/>
          <a:p>
            <a:fld id="{BB2CE0DE-867F-455F-B20B-96D381B4AB71}" type="slidenum">
              <a:rPr lang="en-US" smtClean="0"/>
              <a:t>134</a:t>
            </a:fld>
            <a:endParaRPr lang="en-US"/>
          </a:p>
        </p:txBody>
      </p:sp>
      <p:grpSp>
        <p:nvGrpSpPr>
          <p:cNvPr id="52" name="Group 51"/>
          <p:cNvGrpSpPr/>
          <p:nvPr/>
        </p:nvGrpSpPr>
        <p:grpSpPr>
          <a:xfrm>
            <a:off x="4922612" y="2514600"/>
            <a:ext cx="3786503" cy="3659568"/>
            <a:chOff x="4922612" y="2514600"/>
            <a:chExt cx="3786503" cy="3659568"/>
          </a:xfrm>
        </p:grpSpPr>
        <p:sp>
          <p:nvSpPr>
            <p:cNvPr id="10" name="Oval 9"/>
            <p:cNvSpPr/>
            <p:nvPr/>
          </p:nvSpPr>
          <p:spPr bwMode="auto">
            <a:xfrm>
              <a:off x="4953000" y="3047113"/>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1</a:t>
              </a:r>
            </a:p>
          </p:txBody>
        </p:sp>
        <p:sp>
          <p:nvSpPr>
            <p:cNvPr id="11" name="Oval 10"/>
            <p:cNvSpPr/>
            <p:nvPr/>
          </p:nvSpPr>
          <p:spPr bwMode="auto">
            <a:xfrm>
              <a:off x="5029200" y="3745768"/>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2</a:t>
              </a:r>
            </a:p>
          </p:txBody>
        </p:sp>
        <p:sp>
          <p:nvSpPr>
            <p:cNvPr id="12" name="Oval 11"/>
            <p:cNvSpPr/>
            <p:nvPr/>
          </p:nvSpPr>
          <p:spPr bwMode="auto">
            <a:xfrm>
              <a:off x="6515101" y="2983768"/>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sz="1400" dirty="0">
                  <a:latin typeface="Verdana" pitchFamily="34" charset="0"/>
                </a:rPr>
                <a:t>h</a:t>
              </a:r>
              <a:r>
                <a:rPr kumimoji="0" lang="en-US" sz="1400" b="0" i="0" u="none" strike="noStrike" cap="none" normalizeH="0" baseline="0" dirty="0">
                  <a:ln>
                    <a:noFill/>
                  </a:ln>
                  <a:solidFill>
                    <a:schemeClr val="tx1"/>
                  </a:solidFill>
                  <a:effectLst/>
                  <a:latin typeface="Verdana" pitchFamily="34" charset="0"/>
                </a:rPr>
                <a:t>1</a:t>
              </a:r>
            </a:p>
          </p:txBody>
        </p:sp>
        <p:sp>
          <p:nvSpPr>
            <p:cNvPr id="13" name="Oval 12"/>
            <p:cNvSpPr/>
            <p:nvPr/>
          </p:nvSpPr>
          <p:spPr bwMode="auto">
            <a:xfrm>
              <a:off x="6515101" y="3898168"/>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h2</a:t>
              </a:r>
            </a:p>
          </p:txBody>
        </p:sp>
        <p:sp>
          <p:nvSpPr>
            <p:cNvPr id="14" name="Oval 13"/>
            <p:cNvSpPr/>
            <p:nvPr/>
          </p:nvSpPr>
          <p:spPr bwMode="auto">
            <a:xfrm>
              <a:off x="8001000" y="3314508"/>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y</a:t>
              </a:r>
            </a:p>
          </p:txBody>
        </p:sp>
        <p:cxnSp>
          <p:nvCxnSpPr>
            <p:cNvPr id="15" name="Straight Arrow Connector 14"/>
            <p:cNvCxnSpPr>
              <a:stCxn id="10" idx="6"/>
              <a:endCxn id="13" idx="2"/>
            </p:cNvCxnSpPr>
            <p:nvPr/>
          </p:nvCxnSpPr>
          <p:spPr bwMode="auto">
            <a:xfrm>
              <a:off x="5562600" y="3313813"/>
              <a:ext cx="952501" cy="851055"/>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16" name="Straight Arrow Connector 15"/>
            <p:cNvCxnSpPr>
              <a:stCxn id="10" idx="6"/>
              <a:endCxn id="12" idx="2"/>
            </p:cNvCxnSpPr>
            <p:nvPr/>
          </p:nvCxnSpPr>
          <p:spPr bwMode="auto">
            <a:xfrm flipV="1">
              <a:off x="5562600" y="3250468"/>
              <a:ext cx="952501" cy="63345"/>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17" name="Straight Arrow Connector 16"/>
            <p:cNvCxnSpPr>
              <a:stCxn id="11" idx="6"/>
            </p:cNvCxnSpPr>
            <p:nvPr/>
          </p:nvCxnSpPr>
          <p:spPr bwMode="auto">
            <a:xfrm flipV="1">
              <a:off x="5638800" y="3288568"/>
              <a:ext cx="850572" cy="723900"/>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18" name="Straight Arrow Connector 17"/>
            <p:cNvCxnSpPr>
              <a:endCxn id="13" idx="2"/>
            </p:cNvCxnSpPr>
            <p:nvPr/>
          </p:nvCxnSpPr>
          <p:spPr bwMode="auto">
            <a:xfrm>
              <a:off x="5627310" y="4018697"/>
              <a:ext cx="887791" cy="146171"/>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19" name="Straight Arrow Connector 18"/>
            <p:cNvCxnSpPr>
              <a:stCxn id="12" idx="6"/>
              <a:endCxn id="14" idx="2"/>
            </p:cNvCxnSpPr>
            <p:nvPr/>
          </p:nvCxnSpPr>
          <p:spPr bwMode="auto">
            <a:xfrm>
              <a:off x="7124701" y="3250468"/>
              <a:ext cx="876299" cy="330740"/>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20" name="Straight Arrow Connector 19"/>
            <p:cNvCxnSpPr>
              <a:stCxn id="13" idx="6"/>
              <a:endCxn id="14" idx="2"/>
            </p:cNvCxnSpPr>
            <p:nvPr/>
          </p:nvCxnSpPr>
          <p:spPr bwMode="auto">
            <a:xfrm flipV="1">
              <a:off x="7124701" y="3581208"/>
              <a:ext cx="876299" cy="583660"/>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21" name="Oval 20"/>
            <p:cNvSpPr/>
            <p:nvPr/>
          </p:nvSpPr>
          <p:spPr bwMode="auto">
            <a:xfrm>
              <a:off x="5029200" y="4495800"/>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lang="en-US" sz="1400" dirty="0">
                  <a:latin typeface="Verdana" pitchFamily="34" charset="0"/>
                </a:rPr>
                <a:t>….</a:t>
              </a:r>
              <a:endParaRPr kumimoji="0" lang="en-US" sz="1400" b="0" i="0" u="none" strike="noStrike" cap="none" normalizeH="0" baseline="0" dirty="0">
                <a:ln>
                  <a:noFill/>
                </a:ln>
                <a:solidFill>
                  <a:schemeClr val="tx1"/>
                </a:solidFill>
                <a:effectLst/>
                <a:latin typeface="Verdana" pitchFamily="34" charset="0"/>
              </a:endParaRPr>
            </a:p>
          </p:txBody>
        </p:sp>
        <p:sp>
          <p:nvSpPr>
            <p:cNvPr id="23" name="Oval 22"/>
            <p:cNvSpPr/>
            <p:nvPr/>
          </p:nvSpPr>
          <p:spPr bwMode="auto">
            <a:xfrm>
              <a:off x="5105581" y="5309109"/>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57</a:t>
              </a:r>
            </a:p>
          </p:txBody>
        </p:sp>
        <p:sp>
          <p:nvSpPr>
            <p:cNvPr id="24" name="Oval 23"/>
            <p:cNvSpPr/>
            <p:nvPr/>
          </p:nvSpPr>
          <p:spPr bwMode="auto">
            <a:xfrm>
              <a:off x="6515101" y="4867921"/>
              <a:ext cx="609600"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h3</a:t>
              </a:r>
            </a:p>
          </p:txBody>
        </p:sp>
        <p:sp>
          <p:nvSpPr>
            <p:cNvPr id="25" name="Oval 24"/>
            <p:cNvSpPr/>
            <p:nvPr/>
          </p:nvSpPr>
          <p:spPr bwMode="auto">
            <a:xfrm>
              <a:off x="6566460" y="5640768"/>
              <a:ext cx="609601" cy="53340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a:ln>
                    <a:noFill/>
                  </a:ln>
                  <a:solidFill>
                    <a:schemeClr val="tx1"/>
                  </a:solidFill>
                  <a:effectLst/>
                  <a:latin typeface="Verdana" pitchFamily="34" charset="0"/>
                </a:rPr>
                <a:t>h4</a:t>
              </a:r>
            </a:p>
          </p:txBody>
        </p:sp>
        <p:cxnSp>
          <p:nvCxnSpPr>
            <p:cNvPr id="26" name="Straight Arrow Connector 25"/>
            <p:cNvCxnSpPr>
              <a:stCxn id="11" idx="6"/>
            </p:cNvCxnSpPr>
            <p:nvPr/>
          </p:nvCxnSpPr>
          <p:spPr bwMode="auto">
            <a:xfrm>
              <a:off x="5638800" y="4012468"/>
              <a:ext cx="960007" cy="920629"/>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27" name="Straight Arrow Connector 26"/>
            <p:cNvCxnSpPr>
              <a:stCxn id="10" idx="6"/>
              <a:endCxn id="24" idx="1"/>
            </p:cNvCxnSpPr>
            <p:nvPr/>
          </p:nvCxnSpPr>
          <p:spPr bwMode="auto">
            <a:xfrm>
              <a:off x="5562600" y="3313813"/>
              <a:ext cx="1041775" cy="1632223"/>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28" name="Straight Arrow Connector 27"/>
            <p:cNvCxnSpPr>
              <a:stCxn id="21" idx="6"/>
            </p:cNvCxnSpPr>
            <p:nvPr/>
          </p:nvCxnSpPr>
          <p:spPr bwMode="auto">
            <a:xfrm flipV="1">
              <a:off x="5638800" y="3442085"/>
              <a:ext cx="850572" cy="1320415"/>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29" name="Straight Arrow Connector 28"/>
            <p:cNvCxnSpPr>
              <a:stCxn id="21" idx="6"/>
              <a:endCxn id="13" idx="2"/>
            </p:cNvCxnSpPr>
            <p:nvPr/>
          </p:nvCxnSpPr>
          <p:spPr bwMode="auto">
            <a:xfrm flipV="1">
              <a:off x="5638800" y="4164868"/>
              <a:ext cx="876301" cy="597632"/>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0" name="Straight Arrow Connector 29"/>
            <p:cNvCxnSpPr>
              <a:stCxn id="21" idx="6"/>
              <a:endCxn id="24" idx="2"/>
            </p:cNvCxnSpPr>
            <p:nvPr/>
          </p:nvCxnSpPr>
          <p:spPr bwMode="auto">
            <a:xfrm>
              <a:off x="5638800" y="4762500"/>
              <a:ext cx="876301" cy="372121"/>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1" name="Straight Arrow Connector 30"/>
            <p:cNvCxnSpPr/>
            <p:nvPr/>
          </p:nvCxnSpPr>
          <p:spPr bwMode="auto">
            <a:xfrm flipV="1">
              <a:off x="5562600" y="3295101"/>
              <a:ext cx="995303" cy="2028105"/>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2" name="Straight Arrow Connector 31"/>
            <p:cNvCxnSpPr>
              <a:stCxn id="23" idx="7"/>
            </p:cNvCxnSpPr>
            <p:nvPr/>
          </p:nvCxnSpPr>
          <p:spPr bwMode="auto">
            <a:xfrm flipV="1">
              <a:off x="5625907" y="4263623"/>
              <a:ext cx="1007684" cy="1123601"/>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3" name="Straight Arrow Connector 32"/>
            <p:cNvCxnSpPr>
              <a:stCxn id="23" idx="7"/>
              <a:endCxn id="24" idx="3"/>
            </p:cNvCxnSpPr>
            <p:nvPr/>
          </p:nvCxnSpPr>
          <p:spPr bwMode="auto">
            <a:xfrm flipV="1">
              <a:off x="5625907" y="5323206"/>
              <a:ext cx="978468" cy="64018"/>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7" name="Straight Arrow Connector 36"/>
            <p:cNvCxnSpPr>
              <a:stCxn id="24" idx="7"/>
              <a:endCxn id="14" idx="2"/>
            </p:cNvCxnSpPr>
            <p:nvPr/>
          </p:nvCxnSpPr>
          <p:spPr bwMode="auto">
            <a:xfrm flipV="1">
              <a:off x="7035427" y="3581208"/>
              <a:ext cx="965573" cy="1364828"/>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39" name="TextBox 38"/>
            <p:cNvSpPr txBox="1"/>
            <p:nvPr/>
          </p:nvSpPr>
          <p:spPr>
            <a:xfrm>
              <a:off x="6400800" y="2514600"/>
              <a:ext cx="877163" cy="523220"/>
            </a:xfrm>
            <a:prstGeom prst="rect">
              <a:avLst/>
            </a:prstGeom>
            <a:noFill/>
          </p:spPr>
          <p:txBody>
            <a:bodyPr wrap="none" rtlCol="0">
              <a:spAutoFit/>
            </a:bodyPr>
            <a:lstStyle/>
            <a:p>
              <a:r>
                <a:rPr lang="en-US" sz="1400" dirty="0"/>
                <a:t>Hidden </a:t>
              </a:r>
            </a:p>
            <a:p>
              <a:r>
                <a:rPr lang="en-US" sz="1400" dirty="0"/>
                <a:t>layer</a:t>
              </a:r>
            </a:p>
          </p:txBody>
        </p:sp>
        <p:sp>
          <p:nvSpPr>
            <p:cNvPr id="40" name="TextBox 39"/>
            <p:cNvSpPr txBox="1"/>
            <p:nvPr/>
          </p:nvSpPr>
          <p:spPr>
            <a:xfrm>
              <a:off x="7902484" y="2893224"/>
              <a:ext cx="806631" cy="307777"/>
            </a:xfrm>
            <a:prstGeom prst="rect">
              <a:avLst/>
            </a:prstGeom>
            <a:noFill/>
          </p:spPr>
          <p:txBody>
            <a:bodyPr wrap="none" rtlCol="0">
              <a:spAutoFit/>
            </a:bodyPr>
            <a:lstStyle/>
            <a:p>
              <a:r>
                <a:rPr lang="en-US" sz="1400" dirty="0"/>
                <a:t>Output</a:t>
              </a:r>
            </a:p>
          </p:txBody>
        </p:sp>
        <p:cxnSp>
          <p:nvCxnSpPr>
            <p:cNvPr id="43" name="Straight Arrow Connector 42"/>
            <p:cNvCxnSpPr>
              <a:stCxn id="23" idx="6"/>
              <a:endCxn id="25" idx="2"/>
            </p:cNvCxnSpPr>
            <p:nvPr/>
          </p:nvCxnSpPr>
          <p:spPr bwMode="auto">
            <a:xfrm>
              <a:off x="5715181" y="5575809"/>
              <a:ext cx="851279" cy="331659"/>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45" name="Straight Arrow Connector 44"/>
            <p:cNvCxnSpPr>
              <a:stCxn id="21" idx="6"/>
              <a:endCxn id="25" idx="2"/>
            </p:cNvCxnSpPr>
            <p:nvPr/>
          </p:nvCxnSpPr>
          <p:spPr bwMode="auto">
            <a:xfrm>
              <a:off x="5638800" y="4762500"/>
              <a:ext cx="927660" cy="1144968"/>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47" name="Straight Arrow Connector 46"/>
            <p:cNvCxnSpPr>
              <a:stCxn id="11" idx="6"/>
              <a:endCxn id="25" idx="2"/>
            </p:cNvCxnSpPr>
            <p:nvPr/>
          </p:nvCxnSpPr>
          <p:spPr bwMode="auto">
            <a:xfrm>
              <a:off x="5638800" y="4012468"/>
              <a:ext cx="927660" cy="1895000"/>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49" name="Straight Arrow Connector 48"/>
            <p:cNvCxnSpPr>
              <a:stCxn id="10" idx="6"/>
            </p:cNvCxnSpPr>
            <p:nvPr/>
          </p:nvCxnSpPr>
          <p:spPr bwMode="auto">
            <a:xfrm>
              <a:off x="5562600" y="3313813"/>
              <a:ext cx="1070991" cy="2528696"/>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51" name="Straight Arrow Connector 50"/>
            <p:cNvCxnSpPr>
              <a:stCxn id="25" idx="6"/>
              <a:endCxn id="14" idx="2"/>
            </p:cNvCxnSpPr>
            <p:nvPr/>
          </p:nvCxnSpPr>
          <p:spPr bwMode="auto">
            <a:xfrm flipV="1">
              <a:off x="7176061" y="3581208"/>
              <a:ext cx="824939" cy="2326260"/>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54" name="TextBox 53"/>
            <p:cNvSpPr txBox="1"/>
            <p:nvPr/>
          </p:nvSpPr>
          <p:spPr>
            <a:xfrm>
              <a:off x="4922612" y="2570058"/>
              <a:ext cx="670376" cy="523220"/>
            </a:xfrm>
            <a:prstGeom prst="rect">
              <a:avLst/>
            </a:prstGeom>
            <a:noFill/>
          </p:spPr>
          <p:txBody>
            <a:bodyPr wrap="none" rtlCol="0">
              <a:spAutoFit/>
            </a:bodyPr>
            <a:lstStyle/>
            <a:p>
              <a:r>
                <a:rPr lang="en-US" sz="1400" dirty="0"/>
                <a:t>Input</a:t>
              </a:r>
            </a:p>
            <a:p>
              <a:r>
                <a:rPr lang="en-US" sz="1400" dirty="0"/>
                <a:t>layer</a:t>
              </a:r>
            </a:p>
          </p:txBody>
        </p:sp>
      </p:gr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962275"/>
            <a:ext cx="4581525" cy="30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5954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Multilayer Neural Network for Email Spam Detection: Program</a:t>
            </a:r>
          </a:p>
        </p:txBody>
      </p:sp>
      <p:sp>
        <p:nvSpPr>
          <p:cNvPr id="3" name="Content Placeholder 2"/>
          <p:cNvSpPr>
            <a:spLocks noGrp="1"/>
          </p:cNvSpPr>
          <p:nvPr>
            <p:ph idx="1"/>
          </p:nvPr>
        </p:nvSpPr>
        <p:spPr/>
        <p:txBody>
          <a:bodyPr/>
          <a:lstStyle/>
          <a:p>
            <a:pPr marL="0" indent="0">
              <a:buNone/>
            </a:pPr>
            <a:r>
              <a:rPr lang="en-US" sz="1400" dirty="0"/>
              <a:t>from </a:t>
            </a:r>
            <a:r>
              <a:rPr lang="en-US" sz="1400" dirty="0" err="1"/>
              <a:t>sklearn</a:t>
            </a:r>
            <a:r>
              <a:rPr lang="en-US" sz="1400" dirty="0"/>
              <a:t> import preprocessing import </a:t>
            </a:r>
            <a:r>
              <a:rPr lang="en-US" sz="1400" dirty="0" err="1"/>
              <a:t>numpy</a:t>
            </a:r>
            <a:r>
              <a:rPr lang="en-US" sz="1400" dirty="0"/>
              <a:t> as np</a:t>
            </a:r>
            <a:br>
              <a:rPr lang="en-US" sz="1400" dirty="0"/>
            </a:br>
            <a:r>
              <a:rPr lang="en-US" sz="1400" dirty="0" err="1"/>
              <a:t>def</a:t>
            </a:r>
            <a:r>
              <a:rPr lang="en-US" sz="1400" dirty="0"/>
              <a:t> derivative(x): return x * (1.0 - x)</a:t>
            </a:r>
            <a:br>
              <a:rPr lang="en-US" sz="1400" dirty="0"/>
            </a:br>
            <a:r>
              <a:rPr lang="en-US" sz="1400" dirty="0" err="1"/>
              <a:t>def</a:t>
            </a:r>
            <a:r>
              <a:rPr lang="en-US" sz="1400" dirty="0"/>
              <a:t> sigmoid(x): return 1.0 / (1.0 + </a:t>
            </a:r>
            <a:r>
              <a:rPr lang="en-US" sz="1400" dirty="0" err="1"/>
              <a:t>np.exp</a:t>
            </a:r>
            <a:r>
              <a:rPr lang="en-US" sz="1400" dirty="0"/>
              <a:t>(-x))</a:t>
            </a:r>
            <a:br>
              <a:rPr lang="en-US" sz="1400" dirty="0"/>
            </a:br>
            <a:r>
              <a:rPr lang="en-US" sz="1400" dirty="0"/>
              <a:t>X = []  Y = []</a:t>
            </a:r>
            <a:br>
              <a:rPr lang="en-US" sz="1400" dirty="0"/>
            </a:br>
            <a:r>
              <a:rPr lang="en-US" sz="1200" dirty="0">
                <a:solidFill>
                  <a:schemeClr val="tx1"/>
                </a:solidFill>
              </a:rPr>
              <a:t># read the training data</a:t>
            </a:r>
            <a:br>
              <a:rPr lang="en-US" sz="1200" dirty="0">
                <a:solidFill>
                  <a:schemeClr val="tx1"/>
                </a:solidFill>
              </a:rPr>
            </a:br>
            <a:r>
              <a:rPr lang="en-US" sz="1400" dirty="0"/>
              <a:t>with open('Train.csv') as f:</a:t>
            </a:r>
            <a:br>
              <a:rPr lang="en-US" sz="1400" dirty="0"/>
            </a:br>
            <a:r>
              <a:rPr lang="en-US" sz="1400" dirty="0"/>
              <a:t>	for line in f:</a:t>
            </a:r>
            <a:br>
              <a:rPr lang="en-US" sz="1400" dirty="0"/>
            </a:br>
            <a:r>
              <a:rPr lang="en-US" sz="1400" dirty="0"/>
              <a:t>	</a:t>
            </a:r>
            <a:r>
              <a:rPr lang="en-US" sz="1400" dirty="0" err="1"/>
              <a:t>curr</a:t>
            </a:r>
            <a:r>
              <a:rPr lang="en-US" sz="1400" dirty="0"/>
              <a:t> = </a:t>
            </a:r>
            <a:r>
              <a:rPr lang="en-US" sz="1400" dirty="0" err="1"/>
              <a:t>line.split</a:t>
            </a:r>
            <a:r>
              <a:rPr lang="en-US" sz="1400" dirty="0"/>
              <a:t>(',')</a:t>
            </a:r>
            <a:br>
              <a:rPr lang="en-US" sz="1400" dirty="0"/>
            </a:br>
            <a:r>
              <a:rPr lang="en-US" sz="1400" dirty="0"/>
              <a:t>	</a:t>
            </a:r>
            <a:r>
              <a:rPr lang="en-US" sz="1400" dirty="0" err="1"/>
              <a:t>new_curr</a:t>
            </a:r>
            <a:r>
              <a:rPr lang="en-US" sz="1400" dirty="0"/>
              <a:t> = [1]</a:t>
            </a:r>
            <a:br>
              <a:rPr lang="en-US" sz="1400" dirty="0"/>
            </a:br>
            <a:r>
              <a:rPr lang="en-US" sz="1400" dirty="0"/>
              <a:t>	for item in </a:t>
            </a:r>
            <a:r>
              <a:rPr lang="en-US" sz="1400" dirty="0" err="1"/>
              <a:t>curr</a:t>
            </a:r>
            <a:r>
              <a:rPr lang="en-US" sz="1400" dirty="0"/>
              <a:t>[:</a:t>
            </a:r>
            <a:r>
              <a:rPr lang="en-US" sz="1400" dirty="0" err="1"/>
              <a:t>len</a:t>
            </a:r>
            <a:r>
              <a:rPr lang="en-US" sz="1400" dirty="0"/>
              <a:t>(</a:t>
            </a:r>
            <a:r>
              <a:rPr lang="en-US" sz="1400" dirty="0" err="1"/>
              <a:t>curr</a:t>
            </a:r>
            <a:r>
              <a:rPr lang="en-US" sz="1400" dirty="0"/>
              <a:t>) - 1]:</a:t>
            </a:r>
            <a:br>
              <a:rPr lang="en-US" sz="1400" dirty="0"/>
            </a:br>
            <a:r>
              <a:rPr lang="en-US" sz="1400" dirty="0"/>
              <a:t>		</a:t>
            </a:r>
            <a:r>
              <a:rPr lang="en-US" sz="1400" dirty="0" err="1"/>
              <a:t>new_curr.append</a:t>
            </a:r>
            <a:r>
              <a:rPr lang="en-US" sz="1400" dirty="0"/>
              <a:t>(float(item))</a:t>
            </a:r>
            <a:br>
              <a:rPr lang="en-US" sz="1400" dirty="0"/>
            </a:br>
            <a:r>
              <a:rPr lang="en-US" sz="1400" dirty="0"/>
              <a:t>	</a:t>
            </a:r>
            <a:r>
              <a:rPr lang="en-US" sz="1400" dirty="0" err="1"/>
              <a:t>X.append</a:t>
            </a:r>
            <a:r>
              <a:rPr lang="en-US" sz="1400" dirty="0"/>
              <a:t>(</a:t>
            </a:r>
            <a:r>
              <a:rPr lang="en-US" sz="1400" dirty="0" err="1"/>
              <a:t>new_curr</a:t>
            </a:r>
            <a:r>
              <a:rPr lang="en-US" sz="1400" dirty="0"/>
              <a:t>)</a:t>
            </a:r>
            <a:br>
              <a:rPr lang="en-US" sz="1400" dirty="0"/>
            </a:br>
            <a:r>
              <a:rPr lang="en-US" sz="1400" dirty="0"/>
              <a:t>	</a:t>
            </a:r>
            <a:r>
              <a:rPr lang="en-US" sz="1400" dirty="0" err="1"/>
              <a:t>Y.append</a:t>
            </a:r>
            <a:r>
              <a:rPr lang="en-US" sz="1400" dirty="0"/>
              <a:t>([float(</a:t>
            </a:r>
            <a:r>
              <a:rPr lang="en-US" sz="1400" dirty="0" err="1"/>
              <a:t>curr</a:t>
            </a:r>
            <a:r>
              <a:rPr lang="en-US" sz="1400" dirty="0"/>
              <a:t>[-1])])</a:t>
            </a:r>
            <a:br>
              <a:rPr lang="en-US" sz="1400" dirty="0"/>
            </a:br>
            <a:r>
              <a:rPr lang="en-US" sz="1400" dirty="0"/>
              <a:t>X = </a:t>
            </a:r>
            <a:r>
              <a:rPr lang="en-US" sz="1400" dirty="0" err="1"/>
              <a:t>np.array</a:t>
            </a:r>
            <a:r>
              <a:rPr lang="en-US" sz="1400" dirty="0"/>
              <a:t>(X)</a:t>
            </a:r>
            <a:br>
              <a:rPr lang="en-US" sz="1400" dirty="0"/>
            </a:br>
            <a:r>
              <a:rPr lang="en-US" sz="1400" dirty="0"/>
              <a:t>X = </a:t>
            </a:r>
            <a:r>
              <a:rPr lang="en-US" sz="1400" dirty="0" err="1"/>
              <a:t>preprocessing.scale</a:t>
            </a:r>
            <a:r>
              <a:rPr lang="en-US" sz="1400" dirty="0"/>
              <a:t>(X) # feature scaling</a:t>
            </a:r>
            <a:br>
              <a:rPr lang="en-US" sz="1400" dirty="0"/>
            </a:br>
            <a:r>
              <a:rPr lang="en-US" sz="1400" dirty="0"/>
              <a:t>Y = </a:t>
            </a:r>
            <a:r>
              <a:rPr lang="en-US" sz="1400" dirty="0" err="1"/>
              <a:t>np.array</a:t>
            </a:r>
            <a:r>
              <a:rPr lang="en-US" sz="1400" dirty="0"/>
              <a:t>(Y)</a:t>
            </a:r>
            <a:br>
              <a:rPr lang="en-US" sz="1400" dirty="0"/>
            </a:br>
            <a:r>
              <a:rPr lang="en-US" sz="1200" dirty="0">
                <a:solidFill>
                  <a:schemeClr val="tx1"/>
                </a:solidFill>
              </a:rPr>
              <a:t># the first 2500 out of 3000 emails will serve as training data</a:t>
            </a:r>
            <a:br>
              <a:rPr lang="en-US" sz="1200" dirty="0">
                <a:solidFill>
                  <a:schemeClr val="tx1"/>
                </a:solidFill>
              </a:rPr>
            </a:br>
            <a:r>
              <a:rPr lang="en-US" sz="1400" dirty="0" err="1"/>
              <a:t>X_train</a:t>
            </a:r>
            <a:r>
              <a:rPr lang="en-US" sz="1400" dirty="0"/>
              <a:t> = X[0:2500]</a:t>
            </a:r>
            <a:br>
              <a:rPr lang="en-US" sz="1400" dirty="0"/>
            </a:br>
            <a:r>
              <a:rPr lang="en-US" sz="1400" dirty="0" err="1"/>
              <a:t>Y_train</a:t>
            </a:r>
            <a:r>
              <a:rPr lang="en-US" sz="1400" dirty="0"/>
              <a:t> = Y[0:2500]</a:t>
            </a:r>
            <a:br>
              <a:rPr lang="en-US" sz="1400" dirty="0"/>
            </a:br>
            <a:r>
              <a:rPr lang="en-US" sz="1400" dirty="0"/>
              <a:t># the rest 500 emails will serve as testing data</a:t>
            </a:r>
            <a:br>
              <a:rPr lang="en-US" sz="1400" dirty="0"/>
            </a:br>
            <a:r>
              <a:rPr lang="en-US" sz="1400" dirty="0" err="1"/>
              <a:t>X_test</a:t>
            </a:r>
            <a:r>
              <a:rPr lang="en-US" sz="1400" dirty="0"/>
              <a:t> = X[2500:]</a:t>
            </a:r>
            <a:br>
              <a:rPr lang="en-US" sz="1400" dirty="0"/>
            </a:br>
            <a:r>
              <a:rPr lang="en-US" sz="1400" dirty="0" err="1"/>
              <a:t>y_test</a:t>
            </a:r>
            <a:r>
              <a:rPr lang="en-US" sz="1400" dirty="0"/>
              <a:t> = Y[2500:]</a:t>
            </a:r>
            <a:br>
              <a:rPr lang="en-US" sz="1400" dirty="0"/>
            </a:br>
            <a:r>
              <a:rPr lang="en-US" sz="1400" dirty="0"/>
              <a:t>X = </a:t>
            </a:r>
            <a:r>
              <a:rPr lang="en-US" sz="1400" dirty="0" err="1"/>
              <a:t>X_train</a:t>
            </a:r>
            <a:br>
              <a:rPr lang="en-US" sz="1400" dirty="0"/>
            </a:br>
            <a:r>
              <a:rPr lang="en-US" sz="1400" dirty="0"/>
              <a:t>y = </a:t>
            </a:r>
            <a:r>
              <a:rPr lang="en-US" sz="1400" dirty="0" err="1"/>
              <a:t>Y_train</a:t>
            </a:r>
            <a:endParaRPr lang="en-US" sz="1400" dirty="0"/>
          </a:p>
        </p:txBody>
      </p:sp>
      <p:sp>
        <p:nvSpPr>
          <p:cNvPr id="6" name="Slide Number Placeholder 5"/>
          <p:cNvSpPr>
            <a:spLocks noGrp="1"/>
          </p:cNvSpPr>
          <p:nvPr>
            <p:ph type="sldNum" sz="quarter" idx="12"/>
          </p:nvPr>
        </p:nvSpPr>
        <p:spPr/>
        <p:txBody>
          <a:bodyPr/>
          <a:lstStyle/>
          <a:p>
            <a:fld id="{BB2CE0DE-867F-455F-B20B-96D381B4AB71}" type="slidenum">
              <a:rPr lang="en-US" smtClean="0"/>
              <a:t>135</a:t>
            </a:fld>
            <a:endParaRPr lang="en-US"/>
          </a:p>
        </p:txBody>
      </p:sp>
    </p:spTree>
    <p:extLst>
      <p:ext uri="{BB962C8B-B14F-4D97-AF65-F5344CB8AC3E}">
        <p14:creationId xmlns:p14="http://schemas.microsoft.com/office/powerpoint/2010/main" val="148820200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Multilayer Neural Network for Email Spam Detection: Program</a:t>
            </a:r>
          </a:p>
        </p:txBody>
      </p:sp>
      <p:sp>
        <p:nvSpPr>
          <p:cNvPr id="3" name="Content Placeholder 2"/>
          <p:cNvSpPr>
            <a:spLocks noGrp="1"/>
          </p:cNvSpPr>
          <p:nvPr>
            <p:ph idx="1"/>
          </p:nvPr>
        </p:nvSpPr>
        <p:spPr/>
        <p:txBody>
          <a:bodyPr/>
          <a:lstStyle/>
          <a:p>
            <a:pPr marL="0" indent="0">
              <a:buNone/>
            </a:pPr>
            <a:r>
              <a:rPr lang="en-US" sz="1400" dirty="0">
                <a:solidFill>
                  <a:schemeClr val="tx1"/>
                </a:solidFill>
              </a:rPr>
              <a:t># we have 3 layers: input layer, hidden layer and output layer</a:t>
            </a:r>
            <a:br>
              <a:rPr lang="en-US" sz="1400" dirty="0">
                <a:solidFill>
                  <a:schemeClr val="tx1"/>
                </a:solidFill>
              </a:rPr>
            </a:br>
            <a:r>
              <a:rPr lang="en-US" sz="1400" dirty="0">
                <a:solidFill>
                  <a:schemeClr val="tx1"/>
                </a:solidFill>
              </a:rPr>
              <a:t># input layer has 57 nodes (1 for each feature)</a:t>
            </a:r>
            <a:br>
              <a:rPr lang="en-US" sz="1400" dirty="0">
                <a:solidFill>
                  <a:schemeClr val="tx1"/>
                </a:solidFill>
              </a:rPr>
            </a:br>
            <a:r>
              <a:rPr lang="en-US" sz="1400" dirty="0">
                <a:solidFill>
                  <a:schemeClr val="tx1"/>
                </a:solidFill>
              </a:rPr>
              <a:t># hidden layer has 4 nodes , output layer has 1 node</a:t>
            </a:r>
            <a:br>
              <a:rPr lang="en-US" sz="1400" dirty="0"/>
            </a:br>
            <a:r>
              <a:rPr lang="en-US" sz="1400" dirty="0"/>
              <a:t>dim1 = </a:t>
            </a:r>
            <a:r>
              <a:rPr lang="en-US" sz="1400" dirty="0" err="1"/>
              <a:t>len</a:t>
            </a:r>
            <a:r>
              <a:rPr lang="en-US" sz="1400" dirty="0"/>
              <a:t>(</a:t>
            </a:r>
            <a:r>
              <a:rPr lang="en-US" sz="1400" dirty="0" err="1"/>
              <a:t>X_train</a:t>
            </a:r>
            <a:r>
              <a:rPr lang="en-US" sz="1400" dirty="0"/>
              <a:t>[0])</a:t>
            </a:r>
            <a:br>
              <a:rPr lang="en-US" sz="1400" dirty="0"/>
            </a:br>
            <a:r>
              <a:rPr lang="en-US" sz="1400" dirty="0"/>
              <a:t>dim2 = 4</a:t>
            </a:r>
            <a:br>
              <a:rPr lang="en-US" sz="1400" dirty="0"/>
            </a:br>
            <a:r>
              <a:rPr lang="en-US" sz="1200" dirty="0">
                <a:solidFill>
                  <a:schemeClr val="tx1"/>
                </a:solidFill>
              </a:rPr>
              <a:t># randomly initialize the weight vectors</a:t>
            </a:r>
            <a:br>
              <a:rPr lang="en-US" sz="1400" dirty="0"/>
            </a:br>
            <a:r>
              <a:rPr lang="en-US" sz="1400" dirty="0" err="1"/>
              <a:t>np.random.seed</a:t>
            </a:r>
            <a:r>
              <a:rPr lang="en-US" sz="1400" dirty="0"/>
              <a:t>(1)</a:t>
            </a:r>
            <a:br>
              <a:rPr lang="en-US" sz="1400" dirty="0"/>
            </a:br>
            <a:r>
              <a:rPr lang="en-US" sz="1400" dirty="0"/>
              <a:t>weight0 = 2 * </a:t>
            </a:r>
            <a:r>
              <a:rPr lang="en-US" sz="1400" dirty="0" err="1"/>
              <a:t>np.random.random</a:t>
            </a:r>
            <a:r>
              <a:rPr lang="en-US" sz="1400" dirty="0"/>
              <a:t>((dim1, dim2)) - 1</a:t>
            </a:r>
            <a:br>
              <a:rPr lang="en-US" sz="1400" dirty="0"/>
            </a:br>
            <a:r>
              <a:rPr lang="en-US" sz="1400" dirty="0"/>
              <a:t>weight1 = 2 * </a:t>
            </a:r>
            <a:r>
              <a:rPr lang="en-US" sz="1400" dirty="0" err="1"/>
              <a:t>np.random.random</a:t>
            </a:r>
            <a:r>
              <a:rPr lang="en-US" sz="1400" dirty="0"/>
              <a:t>((dim2, 1)) - 1</a:t>
            </a:r>
            <a:br>
              <a:rPr lang="en-US" sz="1400" dirty="0"/>
            </a:br>
            <a:r>
              <a:rPr lang="en-US" sz="1200" dirty="0">
                <a:solidFill>
                  <a:schemeClr val="tx1"/>
                </a:solidFill>
              </a:rPr>
              <a:t># Number of iterations</a:t>
            </a:r>
            <a:br>
              <a:rPr lang="en-US" sz="1400" dirty="0"/>
            </a:br>
            <a:r>
              <a:rPr lang="en-US" sz="1400" dirty="0"/>
              <a:t>for j in range(5000):</a:t>
            </a:r>
            <a:br>
              <a:rPr lang="en-US" sz="1400" dirty="0"/>
            </a:br>
            <a:r>
              <a:rPr lang="en-US" sz="1400" dirty="0"/>
              <a:t>	</a:t>
            </a:r>
            <a:r>
              <a:rPr lang="en-US" sz="1400" dirty="0">
                <a:solidFill>
                  <a:schemeClr val="tx1"/>
                </a:solidFill>
              </a:rPr>
              <a:t># first evaluate the output for each training email</a:t>
            </a:r>
            <a:br>
              <a:rPr lang="en-US" sz="1600" dirty="0"/>
            </a:br>
            <a:r>
              <a:rPr lang="en-US" sz="1400" dirty="0"/>
              <a:t>	layer_0 = </a:t>
            </a:r>
            <a:r>
              <a:rPr lang="en-US" sz="1400" dirty="0" err="1"/>
              <a:t>X_train</a:t>
            </a:r>
            <a:br>
              <a:rPr lang="en-US" sz="1400" dirty="0"/>
            </a:br>
            <a:r>
              <a:rPr lang="en-US" sz="1400" dirty="0"/>
              <a:t>	layer_1 = sigmoid(np.dot(layer_0,weight0))</a:t>
            </a:r>
            <a:br>
              <a:rPr lang="en-US" sz="1400" dirty="0"/>
            </a:br>
            <a:r>
              <a:rPr lang="en-US" sz="1400" dirty="0"/>
              <a:t>	layer_2 = sigmoid(np.dot(layer_1,weight1))</a:t>
            </a:r>
            <a:br>
              <a:rPr lang="en-US" sz="1400" dirty="0"/>
            </a:br>
            <a:r>
              <a:rPr lang="en-US" sz="1400" dirty="0"/>
              <a:t>	# calculate the error</a:t>
            </a:r>
            <a:br>
              <a:rPr lang="en-US" sz="1400" dirty="0"/>
            </a:br>
            <a:r>
              <a:rPr lang="en-US" sz="1400" dirty="0"/>
              <a:t>	layer_2_error = </a:t>
            </a:r>
            <a:r>
              <a:rPr lang="en-US" sz="1400" dirty="0" err="1"/>
              <a:t>Y_train</a:t>
            </a:r>
            <a:r>
              <a:rPr lang="en-US" sz="1400" dirty="0"/>
              <a:t> - layer_2</a:t>
            </a:r>
            <a:br>
              <a:rPr lang="en-US" sz="1400" dirty="0"/>
            </a:br>
            <a:r>
              <a:rPr lang="en-US" sz="1400" dirty="0"/>
              <a:t>	</a:t>
            </a:r>
            <a:r>
              <a:rPr lang="en-US" sz="1400" dirty="0">
                <a:solidFill>
                  <a:schemeClr val="tx1"/>
                </a:solidFill>
              </a:rPr>
              <a:t># perform </a:t>
            </a:r>
            <a:r>
              <a:rPr lang="en-US" sz="1400" b="1" dirty="0">
                <a:solidFill>
                  <a:schemeClr val="tx1"/>
                </a:solidFill>
              </a:rPr>
              <a:t>back propagation</a:t>
            </a:r>
            <a:br>
              <a:rPr lang="en-US" sz="1400" b="1" dirty="0">
                <a:solidFill>
                  <a:schemeClr val="tx1"/>
                </a:solidFill>
              </a:rPr>
            </a:br>
            <a:r>
              <a:rPr lang="en-US" sz="1400" b="1" dirty="0">
                <a:solidFill>
                  <a:schemeClr val="tx1"/>
                </a:solidFill>
              </a:rPr>
              <a:t>	</a:t>
            </a:r>
            <a:r>
              <a:rPr lang="en-US" sz="1400" dirty="0"/>
              <a:t>layer_2_delta = layer_2_error * derivative(layer_2)</a:t>
            </a:r>
            <a:br>
              <a:rPr lang="en-US" sz="1400" dirty="0"/>
            </a:br>
            <a:r>
              <a:rPr lang="en-US" sz="1400" dirty="0"/>
              <a:t>	layer_1_error = layer_2_delta.dot(weight1.T)</a:t>
            </a:r>
            <a:br>
              <a:rPr lang="en-US" sz="1400" dirty="0"/>
            </a:br>
            <a:r>
              <a:rPr lang="en-US" sz="1400" dirty="0"/>
              <a:t>	layer_1_delta = layer_1_error * derivative(layer_1)</a:t>
            </a:r>
            <a:br>
              <a:rPr lang="en-US" sz="1400" dirty="0"/>
            </a:br>
            <a:r>
              <a:rPr lang="en-US" sz="1400" dirty="0"/>
              <a:t>	# update the weight vectors</a:t>
            </a:r>
            <a:br>
              <a:rPr lang="en-US" sz="1400" dirty="0"/>
            </a:br>
            <a:r>
              <a:rPr lang="en-US" sz="1400" dirty="0"/>
              <a:t>	weight1 += layer_1.T.dot(layer_2_delta)</a:t>
            </a:r>
            <a:br>
              <a:rPr lang="en-US" sz="1400" dirty="0"/>
            </a:br>
            <a:r>
              <a:rPr lang="en-US" sz="1400" dirty="0"/>
              <a:t>	weight0 += layer_0.T.dot(layer_1_delta)</a:t>
            </a:r>
          </a:p>
        </p:txBody>
      </p:sp>
      <p:sp>
        <p:nvSpPr>
          <p:cNvPr id="6" name="Slide Number Placeholder 5"/>
          <p:cNvSpPr>
            <a:spLocks noGrp="1"/>
          </p:cNvSpPr>
          <p:nvPr>
            <p:ph type="sldNum" sz="quarter" idx="12"/>
          </p:nvPr>
        </p:nvSpPr>
        <p:spPr/>
        <p:txBody>
          <a:bodyPr/>
          <a:lstStyle/>
          <a:p>
            <a:fld id="{BB2CE0DE-867F-455F-B20B-96D381B4AB71}" type="slidenum">
              <a:rPr lang="en-US" smtClean="0"/>
              <a:t>136</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6075" y="1371600"/>
            <a:ext cx="2447925" cy="2350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50918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Multilayer Neural Network for Email Spam Detection: Program</a:t>
            </a:r>
          </a:p>
        </p:txBody>
      </p:sp>
      <p:sp>
        <p:nvSpPr>
          <p:cNvPr id="3" name="Content Placeholder 2"/>
          <p:cNvSpPr>
            <a:spLocks noGrp="1"/>
          </p:cNvSpPr>
          <p:nvPr>
            <p:ph idx="1"/>
          </p:nvPr>
        </p:nvSpPr>
        <p:spPr/>
        <p:txBody>
          <a:bodyPr/>
          <a:lstStyle/>
          <a:p>
            <a:pPr marL="0" indent="0">
              <a:buNone/>
            </a:pPr>
            <a:r>
              <a:rPr lang="en-US" sz="1800" dirty="0">
                <a:solidFill>
                  <a:schemeClr val="tx1"/>
                </a:solidFill>
              </a:rPr>
              <a:t># evaluation on the testing data</a:t>
            </a:r>
            <a:br>
              <a:rPr lang="en-US" sz="1800" dirty="0"/>
            </a:br>
            <a:r>
              <a:rPr lang="en-US" sz="1400" dirty="0"/>
              <a:t>layer_0 = </a:t>
            </a:r>
            <a:r>
              <a:rPr lang="en-US" sz="1400" dirty="0" err="1"/>
              <a:t>X_test</a:t>
            </a:r>
            <a:br>
              <a:rPr lang="en-US" sz="1400" dirty="0"/>
            </a:br>
            <a:r>
              <a:rPr lang="en-US" sz="1400" dirty="0"/>
              <a:t>layer_1 = sigmoid(np.dot(layer_0,weight0))</a:t>
            </a:r>
            <a:br>
              <a:rPr lang="en-US" sz="1400" dirty="0"/>
            </a:br>
            <a:r>
              <a:rPr lang="en-US" sz="1400" dirty="0"/>
              <a:t>layer_2 = sigmoid(np.dot(layer_1,weight1))</a:t>
            </a:r>
            <a:br>
              <a:rPr lang="en-US" sz="1400" dirty="0"/>
            </a:br>
            <a:r>
              <a:rPr lang="en-US" sz="1400" dirty="0"/>
              <a:t>correct = 0</a:t>
            </a:r>
            <a:br>
              <a:rPr lang="en-US" sz="1400" dirty="0"/>
            </a:br>
            <a:r>
              <a:rPr lang="en-US" sz="1400" dirty="0"/>
              <a:t># if the output is &gt; 0.5, then label as spam else no spam</a:t>
            </a:r>
            <a:br>
              <a:rPr lang="en-US" sz="1400" dirty="0"/>
            </a:br>
            <a:r>
              <a:rPr lang="en-US" sz="1400" dirty="0"/>
              <a:t>print("layer_2",len(layer_2))</a:t>
            </a:r>
            <a:br>
              <a:rPr lang="en-US" sz="1400" dirty="0"/>
            </a:br>
            <a:r>
              <a:rPr lang="en-US" sz="1400" dirty="0"/>
              <a:t>for </a:t>
            </a:r>
            <a:r>
              <a:rPr lang="en-US" sz="1400" dirty="0" err="1"/>
              <a:t>i</a:t>
            </a:r>
            <a:r>
              <a:rPr lang="en-US" sz="1400" dirty="0"/>
              <a:t> in range(</a:t>
            </a:r>
            <a:r>
              <a:rPr lang="en-US" sz="1400" dirty="0" err="1"/>
              <a:t>len</a:t>
            </a:r>
            <a:r>
              <a:rPr lang="en-US" sz="1400" dirty="0"/>
              <a:t>(layer_2)):</a:t>
            </a:r>
            <a:br>
              <a:rPr lang="en-US" sz="1400" dirty="0"/>
            </a:br>
            <a:r>
              <a:rPr lang="en-US" sz="1400" dirty="0"/>
              <a:t>	if(layer_2[</a:t>
            </a:r>
            <a:r>
              <a:rPr lang="en-US" sz="1400" dirty="0" err="1"/>
              <a:t>i</a:t>
            </a:r>
            <a:r>
              <a:rPr lang="en-US" sz="1400" dirty="0"/>
              <a:t>][0] &gt; 0.5):</a:t>
            </a:r>
            <a:br>
              <a:rPr lang="en-US" sz="1400" dirty="0"/>
            </a:br>
            <a:r>
              <a:rPr lang="en-US" sz="1400" dirty="0"/>
              <a:t>		layer_2[</a:t>
            </a:r>
            <a:r>
              <a:rPr lang="en-US" sz="1400" dirty="0" err="1"/>
              <a:t>i</a:t>
            </a:r>
            <a:r>
              <a:rPr lang="en-US" sz="1400" dirty="0"/>
              <a:t>][0] = 1</a:t>
            </a:r>
            <a:br>
              <a:rPr lang="en-US" sz="1400" dirty="0"/>
            </a:br>
            <a:r>
              <a:rPr lang="en-US" sz="1400" dirty="0"/>
              <a:t>	else:</a:t>
            </a:r>
            <a:br>
              <a:rPr lang="en-US" sz="1400" dirty="0"/>
            </a:br>
            <a:r>
              <a:rPr lang="en-US" sz="1400" dirty="0"/>
              <a:t>		layer_2[</a:t>
            </a:r>
            <a:r>
              <a:rPr lang="en-US" sz="1400" dirty="0" err="1"/>
              <a:t>i</a:t>
            </a:r>
            <a:r>
              <a:rPr lang="en-US" sz="1400" dirty="0"/>
              <a:t>][0] = 0</a:t>
            </a:r>
            <a:br>
              <a:rPr lang="en-US" sz="1400" dirty="0"/>
            </a:br>
            <a:r>
              <a:rPr lang="en-US" sz="1400" dirty="0"/>
              <a:t>	if(layer_2[</a:t>
            </a:r>
            <a:r>
              <a:rPr lang="en-US" sz="1400" dirty="0" err="1"/>
              <a:t>i</a:t>
            </a:r>
            <a:r>
              <a:rPr lang="en-US" sz="1400" dirty="0"/>
              <a:t>][0] == </a:t>
            </a:r>
            <a:r>
              <a:rPr lang="en-US" sz="1400" dirty="0" err="1"/>
              <a:t>y_test</a:t>
            </a:r>
            <a:r>
              <a:rPr lang="en-US" sz="1400" dirty="0"/>
              <a:t>[</a:t>
            </a:r>
            <a:r>
              <a:rPr lang="en-US" sz="1400" dirty="0" err="1"/>
              <a:t>i</a:t>
            </a:r>
            <a:r>
              <a:rPr lang="en-US" sz="1400" dirty="0"/>
              <a:t>][0]):</a:t>
            </a:r>
            <a:br>
              <a:rPr lang="en-US" sz="1400" dirty="0"/>
            </a:br>
            <a:r>
              <a:rPr lang="en-US" sz="1400" dirty="0"/>
              <a:t>		correct += 1</a:t>
            </a:r>
            <a:br>
              <a:rPr lang="en-US" sz="1400" dirty="0"/>
            </a:br>
            <a:r>
              <a:rPr lang="en-US" sz="1400" dirty="0"/>
              <a:t># printing the output</a:t>
            </a:r>
            <a:br>
              <a:rPr lang="en-US" sz="1400" dirty="0"/>
            </a:br>
            <a:r>
              <a:rPr lang="en-US" sz="1400" dirty="0"/>
              <a:t>print("total = ", </a:t>
            </a:r>
            <a:r>
              <a:rPr lang="en-US" sz="1400" dirty="0" err="1"/>
              <a:t>len</a:t>
            </a:r>
            <a:r>
              <a:rPr lang="en-US" sz="1400" dirty="0"/>
              <a:t>(layer_2))</a:t>
            </a:r>
            <a:br>
              <a:rPr lang="en-US" sz="1400" dirty="0"/>
            </a:br>
            <a:r>
              <a:rPr lang="en-US" sz="1400" dirty="0"/>
              <a:t>print("correct = ", correct)</a:t>
            </a:r>
            <a:br>
              <a:rPr lang="en-US" sz="1400" dirty="0"/>
            </a:br>
            <a:r>
              <a:rPr lang="en-US" sz="1400" dirty="0"/>
              <a:t>print("accuracy = ", correct * 100.0 / </a:t>
            </a:r>
            <a:r>
              <a:rPr lang="en-US" sz="1400" dirty="0" err="1"/>
              <a:t>len</a:t>
            </a:r>
            <a:r>
              <a:rPr lang="en-US" sz="1400" dirty="0"/>
              <a:t>(layer_2))</a:t>
            </a:r>
          </a:p>
        </p:txBody>
      </p:sp>
      <p:sp>
        <p:nvSpPr>
          <p:cNvPr id="6" name="Slide Number Placeholder 5"/>
          <p:cNvSpPr>
            <a:spLocks noGrp="1"/>
          </p:cNvSpPr>
          <p:nvPr>
            <p:ph type="sldNum" sz="quarter" idx="12"/>
          </p:nvPr>
        </p:nvSpPr>
        <p:spPr/>
        <p:txBody>
          <a:bodyPr/>
          <a:lstStyle/>
          <a:p>
            <a:fld id="{BB2CE0DE-867F-455F-B20B-96D381B4AB71}" type="slidenum">
              <a:rPr lang="en-US" smtClean="0"/>
              <a:t>137</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0924" y="1219200"/>
            <a:ext cx="2447925" cy="2350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885573" y="4114800"/>
            <a:ext cx="2938625" cy="1477328"/>
          </a:xfrm>
          <a:prstGeom prst="rect">
            <a:avLst/>
          </a:prstGeom>
          <a:noFill/>
        </p:spPr>
        <p:txBody>
          <a:bodyPr wrap="none" rtlCol="0">
            <a:spAutoFit/>
          </a:bodyPr>
          <a:lstStyle/>
          <a:p>
            <a:r>
              <a:rPr lang="en-US" u="sng" dirty="0">
                <a:solidFill>
                  <a:srgbClr val="FF0000"/>
                </a:solidFill>
              </a:rPr>
              <a:t>Output</a:t>
            </a:r>
          </a:p>
          <a:p>
            <a:r>
              <a:rPr lang="en-US" dirty="0"/>
              <a:t>2500 iterations</a:t>
            </a:r>
            <a:br>
              <a:rPr lang="en-US" dirty="0"/>
            </a:br>
            <a:r>
              <a:rPr lang="en-US" dirty="0"/>
              <a:t>total test emails = 500 </a:t>
            </a:r>
          </a:p>
          <a:p>
            <a:r>
              <a:rPr lang="en-US" dirty="0"/>
              <a:t>correct = 437</a:t>
            </a:r>
          </a:p>
          <a:p>
            <a:r>
              <a:rPr lang="en-US" dirty="0"/>
              <a:t>accuracy = </a:t>
            </a:r>
            <a:r>
              <a:rPr lang="en-US" b="1" dirty="0"/>
              <a:t>87.4%</a:t>
            </a:r>
          </a:p>
        </p:txBody>
      </p:sp>
    </p:spTree>
    <p:extLst>
      <p:ext uri="{BB962C8B-B14F-4D97-AF65-F5344CB8AC3E}">
        <p14:creationId xmlns:p14="http://schemas.microsoft.com/office/powerpoint/2010/main" val="174390661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496E-4D5D-60DB-004C-7FF9FF89CBC7}"/>
              </a:ext>
            </a:extLst>
          </p:cNvPr>
          <p:cNvSpPr>
            <a:spLocks noGrp="1"/>
          </p:cNvSpPr>
          <p:nvPr>
            <p:ph type="title"/>
          </p:nvPr>
        </p:nvSpPr>
        <p:spPr/>
        <p:txBody>
          <a:bodyPr/>
          <a:lstStyle/>
          <a:p>
            <a:r>
              <a:rPr lang="en-IN" sz="2800" dirty="0"/>
              <a:t>Sigmoid vs </a:t>
            </a:r>
            <a:r>
              <a:rPr lang="en-IN" sz="2800" dirty="0" err="1"/>
              <a:t>Softmax</a:t>
            </a:r>
            <a:r>
              <a:rPr lang="en-IN" sz="2800" dirty="0"/>
              <a:t> Activation function</a:t>
            </a:r>
          </a:p>
        </p:txBody>
      </p:sp>
      <p:sp>
        <p:nvSpPr>
          <p:cNvPr id="3" name="Content Placeholder 2">
            <a:extLst>
              <a:ext uri="{FF2B5EF4-FFF2-40B4-BE49-F238E27FC236}">
                <a16:creationId xmlns:a16="http://schemas.microsoft.com/office/drawing/2014/main" id="{803F24FF-E36E-BBA9-8DCE-019C90D578FF}"/>
              </a:ext>
            </a:extLst>
          </p:cNvPr>
          <p:cNvSpPr>
            <a:spLocks noGrp="1"/>
          </p:cNvSpPr>
          <p:nvPr>
            <p:ph idx="1"/>
          </p:nvPr>
        </p:nvSpPr>
        <p:spPr/>
        <p:txBody>
          <a:bodyPr/>
          <a:lstStyle/>
          <a:p>
            <a:pPr marL="0" indent="0">
              <a:buNone/>
            </a:pPr>
            <a:r>
              <a:rPr lang="en-IN" sz="2000" dirty="0"/>
              <a:t>Sigmoid Function</a:t>
            </a:r>
          </a:p>
        </p:txBody>
      </p:sp>
      <p:sp>
        <p:nvSpPr>
          <p:cNvPr id="6" name="Slide Number Placeholder 5">
            <a:extLst>
              <a:ext uri="{FF2B5EF4-FFF2-40B4-BE49-F238E27FC236}">
                <a16:creationId xmlns:a16="http://schemas.microsoft.com/office/drawing/2014/main" id="{81BAA4A7-3AD5-5CE0-E1BE-238D52FB18E1}"/>
              </a:ext>
            </a:extLst>
          </p:cNvPr>
          <p:cNvSpPr>
            <a:spLocks noGrp="1"/>
          </p:cNvSpPr>
          <p:nvPr>
            <p:ph type="sldNum" sz="quarter" idx="12"/>
          </p:nvPr>
        </p:nvSpPr>
        <p:spPr/>
        <p:txBody>
          <a:bodyPr/>
          <a:lstStyle/>
          <a:p>
            <a:fld id="{BB2CE0DE-867F-455F-B20B-96D381B4AB71}" type="slidenum">
              <a:rPr lang="en-US" smtClean="0"/>
              <a:t>138</a:t>
            </a:fld>
            <a:endParaRPr lang="en-US"/>
          </a:p>
        </p:txBody>
      </p:sp>
      <p:pic>
        <p:nvPicPr>
          <p:cNvPr id="8" name="Picture 7">
            <a:extLst>
              <a:ext uri="{FF2B5EF4-FFF2-40B4-BE49-F238E27FC236}">
                <a16:creationId xmlns:a16="http://schemas.microsoft.com/office/drawing/2014/main" id="{2B3E0836-CC7C-C155-0A2F-3791AB96B561}"/>
              </a:ext>
            </a:extLst>
          </p:cNvPr>
          <p:cNvPicPr>
            <a:picLocks noChangeAspect="1"/>
          </p:cNvPicPr>
          <p:nvPr/>
        </p:nvPicPr>
        <p:blipFill>
          <a:blip r:embed="rId2"/>
          <a:stretch>
            <a:fillRect/>
          </a:stretch>
        </p:blipFill>
        <p:spPr>
          <a:xfrm>
            <a:off x="374355" y="1550761"/>
            <a:ext cx="8395289" cy="5181600"/>
          </a:xfrm>
          <a:prstGeom prst="rect">
            <a:avLst/>
          </a:prstGeom>
        </p:spPr>
      </p:pic>
    </p:spTree>
    <p:extLst>
      <p:ext uri="{BB962C8B-B14F-4D97-AF65-F5344CB8AC3E}">
        <p14:creationId xmlns:p14="http://schemas.microsoft.com/office/powerpoint/2010/main" val="33731142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F166E-F626-1B95-6EC3-C56CCC6918E1}"/>
              </a:ext>
            </a:extLst>
          </p:cNvPr>
          <p:cNvSpPr>
            <a:spLocks noGrp="1"/>
          </p:cNvSpPr>
          <p:nvPr>
            <p:ph type="title"/>
          </p:nvPr>
        </p:nvSpPr>
        <p:spPr/>
        <p:txBody>
          <a:bodyPr/>
          <a:lstStyle/>
          <a:p>
            <a:r>
              <a:rPr lang="en-IN" sz="2400" dirty="0"/>
              <a:t>Sigmoid vs </a:t>
            </a:r>
            <a:r>
              <a:rPr lang="en-IN" sz="2400" dirty="0" err="1"/>
              <a:t>Softmax</a:t>
            </a:r>
            <a:r>
              <a:rPr lang="en-IN" sz="2400" dirty="0"/>
              <a:t> Activation function</a:t>
            </a:r>
          </a:p>
        </p:txBody>
      </p:sp>
      <p:sp>
        <p:nvSpPr>
          <p:cNvPr id="3" name="Content Placeholder 2">
            <a:extLst>
              <a:ext uri="{FF2B5EF4-FFF2-40B4-BE49-F238E27FC236}">
                <a16:creationId xmlns:a16="http://schemas.microsoft.com/office/drawing/2014/main" id="{85BD979D-52EA-59B2-C4A4-48C935787A37}"/>
              </a:ext>
            </a:extLst>
          </p:cNvPr>
          <p:cNvSpPr>
            <a:spLocks noGrp="1"/>
          </p:cNvSpPr>
          <p:nvPr>
            <p:ph idx="1"/>
          </p:nvPr>
        </p:nvSpPr>
        <p:spPr/>
        <p:txBody>
          <a:bodyPr/>
          <a:lstStyle/>
          <a:p>
            <a:pPr marL="0" indent="0">
              <a:buNone/>
            </a:pPr>
            <a:r>
              <a:rPr lang="en-IN" sz="2400" dirty="0" err="1"/>
              <a:t>Softmax</a:t>
            </a:r>
            <a:r>
              <a:rPr lang="en-IN" sz="2400" dirty="0"/>
              <a:t> Function</a:t>
            </a:r>
          </a:p>
        </p:txBody>
      </p:sp>
      <p:sp>
        <p:nvSpPr>
          <p:cNvPr id="6" name="Slide Number Placeholder 5">
            <a:extLst>
              <a:ext uri="{FF2B5EF4-FFF2-40B4-BE49-F238E27FC236}">
                <a16:creationId xmlns:a16="http://schemas.microsoft.com/office/drawing/2014/main" id="{8BC0DD41-AF3C-4531-498D-27DF2B71876E}"/>
              </a:ext>
            </a:extLst>
          </p:cNvPr>
          <p:cNvSpPr>
            <a:spLocks noGrp="1"/>
          </p:cNvSpPr>
          <p:nvPr>
            <p:ph type="sldNum" sz="quarter" idx="12"/>
          </p:nvPr>
        </p:nvSpPr>
        <p:spPr/>
        <p:txBody>
          <a:bodyPr/>
          <a:lstStyle/>
          <a:p>
            <a:fld id="{BB2CE0DE-867F-455F-B20B-96D381B4AB71}" type="slidenum">
              <a:rPr lang="en-US" smtClean="0"/>
              <a:t>139</a:t>
            </a:fld>
            <a:endParaRPr lang="en-US"/>
          </a:p>
        </p:txBody>
      </p:sp>
      <p:pic>
        <p:nvPicPr>
          <p:cNvPr id="8" name="Picture 7">
            <a:extLst>
              <a:ext uri="{FF2B5EF4-FFF2-40B4-BE49-F238E27FC236}">
                <a16:creationId xmlns:a16="http://schemas.microsoft.com/office/drawing/2014/main" id="{D9D89F8A-D4C9-58C4-FDE3-D12DFF9CA0E3}"/>
              </a:ext>
            </a:extLst>
          </p:cNvPr>
          <p:cNvPicPr>
            <a:picLocks noChangeAspect="1"/>
          </p:cNvPicPr>
          <p:nvPr/>
        </p:nvPicPr>
        <p:blipFill>
          <a:blip r:embed="rId2"/>
          <a:stretch>
            <a:fillRect/>
          </a:stretch>
        </p:blipFill>
        <p:spPr>
          <a:xfrm>
            <a:off x="457200" y="1838102"/>
            <a:ext cx="8382000" cy="4410297"/>
          </a:xfrm>
          <a:prstGeom prst="rect">
            <a:avLst/>
          </a:prstGeom>
        </p:spPr>
      </p:pic>
    </p:spTree>
    <p:extLst>
      <p:ext uri="{BB962C8B-B14F-4D97-AF65-F5344CB8AC3E}">
        <p14:creationId xmlns:p14="http://schemas.microsoft.com/office/powerpoint/2010/main" val="97238181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DF5B-5ACB-12F3-4A14-816CB87B86B6}"/>
              </a:ext>
            </a:extLst>
          </p:cNvPr>
          <p:cNvSpPr>
            <a:spLocks noGrp="1"/>
          </p:cNvSpPr>
          <p:nvPr>
            <p:ph type="title"/>
          </p:nvPr>
        </p:nvSpPr>
        <p:spPr/>
        <p:txBody>
          <a:bodyPr/>
          <a:lstStyle/>
          <a:p>
            <a:r>
              <a:rPr lang="en-IN" sz="2800" dirty="0"/>
              <a:t>Sigmoid vs </a:t>
            </a:r>
            <a:r>
              <a:rPr lang="en-IN" sz="2800" dirty="0" err="1"/>
              <a:t>Softmax</a:t>
            </a:r>
            <a:r>
              <a:rPr lang="en-IN" sz="2800" dirty="0"/>
              <a:t> Activation function</a:t>
            </a:r>
          </a:p>
        </p:txBody>
      </p:sp>
      <p:sp>
        <p:nvSpPr>
          <p:cNvPr id="3" name="Content Placeholder 2">
            <a:extLst>
              <a:ext uri="{FF2B5EF4-FFF2-40B4-BE49-F238E27FC236}">
                <a16:creationId xmlns:a16="http://schemas.microsoft.com/office/drawing/2014/main" id="{EBED5DA6-73C0-480C-AA6F-74D2E96F41B8}"/>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EC9BB2D9-BA78-16D9-1D3E-2A32FE393F1B}"/>
              </a:ext>
            </a:extLst>
          </p:cNvPr>
          <p:cNvSpPr>
            <a:spLocks noGrp="1"/>
          </p:cNvSpPr>
          <p:nvPr>
            <p:ph type="sldNum" sz="quarter" idx="12"/>
          </p:nvPr>
        </p:nvSpPr>
        <p:spPr/>
        <p:txBody>
          <a:bodyPr/>
          <a:lstStyle/>
          <a:p>
            <a:fld id="{BB2CE0DE-867F-455F-B20B-96D381B4AB71}" type="slidenum">
              <a:rPr lang="en-US" smtClean="0"/>
              <a:t>140</a:t>
            </a:fld>
            <a:endParaRPr lang="en-US"/>
          </a:p>
        </p:txBody>
      </p:sp>
      <p:pic>
        <p:nvPicPr>
          <p:cNvPr id="8" name="Picture 7">
            <a:extLst>
              <a:ext uri="{FF2B5EF4-FFF2-40B4-BE49-F238E27FC236}">
                <a16:creationId xmlns:a16="http://schemas.microsoft.com/office/drawing/2014/main" id="{0FE10C00-60E6-6495-7249-75754CF63890}"/>
              </a:ext>
            </a:extLst>
          </p:cNvPr>
          <p:cNvPicPr>
            <a:picLocks noChangeAspect="1"/>
          </p:cNvPicPr>
          <p:nvPr/>
        </p:nvPicPr>
        <p:blipFill>
          <a:blip r:embed="rId2"/>
          <a:stretch>
            <a:fillRect/>
          </a:stretch>
        </p:blipFill>
        <p:spPr>
          <a:xfrm>
            <a:off x="282122" y="2718115"/>
            <a:ext cx="8241392" cy="3505200"/>
          </a:xfrm>
          <a:prstGeom prst="rect">
            <a:avLst/>
          </a:prstGeom>
        </p:spPr>
      </p:pic>
      <p:pic>
        <p:nvPicPr>
          <p:cNvPr id="10" name="Picture 9">
            <a:extLst>
              <a:ext uri="{FF2B5EF4-FFF2-40B4-BE49-F238E27FC236}">
                <a16:creationId xmlns:a16="http://schemas.microsoft.com/office/drawing/2014/main" id="{1617A860-1406-3825-B62B-8235F0DA962C}"/>
              </a:ext>
            </a:extLst>
          </p:cNvPr>
          <p:cNvPicPr>
            <a:picLocks noChangeAspect="1"/>
          </p:cNvPicPr>
          <p:nvPr/>
        </p:nvPicPr>
        <p:blipFill>
          <a:blip r:embed="rId3"/>
          <a:stretch>
            <a:fillRect/>
          </a:stretch>
        </p:blipFill>
        <p:spPr>
          <a:xfrm>
            <a:off x="762000" y="1374813"/>
            <a:ext cx="4114800" cy="1252903"/>
          </a:xfrm>
          <a:prstGeom prst="rect">
            <a:avLst/>
          </a:prstGeom>
        </p:spPr>
      </p:pic>
    </p:spTree>
    <p:extLst>
      <p:ext uri="{BB962C8B-B14F-4D97-AF65-F5344CB8AC3E}">
        <p14:creationId xmlns:p14="http://schemas.microsoft.com/office/powerpoint/2010/main" val="193880054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AABDE-438A-C8C3-3B4F-0E419BDB7D02}"/>
              </a:ext>
            </a:extLst>
          </p:cNvPr>
          <p:cNvSpPr>
            <a:spLocks noGrp="1"/>
          </p:cNvSpPr>
          <p:nvPr>
            <p:ph type="title"/>
          </p:nvPr>
        </p:nvSpPr>
        <p:spPr/>
        <p:txBody>
          <a:bodyPr/>
          <a:lstStyle/>
          <a:p>
            <a:r>
              <a:rPr lang="en-IN" sz="2400" dirty="0"/>
              <a:t>Sigmoid vs </a:t>
            </a:r>
            <a:r>
              <a:rPr lang="en-IN" sz="2400" dirty="0" err="1"/>
              <a:t>Softmax</a:t>
            </a:r>
            <a:r>
              <a:rPr lang="en-IN" sz="2400" dirty="0"/>
              <a:t> Activation function</a:t>
            </a:r>
          </a:p>
        </p:txBody>
      </p:sp>
      <p:sp>
        <p:nvSpPr>
          <p:cNvPr id="3" name="Content Placeholder 2">
            <a:extLst>
              <a:ext uri="{FF2B5EF4-FFF2-40B4-BE49-F238E27FC236}">
                <a16:creationId xmlns:a16="http://schemas.microsoft.com/office/drawing/2014/main" id="{D02C2AF8-DC3A-7D9B-1D0F-874CAE5DE6DD}"/>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60D63D37-7083-9D03-E1D5-4FD9056F9702}"/>
              </a:ext>
            </a:extLst>
          </p:cNvPr>
          <p:cNvSpPr>
            <a:spLocks noGrp="1"/>
          </p:cNvSpPr>
          <p:nvPr>
            <p:ph type="sldNum" sz="quarter" idx="12"/>
          </p:nvPr>
        </p:nvSpPr>
        <p:spPr/>
        <p:txBody>
          <a:bodyPr/>
          <a:lstStyle/>
          <a:p>
            <a:fld id="{BB2CE0DE-867F-455F-B20B-96D381B4AB71}" type="slidenum">
              <a:rPr lang="en-US" smtClean="0"/>
              <a:t>141</a:t>
            </a:fld>
            <a:endParaRPr lang="en-US"/>
          </a:p>
        </p:txBody>
      </p:sp>
      <p:pic>
        <p:nvPicPr>
          <p:cNvPr id="8" name="Picture 7">
            <a:extLst>
              <a:ext uri="{FF2B5EF4-FFF2-40B4-BE49-F238E27FC236}">
                <a16:creationId xmlns:a16="http://schemas.microsoft.com/office/drawing/2014/main" id="{6940B02F-9687-8D34-3780-171C5D2E40CB}"/>
              </a:ext>
            </a:extLst>
          </p:cNvPr>
          <p:cNvPicPr>
            <a:picLocks noChangeAspect="1"/>
          </p:cNvPicPr>
          <p:nvPr/>
        </p:nvPicPr>
        <p:blipFill>
          <a:blip r:embed="rId3"/>
          <a:stretch>
            <a:fillRect/>
          </a:stretch>
        </p:blipFill>
        <p:spPr>
          <a:xfrm>
            <a:off x="555852" y="1065212"/>
            <a:ext cx="7887801" cy="3639058"/>
          </a:xfrm>
          <a:prstGeom prst="rect">
            <a:avLst/>
          </a:prstGeom>
        </p:spPr>
      </p:pic>
      <p:sp>
        <p:nvSpPr>
          <p:cNvPr id="9" name="TextBox 8">
            <a:extLst>
              <a:ext uri="{FF2B5EF4-FFF2-40B4-BE49-F238E27FC236}">
                <a16:creationId xmlns:a16="http://schemas.microsoft.com/office/drawing/2014/main" id="{5E8B4F3C-0BEA-02D7-91A7-6FFE2B44568C}"/>
              </a:ext>
            </a:extLst>
          </p:cNvPr>
          <p:cNvSpPr txBox="1"/>
          <p:nvPr/>
        </p:nvSpPr>
        <p:spPr>
          <a:xfrm>
            <a:off x="427469" y="4892542"/>
            <a:ext cx="8295412" cy="900246"/>
          </a:xfrm>
          <a:prstGeom prst="rect">
            <a:avLst/>
          </a:prstGeom>
          <a:noFill/>
        </p:spPr>
        <p:txBody>
          <a:bodyPr wrap="none" rtlCol="0">
            <a:spAutoFit/>
          </a:bodyPr>
          <a:lstStyle/>
          <a:p>
            <a:pPr algn="l">
              <a:buFont typeface="Arial" panose="020B0604020202020204" pitchFamily="34" charset="0"/>
              <a:buChar char="•"/>
            </a:pPr>
            <a:r>
              <a:rPr lang="en-US" sz="1600" b="1" i="0" dirty="0">
                <a:solidFill>
                  <a:srgbClr val="404040"/>
                </a:solidFill>
                <a:effectLst/>
                <a:latin typeface="Inter"/>
              </a:rPr>
              <a:t>Sigmoid</a:t>
            </a:r>
            <a:r>
              <a:rPr lang="en-US" sz="1600" b="0" i="0" dirty="0">
                <a:solidFill>
                  <a:srgbClr val="404040"/>
                </a:solidFill>
                <a:effectLst/>
                <a:latin typeface="Inter"/>
              </a:rPr>
              <a:t>: Used for binary classification. Maps a single logit to a probability.</a:t>
            </a:r>
          </a:p>
          <a:p>
            <a:pPr algn="l">
              <a:spcBef>
                <a:spcPts val="300"/>
              </a:spcBef>
              <a:buFont typeface="Arial" panose="020B0604020202020204" pitchFamily="34" charset="0"/>
              <a:buChar char="•"/>
            </a:pPr>
            <a:r>
              <a:rPr lang="en-US" sz="1600" b="1" i="0" dirty="0" err="1">
                <a:solidFill>
                  <a:srgbClr val="404040"/>
                </a:solidFill>
                <a:effectLst/>
                <a:latin typeface="Inter"/>
              </a:rPr>
              <a:t>Softmax</a:t>
            </a:r>
            <a:r>
              <a:rPr lang="en-US" sz="1600" b="0" i="0" dirty="0">
                <a:solidFill>
                  <a:srgbClr val="404040"/>
                </a:solidFill>
                <a:effectLst/>
                <a:latin typeface="Inter"/>
              </a:rPr>
              <a:t>: Used for multi-class classification. Maps a vector of logits to probabilities for all classes.</a:t>
            </a:r>
          </a:p>
          <a:p>
            <a:endParaRPr lang="en-IN" sz="1600" dirty="0"/>
          </a:p>
        </p:txBody>
      </p:sp>
    </p:spTree>
    <p:extLst>
      <p:ext uri="{BB962C8B-B14F-4D97-AF65-F5344CB8AC3E}">
        <p14:creationId xmlns:p14="http://schemas.microsoft.com/office/powerpoint/2010/main" val="23285059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9223-396D-4FBA-9961-3A56705A0DE3}"/>
              </a:ext>
            </a:extLst>
          </p:cNvPr>
          <p:cNvSpPr>
            <a:spLocks noGrp="1"/>
          </p:cNvSpPr>
          <p:nvPr>
            <p:ph type="title"/>
          </p:nvPr>
        </p:nvSpPr>
        <p:spPr/>
        <p:txBody>
          <a:bodyPr/>
          <a:lstStyle/>
          <a:p>
            <a:r>
              <a:rPr lang="en-IN" sz="2400" dirty="0"/>
              <a:t>What is the Adam optimization algorithm?</a:t>
            </a:r>
          </a:p>
        </p:txBody>
      </p:sp>
      <p:sp>
        <p:nvSpPr>
          <p:cNvPr id="3" name="Content Placeholder 2">
            <a:extLst>
              <a:ext uri="{FF2B5EF4-FFF2-40B4-BE49-F238E27FC236}">
                <a16:creationId xmlns:a16="http://schemas.microsoft.com/office/drawing/2014/main" id="{6BB8138C-16A2-4ED3-BD47-FFE64A40B0F5}"/>
              </a:ext>
            </a:extLst>
          </p:cNvPr>
          <p:cNvSpPr>
            <a:spLocks noGrp="1"/>
          </p:cNvSpPr>
          <p:nvPr>
            <p:ph idx="1"/>
          </p:nvPr>
        </p:nvSpPr>
        <p:spPr/>
        <p:txBody>
          <a:bodyPr/>
          <a:lstStyle/>
          <a:p>
            <a:pPr algn="just"/>
            <a:r>
              <a:rPr lang="en-IN" sz="2400" dirty="0"/>
              <a:t>Adam is an optimization algorithm that can be used instead of the classical stochastic gradient descent procedure to update network weights iterative based in training data.</a:t>
            </a:r>
          </a:p>
          <a:p>
            <a:endParaRPr lang="en-IN" dirty="0"/>
          </a:p>
        </p:txBody>
      </p:sp>
      <p:sp>
        <p:nvSpPr>
          <p:cNvPr id="6" name="Slide Number Placeholder 5">
            <a:extLst>
              <a:ext uri="{FF2B5EF4-FFF2-40B4-BE49-F238E27FC236}">
                <a16:creationId xmlns:a16="http://schemas.microsoft.com/office/drawing/2014/main" id="{88950312-45D3-4591-AFE1-E2BAFCC9FDF8}"/>
              </a:ext>
            </a:extLst>
          </p:cNvPr>
          <p:cNvSpPr>
            <a:spLocks noGrp="1"/>
          </p:cNvSpPr>
          <p:nvPr>
            <p:ph type="sldNum" sz="quarter" idx="12"/>
          </p:nvPr>
        </p:nvSpPr>
        <p:spPr/>
        <p:txBody>
          <a:bodyPr/>
          <a:lstStyle/>
          <a:p>
            <a:fld id="{BB2CE0DE-867F-455F-B20B-96D381B4AB71}" type="slidenum">
              <a:rPr lang="en-US" smtClean="0"/>
              <a:t>142</a:t>
            </a:fld>
            <a:endParaRPr lang="en-US"/>
          </a:p>
        </p:txBody>
      </p:sp>
    </p:spTree>
    <p:extLst>
      <p:ext uri="{BB962C8B-B14F-4D97-AF65-F5344CB8AC3E}">
        <p14:creationId xmlns:p14="http://schemas.microsoft.com/office/powerpoint/2010/main" val="271847259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8D8A-EE13-45CD-8AEA-C2D9EDBB571B}"/>
              </a:ext>
            </a:extLst>
          </p:cNvPr>
          <p:cNvSpPr>
            <a:spLocks noGrp="1"/>
          </p:cNvSpPr>
          <p:nvPr>
            <p:ph type="title"/>
          </p:nvPr>
        </p:nvSpPr>
        <p:spPr/>
        <p:txBody>
          <a:bodyPr/>
          <a:lstStyle/>
          <a:p>
            <a:r>
              <a:rPr lang="en-IN" dirty="0"/>
              <a:t>What is One-Hot Encoding?</a:t>
            </a:r>
          </a:p>
        </p:txBody>
      </p:sp>
      <p:sp>
        <p:nvSpPr>
          <p:cNvPr id="3" name="Content Placeholder 2">
            <a:extLst>
              <a:ext uri="{FF2B5EF4-FFF2-40B4-BE49-F238E27FC236}">
                <a16:creationId xmlns:a16="http://schemas.microsoft.com/office/drawing/2014/main" id="{5B99F83D-065C-4052-9017-C986D319B791}"/>
              </a:ext>
            </a:extLst>
          </p:cNvPr>
          <p:cNvSpPr>
            <a:spLocks noGrp="1"/>
          </p:cNvSpPr>
          <p:nvPr>
            <p:ph idx="1"/>
          </p:nvPr>
        </p:nvSpPr>
        <p:spPr/>
        <p:txBody>
          <a:bodyPr/>
          <a:lstStyle/>
          <a:p>
            <a:r>
              <a:rPr lang="en-US" b="0" i="0" dirty="0">
                <a:solidFill>
                  <a:srgbClr val="404040"/>
                </a:solidFill>
                <a:effectLst/>
                <a:latin typeface="Inter"/>
              </a:rPr>
              <a:t>To handle categorical data</a:t>
            </a:r>
          </a:p>
          <a:p>
            <a:r>
              <a:rPr lang="en-US" b="0" i="0" dirty="0">
                <a:solidFill>
                  <a:srgbClr val="404040"/>
                </a:solidFill>
                <a:effectLst/>
                <a:latin typeface="Inter"/>
              </a:rPr>
              <a:t>Creates binary columns for each category.</a:t>
            </a:r>
          </a:p>
          <a:p>
            <a:endParaRPr lang="en-IN" dirty="0"/>
          </a:p>
        </p:txBody>
      </p:sp>
      <p:sp>
        <p:nvSpPr>
          <p:cNvPr id="6" name="Slide Number Placeholder 5">
            <a:extLst>
              <a:ext uri="{FF2B5EF4-FFF2-40B4-BE49-F238E27FC236}">
                <a16:creationId xmlns:a16="http://schemas.microsoft.com/office/drawing/2014/main" id="{01FB7166-074C-432E-A179-9FFFDCCD6446}"/>
              </a:ext>
            </a:extLst>
          </p:cNvPr>
          <p:cNvSpPr>
            <a:spLocks noGrp="1"/>
          </p:cNvSpPr>
          <p:nvPr>
            <p:ph type="sldNum" sz="quarter" idx="12"/>
          </p:nvPr>
        </p:nvSpPr>
        <p:spPr/>
        <p:txBody>
          <a:bodyPr/>
          <a:lstStyle/>
          <a:p>
            <a:fld id="{BB2CE0DE-867F-455F-B20B-96D381B4AB71}" type="slidenum">
              <a:rPr lang="en-US" smtClean="0"/>
              <a:t>143</a:t>
            </a:fld>
            <a:endParaRPr lang="en-US"/>
          </a:p>
        </p:txBody>
      </p:sp>
      <p:pic>
        <p:nvPicPr>
          <p:cNvPr id="7" name="Picture 6">
            <a:extLst>
              <a:ext uri="{FF2B5EF4-FFF2-40B4-BE49-F238E27FC236}">
                <a16:creationId xmlns:a16="http://schemas.microsoft.com/office/drawing/2014/main" id="{CA245B68-83B4-4F68-8937-A60DBA253BDB}"/>
              </a:ext>
            </a:extLst>
          </p:cNvPr>
          <p:cNvPicPr>
            <a:picLocks noChangeAspect="1"/>
          </p:cNvPicPr>
          <p:nvPr/>
        </p:nvPicPr>
        <p:blipFill>
          <a:blip r:embed="rId2"/>
          <a:stretch>
            <a:fillRect/>
          </a:stretch>
        </p:blipFill>
        <p:spPr>
          <a:xfrm>
            <a:off x="993463" y="2667000"/>
            <a:ext cx="4261473" cy="1743607"/>
          </a:xfrm>
          <a:prstGeom prst="rect">
            <a:avLst/>
          </a:prstGeom>
        </p:spPr>
      </p:pic>
    </p:spTree>
    <p:extLst>
      <p:ext uri="{BB962C8B-B14F-4D97-AF65-F5344CB8AC3E}">
        <p14:creationId xmlns:p14="http://schemas.microsoft.com/office/powerpoint/2010/main" val="161284468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07DE-C31C-4D91-923E-EB71219F45BA}"/>
              </a:ext>
            </a:extLst>
          </p:cNvPr>
          <p:cNvSpPr>
            <a:spLocks noGrp="1"/>
          </p:cNvSpPr>
          <p:nvPr>
            <p:ph type="title"/>
          </p:nvPr>
        </p:nvSpPr>
        <p:spPr/>
        <p:txBody>
          <a:bodyPr/>
          <a:lstStyle/>
          <a:p>
            <a:r>
              <a:rPr lang="en-IN" dirty="0"/>
              <a:t>Categorical Cross-Entropy Loss</a:t>
            </a:r>
          </a:p>
        </p:txBody>
      </p:sp>
      <p:sp>
        <p:nvSpPr>
          <p:cNvPr id="3" name="Content Placeholder 2">
            <a:extLst>
              <a:ext uri="{FF2B5EF4-FFF2-40B4-BE49-F238E27FC236}">
                <a16:creationId xmlns:a16="http://schemas.microsoft.com/office/drawing/2014/main" id="{4C72B1DB-EC24-40CB-A21D-BAF0610D919E}"/>
              </a:ext>
            </a:extLst>
          </p:cNvPr>
          <p:cNvSpPr>
            <a:spLocks noGrp="1"/>
          </p:cNvSpPr>
          <p:nvPr>
            <p:ph idx="1"/>
          </p:nvPr>
        </p:nvSpPr>
        <p:spPr/>
        <p:txBody>
          <a:bodyPr/>
          <a:lstStyle/>
          <a:p>
            <a:pPr marL="0" indent="0" algn="just">
              <a:buNone/>
            </a:pPr>
            <a:r>
              <a:rPr lang="en-US" sz="2000" b="0" i="0" dirty="0">
                <a:solidFill>
                  <a:srgbClr val="404040"/>
                </a:solidFill>
                <a:effectLst/>
                <a:latin typeface="DeepSeek-CJK-patch"/>
              </a:rPr>
              <a:t>This loss function is used for </a:t>
            </a:r>
            <a:r>
              <a:rPr lang="en-US" sz="2000" b="1" i="0" dirty="0">
                <a:solidFill>
                  <a:srgbClr val="404040"/>
                </a:solidFill>
                <a:effectLst/>
                <a:latin typeface="DeepSeek-CJK-patch"/>
              </a:rPr>
              <a:t>multi-class classification</a:t>
            </a:r>
            <a:r>
              <a:rPr lang="en-US" sz="2000" b="0" i="0" dirty="0">
                <a:solidFill>
                  <a:srgbClr val="404040"/>
                </a:solidFill>
                <a:effectLst/>
                <a:latin typeface="DeepSeek-CJK-patch"/>
              </a:rPr>
              <a:t> (e.g., MNIST digits 0-9). It measures the difference between predicted probabilities and true labels.</a:t>
            </a:r>
            <a:endParaRPr lang="en-IN" sz="2000" dirty="0"/>
          </a:p>
        </p:txBody>
      </p:sp>
      <p:sp>
        <p:nvSpPr>
          <p:cNvPr id="6" name="Slide Number Placeholder 5">
            <a:extLst>
              <a:ext uri="{FF2B5EF4-FFF2-40B4-BE49-F238E27FC236}">
                <a16:creationId xmlns:a16="http://schemas.microsoft.com/office/drawing/2014/main" id="{2528ACC9-D2F8-4E24-BE0B-06D90D37E7CE}"/>
              </a:ext>
            </a:extLst>
          </p:cNvPr>
          <p:cNvSpPr>
            <a:spLocks noGrp="1"/>
          </p:cNvSpPr>
          <p:nvPr>
            <p:ph type="sldNum" sz="quarter" idx="12"/>
          </p:nvPr>
        </p:nvSpPr>
        <p:spPr/>
        <p:txBody>
          <a:bodyPr/>
          <a:lstStyle/>
          <a:p>
            <a:fld id="{BB2CE0DE-867F-455F-B20B-96D381B4AB71}" type="slidenum">
              <a:rPr lang="en-US" smtClean="0"/>
              <a:t>144</a:t>
            </a:fld>
            <a:endParaRPr lang="en-US"/>
          </a:p>
        </p:txBody>
      </p:sp>
      <p:pic>
        <p:nvPicPr>
          <p:cNvPr id="8" name="Picture 7">
            <a:extLst>
              <a:ext uri="{FF2B5EF4-FFF2-40B4-BE49-F238E27FC236}">
                <a16:creationId xmlns:a16="http://schemas.microsoft.com/office/drawing/2014/main" id="{329B511B-F85E-4F11-9AE0-A1BD3ECD6FC7}"/>
              </a:ext>
            </a:extLst>
          </p:cNvPr>
          <p:cNvPicPr>
            <a:picLocks noChangeAspect="1"/>
          </p:cNvPicPr>
          <p:nvPr/>
        </p:nvPicPr>
        <p:blipFill rotWithShape="1">
          <a:blip r:embed="rId2"/>
          <a:srcRect b="27907"/>
          <a:stretch/>
        </p:blipFill>
        <p:spPr>
          <a:xfrm>
            <a:off x="1600200" y="2133600"/>
            <a:ext cx="5430008" cy="2939406"/>
          </a:xfrm>
          <a:prstGeom prst="rect">
            <a:avLst/>
          </a:prstGeom>
        </p:spPr>
      </p:pic>
    </p:spTree>
    <p:extLst>
      <p:ext uri="{BB962C8B-B14F-4D97-AF65-F5344CB8AC3E}">
        <p14:creationId xmlns:p14="http://schemas.microsoft.com/office/powerpoint/2010/main" val="41330656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07DE-C31C-4D91-923E-EB71219F45BA}"/>
              </a:ext>
            </a:extLst>
          </p:cNvPr>
          <p:cNvSpPr>
            <a:spLocks noGrp="1"/>
          </p:cNvSpPr>
          <p:nvPr>
            <p:ph type="title"/>
          </p:nvPr>
        </p:nvSpPr>
        <p:spPr/>
        <p:txBody>
          <a:bodyPr/>
          <a:lstStyle/>
          <a:p>
            <a:r>
              <a:rPr lang="en-IN" dirty="0"/>
              <a:t>Categorical Cross-Entropy Loss</a:t>
            </a:r>
          </a:p>
        </p:txBody>
      </p:sp>
      <p:sp>
        <p:nvSpPr>
          <p:cNvPr id="3" name="Content Placeholder 2">
            <a:extLst>
              <a:ext uri="{FF2B5EF4-FFF2-40B4-BE49-F238E27FC236}">
                <a16:creationId xmlns:a16="http://schemas.microsoft.com/office/drawing/2014/main" id="{4C72B1DB-EC24-40CB-A21D-BAF0610D919E}"/>
              </a:ext>
            </a:extLst>
          </p:cNvPr>
          <p:cNvSpPr>
            <a:spLocks noGrp="1"/>
          </p:cNvSpPr>
          <p:nvPr>
            <p:ph idx="1"/>
          </p:nvPr>
        </p:nvSpPr>
        <p:spPr/>
        <p:txBody>
          <a:bodyPr/>
          <a:lstStyle/>
          <a:p>
            <a:pPr marL="0" indent="0" algn="just">
              <a:buNone/>
            </a:pPr>
            <a:r>
              <a:rPr lang="en-US" sz="1800" b="0" i="0" dirty="0">
                <a:solidFill>
                  <a:srgbClr val="404040"/>
                </a:solidFill>
                <a:effectLst/>
                <a:latin typeface="DeepSeek-CJK-patch"/>
              </a:rPr>
              <a:t>This loss function is used for </a:t>
            </a:r>
            <a:r>
              <a:rPr lang="en-US" sz="1800" b="1" i="0" dirty="0">
                <a:solidFill>
                  <a:srgbClr val="404040"/>
                </a:solidFill>
                <a:effectLst/>
                <a:latin typeface="DeepSeek-CJK-patch"/>
              </a:rPr>
              <a:t>multi-class classification</a:t>
            </a:r>
            <a:r>
              <a:rPr lang="en-US" sz="1800" b="0" i="0" dirty="0">
                <a:solidFill>
                  <a:srgbClr val="404040"/>
                </a:solidFill>
                <a:effectLst/>
                <a:latin typeface="DeepSeek-CJK-patch"/>
              </a:rPr>
              <a:t> (e.g., MNIST digits 0-9). It measures the difference between predicted probabilities and true labels.</a:t>
            </a:r>
            <a:endParaRPr lang="en-IN" sz="1800" dirty="0"/>
          </a:p>
        </p:txBody>
      </p:sp>
      <p:sp>
        <p:nvSpPr>
          <p:cNvPr id="6" name="Slide Number Placeholder 5">
            <a:extLst>
              <a:ext uri="{FF2B5EF4-FFF2-40B4-BE49-F238E27FC236}">
                <a16:creationId xmlns:a16="http://schemas.microsoft.com/office/drawing/2014/main" id="{2528ACC9-D2F8-4E24-BE0B-06D90D37E7CE}"/>
              </a:ext>
            </a:extLst>
          </p:cNvPr>
          <p:cNvSpPr>
            <a:spLocks noGrp="1"/>
          </p:cNvSpPr>
          <p:nvPr>
            <p:ph type="sldNum" sz="quarter" idx="12"/>
          </p:nvPr>
        </p:nvSpPr>
        <p:spPr/>
        <p:txBody>
          <a:bodyPr/>
          <a:lstStyle/>
          <a:p>
            <a:fld id="{BB2CE0DE-867F-455F-B20B-96D381B4AB71}" type="slidenum">
              <a:rPr lang="en-US" smtClean="0"/>
              <a:t>145</a:t>
            </a:fld>
            <a:endParaRPr lang="en-US"/>
          </a:p>
        </p:txBody>
      </p:sp>
      <p:pic>
        <p:nvPicPr>
          <p:cNvPr id="9" name="Picture 8">
            <a:extLst>
              <a:ext uri="{FF2B5EF4-FFF2-40B4-BE49-F238E27FC236}">
                <a16:creationId xmlns:a16="http://schemas.microsoft.com/office/drawing/2014/main" id="{31368EDE-57BB-4D8C-AD2E-A9592D85221A}"/>
              </a:ext>
            </a:extLst>
          </p:cNvPr>
          <p:cNvPicPr>
            <a:picLocks noChangeAspect="1"/>
          </p:cNvPicPr>
          <p:nvPr/>
        </p:nvPicPr>
        <p:blipFill>
          <a:blip r:embed="rId2"/>
          <a:stretch>
            <a:fillRect/>
          </a:stretch>
        </p:blipFill>
        <p:spPr>
          <a:xfrm>
            <a:off x="3276600" y="1828800"/>
            <a:ext cx="1752600" cy="776925"/>
          </a:xfrm>
          <a:prstGeom prst="rect">
            <a:avLst/>
          </a:prstGeom>
        </p:spPr>
      </p:pic>
      <p:pic>
        <p:nvPicPr>
          <p:cNvPr id="11" name="Picture 10">
            <a:extLst>
              <a:ext uri="{FF2B5EF4-FFF2-40B4-BE49-F238E27FC236}">
                <a16:creationId xmlns:a16="http://schemas.microsoft.com/office/drawing/2014/main" id="{30E0D575-DFD1-424C-A13C-7668AE94ECE2}"/>
              </a:ext>
            </a:extLst>
          </p:cNvPr>
          <p:cNvPicPr>
            <a:picLocks noChangeAspect="1"/>
          </p:cNvPicPr>
          <p:nvPr/>
        </p:nvPicPr>
        <p:blipFill>
          <a:blip r:embed="rId3"/>
          <a:stretch>
            <a:fillRect/>
          </a:stretch>
        </p:blipFill>
        <p:spPr>
          <a:xfrm>
            <a:off x="1635303" y="2758125"/>
            <a:ext cx="5562600" cy="2559923"/>
          </a:xfrm>
          <a:prstGeom prst="rect">
            <a:avLst/>
          </a:prstGeom>
        </p:spPr>
      </p:pic>
      <p:sp>
        <p:nvSpPr>
          <p:cNvPr id="12" name="TextBox 11">
            <a:extLst>
              <a:ext uri="{FF2B5EF4-FFF2-40B4-BE49-F238E27FC236}">
                <a16:creationId xmlns:a16="http://schemas.microsoft.com/office/drawing/2014/main" id="{49D00ABE-7853-4689-83D5-E642A400FC8A}"/>
              </a:ext>
            </a:extLst>
          </p:cNvPr>
          <p:cNvSpPr txBox="1"/>
          <p:nvPr/>
        </p:nvSpPr>
        <p:spPr>
          <a:xfrm>
            <a:off x="685800" y="5585142"/>
            <a:ext cx="6661824" cy="738664"/>
          </a:xfrm>
          <a:prstGeom prst="rect">
            <a:avLst/>
          </a:prstGeom>
          <a:noFill/>
        </p:spPr>
        <p:txBody>
          <a:bodyPr wrap="none" rtlCol="0">
            <a:spAutoFit/>
          </a:bodyPr>
          <a:lstStyle/>
          <a:p>
            <a:pPr algn="l"/>
            <a:r>
              <a:rPr lang="en-US" sz="1400" b="1" i="0" dirty="0">
                <a:solidFill>
                  <a:srgbClr val="404040"/>
                </a:solidFill>
                <a:effectLst/>
                <a:latin typeface="DeepSeek-CJK-patch"/>
              </a:rPr>
              <a:t>Why Use Categorical Cross-Entropy?</a:t>
            </a:r>
            <a:endParaRPr lang="en-US" sz="1400" b="0" i="0" dirty="0">
              <a:solidFill>
                <a:srgbClr val="404040"/>
              </a:solidFill>
              <a:effectLst/>
              <a:latin typeface="DeepSeek-CJK-patch"/>
            </a:endParaRPr>
          </a:p>
          <a:p>
            <a:pPr algn="l">
              <a:buFont typeface="Arial" panose="020B0604020202020204" pitchFamily="34" charset="0"/>
              <a:buChar char="•"/>
            </a:pPr>
            <a:r>
              <a:rPr lang="en-US" sz="1400" b="0" i="0" dirty="0">
                <a:solidFill>
                  <a:srgbClr val="404040"/>
                </a:solidFill>
                <a:effectLst/>
                <a:latin typeface="DeepSeek-CJK-patch"/>
              </a:rPr>
              <a:t> Penalizes incorrect classifications </a:t>
            </a:r>
            <a:r>
              <a:rPr lang="en-US" sz="1400" b="1" i="0" dirty="0">
                <a:solidFill>
                  <a:srgbClr val="404040"/>
                </a:solidFill>
                <a:effectLst/>
                <a:latin typeface="DeepSeek-CJK-patch"/>
              </a:rPr>
              <a:t>more heavily</a:t>
            </a:r>
            <a:r>
              <a:rPr lang="en-US" sz="1400" b="0" i="0" dirty="0">
                <a:solidFill>
                  <a:srgbClr val="404040"/>
                </a:solidFill>
                <a:effectLst/>
                <a:latin typeface="DeepSeek-CJK-patch"/>
              </a:rPr>
              <a:t> when the model is confident but wrong.</a:t>
            </a:r>
          </a:p>
          <a:p>
            <a:pPr algn="l">
              <a:buFont typeface="Arial" panose="020B0604020202020204" pitchFamily="34" charset="0"/>
              <a:buChar char="•"/>
            </a:pPr>
            <a:r>
              <a:rPr lang="en-US" sz="1400" b="0" i="0" dirty="0">
                <a:solidFill>
                  <a:srgbClr val="404040"/>
                </a:solidFill>
                <a:effectLst/>
                <a:latin typeface="DeepSeek-CJK-patch"/>
              </a:rPr>
              <a:t> Works well with </a:t>
            </a:r>
            <a:r>
              <a:rPr lang="en-US" sz="1400" b="1" i="0" dirty="0" err="1">
                <a:solidFill>
                  <a:srgbClr val="404040"/>
                </a:solidFill>
                <a:effectLst/>
                <a:latin typeface="DeepSeek-CJK-patch"/>
              </a:rPr>
              <a:t>softmax</a:t>
            </a:r>
            <a:r>
              <a:rPr lang="en-US" sz="1400" b="1" i="0" dirty="0">
                <a:solidFill>
                  <a:srgbClr val="404040"/>
                </a:solidFill>
                <a:effectLst/>
                <a:latin typeface="DeepSeek-CJK-patch"/>
              </a:rPr>
              <a:t> activation</a:t>
            </a:r>
            <a:r>
              <a:rPr lang="en-US" sz="1400" b="0" i="0" dirty="0">
                <a:solidFill>
                  <a:srgbClr val="404040"/>
                </a:solidFill>
                <a:effectLst/>
                <a:latin typeface="DeepSeek-CJK-patch"/>
              </a:rPr>
              <a:t> (which converts logits to probabilities).</a:t>
            </a:r>
            <a:endParaRPr lang="en-IN" sz="1400" dirty="0"/>
          </a:p>
        </p:txBody>
      </p:sp>
    </p:spTree>
    <p:extLst>
      <p:ext uri="{BB962C8B-B14F-4D97-AF65-F5344CB8AC3E}">
        <p14:creationId xmlns:p14="http://schemas.microsoft.com/office/powerpoint/2010/main" val="250411688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MNIST Dataset Introduction</a:t>
            </a:r>
          </a:p>
        </p:txBody>
      </p:sp>
      <p:sp>
        <p:nvSpPr>
          <p:cNvPr id="3" name="Content Placeholder 2"/>
          <p:cNvSpPr>
            <a:spLocks noGrp="1"/>
          </p:cNvSpPr>
          <p:nvPr>
            <p:ph idx="1"/>
          </p:nvPr>
        </p:nvSpPr>
        <p:spPr/>
        <p:txBody>
          <a:bodyPr/>
          <a:lstStyle/>
          <a:p>
            <a:r>
              <a:rPr lang="en-US" sz="1600" dirty="0"/>
              <a:t>The digits have been size-normalized and centered in a fixed-size image (28x28 pixels) with values from 0 to 1. For simplicity, each image has been flatten and converted to a 1-D </a:t>
            </a:r>
            <a:r>
              <a:rPr lang="en-US" sz="1600" dirty="0" err="1"/>
              <a:t>numpy</a:t>
            </a:r>
            <a:r>
              <a:rPr lang="en-US" sz="1600" dirty="0"/>
              <a:t> array of 784 features (28*28).</a:t>
            </a:r>
          </a:p>
        </p:txBody>
      </p:sp>
      <p:sp>
        <p:nvSpPr>
          <p:cNvPr id="6" name="Slide Number Placeholder 5"/>
          <p:cNvSpPr>
            <a:spLocks noGrp="1"/>
          </p:cNvSpPr>
          <p:nvPr>
            <p:ph type="sldNum" sz="quarter" idx="12"/>
          </p:nvPr>
        </p:nvSpPr>
        <p:spPr/>
        <p:txBody>
          <a:bodyPr/>
          <a:lstStyle/>
          <a:p>
            <a:fld id="{BB2CE0DE-867F-455F-B20B-96D381B4AB71}" type="slidenum">
              <a:rPr lang="en-US" smtClean="0"/>
              <a:t>146</a:t>
            </a:fld>
            <a:endParaRPr lang="en-US"/>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95524"/>
            <a:ext cx="4648200" cy="37185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012147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r>
              <a:rPr lang="en-US" sz="2400" dirty="0"/>
              <a:t>One layer Neural Network to Classify handwritten digits</a:t>
            </a:r>
            <a:endParaRPr lang="en-US" altLang="en-US" sz="2400" dirty="0"/>
          </a:p>
        </p:txBody>
      </p:sp>
      <p:sp>
        <p:nvSpPr>
          <p:cNvPr id="3" name="Slide Number Placeholder 2"/>
          <p:cNvSpPr>
            <a:spLocks noGrp="1"/>
          </p:cNvSpPr>
          <p:nvPr>
            <p:ph type="sldNum" sz="quarter" idx="12"/>
          </p:nvPr>
        </p:nvSpPr>
        <p:spPr/>
        <p:txBody>
          <a:bodyPr/>
          <a:lstStyle/>
          <a:p>
            <a:fld id="{5DCC653A-8BE1-4A16-A754-27859D86C4A9}" type="slidenum">
              <a:rPr lang="en-US" smtClean="0"/>
              <a:t>147</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8" name="Subtitle 2"/>
          <p:cNvSpPr>
            <a:spLocks noGrp="1"/>
          </p:cNvSpPr>
          <p:nvPr>
            <p:ph type="subTitle" idx="1"/>
          </p:nvPr>
        </p:nvSpPr>
        <p:spPr>
          <a:xfrm>
            <a:off x="1447800" y="3429000"/>
            <a:ext cx="7010400" cy="1600200"/>
          </a:xfrm>
        </p:spPr>
        <p:txBody>
          <a:bodyPr/>
          <a:lstStyle/>
          <a:p>
            <a:endParaRPr lang="en-US" sz="2400" dirty="0"/>
          </a:p>
        </p:txBody>
      </p:sp>
      <p:pic>
        <p:nvPicPr>
          <p:cNvPr id="3076" name="Picture 4" descr="https://codelabs.developers.google.com/codelabs/cloud-tensorflow-mnist/img/d5222c6e3d15770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048000"/>
            <a:ext cx="5903982" cy="3186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237189"/>
      </p:ext>
    </p:extLst>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4E184-D323-476C-900C-248CA55AE739}"/>
              </a:ext>
            </a:extLst>
          </p:cNvPr>
          <p:cNvSpPr>
            <a:spLocks noGrp="1"/>
          </p:cNvSpPr>
          <p:nvPr>
            <p:ph type="title"/>
          </p:nvPr>
        </p:nvSpPr>
        <p:spPr/>
        <p:txBody>
          <a:bodyPr/>
          <a:lstStyle/>
          <a:p>
            <a:r>
              <a:rPr lang="en-US" dirty="0"/>
              <a:t>We will Understand the concepts</a:t>
            </a:r>
            <a:endParaRPr lang="en-IN" dirty="0"/>
          </a:p>
        </p:txBody>
      </p:sp>
      <p:sp>
        <p:nvSpPr>
          <p:cNvPr id="3" name="Content Placeholder 2">
            <a:extLst>
              <a:ext uri="{FF2B5EF4-FFF2-40B4-BE49-F238E27FC236}">
                <a16:creationId xmlns:a16="http://schemas.microsoft.com/office/drawing/2014/main" id="{D202D877-6D98-4EEC-B9D8-2CD9F8F0CBF6}"/>
              </a:ext>
            </a:extLst>
          </p:cNvPr>
          <p:cNvSpPr>
            <a:spLocks noGrp="1"/>
          </p:cNvSpPr>
          <p:nvPr>
            <p:ph idx="1"/>
          </p:nvPr>
        </p:nvSpPr>
        <p:spPr/>
        <p:txBody>
          <a:bodyPr/>
          <a:lstStyle/>
          <a:p>
            <a:pPr marL="0" indent="0">
              <a:buNone/>
            </a:pPr>
            <a:r>
              <a:rPr lang="en-US" sz="1800" dirty="0"/>
              <a:t>W.r.t Machine Learning</a:t>
            </a:r>
          </a:p>
          <a:p>
            <a:pPr marL="0" indent="0">
              <a:buNone/>
            </a:pPr>
            <a:r>
              <a:rPr lang="en-US" sz="1800" dirty="0"/>
              <a:t>Bias </a:t>
            </a:r>
          </a:p>
          <a:p>
            <a:pPr marL="0" indent="0">
              <a:buNone/>
            </a:pPr>
            <a:r>
              <a:rPr lang="en-US" sz="1800" dirty="0"/>
              <a:t>Variance</a:t>
            </a:r>
          </a:p>
          <a:p>
            <a:pPr marL="0" indent="0">
              <a:buNone/>
            </a:pPr>
            <a:r>
              <a:rPr lang="en-US" sz="1800" dirty="0"/>
              <a:t>Overfit</a:t>
            </a:r>
          </a:p>
          <a:p>
            <a:pPr marL="0" indent="0">
              <a:buNone/>
            </a:pPr>
            <a:r>
              <a:rPr lang="en-US" sz="1800" dirty="0"/>
              <a:t>Underfit</a:t>
            </a:r>
            <a:endParaRPr lang="en-IN" sz="1800" dirty="0"/>
          </a:p>
        </p:txBody>
      </p:sp>
      <p:sp>
        <p:nvSpPr>
          <p:cNvPr id="6" name="Slide Number Placeholder 5">
            <a:extLst>
              <a:ext uri="{FF2B5EF4-FFF2-40B4-BE49-F238E27FC236}">
                <a16:creationId xmlns:a16="http://schemas.microsoft.com/office/drawing/2014/main" id="{9F892471-E702-446F-89CD-498348E1825B}"/>
              </a:ext>
            </a:extLst>
          </p:cNvPr>
          <p:cNvSpPr>
            <a:spLocks noGrp="1"/>
          </p:cNvSpPr>
          <p:nvPr>
            <p:ph type="sldNum" sz="quarter" idx="12"/>
          </p:nvPr>
        </p:nvSpPr>
        <p:spPr/>
        <p:txBody>
          <a:bodyPr/>
          <a:lstStyle/>
          <a:p>
            <a:fld id="{BB2CE0DE-867F-455F-B20B-96D381B4AB71}" type="slidenum">
              <a:rPr lang="en-US" smtClean="0"/>
              <a:t>148</a:t>
            </a:fld>
            <a:endParaRPr lang="en-US"/>
          </a:p>
        </p:txBody>
      </p:sp>
    </p:spTree>
    <p:extLst>
      <p:ext uri="{BB962C8B-B14F-4D97-AF65-F5344CB8AC3E}">
        <p14:creationId xmlns:p14="http://schemas.microsoft.com/office/powerpoint/2010/main" val="301723921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5BE8-3965-4AE5-914D-5E319B4D85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C37192-17E2-4A4F-8909-5B06E3131DC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03CC1532-54BB-478D-BFAC-0554091120CE}"/>
              </a:ext>
            </a:extLst>
          </p:cNvPr>
          <p:cNvSpPr>
            <a:spLocks noGrp="1"/>
          </p:cNvSpPr>
          <p:nvPr>
            <p:ph type="sldNum" sz="quarter" idx="12"/>
          </p:nvPr>
        </p:nvSpPr>
        <p:spPr/>
        <p:txBody>
          <a:bodyPr/>
          <a:lstStyle/>
          <a:p>
            <a:fld id="{BB2CE0DE-867F-455F-B20B-96D381B4AB71}" type="slidenum">
              <a:rPr lang="en-US" smtClean="0"/>
              <a:t>149</a:t>
            </a:fld>
            <a:endParaRPr lang="en-US"/>
          </a:p>
        </p:txBody>
      </p:sp>
      <p:pic>
        <p:nvPicPr>
          <p:cNvPr id="7" name="Picture 6">
            <a:extLst>
              <a:ext uri="{FF2B5EF4-FFF2-40B4-BE49-F238E27FC236}">
                <a16:creationId xmlns:a16="http://schemas.microsoft.com/office/drawing/2014/main" id="{2755FAC2-F29D-4D36-8525-A452FB8DCC8B}"/>
              </a:ext>
            </a:extLst>
          </p:cNvPr>
          <p:cNvPicPr>
            <a:picLocks noChangeAspect="1"/>
          </p:cNvPicPr>
          <p:nvPr/>
        </p:nvPicPr>
        <p:blipFill rotWithShape="1">
          <a:blip r:embed="rId2"/>
          <a:srcRect b="15085"/>
          <a:stretch/>
        </p:blipFill>
        <p:spPr>
          <a:xfrm>
            <a:off x="762000" y="1219200"/>
            <a:ext cx="7239000" cy="3124200"/>
          </a:xfrm>
          <a:prstGeom prst="rect">
            <a:avLst/>
          </a:prstGeom>
        </p:spPr>
      </p:pic>
      <p:sp>
        <p:nvSpPr>
          <p:cNvPr id="8" name="TextBox 7">
            <a:extLst>
              <a:ext uri="{FF2B5EF4-FFF2-40B4-BE49-F238E27FC236}">
                <a16:creationId xmlns:a16="http://schemas.microsoft.com/office/drawing/2014/main" id="{0FCBEA9E-01F4-401F-B104-BA9CBDB995D4}"/>
              </a:ext>
            </a:extLst>
          </p:cNvPr>
          <p:cNvSpPr txBox="1"/>
          <p:nvPr/>
        </p:nvSpPr>
        <p:spPr>
          <a:xfrm>
            <a:off x="537003" y="6322368"/>
            <a:ext cx="3905236" cy="230832"/>
          </a:xfrm>
          <a:prstGeom prst="rect">
            <a:avLst/>
          </a:prstGeom>
          <a:noFill/>
        </p:spPr>
        <p:txBody>
          <a:bodyPr wrap="none" rtlCol="0">
            <a:spAutoFit/>
          </a:bodyPr>
          <a:lstStyle/>
          <a:p>
            <a:r>
              <a:rPr lang="en-US" sz="900" dirty="0"/>
              <a:t>Reference: https://www.youtube.com/watch?v=B01qMFMAgUQ</a:t>
            </a:r>
            <a:endParaRPr lang="en-IN" sz="900" dirty="0"/>
          </a:p>
        </p:txBody>
      </p:sp>
    </p:spTree>
    <p:extLst>
      <p:ext uri="{BB962C8B-B14F-4D97-AF65-F5344CB8AC3E}">
        <p14:creationId xmlns:p14="http://schemas.microsoft.com/office/powerpoint/2010/main" val="2139517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05BE8-3965-4AE5-914D-5E319B4D85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C37192-17E2-4A4F-8909-5B06E3131DC3}"/>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03CC1532-54BB-478D-BFAC-0554091120CE}"/>
              </a:ext>
            </a:extLst>
          </p:cNvPr>
          <p:cNvSpPr>
            <a:spLocks noGrp="1"/>
          </p:cNvSpPr>
          <p:nvPr>
            <p:ph type="sldNum" sz="quarter" idx="12"/>
          </p:nvPr>
        </p:nvSpPr>
        <p:spPr/>
        <p:txBody>
          <a:bodyPr/>
          <a:lstStyle/>
          <a:p>
            <a:fld id="{BB2CE0DE-867F-455F-B20B-96D381B4AB71}" type="slidenum">
              <a:rPr lang="en-US" smtClean="0"/>
              <a:t>150</a:t>
            </a:fld>
            <a:endParaRPr lang="en-US"/>
          </a:p>
        </p:txBody>
      </p:sp>
      <p:pic>
        <p:nvPicPr>
          <p:cNvPr id="7" name="Picture 6">
            <a:extLst>
              <a:ext uri="{FF2B5EF4-FFF2-40B4-BE49-F238E27FC236}">
                <a16:creationId xmlns:a16="http://schemas.microsoft.com/office/drawing/2014/main" id="{2755FAC2-F29D-4D36-8525-A452FB8DCC8B}"/>
              </a:ext>
            </a:extLst>
          </p:cNvPr>
          <p:cNvPicPr>
            <a:picLocks noChangeAspect="1"/>
          </p:cNvPicPr>
          <p:nvPr/>
        </p:nvPicPr>
        <p:blipFill>
          <a:blip r:embed="rId2"/>
          <a:stretch>
            <a:fillRect/>
          </a:stretch>
        </p:blipFill>
        <p:spPr>
          <a:xfrm>
            <a:off x="838200" y="1219200"/>
            <a:ext cx="7239000" cy="3679209"/>
          </a:xfrm>
          <a:prstGeom prst="rect">
            <a:avLst/>
          </a:prstGeom>
        </p:spPr>
      </p:pic>
      <p:sp>
        <p:nvSpPr>
          <p:cNvPr id="8" name="TextBox 7">
            <a:extLst>
              <a:ext uri="{FF2B5EF4-FFF2-40B4-BE49-F238E27FC236}">
                <a16:creationId xmlns:a16="http://schemas.microsoft.com/office/drawing/2014/main" id="{0FCBEA9E-01F4-401F-B104-BA9CBDB995D4}"/>
              </a:ext>
            </a:extLst>
          </p:cNvPr>
          <p:cNvSpPr txBox="1"/>
          <p:nvPr/>
        </p:nvSpPr>
        <p:spPr>
          <a:xfrm>
            <a:off x="457200" y="5791200"/>
            <a:ext cx="4314001" cy="246221"/>
          </a:xfrm>
          <a:prstGeom prst="rect">
            <a:avLst/>
          </a:prstGeom>
          <a:noFill/>
        </p:spPr>
        <p:txBody>
          <a:bodyPr wrap="none" rtlCol="0">
            <a:spAutoFit/>
          </a:bodyPr>
          <a:lstStyle/>
          <a:p>
            <a:r>
              <a:rPr lang="en-US" sz="1000" dirty="0"/>
              <a:t>Reference: https://www.youtube.com/watch?v=B01qMFMAgUQ</a:t>
            </a:r>
            <a:endParaRPr lang="en-IN" sz="1000" dirty="0"/>
          </a:p>
        </p:txBody>
      </p:sp>
    </p:spTree>
    <p:extLst>
      <p:ext uri="{BB962C8B-B14F-4D97-AF65-F5344CB8AC3E}">
        <p14:creationId xmlns:p14="http://schemas.microsoft.com/office/powerpoint/2010/main" val="429333818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D8BD76F7-E86F-4D40-8210-ED4EFD52AF9A}"/>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4E756512-6007-4253-B778-6C054702CD69}"/>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4D3CF752-D9C2-D2BF-BDB4-86E849D8D379}"/>
              </a:ext>
            </a:extLst>
          </p:cNvPr>
          <p:cNvSpPr txBox="1"/>
          <p:nvPr/>
        </p:nvSpPr>
        <p:spPr>
          <a:xfrm>
            <a:off x="185826" y="4406152"/>
            <a:ext cx="8949245" cy="300082"/>
          </a:xfrm>
          <a:prstGeom prst="rect">
            <a:avLst/>
          </a:prstGeom>
          <a:noFill/>
        </p:spPr>
        <p:txBody>
          <a:bodyPr wrap="none" rtlCol="0">
            <a:spAutoFit/>
          </a:bodyPr>
          <a:lstStyle/>
          <a:p>
            <a:r>
              <a:rPr lang="en-US" sz="1350" b="1" dirty="0"/>
              <a:t>Bias: </a:t>
            </a:r>
            <a:r>
              <a:rPr lang="en-US" sz="1350" dirty="0"/>
              <a:t>Inability of machine Learning (ML) model to truly capture the relationship of the training data.</a:t>
            </a:r>
          </a:p>
        </p:txBody>
      </p:sp>
      <p:sp>
        <p:nvSpPr>
          <p:cNvPr id="3" name="Slide Number Placeholder 2">
            <a:extLst>
              <a:ext uri="{FF2B5EF4-FFF2-40B4-BE49-F238E27FC236}">
                <a16:creationId xmlns:a16="http://schemas.microsoft.com/office/drawing/2014/main" id="{76F35898-F3D3-6EE9-7174-20278CCEEDFC}"/>
              </a:ext>
            </a:extLst>
          </p:cNvPr>
          <p:cNvSpPr>
            <a:spLocks noGrp="1"/>
          </p:cNvSpPr>
          <p:nvPr>
            <p:ph type="sldNum" sz="quarter" idx="12"/>
          </p:nvPr>
        </p:nvSpPr>
        <p:spPr/>
        <p:txBody>
          <a:bodyPr/>
          <a:lstStyle/>
          <a:p>
            <a:fld id="{BB2CE0DE-867F-455F-B20B-96D381B4AB71}" type="slidenum">
              <a:rPr lang="en-US" smtClean="0"/>
              <a:t>151</a:t>
            </a:fld>
            <a:endParaRPr lang="en-US"/>
          </a:p>
        </p:txBody>
      </p:sp>
    </p:spTree>
    <p:extLst>
      <p:ext uri="{BB962C8B-B14F-4D97-AF65-F5344CB8AC3E}">
        <p14:creationId xmlns:p14="http://schemas.microsoft.com/office/powerpoint/2010/main" val="385775985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2F67-7B7D-A64C-D6D1-26051AD9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4FA0D-FD80-CCAD-7710-5E128F99EDED}"/>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F349CC5A-84FF-9273-F587-D6B7D7E39638}"/>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A770EBB0-D964-892D-66C4-8065E1600F6F}"/>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29E4A273-D6C9-391C-8678-3EA0C6A9A9CE}"/>
              </a:ext>
            </a:extLst>
          </p:cNvPr>
          <p:cNvSpPr txBox="1"/>
          <p:nvPr/>
        </p:nvSpPr>
        <p:spPr>
          <a:xfrm>
            <a:off x="185827" y="4406153"/>
            <a:ext cx="8459303" cy="461665"/>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p:txBody>
      </p:sp>
      <p:sp>
        <p:nvSpPr>
          <p:cNvPr id="3" name="TextBox 2">
            <a:extLst>
              <a:ext uri="{FF2B5EF4-FFF2-40B4-BE49-F238E27FC236}">
                <a16:creationId xmlns:a16="http://schemas.microsoft.com/office/drawing/2014/main" id="{EBB12844-DB09-3DF4-3808-E0DBECFDE1EA}"/>
              </a:ext>
            </a:extLst>
          </p:cNvPr>
          <p:cNvSpPr txBox="1"/>
          <p:nvPr/>
        </p:nvSpPr>
        <p:spPr>
          <a:xfrm>
            <a:off x="1200151" y="3323452"/>
            <a:ext cx="1000595" cy="300082"/>
          </a:xfrm>
          <a:prstGeom prst="rect">
            <a:avLst/>
          </a:prstGeom>
          <a:noFill/>
        </p:spPr>
        <p:txBody>
          <a:bodyPr wrap="none" rtlCol="0">
            <a:spAutoFit/>
          </a:bodyPr>
          <a:lstStyle/>
          <a:p>
            <a:r>
              <a:rPr lang="en-IN" sz="1350" dirty="0"/>
              <a:t>High Bias</a:t>
            </a:r>
          </a:p>
        </p:txBody>
      </p:sp>
      <p:sp>
        <p:nvSpPr>
          <p:cNvPr id="7" name="TextBox 6">
            <a:extLst>
              <a:ext uri="{FF2B5EF4-FFF2-40B4-BE49-F238E27FC236}">
                <a16:creationId xmlns:a16="http://schemas.microsoft.com/office/drawing/2014/main" id="{91D3E388-A625-1F0F-3D43-13AF6D85355F}"/>
              </a:ext>
            </a:extLst>
          </p:cNvPr>
          <p:cNvSpPr txBox="1"/>
          <p:nvPr/>
        </p:nvSpPr>
        <p:spPr>
          <a:xfrm>
            <a:off x="6587770" y="3323452"/>
            <a:ext cx="949299" cy="300082"/>
          </a:xfrm>
          <a:prstGeom prst="rect">
            <a:avLst/>
          </a:prstGeom>
          <a:noFill/>
        </p:spPr>
        <p:txBody>
          <a:bodyPr wrap="none" rtlCol="0">
            <a:spAutoFit/>
          </a:bodyPr>
          <a:lstStyle/>
          <a:p>
            <a:r>
              <a:rPr lang="en-IN" sz="1350" dirty="0"/>
              <a:t>Low Bias</a:t>
            </a:r>
          </a:p>
        </p:txBody>
      </p:sp>
      <p:sp>
        <p:nvSpPr>
          <p:cNvPr id="8" name="Slide Number Placeholder 7">
            <a:extLst>
              <a:ext uri="{FF2B5EF4-FFF2-40B4-BE49-F238E27FC236}">
                <a16:creationId xmlns:a16="http://schemas.microsoft.com/office/drawing/2014/main" id="{5DA4ECAF-6DED-F7D7-0BEE-2CAD3C822CB4}"/>
              </a:ext>
            </a:extLst>
          </p:cNvPr>
          <p:cNvSpPr>
            <a:spLocks noGrp="1"/>
          </p:cNvSpPr>
          <p:nvPr>
            <p:ph type="sldNum" sz="quarter" idx="12"/>
          </p:nvPr>
        </p:nvSpPr>
        <p:spPr/>
        <p:txBody>
          <a:bodyPr/>
          <a:lstStyle/>
          <a:p>
            <a:fld id="{BB2CE0DE-867F-455F-B20B-96D381B4AB71}" type="slidenum">
              <a:rPr lang="en-US" smtClean="0"/>
              <a:t>152</a:t>
            </a:fld>
            <a:endParaRPr lang="en-US"/>
          </a:p>
        </p:txBody>
      </p:sp>
    </p:spTree>
    <p:extLst>
      <p:ext uri="{BB962C8B-B14F-4D97-AF65-F5344CB8AC3E}">
        <p14:creationId xmlns:p14="http://schemas.microsoft.com/office/powerpoint/2010/main" val="9931494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4BEB-A975-9625-C847-76067D527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678C-0411-1996-B35C-5173F16C0678}"/>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FEB3F93B-15CA-83AA-3176-07E04699F8B7}"/>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6E533A09-3546-0FD6-154A-D71A36FA86A5}"/>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34E07AA9-E8F1-4676-0C38-EF54241BBA1F}"/>
              </a:ext>
            </a:extLst>
          </p:cNvPr>
          <p:cNvSpPr txBox="1"/>
          <p:nvPr/>
        </p:nvSpPr>
        <p:spPr>
          <a:xfrm>
            <a:off x="185827" y="4406153"/>
            <a:ext cx="8459303" cy="830997"/>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a:p>
            <a:r>
              <a:rPr lang="en-US" sz="1200" b="1" dirty="0"/>
              <a:t>Overfitting: </a:t>
            </a:r>
            <a:r>
              <a:rPr lang="en-US" sz="1200" dirty="0"/>
              <a:t>ML model of training data is performing well but  on test data it is not doing well.</a:t>
            </a:r>
          </a:p>
          <a:p>
            <a:r>
              <a:rPr lang="en-US" sz="1200" b="1" dirty="0"/>
              <a:t>Underfitting:</a:t>
            </a:r>
            <a:r>
              <a:rPr lang="en-US" sz="1200" dirty="0"/>
              <a:t> ML model is not capturing the relationship in the training data.</a:t>
            </a:r>
            <a:endParaRPr lang="en-IN" sz="1200" dirty="0"/>
          </a:p>
        </p:txBody>
      </p:sp>
      <p:sp>
        <p:nvSpPr>
          <p:cNvPr id="3" name="TextBox 2">
            <a:extLst>
              <a:ext uri="{FF2B5EF4-FFF2-40B4-BE49-F238E27FC236}">
                <a16:creationId xmlns:a16="http://schemas.microsoft.com/office/drawing/2014/main" id="{637D6245-5053-6FCC-11E8-4C15B0EF2D3E}"/>
              </a:ext>
            </a:extLst>
          </p:cNvPr>
          <p:cNvSpPr txBox="1"/>
          <p:nvPr/>
        </p:nvSpPr>
        <p:spPr>
          <a:xfrm>
            <a:off x="1085850" y="3300926"/>
            <a:ext cx="1319400" cy="507831"/>
          </a:xfrm>
          <a:prstGeom prst="rect">
            <a:avLst/>
          </a:prstGeom>
          <a:noFill/>
        </p:spPr>
        <p:txBody>
          <a:bodyPr wrap="none" rtlCol="0">
            <a:spAutoFit/>
          </a:bodyPr>
          <a:lstStyle/>
          <a:p>
            <a:r>
              <a:rPr lang="en-IN" sz="1350" dirty="0"/>
              <a:t>High Bias</a:t>
            </a:r>
          </a:p>
          <a:p>
            <a:r>
              <a:rPr lang="en-IN" sz="1350" dirty="0"/>
              <a:t>Low variance</a:t>
            </a:r>
          </a:p>
        </p:txBody>
      </p:sp>
      <p:sp>
        <p:nvSpPr>
          <p:cNvPr id="7" name="TextBox 6">
            <a:extLst>
              <a:ext uri="{FF2B5EF4-FFF2-40B4-BE49-F238E27FC236}">
                <a16:creationId xmlns:a16="http://schemas.microsoft.com/office/drawing/2014/main" id="{1A2709E1-6794-43C3-20C5-C64B3AD581C5}"/>
              </a:ext>
            </a:extLst>
          </p:cNvPr>
          <p:cNvSpPr txBox="1"/>
          <p:nvPr/>
        </p:nvSpPr>
        <p:spPr>
          <a:xfrm>
            <a:off x="6587769" y="3323452"/>
            <a:ext cx="1381660" cy="507831"/>
          </a:xfrm>
          <a:prstGeom prst="rect">
            <a:avLst/>
          </a:prstGeom>
          <a:noFill/>
        </p:spPr>
        <p:txBody>
          <a:bodyPr wrap="none" rtlCol="0">
            <a:spAutoFit/>
          </a:bodyPr>
          <a:lstStyle/>
          <a:p>
            <a:r>
              <a:rPr lang="en-IN" sz="1350" dirty="0"/>
              <a:t>Low Bias</a:t>
            </a:r>
          </a:p>
          <a:p>
            <a:r>
              <a:rPr lang="en-IN" sz="1350" dirty="0"/>
              <a:t>High Variance</a:t>
            </a:r>
          </a:p>
        </p:txBody>
      </p:sp>
      <p:sp>
        <p:nvSpPr>
          <p:cNvPr id="8" name="Slide Number Placeholder 7">
            <a:extLst>
              <a:ext uri="{FF2B5EF4-FFF2-40B4-BE49-F238E27FC236}">
                <a16:creationId xmlns:a16="http://schemas.microsoft.com/office/drawing/2014/main" id="{D962CDC1-B69F-D13B-312A-F0DA74CC93A2}"/>
              </a:ext>
            </a:extLst>
          </p:cNvPr>
          <p:cNvSpPr>
            <a:spLocks noGrp="1"/>
          </p:cNvSpPr>
          <p:nvPr>
            <p:ph type="sldNum" sz="quarter" idx="12"/>
          </p:nvPr>
        </p:nvSpPr>
        <p:spPr/>
        <p:txBody>
          <a:bodyPr/>
          <a:lstStyle/>
          <a:p>
            <a:fld id="{BB2CE0DE-867F-455F-B20B-96D381B4AB71}" type="slidenum">
              <a:rPr lang="en-US" smtClean="0"/>
              <a:t>153</a:t>
            </a:fld>
            <a:endParaRPr lang="en-US"/>
          </a:p>
        </p:txBody>
      </p:sp>
    </p:spTree>
    <p:extLst>
      <p:ext uri="{BB962C8B-B14F-4D97-AF65-F5344CB8AC3E}">
        <p14:creationId xmlns:p14="http://schemas.microsoft.com/office/powerpoint/2010/main" val="17939761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7A30-D0FE-D72D-95EF-7CD898E58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9E928-60E4-8F7C-908F-0C9940C1A45F}"/>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9BC7F31F-1D23-3043-5C3E-965ADFDDC3BB}"/>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0BAAC968-A325-F897-B373-55306F419277}"/>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93A535C1-7660-6B48-4EBC-155A166D0E8C}"/>
              </a:ext>
            </a:extLst>
          </p:cNvPr>
          <p:cNvSpPr txBox="1"/>
          <p:nvPr/>
        </p:nvSpPr>
        <p:spPr>
          <a:xfrm>
            <a:off x="185827" y="4406153"/>
            <a:ext cx="8459303" cy="830997"/>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a:p>
            <a:r>
              <a:rPr lang="en-US" sz="1200" b="1" dirty="0"/>
              <a:t>Overfitting: </a:t>
            </a:r>
            <a:r>
              <a:rPr lang="en-US" sz="1200" dirty="0"/>
              <a:t>ML model of training data is performing well but  on test data it is not doing well.</a:t>
            </a:r>
          </a:p>
          <a:p>
            <a:r>
              <a:rPr lang="en-US" sz="1200" b="1" dirty="0"/>
              <a:t>Underfitting:</a:t>
            </a:r>
            <a:r>
              <a:rPr lang="en-US" sz="1200" dirty="0"/>
              <a:t> ML model is not capturing the relationship in the training data.</a:t>
            </a:r>
            <a:endParaRPr lang="en-IN" sz="1200" dirty="0"/>
          </a:p>
        </p:txBody>
      </p:sp>
      <p:sp>
        <p:nvSpPr>
          <p:cNvPr id="3" name="TextBox 2">
            <a:extLst>
              <a:ext uri="{FF2B5EF4-FFF2-40B4-BE49-F238E27FC236}">
                <a16:creationId xmlns:a16="http://schemas.microsoft.com/office/drawing/2014/main" id="{DF609F42-C345-5C8C-BA90-D64874F4DCF9}"/>
              </a:ext>
            </a:extLst>
          </p:cNvPr>
          <p:cNvSpPr txBox="1"/>
          <p:nvPr/>
        </p:nvSpPr>
        <p:spPr>
          <a:xfrm>
            <a:off x="1085850" y="3300926"/>
            <a:ext cx="1319400" cy="507831"/>
          </a:xfrm>
          <a:prstGeom prst="rect">
            <a:avLst/>
          </a:prstGeom>
          <a:noFill/>
        </p:spPr>
        <p:txBody>
          <a:bodyPr wrap="none" rtlCol="0">
            <a:spAutoFit/>
          </a:bodyPr>
          <a:lstStyle/>
          <a:p>
            <a:r>
              <a:rPr lang="en-IN" sz="1350" dirty="0"/>
              <a:t>High Bias</a:t>
            </a:r>
          </a:p>
          <a:p>
            <a:r>
              <a:rPr lang="en-IN" sz="1350" dirty="0"/>
              <a:t>Low variance</a:t>
            </a:r>
          </a:p>
        </p:txBody>
      </p:sp>
      <p:sp>
        <p:nvSpPr>
          <p:cNvPr id="7" name="TextBox 6">
            <a:extLst>
              <a:ext uri="{FF2B5EF4-FFF2-40B4-BE49-F238E27FC236}">
                <a16:creationId xmlns:a16="http://schemas.microsoft.com/office/drawing/2014/main" id="{B2DA8BE1-7900-63AE-88E6-A92F455739F6}"/>
              </a:ext>
            </a:extLst>
          </p:cNvPr>
          <p:cNvSpPr txBox="1"/>
          <p:nvPr/>
        </p:nvSpPr>
        <p:spPr>
          <a:xfrm>
            <a:off x="6587769" y="3323452"/>
            <a:ext cx="1381660" cy="507831"/>
          </a:xfrm>
          <a:prstGeom prst="rect">
            <a:avLst/>
          </a:prstGeom>
          <a:noFill/>
        </p:spPr>
        <p:txBody>
          <a:bodyPr wrap="none" rtlCol="0">
            <a:spAutoFit/>
          </a:bodyPr>
          <a:lstStyle/>
          <a:p>
            <a:r>
              <a:rPr lang="en-IN" sz="1350" dirty="0"/>
              <a:t>Low Bias</a:t>
            </a:r>
          </a:p>
          <a:p>
            <a:r>
              <a:rPr lang="en-IN" sz="1350" dirty="0"/>
              <a:t>High Variance</a:t>
            </a:r>
          </a:p>
        </p:txBody>
      </p:sp>
      <p:sp>
        <p:nvSpPr>
          <p:cNvPr id="8" name="TextBox 7">
            <a:extLst>
              <a:ext uri="{FF2B5EF4-FFF2-40B4-BE49-F238E27FC236}">
                <a16:creationId xmlns:a16="http://schemas.microsoft.com/office/drawing/2014/main" id="{8F45BE9F-C189-EC84-8844-6EB781068C6F}"/>
              </a:ext>
            </a:extLst>
          </p:cNvPr>
          <p:cNvSpPr txBox="1"/>
          <p:nvPr/>
        </p:nvSpPr>
        <p:spPr>
          <a:xfrm>
            <a:off x="3879662" y="3288226"/>
            <a:ext cx="1319400" cy="507831"/>
          </a:xfrm>
          <a:prstGeom prst="rect">
            <a:avLst/>
          </a:prstGeom>
          <a:noFill/>
        </p:spPr>
        <p:txBody>
          <a:bodyPr wrap="none" rtlCol="0">
            <a:spAutoFit/>
          </a:bodyPr>
          <a:lstStyle/>
          <a:p>
            <a:r>
              <a:rPr lang="en-IN" sz="1350" dirty="0"/>
              <a:t>Low Bias</a:t>
            </a:r>
          </a:p>
          <a:p>
            <a:r>
              <a:rPr lang="en-IN" sz="1350" dirty="0"/>
              <a:t>Low variance</a:t>
            </a:r>
          </a:p>
        </p:txBody>
      </p:sp>
      <p:sp>
        <p:nvSpPr>
          <p:cNvPr id="10" name="TextBox 9">
            <a:extLst>
              <a:ext uri="{FF2B5EF4-FFF2-40B4-BE49-F238E27FC236}">
                <a16:creationId xmlns:a16="http://schemas.microsoft.com/office/drawing/2014/main" id="{12EAAAF9-000F-F7E6-1FE4-B28A80EACA7B}"/>
              </a:ext>
            </a:extLst>
          </p:cNvPr>
          <p:cNvSpPr txBox="1"/>
          <p:nvPr/>
        </p:nvSpPr>
        <p:spPr>
          <a:xfrm>
            <a:off x="1068917" y="3845783"/>
            <a:ext cx="1215397" cy="300082"/>
          </a:xfrm>
          <a:prstGeom prst="rect">
            <a:avLst/>
          </a:prstGeom>
          <a:noFill/>
        </p:spPr>
        <p:txBody>
          <a:bodyPr wrap="none" rtlCol="0">
            <a:spAutoFit/>
          </a:bodyPr>
          <a:lstStyle/>
          <a:p>
            <a:r>
              <a:rPr lang="en-IN" sz="1350" dirty="0"/>
              <a:t>Underfitting</a:t>
            </a:r>
          </a:p>
        </p:txBody>
      </p:sp>
      <p:sp>
        <p:nvSpPr>
          <p:cNvPr id="11" name="TextBox 10">
            <a:extLst>
              <a:ext uri="{FF2B5EF4-FFF2-40B4-BE49-F238E27FC236}">
                <a16:creationId xmlns:a16="http://schemas.microsoft.com/office/drawing/2014/main" id="{0A1F579D-C1DD-27E1-17E0-1ABFB159937C}"/>
              </a:ext>
            </a:extLst>
          </p:cNvPr>
          <p:cNvSpPr txBox="1"/>
          <p:nvPr/>
        </p:nvSpPr>
        <p:spPr>
          <a:xfrm>
            <a:off x="6608936" y="3804283"/>
            <a:ext cx="1109663" cy="300082"/>
          </a:xfrm>
          <a:prstGeom prst="rect">
            <a:avLst/>
          </a:prstGeom>
          <a:noFill/>
        </p:spPr>
        <p:txBody>
          <a:bodyPr wrap="none" rtlCol="0">
            <a:spAutoFit/>
          </a:bodyPr>
          <a:lstStyle/>
          <a:p>
            <a:r>
              <a:rPr lang="en-IN" sz="1350" dirty="0"/>
              <a:t>Overfitting</a:t>
            </a:r>
          </a:p>
        </p:txBody>
      </p:sp>
      <p:sp>
        <p:nvSpPr>
          <p:cNvPr id="12" name="Slide Number Placeholder 11">
            <a:extLst>
              <a:ext uri="{FF2B5EF4-FFF2-40B4-BE49-F238E27FC236}">
                <a16:creationId xmlns:a16="http://schemas.microsoft.com/office/drawing/2014/main" id="{15278D22-2C4F-C531-2E98-DFB3CF8BE7F5}"/>
              </a:ext>
            </a:extLst>
          </p:cNvPr>
          <p:cNvSpPr>
            <a:spLocks noGrp="1"/>
          </p:cNvSpPr>
          <p:nvPr>
            <p:ph type="sldNum" sz="quarter" idx="12"/>
          </p:nvPr>
        </p:nvSpPr>
        <p:spPr/>
        <p:txBody>
          <a:bodyPr/>
          <a:lstStyle/>
          <a:p>
            <a:fld id="{BB2CE0DE-867F-455F-B20B-96D381B4AB71}" type="slidenum">
              <a:rPr lang="en-US" smtClean="0"/>
              <a:t>154</a:t>
            </a:fld>
            <a:endParaRPr lang="en-US"/>
          </a:p>
        </p:txBody>
      </p:sp>
    </p:spTree>
    <p:extLst>
      <p:ext uri="{BB962C8B-B14F-4D97-AF65-F5344CB8AC3E}">
        <p14:creationId xmlns:p14="http://schemas.microsoft.com/office/powerpoint/2010/main" val="348653105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100" dirty="0"/>
              <a:t>Bias, Variance, Overfitting, Underfitting</a:t>
            </a:r>
            <a:endParaRPr lang="en-IN" sz="2100" dirty="0"/>
          </a:p>
        </p:txBody>
      </p:sp>
      <p:sp>
        <p:nvSpPr>
          <p:cNvPr id="3" name="Content Placeholder 2">
            <a:extLst>
              <a:ext uri="{FF2B5EF4-FFF2-40B4-BE49-F238E27FC236}">
                <a16:creationId xmlns:a16="http://schemas.microsoft.com/office/drawing/2014/main" id="{4E331CA5-E4CA-47F6-A84E-EFF7A3C4DC32}"/>
              </a:ext>
            </a:extLst>
          </p:cNvPr>
          <p:cNvSpPr>
            <a:spLocks noGrp="1"/>
          </p:cNvSpPr>
          <p:nvPr>
            <p:ph idx="1"/>
          </p:nvPr>
        </p:nvSpPr>
        <p:spPr/>
        <p:txBody>
          <a:bodyPr/>
          <a:lstStyle/>
          <a:p>
            <a:pPr marL="0" indent="0">
              <a:buNone/>
            </a:pPr>
            <a:r>
              <a:rPr lang="en-US" sz="1500" b="1" dirty="0"/>
              <a:t>Bias: </a:t>
            </a:r>
            <a:r>
              <a:rPr lang="en-US" sz="1500" dirty="0"/>
              <a:t>Inability of machine Learning (ML) model to truly capture the relationship of the training data.</a:t>
            </a:r>
          </a:p>
          <a:p>
            <a:pPr marL="0" indent="0">
              <a:buNone/>
            </a:pPr>
            <a:r>
              <a:rPr lang="en-US" sz="1500" b="1" dirty="0"/>
              <a:t>Variance: </a:t>
            </a:r>
            <a:r>
              <a:rPr lang="en-US" sz="1500" dirty="0"/>
              <a:t>Variance of ML model is high when the difference between Training error and Test error is High.</a:t>
            </a:r>
          </a:p>
          <a:p>
            <a:pPr marL="0" indent="0">
              <a:buNone/>
            </a:pPr>
            <a:r>
              <a:rPr lang="en-US" sz="1500" b="1" dirty="0"/>
              <a:t>Overfitting: </a:t>
            </a:r>
            <a:r>
              <a:rPr lang="en-US" sz="1500" dirty="0"/>
              <a:t>ML model of training data is performing well but  on test data it is not doing well.</a:t>
            </a:r>
          </a:p>
          <a:p>
            <a:pPr marL="0" indent="0">
              <a:buNone/>
            </a:pPr>
            <a:r>
              <a:rPr lang="en-US" sz="1500" b="1" dirty="0"/>
              <a:t>Underfitting:</a:t>
            </a:r>
            <a:r>
              <a:rPr lang="en-US" sz="1500" dirty="0"/>
              <a:t> ML model is not capturing the relationship in the training data.</a:t>
            </a:r>
            <a:endParaRPr lang="en-IN" sz="1500" dirty="0"/>
          </a:p>
        </p:txBody>
      </p:sp>
      <p:sp>
        <p:nvSpPr>
          <p:cNvPr id="5" name="Slide Number Placeholder 4">
            <a:extLst>
              <a:ext uri="{FF2B5EF4-FFF2-40B4-BE49-F238E27FC236}">
                <a16:creationId xmlns:a16="http://schemas.microsoft.com/office/drawing/2014/main" id="{8492DE00-C084-B6B1-BED5-67BD3BC6F57A}"/>
              </a:ext>
            </a:extLst>
          </p:cNvPr>
          <p:cNvSpPr>
            <a:spLocks noGrp="1"/>
          </p:cNvSpPr>
          <p:nvPr>
            <p:ph type="sldNum" sz="quarter" idx="12"/>
          </p:nvPr>
        </p:nvSpPr>
        <p:spPr/>
        <p:txBody>
          <a:bodyPr/>
          <a:lstStyle/>
          <a:p>
            <a:fld id="{BB2CE0DE-867F-455F-B20B-96D381B4AB71}" type="slidenum">
              <a:rPr lang="en-US" smtClean="0"/>
              <a:t>155</a:t>
            </a:fld>
            <a:endParaRPr lang="en-US"/>
          </a:p>
        </p:txBody>
      </p:sp>
    </p:spTree>
    <p:extLst>
      <p:ext uri="{BB962C8B-B14F-4D97-AF65-F5344CB8AC3E}">
        <p14:creationId xmlns:p14="http://schemas.microsoft.com/office/powerpoint/2010/main" val="102768153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9FC3D-F08B-6843-409F-20A1BA24B0DB}"/>
              </a:ext>
            </a:extLst>
          </p:cNvPr>
          <p:cNvSpPr>
            <a:spLocks noGrp="1"/>
          </p:cNvSpPr>
          <p:nvPr>
            <p:ph type="title"/>
          </p:nvPr>
        </p:nvSpPr>
        <p:spPr/>
        <p:txBody>
          <a:bodyPr/>
          <a:lstStyle/>
          <a:p>
            <a:r>
              <a:rPr lang="en-US" dirty="0"/>
              <a:t>Overfitting</a:t>
            </a:r>
            <a:endParaRPr lang="en-IN" dirty="0"/>
          </a:p>
        </p:txBody>
      </p:sp>
      <p:sp>
        <p:nvSpPr>
          <p:cNvPr id="3" name="Content Placeholder 2">
            <a:extLst>
              <a:ext uri="{FF2B5EF4-FFF2-40B4-BE49-F238E27FC236}">
                <a16:creationId xmlns:a16="http://schemas.microsoft.com/office/drawing/2014/main" id="{02AD0730-109E-1E0F-B669-59CD2A5007F2}"/>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5C2A3609-CD3A-8BDC-7D1B-3FD410CA2167}"/>
              </a:ext>
            </a:extLst>
          </p:cNvPr>
          <p:cNvSpPr>
            <a:spLocks noGrp="1"/>
          </p:cNvSpPr>
          <p:nvPr>
            <p:ph type="sldNum" sz="quarter" idx="12"/>
          </p:nvPr>
        </p:nvSpPr>
        <p:spPr/>
        <p:txBody>
          <a:bodyPr/>
          <a:lstStyle/>
          <a:p>
            <a:fld id="{BB2CE0DE-867F-455F-B20B-96D381B4AB71}" type="slidenum">
              <a:rPr lang="en-US" smtClean="0"/>
              <a:t>156</a:t>
            </a:fld>
            <a:endParaRPr lang="en-US"/>
          </a:p>
        </p:txBody>
      </p:sp>
      <p:pic>
        <p:nvPicPr>
          <p:cNvPr id="8" name="Picture 7">
            <a:extLst>
              <a:ext uri="{FF2B5EF4-FFF2-40B4-BE49-F238E27FC236}">
                <a16:creationId xmlns:a16="http://schemas.microsoft.com/office/drawing/2014/main" id="{6D5618D7-DAB2-D73B-D98D-289CA07DBB56}"/>
              </a:ext>
            </a:extLst>
          </p:cNvPr>
          <p:cNvPicPr>
            <a:picLocks noChangeAspect="1"/>
          </p:cNvPicPr>
          <p:nvPr/>
        </p:nvPicPr>
        <p:blipFill>
          <a:blip r:embed="rId2"/>
          <a:stretch>
            <a:fillRect/>
          </a:stretch>
        </p:blipFill>
        <p:spPr>
          <a:xfrm>
            <a:off x="1178084" y="1240971"/>
            <a:ext cx="6365716" cy="3582989"/>
          </a:xfrm>
          <a:prstGeom prst="rect">
            <a:avLst/>
          </a:prstGeom>
        </p:spPr>
      </p:pic>
    </p:spTree>
    <p:extLst>
      <p:ext uri="{BB962C8B-B14F-4D97-AF65-F5344CB8AC3E}">
        <p14:creationId xmlns:p14="http://schemas.microsoft.com/office/powerpoint/2010/main" val="7470755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BA8EC-5DC3-9796-4F24-65B395BE4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12088-0A77-5FCD-2620-B4B8F865D07A}"/>
              </a:ext>
            </a:extLst>
          </p:cNvPr>
          <p:cNvSpPr>
            <a:spLocks noGrp="1"/>
          </p:cNvSpPr>
          <p:nvPr>
            <p:ph type="title"/>
          </p:nvPr>
        </p:nvSpPr>
        <p:spPr/>
        <p:txBody>
          <a:bodyPr/>
          <a:lstStyle/>
          <a:p>
            <a:r>
              <a:rPr lang="en-US" dirty="0"/>
              <a:t>Overfitting and Underfitting</a:t>
            </a:r>
            <a:endParaRPr lang="en-IN" dirty="0"/>
          </a:p>
        </p:txBody>
      </p:sp>
      <p:sp>
        <p:nvSpPr>
          <p:cNvPr id="3" name="Content Placeholder 2">
            <a:extLst>
              <a:ext uri="{FF2B5EF4-FFF2-40B4-BE49-F238E27FC236}">
                <a16:creationId xmlns:a16="http://schemas.microsoft.com/office/drawing/2014/main" id="{4F0C7F32-FA62-7800-66C7-10FB6E2AD1EE}"/>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3409AA77-748D-9A4E-289D-B9D4ABBEC950}"/>
              </a:ext>
            </a:extLst>
          </p:cNvPr>
          <p:cNvSpPr>
            <a:spLocks noGrp="1"/>
          </p:cNvSpPr>
          <p:nvPr>
            <p:ph type="sldNum" sz="quarter" idx="12"/>
          </p:nvPr>
        </p:nvSpPr>
        <p:spPr/>
        <p:txBody>
          <a:bodyPr/>
          <a:lstStyle/>
          <a:p>
            <a:fld id="{BB2CE0DE-867F-455F-B20B-96D381B4AB71}" type="slidenum">
              <a:rPr lang="en-US" smtClean="0"/>
              <a:t>157</a:t>
            </a:fld>
            <a:endParaRPr lang="en-US"/>
          </a:p>
        </p:txBody>
      </p:sp>
      <p:pic>
        <p:nvPicPr>
          <p:cNvPr id="7" name="Picture 6">
            <a:extLst>
              <a:ext uri="{FF2B5EF4-FFF2-40B4-BE49-F238E27FC236}">
                <a16:creationId xmlns:a16="http://schemas.microsoft.com/office/drawing/2014/main" id="{16D67E57-0118-8FFA-DC40-2DFAEB0EECBB}"/>
              </a:ext>
            </a:extLst>
          </p:cNvPr>
          <p:cNvPicPr>
            <a:picLocks noChangeAspect="1"/>
          </p:cNvPicPr>
          <p:nvPr/>
        </p:nvPicPr>
        <p:blipFill>
          <a:blip r:embed="rId2"/>
          <a:srcRect t="19275" b="27241"/>
          <a:stretch/>
        </p:blipFill>
        <p:spPr>
          <a:xfrm>
            <a:off x="544967" y="1219200"/>
            <a:ext cx="8365787" cy="3276600"/>
          </a:xfrm>
          <a:prstGeom prst="rect">
            <a:avLst/>
          </a:prstGeom>
        </p:spPr>
      </p:pic>
    </p:spTree>
    <p:extLst>
      <p:ext uri="{BB962C8B-B14F-4D97-AF65-F5344CB8AC3E}">
        <p14:creationId xmlns:p14="http://schemas.microsoft.com/office/powerpoint/2010/main" val="219857113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341B1-9369-4FB4-E957-E52BD7C47424}"/>
              </a:ext>
            </a:extLst>
          </p:cNvPr>
          <p:cNvSpPr>
            <a:spLocks noGrp="1"/>
          </p:cNvSpPr>
          <p:nvPr>
            <p:ph type="title"/>
          </p:nvPr>
        </p:nvSpPr>
        <p:spPr/>
        <p:txBody>
          <a:bodyPr/>
          <a:lstStyle/>
          <a:p>
            <a:r>
              <a:rPr lang="en-IN" sz="2400" dirty="0"/>
              <a:t>Why Overfitting occurs in Deep Neural Networks</a:t>
            </a:r>
          </a:p>
        </p:txBody>
      </p:sp>
      <p:sp>
        <p:nvSpPr>
          <p:cNvPr id="3" name="Content Placeholder 2">
            <a:extLst>
              <a:ext uri="{FF2B5EF4-FFF2-40B4-BE49-F238E27FC236}">
                <a16:creationId xmlns:a16="http://schemas.microsoft.com/office/drawing/2014/main" id="{136790B2-5A3E-DF22-3964-5E23FB56E375}"/>
              </a:ext>
            </a:extLst>
          </p:cNvPr>
          <p:cNvSpPr>
            <a:spLocks noGrp="1"/>
          </p:cNvSpPr>
          <p:nvPr>
            <p:ph idx="1"/>
          </p:nvPr>
        </p:nvSpPr>
        <p:spPr/>
        <p:txBody>
          <a:bodyPr/>
          <a:lstStyle/>
          <a:p>
            <a:pPr marL="0" indent="0" algn="just">
              <a:buNone/>
            </a:pPr>
            <a:r>
              <a:rPr lang="en-US" sz="2400" b="0" i="0" dirty="0">
                <a:solidFill>
                  <a:srgbClr val="001D35"/>
                </a:solidFill>
                <a:effectLst/>
                <a:latin typeface="Google Sans"/>
              </a:rPr>
              <a:t>Overfitting in deep neural networks occurs when a model learns the training data too well, including noise and irrelevant details, leading to poor generalization on new, unseen data. </a:t>
            </a:r>
          </a:p>
          <a:p>
            <a:pPr marL="0" indent="0" algn="just">
              <a:buNone/>
            </a:pPr>
            <a:r>
              <a:rPr lang="en-US" sz="2400" b="0" i="0" dirty="0">
                <a:solidFill>
                  <a:srgbClr val="001D35"/>
                </a:solidFill>
                <a:effectLst/>
                <a:latin typeface="Google Sans"/>
              </a:rPr>
              <a:t>This happens because the model's complexity (number of parameters, layers, etc.) is too high for the amount of training data, allowing it to memorize specific examples instead of learning the underlying patterns. </a:t>
            </a:r>
          </a:p>
        </p:txBody>
      </p:sp>
      <p:sp>
        <p:nvSpPr>
          <p:cNvPr id="6" name="Slide Number Placeholder 5">
            <a:extLst>
              <a:ext uri="{FF2B5EF4-FFF2-40B4-BE49-F238E27FC236}">
                <a16:creationId xmlns:a16="http://schemas.microsoft.com/office/drawing/2014/main" id="{CE08F42B-386F-B577-F040-9C142997F024}"/>
              </a:ext>
            </a:extLst>
          </p:cNvPr>
          <p:cNvSpPr>
            <a:spLocks noGrp="1"/>
          </p:cNvSpPr>
          <p:nvPr>
            <p:ph type="sldNum" sz="quarter" idx="12"/>
          </p:nvPr>
        </p:nvSpPr>
        <p:spPr/>
        <p:txBody>
          <a:bodyPr/>
          <a:lstStyle/>
          <a:p>
            <a:fld id="{BB2CE0DE-867F-455F-B20B-96D381B4AB71}" type="slidenum">
              <a:rPr lang="en-US" smtClean="0"/>
              <a:t>158</a:t>
            </a:fld>
            <a:endParaRPr lang="en-US"/>
          </a:p>
        </p:txBody>
      </p:sp>
    </p:spTree>
    <p:extLst>
      <p:ext uri="{BB962C8B-B14F-4D97-AF65-F5344CB8AC3E}">
        <p14:creationId xmlns:p14="http://schemas.microsoft.com/office/powerpoint/2010/main" val="331846149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6BEE-33AC-E679-A099-82AB811BACCD}"/>
              </a:ext>
            </a:extLst>
          </p:cNvPr>
          <p:cNvSpPr>
            <a:spLocks noGrp="1"/>
          </p:cNvSpPr>
          <p:nvPr>
            <p:ph type="title"/>
          </p:nvPr>
        </p:nvSpPr>
        <p:spPr/>
        <p:txBody>
          <a:bodyPr/>
          <a:lstStyle/>
          <a:p>
            <a:r>
              <a:rPr lang="en-US" dirty="0"/>
              <a:t>How to observe Overfitting ?</a:t>
            </a:r>
            <a:endParaRPr lang="en-IN" dirty="0"/>
          </a:p>
        </p:txBody>
      </p:sp>
      <p:sp>
        <p:nvSpPr>
          <p:cNvPr id="3" name="Content Placeholder 2">
            <a:extLst>
              <a:ext uri="{FF2B5EF4-FFF2-40B4-BE49-F238E27FC236}">
                <a16:creationId xmlns:a16="http://schemas.microsoft.com/office/drawing/2014/main" id="{5F543744-EB45-0B65-5E8D-036F2EA43796}"/>
              </a:ext>
            </a:extLst>
          </p:cNvPr>
          <p:cNvSpPr>
            <a:spLocks noGrp="1"/>
          </p:cNvSpPr>
          <p:nvPr>
            <p:ph idx="1"/>
          </p:nvPr>
        </p:nvSpPr>
        <p:spPr/>
        <p:txBody>
          <a:bodyPr/>
          <a:lstStyle/>
          <a:p>
            <a:pPr marL="0" indent="0" algn="just">
              <a:buNone/>
            </a:pPr>
            <a:r>
              <a:rPr lang="en-US" sz="1800" b="0" i="0" dirty="0">
                <a:solidFill>
                  <a:srgbClr val="001D35"/>
                </a:solidFill>
                <a:effectLst/>
                <a:latin typeface="Google Sans"/>
              </a:rPr>
              <a:t>Overfitting can be observed by comparing a model's performance on the training data versus a validation or test set. If the model performs significantly better on the training data than on the validation/test data, it's a strong indicator of overfitting. This can be further confirmed by examining learning curves, where a large gap between training and validation error suggests overfitting</a:t>
            </a:r>
            <a:endParaRPr lang="en-IN" sz="1800" dirty="0"/>
          </a:p>
        </p:txBody>
      </p:sp>
      <p:sp>
        <p:nvSpPr>
          <p:cNvPr id="6" name="Slide Number Placeholder 5">
            <a:extLst>
              <a:ext uri="{FF2B5EF4-FFF2-40B4-BE49-F238E27FC236}">
                <a16:creationId xmlns:a16="http://schemas.microsoft.com/office/drawing/2014/main" id="{96A677DB-E8D1-5543-326E-83506663BE7E}"/>
              </a:ext>
            </a:extLst>
          </p:cNvPr>
          <p:cNvSpPr>
            <a:spLocks noGrp="1"/>
          </p:cNvSpPr>
          <p:nvPr>
            <p:ph type="sldNum" sz="quarter" idx="12"/>
          </p:nvPr>
        </p:nvSpPr>
        <p:spPr/>
        <p:txBody>
          <a:bodyPr/>
          <a:lstStyle/>
          <a:p>
            <a:fld id="{BB2CE0DE-867F-455F-B20B-96D381B4AB71}" type="slidenum">
              <a:rPr lang="en-US" smtClean="0"/>
              <a:t>159</a:t>
            </a:fld>
            <a:endParaRPr lang="en-US"/>
          </a:p>
        </p:txBody>
      </p:sp>
      <p:pic>
        <p:nvPicPr>
          <p:cNvPr id="10" name="Picture 9">
            <a:extLst>
              <a:ext uri="{FF2B5EF4-FFF2-40B4-BE49-F238E27FC236}">
                <a16:creationId xmlns:a16="http://schemas.microsoft.com/office/drawing/2014/main" id="{002CF77B-49FD-C119-6536-58B758EF881B}"/>
              </a:ext>
            </a:extLst>
          </p:cNvPr>
          <p:cNvPicPr>
            <a:picLocks noChangeAspect="1"/>
          </p:cNvPicPr>
          <p:nvPr/>
        </p:nvPicPr>
        <p:blipFill>
          <a:blip r:embed="rId2"/>
          <a:stretch>
            <a:fillRect/>
          </a:stretch>
        </p:blipFill>
        <p:spPr>
          <a:xfrm>
            <a:off x="878959" y="2919633"/>
            <a:ext cx="7392432" cy="3296110"/>
          </a:xfrm>
          <a:prstGeom prst="rect">
            <a:avLst/>
          </a:prstGeom>
        </p:spPr>
      </p:pic>
    </p:spTree>
    <p:extLst>
      <p:ext uri="{BB962C8B-B14F-4D97-AF65-F5344CB8AC3E}">
        <p14:creationId xmlns:p14="http://schemas.microsoft.com/office/powerpoint/2010/main" val="167221114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60BE-F3AF-EA2F-14E9-3F3CA108FC12}"/>
              </a:ext>
            </a:extLst>
          </p:cNvPr>
          <p:cNvSpPr>
            <a:spLocks noGrp="1"/>
          </p:cNvSpPr>
          <p:nvPr>
            <p:ph type="title"/>
          </p:nvPr>
        </p:nvSpPr>
        <p:spPr/>
        <p:txBody>
          <a:bodyPr/>
          <a:lstStyle/>
          <a:p>
            <a:r>
              <a:rPr lang="en-IN" dirty="0"/>
              <a:t>Loss and complexity</a:t>
            </a:r>
          </a:p>
        </p:txBody>
      </p:sp>
      <p:sp>
        <p:nvSpPr>
          <p:cNvPr id="3" name="Content Placeholder 2">
            <a:extLst>
              <a:ext uri="{FF2B5EF4-FFF2-40B4-BE49-F238E27FC236}">
                <a16:creationId xmlns:a16="http://schemas.microsoft.com/office/drawing/2014/main" id="{6DB7FF5B-C2A3-3D04-6455-2E92C3BF03FC}"/>
              </a:ext>
            </a:extLst>
          </p:cNvPr>
          <p:cNvSpPr>
            <a:spLocks noGrp="1"/>
          </p:cNvSpPr>
          <p:nvPr>
            <p:ph idx="1"/>
          </p:nvPr>
        </p:nvSpPr>
        <p:spPr/>
        <p:txBody>
          <a:bodyPr/>
          <a:lstStyle/>
          <a:p>
            <a:pPr algn="just"/>
            <a:r>
              <a:rPr lang="en-US" sz="1500" kern="1200" dirty="0">
                <a:solidFill>
                  <a:schemeClr val="tx1"/>
                </a:solidFill>
              </a:rPr>
              <a:t>The only goal when training a ML model was to minimize loss; </a:t>
            </a:r>
          </a:p>
          <a:p>
            <a:pPr algn="just"/>
            <a:r>
              <a:rPr lang="en-US" sz="1500" kern="1200" dirty="0">
                <a:solidFill>
                  <a:schemeClr val="tx1"/>
                </a:solidFill>
              </a:rPr>
              <a:t>that is: minimize(loss)</a:t>
            </a:r>
          </a:p>
          <a:p>
            <a:pPr algn="just"/>
            <a:endParaRPr lang="en-US" sz="1500" kern="1200" dirty="0">
              <a:solidFill>
                <a:schemeClr val="tx1"/>
              </a:solidFill>
            </a:endParaRPr>
          </a:p>
          <a:p>
            <a:pPr algn="just"/>
            <a:r>
              <a:rPr lang="en-US" sz="1500" kern="1200" dirty="0">
                <a:solidFill>
                  <a:schemeClr val="tx1"/>
                </a:solidFill>
              </a:rPr>
              <a:t>Models focused solely on minimizing loss tend to overfit. A better training optimization algorithm minimizes some combination of loss and complexity: </a:t>
            </a:r>
            <a:r>
              <a:rPr lang="en-US" sz="1500" kern="1200" dirty="0" err="1">
                <a:solidFill>
                  <a:schemeClr val="tx1"/>
                </a:solidFill>
              </a:rPr>
              <a:t>mimimize</a:t>
            </a:r>
            <a:r>
              <a:rPr lang="en-US" sz="1500" kern="1200" dirty="0">
                <a:solidFill>
                  <a:schemeClr val="tx1"/>
                </a:solidFill>
              </a:rPr>
              <a:t>(</a:t>
            </a:r>
            <a:r>
              <a:rPr lang="en-US" sz="1500" kern="1200" dirty="0" err="1">
                <a:solidFill>
                  <a:schemeClr val="tx1"/>
                </a:solidFill>
              </a:rPr>
              <a:t>loss+complexity</a:t>
            </a:r>
            <a:r>
              <a:rPr lang="en-US" sz="1500" kern="1200" dirty="0">
                <a:solidFill>
                  <a:schemeClr val="tx1"/>
                </a:solidFill>
              </a:rPr>
              <a:t>)</a:t>
            </a:r>
          </a:p>
          <a:p>
            <a:pPr algn="just"/>
            <a:endParaRPr lang="en-US" sz="1500" kern="1200" dirty="0">
              <a:solidFill>
                <a:schemeClr val="tx1"/>
              </a:solidFill>
            </a:endParaRPr>
          </a:p>
          <a:p>
            <a:pPr algn="just"/>
            <a:r>
              <a:rPr lang="en-US" sz="1500" kern="1200" dirty="0">
                <a:solidFill>
                  <a:schemeClr val="tx1"/>
                </a:solidFill>
              </a:rPr>
              <a:t>Unfortunately, loss and complexity are typically inversely related. As complexity increases, loss decreases. As complexity decreases, loss increases. You should find a reasonable middle ground where the model makes good predictions on both the training data and real-world data. That is, your model should find a reasonable compromise between loss and complexity.</a:t>
            </a:r>
          </a:p>
          <a:p>
            <a:pPr algn="just"/>
            <a:endParaRPr lang="en-IN" sz="1500" dirty="0"/>
          </a:p>
          <a:p>
            <a:pPr marL="0" indent="0" algn="just">
              <a:buNone/>
            </a:pPr>
            <a:endParaRPr lang="en-IN" sz="1500" dirty="0"/>
          </a:p>
        </p:txBody>
      </p:sp>
      <p:sp>
        <p:nvSpPr>
          <p:cNvPr id="4" name="Slide Number Placeholder 3">
            <a:extLst>
              <a:ext uri="{FF2B5EF4-FFF2-40B4-BE49-F238E27FC236}">
                <a16:creationId xmlns:a16="http://schemas.microsoft.com/office/drawing/2014/main" id="{3CF47788-7A1A-61AF-FB6E-92673F2D063B}"/>
              </a:ext>
            </a:extLst>
          </p:cNvPr>
          <p:cNvSpPr>
            <a:spLocks noGrp="1"/>
          </p:cNvSpPr>
          <p:nvPr>
            <p:ph type="sldNum" sz="quarter" idx="12"/>
          </p:nvPr>
        </p:nvSpPr>
        <p:spPr/>
        <p:txBody>
          <a:bodyPr/>
          <a:lstStyle/>
          <a:p>
            <a:fld id="{BB2CE0DE-867F-455F-B20B-96D381B4AB71}" type="slidenum">
              <a:rPr lang="en-US" smtClean="0"/>
              <a:t>160</a:t>
            </a:fld>
            <a:endParaRPr lang="en-US"/>
          </a:p>
        </p:txBody>
      </p:sp>
      <p:sp>
        <p:nvSpPr>
          <p:cNvPr id="8" name="TextBox 7">
            <a:extLst>
              <a:ext uri="{FF2B5EF4-FFF2-40B4-BE49-F238E27FC236}">
                <a16:creationId xmlns:a16="http://schemas.microsoft.com/office/drawing/2014/main" id="{C6F180D1-0F49-6C6B-4770-4011A58B6B44}"/>
              </a:ext>
            </a:extLst>
          </p:cNvPr>
          <p:cNvSpPr txBox="1"/>
          <p:nvPr/>
        </p:nvSpPr>
        <p:spPr>
          <a:xfrm>
            <a:off x="574675" y="5427577"/>
            <a:ext cx="4443845" cy="196208"/>
          </a:xfrm>
          <a:prstGeom prst="rect">
            <a:avLst/>
          </a:prstGeom>
          <a:noFill/>
        </p:spPr>
        <p:txBody>
          <a:bodyPr wrap="none" rtlCol="0">
            <a:spAutoFit/>
          </a:bodyPr>
          <a:lstStyle/>
          <a:p>
            <a:r>
              <a:rPr lang="en-IN" sz="675" dirty="0"/>
              <a:t>Ref. https://developers.google.com/machine-learning/crash-course/overfitting/model-complexity</a:t>
            </a:r>
          </a:p>
        </p:txBody>
      </p:sp>
    </p:spTree>
    <p:extLst>
      <p:ext uri="{BB962C8B-B14F-4D97-AF65-F5344CB8AC3E}">
        <p14:creationId xmlns:p14="http://schemas.microsoft.com/office/powerpoint/2010/main" val="282366097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2FFD4-E870-3FBE-252F-75E5D89BE030}"/>
              </a:ext>
            </a:extLst>
          </p:cNvPr>
          <p:cNvSpPr>
            <a:spLocks noGrp="1"/>
          </p:cNvSpPr>
          <p:nvPr>
            <p:ph type="title"/>
          </p:nvPr>
        </p:nvSpPr>
        <p:spPr/>
        <p:txBody>
          <a:bodyPr/>
          <a:lstStyle/>
          <a:p>
            <a:r>
              <a:rPr lang="en-US" dirty="0"/>
              <a:t>Methods to avoid Overfitting </a:t>
            </a:r>
            <a:endParaRPr lang="en-IN" dirty="0"/>
          </a:p>
        </p:txBody>
      </p:sp>
      <p:sp>
        <p:nvSpPr>
          <p:cNvPr id="3" name="Content Placeholder 2">
            <a:extLst>
              <a:ext uri="{FF2B5EF4-FFF2-40B4-BE49-F238E27FC236}">
                <a16:creationId xmlns:a16="http://schemas.microsoft.com/office/drawing/2014/main" id="{51271480-9E55-7579-3E22-791CCEF8B52C}"/>
              </a:ext>
            </a:extLst>
          </p:cNvPr>
          <p:cNvSpPr>
            <a:spLocks noGrp="1"/>
          </p:cNvSpPr>
          <p:nvPr>
            <p:ph idx="1"/>
          </p:nvPr>
        </p:nvSpPr>
        <p:spPr/>
        <p:txBody>
          <a:bodyPr/>
          <a:lstStyle/>
          <a:p>
            <a:r>
              <a:rPr lang="en-US" dirty="0"/>
              <a:t>Data Augmentation</a:t>
            </a:r>
          </a:p>
          <a:p>
            <a:r>
              <a:rPr lang="en-US" dirty="0"/>
              <a:t>L1 and L2 Regularization</a:t>
            </a:r>
          </a:p>
          <a:p>
            <a:r>
              <a:rPr lang="en-US" dirty="0"/>
              <a:t>Dropout</a:t>
            </a:r>
          </a:p>
          <a:p>
            <a:r>
              <a:rPr lang="en-US" dirty="0"/>
              <a:t>Early Stopping</a:t>
            </a:r>
          </a:p>
          <a:p>
            <a:endParaRPr lang="en-IN" dirty="0"/>
          </a:p>
        </p:txBody>
      </p:sp>
      <p:sp>
        <p:nvSpPr>
          <p:cNvPr id="6" name="Slide Number Placeholder 5">
            <a:extLst>
              <a:ext uri="{FF2B5EF4-FFF2-40B4-BE49-F238E27FC236}">
                <a16:creationId xmlns:a16="http://schemas.microsoft.com/office/drawing/2014/main" id="{6FC0493E-8A55-F748-9FBB-FC0823E83EA0}"/>
              </a:ext>
            </a:extLst>
          </p:cNvPr>
          <p:cNvSpPr>
            <a:spLocks noGrp="1"/>
          </p:cNvSpPr>
          <p:nvPr>
            <p:ph type="sldNum" sz="quarter" idx="12"/>
          </p:nvPr>
        </p:nvSpPr>
        <p:spPr/>
        <p:txBody>
          <a:bodyPr/>
          <a:lstStyle/>
          <a:p>
            <a:fld id="{BB2CE0DE-867F-455F-B20B-96D381B4AB71}" type="slidenum">
              <a:rPr lang="en-US" smtClean="0"/>
              <a:t>161</a:t>
            </a:fld>
            <a:endParaRPr lang="en-US"/>
          </a:p>
        </p:txBody>
      </p:sp>
    </p:spTree>
    <p:extLst>
      <p:ext uri="{BB962C8B-B14F-4D97-AF65-F5344CB8AC3E}">
        <p14:creationId xmlns:p14="http://schemas.microsoft.com/office/powerpoint/2010/main" val="148214399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558EE-777C-3A98-245B-76A44437266D}"/>
              </a:ext>
            </a:extLst>
          </p:cNvPr>
          <p:cNvSpPr>
            <a:spLocks noGrp="1"/>
          </p:cNvSpPr>
          <p:nvPr>
            <p:ph type="title"/>
          </p:nvPr>
        </p:nvSpPr>
        <p:spPr/>
        <p:txBody>
          <a:bodyPr/>
          <a:lstStyle/>
          <a:p>
            <a:r>
              <a:rPr lang="en-US" dirty="0"/>
              <a:t>Data Augmentation </a:t>
            </a:r>
            <a:endParaRPr lang="en-IN" dirty="0"/>
          </a:p>
        </p:txBody>
      </p:sp>
      <p:sp>
        <p:nvSpPr>
          <p:cNvPr id="3" name="Content Placeholder 2">
            <a:extLst>
              <a:ext uri="{FF2B5EF4-FFF2-40B4-BE49-F238E27FC236}">
                <a16:creationId xmlns:a16="http://schemas.microsoft.com/office/drawing/2014/main" id="{A8FCE995-DA6A-8D1B-4039-A82FFADE40BE}"/>
              </a:ext>
            </a:extLst>
          </p:cNvPr>
          <p:cNvSpPr>
            <a:spLocks noGrp="1"/>
          </p:cNvSpPr>
          <p:nvPr>
            <p:ph idx="1"/>
          </p:nvPr>
        </p:nvSpPr>
        <p:spPr/>
        <p:txBody>
          <a:bodyPr/>
          <a:lstStyle/>
          <a:p>
            <a:pPr marL="0" indent="0" algn="just">
              <a:buNone/>
            </a:pPr>
            <a:r>
              <a:rPr lang="en-US" sz="1800" dirty="0"/>
              <a:t>The simplest way to eliminate overfitting is data augmentation. Data augmentation is the process of reproducing new training instances from existing ones. It is commonly used in computer vision to regenerate images for convolutional neural networks.</a:t>
            </a:r>
          </a:p>
          <a:p>
            <a:pPr marL="0" indent="0" algn="just">
              <a:buNone/>
            </a:pPr>
            <a:r>
              <a:rPr lang="en-US" sz="1800" dirty="0"/>
              <a:t>Image augmentation is a type of data augmentation technique in which we apply certain transformations to our images to produce multiple copies of the original image that are totally different in terms of size and colors from the original image.</a:t>
            </a:r>
          </a:p>
          <a:p>
            <a:pPr marL="0" indent="0" algn="just">
              <a:buNone/>
            </a:pPr>
            <a:r>
              <a:rPr lang="en-US" sz="1800" dirty="0"/>
              <a:t>Position and Color are the two most common transformation techniques that are used to reproduce data. Position augmentation changes the pixel position of an image. Some famous techniques to do so are — scaling, cropping, flipping, padding, rotation, and translation at different positional values.</a:t>
            </a:r>
          </a:p>
          <a:p>
            <a:pPr marL="0" indent="0" algn="just">
              <a:buNone/>
            </a:pPr>
            <a:r>
              <a:rPr lang="en-US" sz="1800" dirty="0"/>
              <a:t>Color Augmentation deals with altering the color properties of an image by changing its pixel values. Some of the most common techniques of it are changing brightness, contrast, saturation, hue, grayscale, dilation, etc.</a:t>
            </a:r>
            <a:endParaRPr lang="en-IN" sz="1800" dirty="0"/>
          </a:p>
        </p:txBody>
      </p:sp>
      <p:sp>
        <p:nvSpPr>
          <p:cNvPr id="6" name="Slide Number Placeholder 5">
            <a:extLst>
              <a:ext uri="{FF2B5EF4-FFF2-40B4-BE49-F238E27FC236}">
                <a16:creationId xmlns:a16="http://schemas.microsoft.com/office/drawing/2014/main" id="{EBE2AB1C-89FF-2B44-D04F-F61CCF9B2BAB}"/>
              </a:ext>
            </a:extLst>
          </p:cNvPr>
          <p:cNvSpPr>
            <a:spLocks noGrp="1"/>
          </p:cNvSpPr>
          <p:nvPr>
            <p:ph type="sldNum" sz="quarter" idx="12"/>
          </p:nvPr>
        </p:nvSpPr>
        <p:spPr/>
        <p:txBody>
          <a:bodyPr/>
          <a:lstStyle/>
          <a:p>
            <a:fld id="{BB2CE0DE-867F-455F-B20B-96D381B4AB71}" type="slidenum">
              <a:rPr lang="en-US" smtClean="0"/>
              <a:t>162</a:t>
            </a:fld>
            <a:endParaRPr lang="en-US"/>
          </a:p>
        </p:txBody>
      </p:sp>
    </p:spTree>
    <p:extLst>
      <p:ext uri="{BB962C8B-B14F-4D97-AF65-F5344CB8AC3E}">
        <p14:creationId xmlns:p14="http://schemas.microsoft.com/office/powerpoint/2010/main" val="273650906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2343-F034-B8AF-CAD4-4B47F8C9C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3E43-C8E2-A481-14FE-6416EB87FD81}"/>
              </a:ext>
            </a:extLst>
          </p:cNvPr>
          <p:cNvSpPr>
            <a:spLocks noGrp="1"/>
          </p:cNvSpPr>
          <p:nvPr>
            <p:ph type="title"/>
          </p:nvPr>
        </p:nvSpPr>
        <p:spPr/>
        <p:txBody>
          <a:bodyPr/>
          <a:lstStyle/>
          <a:p>
            <a:r>
              <a:rPr lang="en-US" dirty="0"/>
              <a:t>Position Data Augmentation </a:t>
            </a:r>
            <a:endParaRPr lang="en-IN" dirty="0"/>
          </a:p>
        </p:txBody>
      </p:sp>
      <p:sp>
        <p:nvSpPr>
          <p:cNvPr id="6" name="Slide Number Placeholder 5">
            <a:extLst>
              <a:ext uri="{FF2B5EF4-FFF2-40B4-BE49-F238E27FC236}">
                <a16:creationId xmlns:a16="http://schemas.microsoft.com/office/drawing/2014/main" id="{68D23D2A-BCF1-F55B-4B15-2A90CF7A79D3}"/>
              </a:ext>
            </a:extLst>
          </p:cNvPr>
          <p:cNvSpPr>
            <a:spLocks noGrp="1"/>
          </p:cNvSpPr>
          <p:nvPr>
            <p:ph type="sldNum" sz="quarter" idx="12"/>
          </p:nvPr>
        </p:nvSpPr>
        <p:spPr/>
        <p:txBody>
          <a:bodyPr/>
          <a:lstStyle/>
          <a:p>
            <a:fld id="{BB2CE0DE-867F-455F-B20B-96D381B4AB71}" type="slidenum">
              <a:rPr lang="en-US" smtClean="0"/>
              <a:t>163</a:t>
            </a:fld>
            <a:endParaRPr lang="en-US"/>
          </a:p>
        </p:txBody>
      </p:sp>
      <p:pic>
        <p:nvPicPr>
          <p:cNvPr id="7" name="Picture 6">
            <a:extLst>
              <a:ext uri="{FF2B5EF4-FFF2-40B4-BE49-F238E27FC236}">
                <a16:creationId xmlns:a16="http://schemas.microsoft.com/office/drawing/2014/main" id="{F8E526EF-D79B-69F7-06F6-276FE2442B26}"/>
              </a:ext>
            </a:extLst>
          </p:cNvPr>
          <p:cNvPicPr>
            <a:picLocks noChangeAspect="1"/>
          </p:cNvPicPr>
          <p:nvPr/>
        </p:nvPicPr>
        <p:blipFill>
          <a:blip r:embed="rId2"/>
          <a:stretch>
            <a:fillRect/>
          </a:stretch>
        </p:blipFill>
        <p:spPr>
          <a:xfrm>
            <a:off x="1219200" y="833950"/>
            <a:ext cx="7139848" cy="5029200"/>
          </a:xfrm>
          <a:prstGeom prst="rect">
            <a:avLst/>
          </a:prstGeom>
        </p:spPr>
      </p:pic>
    </p:spTree>
    <p:extLst>
      <p:ext uri="{BB962C8B-B14F-4D97-AF65-F5344CB8AC3E}">
        <p14:creationId xmlns:p14="http://schemas.microsoft.com/office/powerpoint/2010/main" val="27929594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5082-7DA5-95E3-E8A0-7584C70F2C99}"/>
              </a:ext>
            </a:extLst>
          </p:cNvPr>
          <p:cNvSpPr>
            <a:spLocks noGrp="1"/>
          </p:cNvSpPr>
          <p:nvPr>
            <p:ph type="title"/>
          </p:nvPr>
        </p:nvSpPr>
        <p:spPr/>
        <p:txBody>
          <a:bodyPr/>
          <a:lstStyle/>
          <a:p>
            <a:r>
              <a:rPr lang="en-US" dirty="0"/>
              <a:t>Color Augmentation </a:t>
            </a:r>
            <a:endParaRPr lang="en-IN" dirty="0"/>
          </a:p>
        </p:txBody>
      </p:sp>
      <p:sp>
        <p:nvSpPr>
          <p:cNvPr id="6" name="Slide Number Placeholder 5">
            <a:extLst>
              <a:ext uri="{FF2B5EF4-FFF2-40B4-BE49-F238E27FC236}">
                <a16:creationId xmlns:a16="http://schemas.microsoft.com/office/drawing/2014/main" id="{4BB95AC8-7BAF-29EC-5E00-D4E2F1D7A313}"/>
              </a:ext>
            </a:extLst>
          </p:cNvPr>
          <p:cNvSpPr>
            <a:spLocks noGrp="1"/>
          </p:cNvSpPr>
          <p:nvPr>
            <p:ph type="sldNum" sz="quarter" idx="12"/>
          </p:nvPr>
        </p:nvSpPr>
        <p:spPr/>
        <p:txBody>
          <a:bodyPr/>
          <a:lstStyle/>
          <a:p>
            <a:fld id="{BB2CE0DE-867F-455F-B20B-96D381B4AB71}" type="slidenum">
              <a:rPr lang="en-US" smtClean="0"/>
              <a:t>164</a:t>
            </a:fld>
            <a:endParaRPr lang="en-US"/>
          </a:p>
        </p:txBody>
      </p:sp>
      <p:pic>
        <p:nvPicPr>
          <p:cNvPr id="9" name="Picture 8">
            <a:extLst>
              <a:ext uri="{FF2B5EF4-FFF2-40B4-BE49-F238E27FC236}">
                <a16:creationId xmlns:a16="http://schemas.microsoft.com/office/drawing/2014/main" id="{8C5E2135-80CA-8442-B632-BC296CCA6C6F}"/>
              </a:ext>
            </a:extLst>
          </p:cNvPr>
          <p:cNvPicPr>
            <a:picLocks noChangeAspect="1"/>
          </p:cNvPicPr>
          <p:nvPr/>
        </p:nvPicPr>
        <p:blipFill>
          <a:blip r:embed="rId2"/>
          <a:stretch>
            <a:fillRect/>
          </a:stretch>
        </p:blipFill>
        <p:spPr>
          <a:xfrm>
            <a:off x="457200" y="1143000"/>
            <a:ext cx="7982177" cy="4728937"/>
          </a:xfrm>
          <a:prstGeom prst="rect">
            <a:avLst/>
          </a:prstGeom>
        </p:spPr>
      </p:pic>
    </p:spTree>
    <p:extLst>
      <p:ext uri="{BB962C8B-B14F-4D97-AF65-F5344CB8AC3E}">
        <p14:creationId xmlns:p14="http://schemas.microsoft.com/office/powerpoint/2010/main" val="194854389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F62F4-F9A5-87E5-DAFB-DB53BD9E8DC6}"/>
              </a:ext>
            </a:extLst>
          </p:cNvPr>
          <p:cNvSpPr>
            <a:spLocks noGrp="1"/>
          </p:cNvSpPr>
          <p:nvPr>
            <p:ph type="title"/>
          </p:nvPr>
        </p:nvSpPr>
        <p:spPr/>
        <p:txBody>
          <a:bodyPr/>
          <a:lstStyle/>
          <a:p>
            <a:r>
              <a:rPr lang="en-IN" dirty="0"/>
              <a:t>Data Augmentation (</a:t>
            </a:r>
            <a:r>
              <a:rPr lang="en-IN" dirty="0" err="1"/>
              <a:t>Contd</a:t>
            </a:r>
            <a:r>
              <a:rPr lang="en-IN" dirty="0"/>
              <a:t>…)</a:t>
            </a:r>
          </a:p>
        </p:txBody>
      </p:sp>
      <p:sp>
        <p:nvSpPr>
          <p:cNvPr id="3" name="Content Placeholder 2">
            <a:extLst>
              <a:ext uri="{FF2B5EF4-FFF2-40B4-BE49-F238E27FC236}">
                <a16:creationId xmlns:a16="http://schemas.microsoft.com/office/drawing/2014/main" id="{191A662C-6D9B-49D8-769C-5FDE34C1F2DD}"/>
              </a:ext>
            </a:extLst>
          </p:cNvPr>
          <p:cNvSpPr>
            <a:spLocks noGrp="1"/>
          </p:cNvSpPr>
          <p:nvPr>
            <p:ph idx="1"/>
          </p:nvPr>
        </p:nvSpPr>
        <p:spPr/>
        <p:txBody>
          <a:bodyPr/>
          <a:lstStyle/>
          <a:p>
            <a:pPr marL="0" indent="0" algn="just">
              <a:buNone/>
            </a:pPr>
            <a:r>
              <a:rPr lang="en-US" sz="2000" dirty="0"/>
              <a:t>One must be careful not to apply transformations that would change the correct class. </a:t>
            </a:r>
          </a:p>
          <a:p>
            <a:pPr marL="0" indent="0" algn="just">
              <a:buNone/>
            </a:pPr>
            <a:r>
              <a:rPr lang="en-US" sz="2000" dirty="0"/>
              <a:t>For example, optical character recognition tasks require recognizing the difference between ‘b’ and ‘d’ and the difference between ‘6’ and ‘9’, so horizontal flips and 180◦ rotations are not appropriate ways of augmenting datasets for these tasks.</a:t>
            </a:r>
            <a:endParaRPr lang="en-IN" sz="2000" dirty="0"/>
          </a:p>
        </p:txBody>
      </p:sp>
      <p:sp>
        <p:nvSpPr>
          <p:cNvPr id="6" name="Slide Number Placeholder 5">
            <a:extLst>
              <a:ext uri="{FF2B5EF4-FFF2-40B4-BE49-F238E27FC236}">
                <a16:creationId xmlns:a16="http://schemas.microsoft.com/office/drawing/2014/main" id="{34B8B82F-648B-E68F-3ABA-9F3F5C21F1D3}"/>
              </a:ext>
            </a:extLst>
          </p:cNvPr>
          <p:cNvSpPr>
            <a:spLocks noGrp="1"/>
          </p:cNvSpPr>
          <p:nvPr>
            <p:ph type="sldNum" sz="quarter" idx="12"/>
          </p:nvPr>
        </p:nvSpPr>
        <p:spPr/>
        <p:txBody>
          <a:bodyPr/>
          <a:lstStyle/>
          <a:p>
            <a:fld id="{BB2CE0DE-867F-455F-B20B-96D381B4AB71}" type="slidenum">
              <a:rPr lang="en-US" smtClean="0"/>
              <a:t>165</a:t>
            </a:fld>
            <a:endParaRPr lang="en-US"/>
          </a:p>
        </p:txBody>
      </p:sp>
    </p:spTree>
    <p:extLst>
      <p:ext uri="{BB962C8B-B14F-4D97-AF65-F5344CB8AC3E}">
        <p14:creationId xmlns:p14="http://schemas.microsoft.com/office/powerpoint/2010/main" val="428349690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E130-02AA-4D6B-A4C1-DBB00D50D69A}"/>
              </a:ext>
            </a:extLst>
          </p:cNvPr>
          <p:cNvSpPr>
            <a:spLocks noGrp="1"/>
          </p:cNvSpPr>
          <p:nvPr>
            <p:ph type="title"/>
          </p:nvPr>
        </p:nvSpPr>
        <p:spPr/>
        <p:txBody>
          <a:bodyPr/>
          <a:lstStyle/>
          <a:p>
            <a:r>
              <a:rPr lang="en-US" dirty="0"/>
              <a:t>Regularization</a:t>
            </a:r>
            <a:endParaRPr lang="en-IN" dirty="0"/>
          </a:p>
        </p:txBody>
      </p:sp>
      <p:sp>
        <p:nvSpPr>
          <p:cNvPr id="3" name="Content Placeholder 2">
            <a:extLst>
              <a:ext uri="{FF2B5EF4-FFF2-40B4-BE49-F238E27FC236}">
                <a16:creationId xmlns:a16="http://schemas.microsoft.com/office/drawing/2014/main" id="{2B5C2C8F-0432-4416-AF5E-FF328D4FBB3D}"/>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pPr marL="0" indent="0" algn="just">
              <a:buNone/>
            </a:pPr>
            <a:r>
              <a:rPr lang="en-US" sz="1500" kern="1200" dirty="0">
                <a:solidFill>
                  <a:schemeClr val="tx1"/>
                </a:solidFill>
              </a:rPr>
              <a:t>Regularization is a collection of strategies that can assist prevent overfitting in neural networks and improve their accuracy by modifying the learning procedure slightly such that the model generalizes more successfully. The model then performs better on the unobserved data as a result.</a:t>
            </a:r>
            <a:endParaRPr lang="en-IN" sz="1500" dirty="0"/>
          </a:p>
          <a:p>
            <a:endParaRPr lang="en-IN" dirty="0"/>
          </a:p>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EAB563F8-77E9-4C26-96CE-9665766A6F8F}"/>
              </a:ext>
            </a:extLst>
          </p:cNvPr>
          <p:cNvPicPr>
            <a:picLocks noChangeAspect="1"/>
          </p:cNvPicPr>
          <p:nvPr/>
        </p:nvPicPr>
        <p:blipFill>
          <a:blip r:embed="rId3"/>
          <a:stretch>
            <a:fillRect/>
          </a:stretch>
        </p:blipFill>
        <p:spPr>
          <a:xfrm>
            <a:off x="576792" y="1295401"/>
            <a:ext cx="8386122" cy="2705412"/>
          </a:xfrm>
          <a:prstGeom prst="rect">
            <a:avLst/>
          </a:prstGeom>
        </p:spPr>
      </p:pic>
      <p:sp>
        <p:nvSpPr>
          <p:cNvPr id="5" name="TextBox 4">
            <a:extLst>
              <a:ext uri="{FF2B5EF4-FFF2-40B4-BE49-F238E27FC236}">
                <a16:creationId xmlns:a16="http://schemas.microsoft.com/office/drawing/2014/main" id="{F4437835-FA46-5FD3-DAA4-964837A55876}"/>
              </a:ext>
            </a:extLst>
          </p:cNvPr>
          <p:cNvSpPr txBox="1"/>
          <p:nvPr/>
        </p:nvSpPr>
        <p:spPr>
          <a:xfrm>
            <a:off x="1314450" y="4686300"/>
            <a:ext cx="57150" cy="300082"/>
          </a:xfrm>
          <a:prstGeom prst="rect">
            <a:avLst/>
          </a:prstGeom>
          <a:noFill/>
        </p:spPr>
        <p:txBody>
          <a:bodyPr wrap="square" rtlCol="0">
            <a:spAutoFit/>
          </a:bodyPr>
          <a:lstStyle/>
          <a:p>
            <a:endParaRPr lang="en-IN" sz="1350" dirty="0"/>
          </a:p>
        </p:txBody>
      </p:sp>
      <p:sp>
        <p:nvSpPr>
          <p:cNvPr id="7" name="Slide Number Placeholder 6">
            <a:extLst>
              <a:ext uri="{FF2B5EF4-FFF2-40B4-BE49-F238E27FC236}">
                <a16:creationId xmlns:a16="http://schemas.microsoft.com/office/drawing/2014/main" id="{1977BFCD-09E1-CC74-B604-CECEBEDD86ED}"/>
              </a:ext>
            </a:extLst>
          </p:cNvPr>
          <p:cNvSpPr>
            <a:spLocks noGrp="1"/>
          </p:cNvSpPr>
          <p:nvPr>
            <p:ph type="sldNum" sz="quarter" idx="12"/>
          </p:nvPr>
        </p:nvSpPr>
        <p:spPr/>
        <p:txBody>
          <a:bodyPr/>
          <a:lstStyle/>
          <a:p>
            <a:fld id="{BB2CE0DE-867F-455F-B20B-96D381B4AB71}" type="slidenum">
              <a:rPr lang="en-US" smtClean="0"/>
              <a:t>166</a:t>
            </a:fld>
            <a:endParaRPr lang="en-US"/>
          </a:p>
        </p:txBody>
      </p:sp>
    </p:spTree>
    <p:extLst>
      <p:ext uri="{BB962C8B-B14F-4D97-AF65-F5344CB8AC3E}">
        <p14:creationId xmlns:p14="http://schemas.microsoft.com/office/powerpoint/2010/main" val="195190865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2FC6-83BA-49FF-A585-E25EC2096FA1}"/>
              </a:ext>
            </a:extLst>
          </p:cNvPr>
          <p:cNvSpPr>
            <a:spLocks noGrp="1"/>
          </p:cNvSpPr>
          <p:nvPr>
            <p:ph type="title"/>
          </p:nvPr>
        </p:nvSpPr>
        <p:spPr/>
        <p:txBody>
          <a:bodyPr/>
          <a:lstStyle/>
          <a:p>
            <a:r>
              <a:rPr lang="en-US" sz="3200" dirty="0">
                <a:solidFill>
                  <a:srgbClr val="242424"/>
                </a:solidFill>
                <a:latin typeface="source-serif-pro"/>
              </a:rPr>
              <a:t>How can we do regularization?</a:t>
            </a:r>
            <a:endParaRPr lang="en-IN" dirty="0"/>
          </a:p>
        </p:txBody>
      </p:sp>
      <p:sp>
        <p:nvSpPr>
          <p:cNvPr id="3" name="Content Placeholder 2">
            <a:extLst>
              <a:ext uri="{FF2B5EF4-FFF2-40B4-BE49-F238E27FC236}">
                <a16:creationId xmlns:a16="http://schemas.microsoft.com/office/drawing/2014/main" id="{D1520AA8-9E85-4C4B-A897-949728579907}"/>
              </a:ext>
            </a:extLst>
          </p:cNvPr>
          <p:cNvSpPr>
            <a:spLocks noGrp="1"/>
          </p:cNvSpPr>
          <p:nvPr>
            <p:ph idx="1"/>
          </p:nvPr>
        </p:nvSpPr>
        <p:spPr/>
        <p:txBody>
          <a:bodyPr/>
          <a:lstStyle/>
          <a:p>
            <a:pPr marL="0" indent="0">
              <a:buNone/>
            </a:pPr>
            <a:r>
              <a:rPr lang="en-US" sz="3200" dirty="0">
                <a:solidFill>
                  <a:srgbClr val="242424"/>
                </a:solidFill>
                <a:latin typeface="source-serif-pro"/>
              </a:rPr>
              <a:t>Theoretically, we add the regularization term to the objective function and optimize the parameters based on it</a:t>
            </a:r>
            <a:endParaRPr lang="en-IN" dirty="0"/>
          </a:p>
        </p:txBody>
      </p:sp>
      <p:sp>
        <p:nvSpPr>
          <p:cNvPr id="4" name="Date Placeholder 3">
            <a:extLst>
              <a:ext uri="{FF2B5EF4-FFF2-40B4-BE49-F238E27FC236}">
                <a16:creationId xmlns:a16="http://schemas.microsoft.com/office/drawing/2014/main" id="{6A357685-B580-4406-8B25-36B80C8A583F}"/>
              </a:ext>
            </a:extLst>
          </p:cNvPr>
          <p:cNvSpPr>
            <a:spLocks noGrp="1"/>
          </p:cNvSpPr>
          <p:nvPr>
            <p:ph type="dt" sz="half" idx="10"/>
          </p:nvPr>
        </p:nvSpPr>
        <p:spPr/>
        <p:txBody>
          <a:bodyPr/>
          <a:lstStyle/>
          <a:p>
            <a:fld id="{59A993AC-6FC6-4FD7-BA84-6FD82A41DCAC}" type="datetime3">
              <a:rPr lang="en-US" smtClean="0"/>
              <a:t>7 May 2026</a:t>
            </a:fld>
            <a:endParaRPr lang="en-US"/>
          </a:p>
        </p:txBody>
      </p:sp>
      <p:sp>
        <p:nvSpPr>
          <p:cNvPr id="5" name="Footer Placeholder 4">
            <a:extLst>
              <a:ext uri="{FF2B5EF4-FFF2-40B4-BE49-F238E27FC236}">
                <a16:creationId xmlns:a16="http://schemas.microsoft.com/office/drawing/2014/main" id="{64BBF249-D9C9-435E-AC0C-BD097801096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95986F3-D7C7-4590-9D72-71F049E2233B}"/>
              </a:ext>
            </a:extLst>
          </p:cNvPr>
          <p:cNvSpPr>
            <a:spLocks noGrp="1"/>
          </p:cNvSpPr>
          <p:nvPr>
            <p:ph type="sldNum" sz="quarter" idx="12"/>
          </p:nvPr>
        </p:nvSpPr>
        <p:spPr/>
        <p:txBody>
          <a:bodyPr/>
          <a:lstStyle/>
          <a:p>
            <a:fld id="{BB2CE0DE-867F-455F-B20B-96D381B4AB71}" type="slidenum">
              <a:rPr lang="en-US" smtClean="0"/>
              <a:t>167</a:t>
            </a:fld>
            <a:endParaRPr lang="en-US"/>
          </a:p>
        </p:txBody>
      </p:sp>
      <p:pic>
        <p:nvPicPr>
          <p:cNvPr id="7" name="Picture 6">
            <a:extLst>
              <a:ext uri="{FF2B5EF4-FFF2-40B4-BE49-F238E27FC236}">
                <a16:creationId xmlns:a16="http://schemas.microsoft.com/office/drawing/2014/main" id="{3053B854-C661-44C2-8E41-0847A4276D91}"/>
              </a:ext>
            </a:extLst>
          </p:cNvPr>
          <p:cNvPicPr>
            <a:picLocks noChangeAspect="1"/>
          </p:cNvPicPr>
          <p:nvPr/>
        </p:nvPicPr>
        <p:blipFill rotWithShape="1">
          <a:blip r:embed="rId2"/>
          <a:srcRect b="46548"/>
          <a:stretch/>
        </p:blipFill>
        <p:spPr>
          <a:xfrm>
            <a:off x="457199" y="3505200"/>
            <a:ext cx="8498439" cy="2591183"/>
          </a:xfrm>
          <a:prstGeom prst="rect">
            <a:avLst/>
          </a:prstGeom>
        </p:spPr>
      </p:pic>
    </p:spTree>
    <p:extLst>
      <p:ext uri="{BB962C8B-B14F-4D97-AF65-F5344CB8AC3E}">
        <p14:creationId xmlns:p14="http://schemas.microsoft.com/office/powerpoint/2010/main" val="9703845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70F0-80E1-D001-AD09-89036B6D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A2D5-21DC-6173-F994-457D15AF9B05}"/>
              </a:ext>
            </a:extLst>
          </p:cNvPr>
          <p:cNvSpPr>
            <a:spLocks noGrp="1"/>
          </p:cNvSpPr>
          <p:nvPr>
            <p:ph type="title"/>
          </p:nvPr>
        </p:nvSpPr>
        <p:spPr/>
        <p:txBody>
          <a:bodyPr/>
          <a:lstStyle/>
          <a:p>
            <a:r>
              <a:rPr lang="en-IN" sz="2400" dirty="0"/>
              <a:t>L1 and L2 Regularization</a:t>
            </a:r>
          </a:p>
        </p:txBody>
      </p:sp>
      <p:pic>
        <p:nvPicPr>
          <p:cNvPr id="5" name="Picture 4">
            <a:extLst>
              <a:ext uri="{FF2B5EF4-FFF2-40B4-BE49-F238E27FC236}">
                <a16:creationId xmlns:a16="http://schemas.microsoft.com/office/drawing/2014/main" id="{761D80F0-9C40-A669-56A6-459FF72918BB}"/>
              </a:ext>
            </a:extLst>
          </p:cNvPr>
          <p:cNvPicPr>
            <a:picLocks noChangeAspect="1"/>
          </p:cNvPicPr>
          <p:nvPr/>
        </p:nvPicPr>
        <p:blipFill>
          <a:blip r:embed="rId3"/>
          <a:stretch>
            <a:fillRect/>
          </a:stretch>
        </p:blipFill>
        <p:spPr>
          <a:xfrm>
            <a:off x="830793" y="1426330"/>
            <a:ext cx="2843213" cy="776215"/>
          </a:xfrm>
          <a:prstGeom prst="rect">
            <a:avLst/>
          </a:prstGeom>
        </p:spPr>
      </p:pic>
      <p:sp>
        <p:nvSpPr>
          <p:cNvPr id="6" name="TextBox 5">
            <a:extLst>
              <a:ext uri="{FF2B5EF4-FFF2-40B4-BE49-F238E27FC236}">
                <a16:creationId xmlns:a16="http://schemas.microsoft.com/office/drawing/2014/main" id="{DDB129CB-6194-DCEB-FCA5-F0024EB5229B}"/>
              </a:ext>
            </a:extLst>
          </p:cNvPr>
          <p:cNvSpPr txBox="1"/>
          <p:nvPr/>
        </p:nvSpPr>
        <p:spPr>
          <a:xfrm>
            <a:off x="891917" y="2275396"/>
            <a:ext cx="2956835" cy="300082"/>
          </a:xfrm>
          <a:prstGeom prst="rect">
            <a:avLst/>
          </a:prstGeom>
          <a:noFill/>
        </p:spPr>
        <p:txBody>
          <a:bodyPr wrap="none" rtlCol="0">
            <a:spAutoFit/>
          </a:bodyPr>
          <a:lstStyle/>
          <a:p>
            <a:r>
              <a:rPr lang="en-US" sz="1350" dirty="0"/>
              <a:t>L1 Regularization added to Loss</a:t>
            </a:r>
            <a:endParaRPr lang="en-IN" sz="1350" dirty="0"/>
          </a:p>
        </p:txBody>
      </p:sp>
      <p:pic>
        <p:nvPicPr>
          <p:cNvPr id="7" name="Picture 6">
            <a:extLst>
              <a:ext uri="{FF2B5EF4-FFF2-40B4-BE49-F238E27FC236}">
                <a16:creationId xmlns:a16="http://schemas.microsoft.com/office/drawing/2014/main" id="{6814CCE1-B8AB-6D95-F464-61C9AB5266FC}"/>
              </a:ext>
            </a:extLst>
          </p:cNvPr>
          <p:cNvPicPr>
            <a:picLocks noChangeAspect="1"/>
          </p:cNvPicPr>
          <p:nvPr/>
        </p:nvPicPr>
        <p:blipFill>
          <a:blip r:embed="rId4"/>
          <a:stretch>
            <a:fillRect/>
          </a:stretch>
        </p:blipFill>
        <p:spPr>
          <a:xfrm>
            <a:off x="4343400" y="1332063"/>
            <a:ext cx="2843213" cy="798252"/>
          </a:xfrm>
          <a:prstGeom prst="rect">
            <a:avLst/>
          </a:prstGeom>
        </p:spPr>
      </p:pic>
      <p:sp>
        <p:nvSpPr>
          <p:cNvPr id="8" name="TextBox 7">
            <a:extLst>
              <a:ext uri="{FF2B5EF4-FFF2-40B4-BE49-F238E27FC236}">
                <a16:creationId xmlns:a16="http://schemas.microsoft.com/office/drawing/2014/main" id="{05A4137C-0C07-8790-757E-56FE03A23A11}"/>
              </a:ext>
            </a:extLst>
          </p:cNvPr>
          <p:cNvSpPr txBox="1"/>
          <p:nvPr/>
        </p:nvSpPr>
        <p:spPr>
          <a:xfrm>
            <a:off x="4457701" y="2210094"/>
            <a:ext cx="2956835" cy="300082"/>
          </a:xfrm>
          <a:prstGeom prst="rect">
            <a:avLst/>
          </a:prstGeom>
          <a:noFill/>
        </p:spPr>
        <p:txBody>
          <a:bodyPr wrap="none" rtlCol="0">
            <a:spAutoFit/>
          </a:bodyPr>
          <a:lstStyle/>
          <a:p>
            <a:r>
              <a:rPr lang="en-US" sz="1350" dirty="0"/>
              <a:t>L2 Regularization added to Loss</a:t>
            </a:r>
            <a:endParaRPr lang="en-IN" sz="1350" dirty="0"/>
          </a:p>
        </p:txBody>
      </p:sp>
      <p:sp>
        <p:nvSpPr>
          <p:cNvPr id="3" name="Slide Number Placeholder 2">
            <a:extLst>
              <a:ext uri="{FF2B5EF4-FFF2-40B4-BE49-F238E27FC236}">
                <a16:creationId xmlns:a16="http://schemas.microsoft.com/office/drawing/2014/main" id="{8C90789E-5FA5-996D-FC4D-3F03BF6EAA82}"/>
              </a:ext>
            </a:extLst>
          </p:cNvPr>
          <p:cNvSpPr>
            <a:spLocks noGrp="1"/>
          </p:cNvSpPr>
          <p:nvPr>
            <p:ph type="sldNum" sz="quarter" idx="12"/>
          </p:nvPr>
        </p:nvSpPr>
        <p:spPr/>
        <p:txBody>
          <a:bodyPr/>
          <a:lstStyle/>
          <a:p>
            <a:fld id="{BB2CE0DE-867F-455F-B20B-96D381B4AB71}" type="slidenum">
              <a:rPr lang="en-US" smtClean="0"/>
              <a:t>168</a:t>
            </a:fld>
            <a:endParaRPr lang="en-US"/>
          </a:p>
        </p:txBody>
      </p:sp>
      <p:pic>
        <p:nvPicPr>
          <p:cNvPr id="9" name="Picture 8">
            <a:extLst>
              <a:ext uri="{FF2B5EF4-FFF2-40B4-BE49-F238E27FC236}">
                <a16:creationId xmlns:a16="http://schemas.microsoft.com/office/drawing/2014/main" id="{C3071579-C6E6-4A54-A543-5018A9B57B23}"/>
              </a:ext>
            </a:extLst>
          </p:cNvPr>
          <p:cNvPicPr>
            <a:picLocks noChangeAspect="1"/>
          </p:cNvPicPr>
          <p:nvPr/>
        </p:nvPicPr>
        <p:blipFill>
          <a:blip r:embed="rId5"/>
          <a:stretch>
            <a:fillRect/>
          </a:stretch>
        </p:blipFill>
        <p:spPr>
          <a:xfrm>
            <a:off x="685800" y="2859192"/>
            <a:ext cx="6906589" cy="1133633"/>
          </a:xfrm>
          <a:prstGeom prst="rect">
            <a:avLst/>
          </a:prstGeom>
        </p:spPr>
      </p:pic>
      <p:sp>
        <p:nvSpPr>
          <p:cNvPr id="10" name="TextBox 9">
            <a:extLst>
              <a:ext uri="{FF2B5EF4-FFF2-40B4-BE49-F238E27FC236}">
                <a16:creationId xmlns:a16="http://schemas.microsoft.com/office/drawing/2014/main" id="{04C3A3B9-E824-4CC4-A2B4-192D260FA249}"/>
              </a:ext>
            </a:extLst>
          </p:cNvPr>
          <p:cNvSpPr txBox="1"/>
          <p:nvPr/>
        </p:nvSpPr>
        <p:spPr>
          <a:xfrm>
            <a:off x="514102" y="5421751"/>
            <a:ext cx="7772897" cy="507831"/>
          </a:xfrm>
          <a:prstGeom prst="rect">
            <a:avLst/>
          </a:prstGeom>
          <a:noFill/>
        </p:spPr>
        <p:txBody>
          <a:bodyPr wrap="none" rtlCol="0">
            <a:spAutoFit/>
          </a:bodyPr>
          <a:lstStyle/>
          <a:p>
            <a:r>
              <a:rPr lang="en-US" sz="1350" dirty="0"/>
              <a:t>L2 regularization shrinks weights continuously, </a:t>
            </a:r>
          </a:p>
          <a:p>
            <a:r>
              <a:rPr lang="en-US" sz="1350" dirty="0"/>
              <a:t>while L1 regularization pushes small weights exactly to zero, producing sparse models.</a:t>
            </a:r>
            <a:endParaRPr lang="en-IN" sz="1350" dirty="0"/>
          </a:p>
        </p:txBody>
      </p:sp>
    </p:spTree>
    <p:extLst>
      <p:ext uri="{BB962C8B-B14F-4D97-AF65-F5344CB8AC3E}">
        <p14:creationId xmlns:p14="http://schemas.microsoft.com/office/powerpoint/2010/main" val="104225861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30B14-E5C0-49EE-AACD-B7957D9F556C}"/>
              </a:ext>
            </a:extLst>
          </p:cNvPr>
          <p:cNvSpPr>
            <a:spLocks noGrp="1"/>
          </p:cNvSpPr>
          <p:nvPr>
            <p:ph type="title"/>
          </p:nvPr>
        </p:nvSpPr>
        <p:spPr/>
        <p:txBody>
          <a:bodyPr/>
          <a:lstStyle/>
          <a:p>
            <a:r>
              <a:rPr lang="en-US" sz="1600" dirty="0"/>
              <a:t>Why does L1 create sparse weights, but L2 only makes weights small?</a:t>
            </a:r>
            <a:endParaRPr lang="en-IN" sz="1600" dirty="0"/>
          </a:p>
        </p:txBody>
      </p:sp>
      <p:sp>
        <p:nvSpPr>
          <p:cNvPr id="3" name="Content Placeholder 2">
            <a:extLst>
              <a:ext uri="{FF2B5EF4-FFF2-40B4-BE49-F238E27FC236}">
                <a16:creationId xmlns:a16="http://schemas.microsoft.com/office/drawing/2014/main" id="{0D755DE6-84D0-414D-8420-0DF1BB252A9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793E10E2-BCF0-45F3-9648-BA50D19DE1EC}"/>
              </a:ext>
            </a:extLst>
          </p:cNvPr>
          <p:cNvSpPr>
            <a:spLocks noGrp="1"/>
          </p:cNvSpPr>
          <p:nvPr>
            <p:ph type="sldNum" sz="quarter" idx="12"/>
          </p:nvPr>
        </p:nvSpPr>
        <p:spPr/>
        <p:txBody>
          <a:bodyPr/>
          <a:lstStyle/>
          <a:p>
            <a:fld id="{BB2CE0DE-867F-455F-B20B-96D381B4AB71}" type="slidenum">
              <a:rPr lang="en-US" smtClean="0"/>
              <a:t>169</a:t>
            </a:fld>
            <a:endParaRPr lang="en-US"/>
          </a:p>
        </p:txBody>
      </p:sp>
      <p:pic>
        <p:nvPicPr>
          <p:cNvPr id="8" name="Picture 7">
            <a:extLst>
              <a:ext uri="{FF2B5EF4-FFF2-40B4-BE49-F238E27FC236}">
                <a16:creationId xmlns:a16="http://schemas.microsoft.com/office/drawing/2014/main" id="{ED4871E8-82F4-4215-8778-92B362D4FB45}"/>
              </a:ext>
            </a:extLst>
          </p:cNvPr>
          <p:cNvPicPr>
            <a:picLocks noChangeAspect="1"/>
          </p:cNvPicPr>
          <p:nvPr/>
        </p:nvPicPr>
        <p:blipFill>
          <a:blip r:embed="rId2"/>
          <a:stretch>
            <a:fillRect/>
          </a:stretch>
        </p:blipFill>
        <p:spPr>
          <a:xfrm>
            <a:off x="574675" y="1220056"/>
            <a:ext cx="5368925" cy="5096768"/>
          </a:xfrm>
          <a:prstGeom prst="rect">
            <a:avLst/>
          </a:prstGeom>
        </p:spPr>
      </p:pic>
    </p:spTree>
    <p:extLst>
      <p:ext uri="{BB962C8B-B14F-4D97-AF65-F5344CB8AC3E}">
        <p14:creationId xmlns:p14="http://schemas.microsoft.com/office/powerpoint/2010/main" val="289047792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92A5-338A-4E23-BD37-4937023F8261}"/>
              </a:ext>
            </a:extLst>
          </p:cNvPr>
          <p:cNvSpPr>
            <a:spLocks noGrp="1"/>
          </p:cNvSpPr>
          <p:nvPr>
            <p:ph type="title"/>
          </p:nvPr>
        </p:nvSpPr>
        <p:spPr/>
        <p:txBody>
          <a:bodyPr/>
          <a:lstStyle/>
          <a:p>
            <a:r>
              <a:rPr lang="en-US" sz="1600" dirty="0"/>
              <a:t>Why does L1 create sparse weights, but L2 only makes weights small?</a:t>
            </a:r>
            <a:endParaRPr lang="en-IN" sz="1600" dirty="0"/>
          </a:p>
        </p:txBody>
      </p:sp>
      <p:sp>
        <p:nvSpPr>
          <p:cNvPr id="3" name="Content Placeholder 2">
            <a:extLst>
              <a:ext uri="{FF2B5EF4-FFF2-40B4-BE49-F238E27FC236}">
                <a16:creationId xmlns:a16="http://schemas.microsoft.com/office/drawing/2014/main" id="{667F00C5-7CEE-48E2-89A3-F34F7AE14D4B}"/>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324CAE2-2262-4EEA-ABE3-1ECEC583402E}"/>
              </a:ext>
            </a:extLst>
          </p:cNvPr>
          <p:cNvSpPr>
            <a:spLocks noGrp="1"/>
          </p:cNvSpPr>
          <p:nvPr>
            <p:ph type="sldNum" sz="quarter" idx="12"/>
          </p:nvPr>
        </p:nvSpPr>
        <p:spPr/>
        <p:txBody>
          <a:bodyPr/>
          <a:lstStyle/>
          <a:p>
            <a:fld id="{BB2CE0DE-867F-455F-B20B-96D381B4AB71}" type="slidenum">
              <a:rPr lang="en-US" smtClean="0"/>
              <a:t>170</a:t>
            </a:fld>
            <a:endParaRPr lang="en-US"/>
          </a:p>
        </p:txBody>
      </p:sp>
      <p:pic>
        <p:nvPicPr>
          <p:cNvPr id="6" name="Picture 5">
            <a:extLst>
              <a:ext uri="{FF2B5EF4-FFF2-40B4-BE49-F238E27FC236}">
                <a16:creationId xmlns:a16="http://schemas.microsoft.com/office/drawing/2014/main" id="{BED0674A-DFBD-4D14-A8C3-8AD07C1D49DB}"/>
              </a:ext>
            </a:extLst>
          </p:cNvPr>
          <p:cNvPicPr>
            <a:picLocks noChangeAspect="1"/>
          </p:cNvPicPr>
          <p:nvPr/>
        </p:nvPicPr>
        <p:blipFill>
          <a:blip r:embed="rId2"/>
          <a:stretch>
            <a:fillRect/>
          </a:stretch>
        </p:blipFill>
        <p:spPr>
          <a:xfrm>
            <a:off x="457200" y="1219200"/>
            <a:ext cx="6400800" cy="5169292"/>
          </a:xfrm>
          <a:prstGeom prst="rect">
            <a:avLst/>
          </a:prstGeom>
        </p:spPr>
      </p:pic>
    </p:spTree>
    <p:extLst>
      <p:ext uri="{BB962C8B-B14F-4D97-AF65-F5344CB8AC3E}">
        <p14:creationId xmlns:p14="http://schemas.microsoft.com/office/powerpoint/2010/main" val="138137995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6BFF-17CE-42F1-BE32-B8B0A78735A0}"/>
              </a:ext>
            </a:extLst>
          </p:cNvPr>
          <p:cNvSpPr>
            <a:spLocks noGrp="1"/>
          </p:cNvSpPr>
          <p:nvPr>
            <p:ph type="title"/>
          </p:nvPr>
        </p:nvSpPr>
        <p:spPr/>
        <p:txBody>
          <a:bodyPr/>
          <a:lstStyle/>
          <a:p>
            <a:r>
              <a:rPr lang="en-US" sz="1600" dirty="0"/>
              <a:t>Why does L1 create sparse weights, but L2 only makes weights small?</a:t>
            </a:r>
            <a:endParaRPr lang="en-IN" sz="1600" dirty="0"/>
          </a:p>
        </p:txBody>
      </p:sp>
      <p:sp>
        <p:nvSpPr>
          <p:cNvPr id="3" name="Content Placeholder 2">
            <a:extLst>
              <a:ext uri="{FF2B5EF4-FFF2-40B4-BE49-F238E27FC236}">
                <a16:creationId xmlns:a16="http://schemas.microsoft.com/office/drawing/2014/main" id="{16347E2E-9246-4E0F-8E68-E6EFDC43F9C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FF415A0-6DE0-4EC3-89D4-C996AB8A0EF9}"/>
              </a:ext>
            </a:extLst>
          </p:cNvPr>
          <p:cNvSpPr>
            <a:spLocks noGrp="1"/>
          </p:cNvSpPr>
          <p:nvPr>
            <p:ph type="sldNum" sz="quarter" idx="12"/>
          </p:nvPr>
        </p:nvSpPr>
        <p:spPr/>
        <p:txBody>
          <a:bodyPr/>
          <a:lstStyle/>
          <a:p>
            <a:fld id="{BB2CE0DE-867F-455F-B20B-96D381B4AB71}" type="slidenum">
              <a:rPr lang="en-US" smtClean="0"/>
              <a:t>171</a:t>
            </a:fld>
            <a:endParaRPr lang="en-US"/>
          </a:p>
        </p:txBody>
      </p:sp>
      <p:pic>
        <p:nvPicPr>
          <p:cNvPr id="6" name="Picture 5">
            <a:extLst>
              <a:ext uri="{FF2B5EF4-FFF2-40B4-BE49-F238E27FC236}">
                <a16:creationId xmlns:a16="http://schemas.microsoft.com/office/drawing/2014/main" id="{C438BBB5-551B-432B-BB0E-A895A8C1A4E5}"/>
              </a:ext>
            </a:extLst>
          </p:cNvPr>
          <p:cNvPicPr>
            <a:picLocks noChangeAspect="1"/>
          </p:cNvPicPr>
          <p:nvPr/>
        </p:nvPicPr>
        <p:blipFill>
          <a:blip r:embed="rId2"/>
          <a:stretch>
            <a:fillRect/>
          </a:stretch>
        </p:blipFill>
        <p:spPr>
          <a:xfrm>
            <a:off x="381001" y="1075539"/>
            <a:ext cx="4572000" cy="5525669"/>
          </a:xfrm>
          <a:prstGeom prst="rect">
            <a:avLst/>
          </a:prstGeom>
        </p:spPr>
      </p:pic>
    </p:spTree>
    <p:extLst>
      <p:ext uri="{BB962C8B-B14F-4D97-AF65-F5344CB8AC3E}">
        <p14:creationId xmlns:p14="http://schemas.microsoft.com/office/powerpoint/2010/main" val="61587977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1E12-624B-A163-D63F-FC5EDAED56C7}"/>
              </a:ext>
            </a:extLst>
          </p:cNvPr>
          <p:cNvSpPr>
            <a:spLocks noGrp="1"/>
          </p:cNvSpPr>
          <p:nvPr>
            <p:ph type="title"/>
          </p:nvPr>
        </p:nvSpPr>
        <p:spPr/>
        <p:txBody>
          <a:bodyPr/>
          <a:lstStyle/>
          <a:p>
            <a:r>
              <a:rPr lang="en-IN" sz="2400" dirty="0"/>
              <a:t>Difference between L1 and l2 Regularization</a:t>
            </a:r>
          </a:p>
        </p:txBody>
      </p:sp>
      <p:sp>
        <p:nvSpPr>
          <p:cNvPr id="3" name="Content Placeholder 2">
            <a:extLst>
              <a:ext uri="{FF2B5EF4-FFF2-40B4-BE49-F238E27FC236}">
                <a16:creationId xmlns:a16="http://schemas.microsoft.com/office/drawing/2014/main" id="{2BC2290C-3F08-1A04-E5C2-C8ACC281AF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E37B5E7-D702-6BCD-FD23-8860216620F0}"/>
              </a:ext>
            </a:extLst>
          </p:cNvPr>
          <p:cNvPicPr>
            <a:picLocks noChangeAspect="1"/>
          </p:cNvPicPr>
          <p:nvPr/>
        </p:nvPicPr>
        <p:blipFill>
          <a:blip r:embed="rId3"/>
          <a:stretch>
            <a:fillRect/>
          </a:stretch>
        </p:blipFill>
        <p:spPr>
          <a:xfrm>
            <a:off x="566738" y="1219200"/>
            <a:ext cx="7883525" cy="2661656"/>
          </a:xfrm>
          <a:prstGeom prst="rect">
            <a:avLst/>
          </a:prstGeom>
        </p:spPr>
      </p:pic>
      <p:sp>
        <p:nvSpPr>
          <p:cNvPr id="6" name="Slide Number Placeholder 5">
            <a:extLst>
              <a:ext uri="{FF2B5EF4-FFF2-40B4-BE49-F238E27FC236}">
                <a16:creationId xmlns:a16="http://schemas.microsoft.com/office/drawing/2014/main" id="{958EF84A-EC0D-A661-2BCC-E98BBFB7BD0C}"/>
              </a:ext>
            </a:extLst>
          </p:cNvPr>
          <p:cNvSpPr>
            <a:spLocks noGrp="1"/>
          </p:cNvSpPr>
          <p:nvPr>
            <p:ph type="sldNum" sz="quarter" idx="12"/>
          </p:nvPr>
        </p:nvSpPr>
        <p:spPr/>
        <p:txBody>
          <a:bodyPr/>
          <a:lstStyle/>
          <a:p>
            <a:fld id="{BB2CE0DE-867F-455F-B20B-96D381B4AB71}" type="slidenum">
              <a:rPr lang="en-US" smtClean="0"/>
              <a:t>172</a:t>
            </a:fld>
            <a:endParaRPr lang="en-US"/>
          </a:p>
        </p:txBody>
      </p:sp>
    </p:spTree>
    <p:extLst>
      <p:ext uri="{BB962C8B-B14F-4D97-AF65-F5344CB8AC3E}">
        <p14:creationId xmlns:p14="http://schemas.microsoft.com/office/powerpoint/2010/main" val="411254819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54210-D588-5258-0812-A92F0E76FD8C}"/>
              </a:ext>
            </a:extLst>
          </p:cNvPr>
          <p:cNvSpPr>
            <a:spLocks noGrp="1"/>
          </p:cNvSpPr>
          <p:nvPr>
            <p:ph type="title"/>
          </p:nvPr>
        </p:nvSpPr>
        <p:spPr/>
        <p:txBody>
          <a:bodyPr/>
          <a:lstStyle/>
          <a:p>
            <a:r>
              <a:rPr lang="en-US" dirty="0"/>
              <a:t>L1 and L2 Regularization</a:t>
            </a:r>
            <a:endParaRPr lang="en-IN" dirty="0"/>
          </a:p>
        </p:txBody>
      </p:sp>
      <p:sp>
        <p:nvSpPr>
          <p:cNvPr id="3" name="Content Placeholder 2">
            <a:extLst>
              <a:ext uri="{FF2B5EF4-FFF2-40B4-BE49-F238E27FC236}">
                <a16:creationId xmlns:a16="http://schemas.microsoft.com/office/drawing/2014/main" id="{06EA006B-3B98-AB2D-EF07-A0901815EF09}"/>
              </a:ext>
            </a:extLst>
          </p:cNvPr>
          <p:cNvSpPr>
            <a:spLocks noGrp="1"/>
          </p:cNvSpPr>
          <p:nvPr>
            <p:ph idx="1"/>
          </p:nvPr>
        </p:nvSpPr>
        <p:spPr/>
        <p:txBody>
          <a:bodyPr/>
          <a:lstStyle/>
          <a:p>
            <a:pPr marL="0" indent="0" algn="just">
              <a:buNone/>
            </a:pPr>
            <a:r>
              <a:rPr lang="en-US" sz="1800" b="0" i="0" dirty="0">
                <a:solidFill>
                  <a:schemeClr val="tx1"/>
                </a:solidFill>
                <a:effectLst/>
                <a:latin typeface="Open Sans" panose="020B0606030504020204" pitchFamily="34" charset="0"/>
              </a:rPr>
              <a:t>Regularization is a technique used in Machine Learning to penalize complex models. The reason why regularization is useful is because simple models generalize better and are less prone to overfitting.</a:t>
            </a:r>
          </a:p>
          <a:p>
            <a:pPr marL="0" indent="0" algn="just">
              <a:buNone/>
            </a:pPr>
            <a:r>
              <a:rPr lang="en-US" sz="1800" dirty="0">
                <a:solidFill>
                  <a:schemeClr val="tx1"/>
                </a:solidFill>
              </a:rPr>
              <a:t>In Deep Learning there are two well-known regularization techniques: L1 and L2 regularization. Both add a penalty to the cost based on the model complexity, so instead of calculating the cost by simply using a loss function, there will be an additional element (called “regularization term”) that will be added in order to penalize complex models.</a:t>
            </a:r>
          </a:p>
          <a:p>
            <a:pPr marL="0" indent="0" algn="just">
              <a:buNone/>
            </a:pPr>
            <a:r>
              <a:rPr lang="en-US" sz="1800" dirty="0">
                <a:solidFill>
                  <a:schemeClr val="tx1"/>
                </a:solidFill>
              </a:rPr>
              <a:t>L1 regularization, also known as LASSO, adds the absolute value of the weights as a penalty, promoting sparsity by forcing some weights to zero. L2 regularization, also known as Ridge, adds the squared value of the weights as a penalty, shrinking weights toward zero without making them exactly zero. </a:t>
            </a:r>
            <a:endParaRPr lang="en-IN" sz="1800" dirty="0">
              <a:solidFill>
                <a:schemeClr val="tx1"/>
              </a:solidFill>
            </a:endParaRPr>
          </a:p>
        </p:txBody>
      </p:sp>
      <p:sp>
        <p:nvSpPr>
          <p:cNvPr id="6" name="Slide Number Placeholder 5">
            <a:extLst>
              <a:ext uri="{FF2B5EF4-FFF2-40B4-BE49-F238E27FC236}">
                <a16:creationId xmlns:a16="http://schemas.microsoft.com/office/drawing/2014/main" id="{A1F94BD3-C8E2-2F48-33C7-EE19AB38DAB9}"/>
              </a:ext>
            </a:extLst>
          </p:cNvPr>
          <p:cNvSpPr>
            <a:spLocks noGrp="1"/>
          </p:cNvSpPr>
          <p:nvPr>
            <p:ph type="sldNum" sz="quarter" idx="12"/>
          </p:nvPr>
        </p:nvSpPr>
        <p:spPr/>
        <p:txBody>
          <a:bodyPr/>
          <a:lstStyle/>
          <a:p>
            <a:fld id="{BB2CE0DE-867F-455F-B20B-96D381B4AB71}" type="slidenum">
              <a:rPr lang="en-US" smtClean="0"/>
              <a:t>173</a:t>
            </a:fld>
            <a:endParaRPr lang="en-US"/>
          </a:p>
        </p:txBody>
      </p:sp>
    </p:spTree>
    <p:extLst>
      <p:ext uri="{BB962C8B-B14F-4D97-AF65-F5344CB8AC3E}">
        <p14:creationId xmlns:p14="http://schemas.microsoft.com/office/powerpoint/2010/main" val="74896352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3BA5-D853-E20E-9FB4-96608B54145F}"/>
              </a:ext>
            </a:extLst>
          </p:cNvPr>
          <p:cNvSpPr>
            <a:spLocks noGrp="1"/>
          </p:cNvSpPr>
          <p:nvPr>
            <p:ph type="title"/>
          </p:nvPr>
        </p:nvSpPr>
        <p:spPr/>
        <p:txBody>
          <a:bodyPr/>
          <a:lstStyle/>
          <a:p>
            <a:r>
              <a:rPr lang="en-US" dirty="0"/>
              <a:t>Dropout</a:t>
            </a:r>
            <a:endParaRPr lang="en-IN" dirty="0"/>
          </a:p>
        </p:txBody>
      </p:sp>
      <p:sp>
        <p:nvSpPr>
          <p:cNvPr id="3" name="Content Placeholder 2">
            <a:extLst>
              <a:ext uri="{FF2B5EF4-FFF2-40B4-BE49-F238E27FC236}">
                <a16:creationId xmlns:a16="http://schemas.microsoft.com/office/drawing/2014/main" id="{259A7299-30A7-6982-BCEC-BF8316BA29B9}"/>
              </a:ext>
            </a:extLst>
          </p:cNvPr>
          <p:cNvSpPr>
            <a:spLocks noGrp="1"/>
          </p:cNvSpPr>
          <p:nvPr>
            <p:ph idx="1"/>
          </p:nvPr>
        </p:nvSpPr>
        <p:spPr/>
        <p:txBody>
          <a:bodyPr/>
          <a:lstStyle/>
          <a:p>
            <a:pPr marL="0" indent="0" algn="just">
              <a:buNone/>
            </a:pPr>
            <a:r>
              <a:rPr lang="en-US" sz="2000" dirty="0"/>
              <a:t>Dropout is a regularization strategy that prevents deep neural networks from overfitting. While L1 &amp; L2 regularization reduces overfitting by modifying the loss function, dropouts, on the other hand, deactivate a certain number of neurons at a layer from firing during training.</a:t>
            </a:r>
          </a:p>
          <a:p>
            <a:pPr marL="0" indent="0" algn="just">
              <a:buNone/>
            </a:pPr>
            <a:r>
              <a:rPr lang="en-US" sz="2000" dirty="0"/>
              <a:t>At each iteration different set of neurons are deactivated &amp; this results in a different set of results. Many deep learning frameworks implement dropouts as a layer which receives inputs from the previous layer, the dropout layer randomly selects neurons which are not fired to the next layer. By deactivating certain neurons which might contribute to overfitting the performance of the network on test data improves.</a:t>
            </a:r>
          </a:p>
          <a:p>
            <a:pPr marL="0" indent="0" algn="just">
              <a:buNone/>
            </a:pPr>
            <a:endParaRPr lang="en-IN" sz="2000" dirty="0"/>
          </a:p>
        </p:txBody>
      </p:sp>
      <p:sp>
        <p:nvSpPr>
          <p:cNvPr id="6" name="Slide Number Placeholder 5">
            <a:extLst>
              <a:ext uri="{FF2B5EF4-FFF2-40B4-BE49-F238E27FC236}">
                <a16:creationId xmlns:a16="http://schemas.microsoft.com/office/drawing/2014/main" id="{4F08263F-ED0B-97D7-491C-18023CB7652F}"/>
              </a:ext>
            </a:extLst>
          </p:cNvPr>
          <p:cNvSpPr>
            <a:spLocks noGrp="1"/>
          </p:cNvSpPr>
          <p:nvPr>
            <p:ph type="sldNum" sz="quarter" idx="12"/>
          </p:nvPr>
        </p:nvSpPr>
        <p:spPr/>
        <p:txBody>
          <a:bodyPr/>
          <a:lstStyle/>
          <a:p>
            <a:fld id="{BB2CE0DE-867F-455F-B20B-96D381B4AB71}" type="slidenum">
              <a:rPr lang="en-US" smtClean="0"/>
              <a:t>174</a:t>
            </a:fld>
            <a:endParaRPr lang="en-US"/>
          </a:p>
        </p:txBody>
      </p:sp>
    </p:spTree>
    <p:extLst>
      <p:ext uri="{BB962C8B-B14F-4D97-AF65-F5344CB8AC3E}">
        <p14:creationId xmlns:p14="http://schemas.microsoft.com/office/powerpoint/2010/main" val="11852241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82A6-8BBE-B800-91B4-103C7340B9C9}"/>
              </a:ext>
            </a:extLst>
          </p:cNvPr>
          <p:cNvSpPr>
            <a:spLocks noGrp="1"/>
          </p:cNvSpPr>
          <p:nvPr>
            <p:ph type="title"/>
          </p:nvPr>
        </p:nvSpPr>
        <p:spPr/>
        <p:txBody>
          <a:bodyPr/>
          <a:lstStyle/>
          <a:p>
            <a:r>
              <a:rPr lang="en-US" dirty="0"/>
              <a:t>Dropout</a:t>
            </a:r>
            <a:endParaRPr lang="en-IN" dirty="0"/>
          </a:p>
        </p:txBody>
      </p:sp>
      <p:sp>
        <p:nvSpPr>
          <p:cNvPr id="3" name="Content Placeholder 2">
            <a:extLst>
              <a:ext uri="{FF2B5EF4-FFF2-40B4-BE49-F238E27FC236}">
                <a16:creationId xmlns:a16="http://schemas.microsoft.com/office/drawing/2014/main" id="{9D270DE2-0C55-7BAF-45D8-E201F3DD9110}"/>
              </a:ext>
            </a:extLst>
          </p:cNvPr>
          <p:cNvSpPr>
            <a:spLocks noGrp="1"/>
          </p:cNvSpPr>
          <p:nvPr>
            <p:ph idx="1"/>
          </p:nvPr>
        </p:nvSpPr>
        <p:spPr/>
        <p:txBody>
          <a:bodyPr/>
          <a:lstStyle/>
          <a:p>
            <a:endParaRPr lang="en-IN"/>
          </a:p>
        </p:txBody>
      </p:sp>
      <p:sp>
        <p:nvSpPr>
          <p:cNvPr id="6" name="Slide Number Placeholder 5">
            <a:extLst>
              <a:ext uri="{FF2B5EF4-FFF2-40B4-BE49-F238E27FC236}">
                <a16:creationId xmlns:a16="http://schemas.microsoft.com/office/drawing/2014/main" id="{D10870C8-3FED-928D-DD04-719D8CCDFC08}"/>
              </a:ext>
            </a:extLst>
          </p:cNvPr>
          <p:cNvSpPr>
            <a:spLocks noGrp="1"/>
          </p:cNvSpPr>
          <p:nvPr>
            <p:ph type="sldNum" sz="quarter" idx="12"/>
          </p:nvPr>
        </p:nvSpPr>
        <p:spPr/>
        <p:txBody>
          <a:bodyPr/>
          <a:lstStyle/>
          <a:p>
            <a:fld id="{BB2CE0DE-867F-455F-B20B-96D381B4AB71}" type="slidenum">
              <a:rPr lang="en-US" smtClean="0"/>
              <a:t>175</a:t>
            </a:fld>
            <a:endParaRPr lang="en-US"/>
          </a:p>
        </p:txBody>
      </p:sp>
      <p:pic>
        <p:nvPicPr>
          <p:cNvPr id="7" name="Picture 6">
            <a:extLst>
              <a:ext uri="{FF2B5EF4-FFF2-40B4-BE49-F238E27FC236}">
                <a16:creationId xmlns:a16="http://schemas.microsoft.com/office/drawing/2014/main" id="{ED77A368-8D3B-3E73-7106-D00470733A77}"/>
              </a:ext>
            </a:extLst>
          </p:cNvPr>
          <p:cNvPicPr>
            <a:picLocks noChangeAspect="1"/>
          </p:cNvPicPr>
          <p:nvPr/>
        </p:nvPicPr>
        <p:blipFill>
          <a:blip r:embed="rId2"/>
          <a:stretch>
            <a:fillRect/>
          </a:stretch>
        </p:blipFill>
        <p:spPr>
          <a:xfrm>
            <a:off x="609600" y="1219200"/>
            <a:ext cx="8001000" cy="4502381"/>
          </a:xfrm>
          <a:prstGeom prst="rect">
            <a:avLst/>
          </a:prstGeom>
        </p:spPr>
      </p:pic>
    </p:spTree>
    <p:extLst>
      <p:ext uri="{BB962C8B-B14F-4D97-AF65-F5344CB8AC3E}">
        <p14:creationId xmlns:p14="http://schemas.microsoft.com/office/powerpoint/2010/main" val="298469976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739A-6192-7CCC-BEFF-2BF6EA5F9963}"/>
              </a:ext>
            </a:extLst>
          </p:cNvPr>
          <p:cNvSpPr>
            <a:spLocks noGrp="1"/>
          </p:cNvSpPr>
          <p:nvPr>
            <p:ph type="title"/>
          </p:nvPr>
        </p:nvSpPr>
        <p:spPr/>
        <p:txBody>
          <a:bodyPr/>
          <a:lstStyle/>
          <a:p>
            <a:r>
              <a:rPr lang="en-IN" dirty="0"/>
              <a:t>Early Stopping</a:t>
            </a:r>
          </a:p>
        </p:txBody>
      </p:sp>
      <p:sp>
        <p:nvSpPr>
          <p:cNvPr id="3" name="Content Placeholder 2">
            <a:extLst>
              <a:ext uri="{FF2B5EF4-FFF2-40B4-BE49-F238E27FC236}">
                <a16:creationId xmlns:a16="http://schemas.microsoft.com/office/drawing/2014/main" id="{B1898DFC-3EF7-1FA7-0528-BFA81FE69944}"/>
              </a:ext>
            </a:extLst>
          </p:cNvPr>
          <p:cNvSpPr>
            <a:spLocks noGrp="1"/>
          </p:cNvSpPr>
          <p:nvPr>
            <p:ph idx="1"/>
          </p:nvPr>
        </p:nvSpPr>
        <p:spPr/>
        <p:txBody>
          <a:bodyPr/>
          <a:lstStyle/>
          <a:p>
            <a:pPr marL="0" indent="0" algn="just">
              <a:buNone/>
            </a:pPr>
            <a:r>
              <a:rPr lang="en-US" sz="1800" dirty="0"/>
              <a:t>While training a neural network using an optimization algorithm like Gradient Descent, the model parameters (weights) are updated to reduce the training error. At the end of each forward propagation, the network parameters are updated to reduce error in the next iteration.</a:t>
            </a:r>
          </a:p>
          <a:p>
            <a:pPr marL="0" indent="0" algn="just">
              <a:buNone/>
            </a:pPr>
            <a:r>
              <a:rPr lang="en-US" sz="1800" dirty="0"/>
              <a:t>Too much training can result in network overfitting on the training data. Early stopping provides guidance as to how many iterations can be run before the network begins to overfit.</a:t>
            </a:r>
            <a:endParaRPr lang="en-IN" sz="1800" dirty="0"/>
          </a:p>
        </p:txBody>
      </p:sp>
      <p:sp>
        <p:nvSpPr>
          <p:cNvPr id="6" name="Slide Number Placeholder 5">
            <a:extLst>
              <a:ext uri="{FF2B5EF4-FFF2-40B4-BE49-F238E27FC236}">
                <a16:creationId xmlns:a16="http://schemas.microsoft.com/office/drawing/2014/main" id="{69D48027-7425-2E7B-4CDB-F12DA38240A2}"/>
              </a:ext>
            </a:extLst>
          </p:cNvPr>
          <p:cNvSpPr>
            <a:spLocks noGrp="1"/>
          </p:cNvSpPr>
          <p:nvPr>
            <p:ph type="sldNum" sz="quarter" idx="12"/>
          </p:nvPr>
        </p:nvSpPr>
        <p:spPr/>
        <p:txBody>
          <a:bodyPr/>
          <a:lstStyle/>
          <a:p>
            <a:fld id="{BB2CE0DE-867F-455F-B20B-96D381B4AB71}" type="slidenum">
              <a:rPr lang="en-US" smtClean="0"/>
              <a:t>176</a:t>
            </a:fld>
            <a:endParaRPr lang="en-US"/>
          </a:p>
        </p:txBody>
      </p:sp>
      <p:pic>
        <p:nvPicPr>
          <p:cNvPr id="7" name="Picture 6">
            <a:extLst>
              <a:ext uri="{FF2B5EF4-FFF2-40B4-BE49-F238E27FC236}">
                <a16:creationId xmlns:a16="http://schemas.microsoft.com/office/drawing/2014/main" id="{383C666B-EA0A-E7C5-8614-AF49FDC4A969}"/>
              </a:ext>
            </a:extLst>
          </p:cNvPr>
          <p:cNvPicPr>
            <a:picLocks noChangeAspect="1"/>
          </p:cNvPicPr>
          <p:nvPr/>
        </p:nvPicPr>
        <p:blipFill>
          <a:blip r:embed="rId3"/>
          <a:stretch>
            <a:fillRect/>
          </a:stretch>
        </p:blipFill>
        <p:spPr>
          <a:xfrm>
            <a:off x="1257300" y="3685950"/>
            <a:ext cx="6172200" cy="2867250"/>
          </a:xfrm>
          <a:prstGeom prst="rect">
            <a:avLst/>
          </a:prstGeom>
        </p:spPr>
      </p:pic>
    </p:spTree>
    <p:extLst>
      <p:ext uri="{BB962C8B-B14F-4D97-AF65-F5344CB8AC3E}">
        <p14:creationId xmlns:p14="http://schemas.microsoft.com/office/powerpoint/2010/main" val="110064274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3" name="Slide Number Placeholder 2"/>
          <p:cNvSpPr>
            <a:spLocks noGrp="1"/>
          </p:cNvSpPr>
          <p:nvPr>
            <p:ph type="sldNum" sz="quarter" idx="12"/>
          </p:nvPr>
        </p:nvSpPr>
        <p:spPr/>
        <p:txBody>
          <a:bodyPr/>
          <a:lstStyle/>
          <a:p>
            <a:fld id="{5DCC653A-8BE1-4A16-A754-27859D86C4A9}" type="slidenum">
              <a:rPr lang="en-US" smtClean="0"/>
              <a:t>177</a:t>
            </a:fld>
            <a:endParaRPr lang="en-US"/>
          </a:p>
        </p:txBody>
      </p:sp>
    </p:spTree>
    <p:extLst>
      <p:ext uri="{BB962C8B-B14F-4D97-AF65-F5344CB8AC3E}">
        <p14:creationId xmlns:p14="http://schemas.microsoft.com/office/powerpoint/2010/main" val="347076982"/>
      </p:ext>
    </p:extLst>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E8F37-D49F-44A0-B826-31F2EF669F1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50D177-D331-43A2-A50E-87BE5427DE89}"/>
              </a:ext>
            </a:extLst>
          </p:cNvPr>
          <p:cNvSpPr>
            <a:spLocks noGrp="1"/>
          </p:cNvSpPr>
          <p:nvPr>
            <p:ph idx="1"/>
          </p:nvPr>
        </p:nvSpPr>
        <p:spPr/>
        <p:txBody>
          <a:bodyPr/>
          <a:lstStyle/>
          <a:p>
            <a:pPr marL="0" indent="0">
              <a:buNone/>
            </a:pPr>
            <a:r>
              <a:rPr lang="en-US" sz="1600" b="0" i="0" dirty="0">
                <a:solidFill>
                  <a:srgbClr val="4C5966"/>
                </a:solidFill>
                <a:effectLst/>
                <a:latin typeface="DM Sans"/>
              </a:rPr>
              <a:t>Design single layer perceptron with two iteration. Consider the perceptron having with the initial weights w1=0.5, w2 = 0, learning rate α=0.2 and bias ᶿ =0.4 for AND Boolean function. The activation function is the Step function f(x) which gives the output either 0 or 1. If value of f(x) is greater than or equal to 0, it outputs 1 or else it outputs 0. 4 AP 10</a:t>
            </a:r>
            <a:endParaRPr lang="en-IN" sz="1600" dirty="0"/>
          </a:p>
        </p:txBody>
      </p:sp>
      <p:sp>
        <p:nvSpPr>
          <p:cNvPr id="6" name="Slide Number Placeholder 5">
            <a:extLst>
              <a:ext uri="{FF2B5EF4-FFF2-40B4-BE49-F238E27FC236}">
                <a16:creationId xmlns:a16="http://schemas.microsoft.com/office/drawing/2014/main" id="{1F953B97-2EFB-4754-A88A-EA6B87E37AE5}"/>
              </a:ext>
            </a:extLst>
          </p:cNvPr>
          <p:cNvSpPr>
            <a:spLocks noGrp="1"/>
          </p:cNvSpPr>
          <p:nvPr>
            <p:ph type="sldNum" sz="quarter" idx="12"/>
          </p:nvPr>
        </p:nvSpPr>
        <p:spPr/>
        <p:txBody>
          <a:bodyPr/>
          <a:lstStyle/>
          <a:p>
            <a:fld id="{BB2CE0DE-867F-455F-B20B-96D381B4AB71}" type="slidenum">
              <a:rPr lang="en-US" smtClean="0"/>
              <a:t>178</a:t>
            </a:fld>
            <a:endParaRPr lang="en-US"/>
          </a:p>
        </p:txBody>
      </p:sp>
    </p:spTree>
    <p:extLst>
      <p:ext uri="{BB962C8B-B14F-4D97-AF65-F5344CB8AC3E}">
        <p14:creationId xmlns:p14="http://schemas.microsoft.com/office/powerpoint/2010/main" val="57966472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B642-0001-4440-A963-D67A2151F1A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CDC5F708-A330-4811-BA47-01573B7A6F82}"/>
              </a:ext>
            </a:extLst>
          </p:cNvPr>
          <p:cNvSpPr>
            <a:spLocks noGrp="1"/>
          </p:cNvSpPr>
          <p:nvPr>
            <p:ph idx="1"/>
          </p:nvPr>
        </p:nvSpPr>
        <p:spPr/>
        <p:txBody>
          <a:bodyPr/>
          <a:lstStyle/>
          <a:p>
            <a:pPr marL="0" indent="0">
              <a:buNone/>
            </a:pPr>
            <a:r>
              <a:rPr lang="en-US" dirty="0"/>
              <a:t>Bias, Variance, Overfitting, Underfitting</a:t>
            </a:r>
            <a:endParaRPr lang="en-IN" dirty="0"/>
          </a:p>
        </p:txBody>
      </p:sp>
      <p:sp>
        <p:nvSpPr>
          <p:cNvPr id="5" name="Slide Number Placeholder 4">
            <a:extLst>
              <a:ext uri="{FF2B5EF4-FFF2-40B4-BE49-F238E27FC236}">
                <a16:creationId xmlns:a16="http://schemas.microsoft.com/office/drawing/2014/main" id="{0980CAFF-715F-4FE4-FBA1-D5E9A5016EDA}"/>
              </a:ext>
            </a:extLst>
          </p:cNvPr>
          <p:cNvSpPr>
            <a:spLocks noGrp="1"/>
          </p:cNvSpPr>
          <p:nvPr>
            <p:ph type="sldNum" sz="quarter" idx="12"/>
          </p:nvPr>
        </p:nvSpPr>
        <p:spPr/>
        <p:txBody>
          <a:bodyPr/>
          <a:lstStyle/>
          <a:p>
            <a:fld id="{BB2CE0DE-867F-455F-B20B-96D381B4AB71}" type="slidenum">
              <a:rPr lang="en-US" smtClean="0"/>
              <a:t>179</a:t>
            </a:fld>
            <a:endParaRPr lang="en-US"/>
          </a:p>
        </p:txBody>
      </p:sp>
    </p:spTree>
    <p:extLst>
      <p:ext uri="{BB962C8B-B14F-4D97-AF65-F5344CB8AC3E}">
        <p14:creationId xmlns:p14="http://schemas.microsoft.com/office/powerpoint/2010/main" val="151334620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D8BD76F7-E86F-4D40-8210-ED4EFD52AF9A}"/>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4E756512-6007-4253-B778-6C054702CD69}"/>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4D3CF752-D9C2-D2BF-BDB4-86E849D8D379}"/>
              </a:ext>
            </a:extLst>
          </p:cNvPr>
          <p:cNvSpPr txBox="1"/>
          <p:nvPr/>
        </p:nvSpPr>
        <p:spPr>
          <a:xfrm>
            <a:off x="185826" y="4406152"/>
            <a:ext cx="8949245" cy="300082"/>
          </a:xfrm>
          <a:prstGeom prst="rect">
            <a:avLst/>
          </a:prstGeom>
          <a:noFill/>
        </p:spPr>
        <p:txBody>
          <a:bodyPr wrap="none" rtlCol="0">
            <a:spAutoFit/>
          </a:bodyPr>
          <a:lstStyle/>
          <a:p>
            <a:r>
              <a:rPr lang="en-US" sz="1350" b="1" dirty="0"/>
              <a:t>Bias: </a:t>
            </a:r>
            <a:r>
              <a:rPr lang="en-US" sz="1350" dirty="0"/>
              <a:t>Inability of machine Learning (ML) model to truly capture the relationship of the training data.</a:t>
            </a:r>
          </a:p>
        </p:txBody>
      </p:sp>
      <p:sp>
        <p:nvSpPr>
          <p:cNvPr id="3" name="Slide Number Placeholder 2">
            <a:extLst>
              <a:ext uri="{FF2B5EF4-FFF2-40B4-BE49-F238E27FC236}">
                <a16:creationId xmlns:a16="http://schemas.microsoft.com/office/drawing/2014/main" id="{76F35898-F3D3-6EE9-7174-20278CCEEDFC}"/>
              </a:ext>
            </a:extLst>
          </p:cNvPr>
          <p:cNvSpPr>
            <a:spLocks noGrp="1"/>
          </p:cNvSpPr>
          <p:nvPr>
            <p:ph type="sldNum" sz="quarter" idx="12"/>
          </p:nvPr>
        </p:nvSpPr>
        <p:spPr/>
        <p:txBody>
          <a:bodyPr/>
          <a:lstStyle/>
          <a:p>
            <a:fld id="{BB2CE0DE-867F-455F-B20B-96D381B4AB71}" type="slidenum">
              <a:rPr lang="en-US" smtClean="0"/>
              <a:t>180</a:t>
            </a:fld>
            <a:endParaRPr lang="en-US"/>
          </a:p>
        </p:txBody>
      </p:sp>
    </p:spTree>
    <p:extLst>
      <p:ext uri="{BB962C8B-B14F-4D97-AF65-F5344CB8AC3E}">
        <p14:creationId xmlns:p14="http://schemas.microsoft.com/office/powerpoint/2010/main" val="225305910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2F67-7B7D-A64C-D6D1-26051AD9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4FA0D-FD80-CCAD-7710-5E128F99EDED}"/>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F349CC5A-84FF-9273-F587-D6B7D7E39638}"/>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A770EBB0-D964-892D-66C4-8065E1600F6F}"/>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29E4A273-D6C9-391C-8678-3EA0C6A9A9CE}"/>
              </a:ext>
            </a:extLst>
          </p:cNvPr>
          <p:cNvSpPr txBox="1"/>
          <p:nvPr/>
        </p:nvSpPr>
        <p:spPr>
          <a:xfrm>
            <a:off x="185827" y="4406153"/>
            <a:ext cx="8459303" cy="461665"/>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p:txBody>
      </p:sp>
      <p:sp>
        <p:nvSpPr>
          <p:cNvPr id="3" name="TextBox 2">
            <a:extLst>
              <a:ext uri="{FF2B5EF4-FFF2-40B4-BE49-F238E27FC236}">
                <a16:creationId xmlns:a16="http://schemas.microsoft.com/office/drawing/2014/main" id="{EBB12844-DB09-3DF4-3808-E0DBECFDE1EA}"/>
              </a:ext>
            </a:extLst>
          </p:cNvPr>
          <p:cNvSpPr txBox="1"/>
          <p:nvPr/>
        </p:nvSpPr>
        <p:spPr>
          <a:xfrm>
            <a:off x="1200151" y="3323452"/>
            <a:ext cx="1000595" cy="300082"/>
          </a:xfrm>
          <a:prstGeom prst="rect">
            <a:avLst/>
          </a:prstGeom>
          <a:noFill/>
        </p:spPr>
        <p:txBody>
          <a:bodyPr wrap="none" rtlCol="0">
            <a:spAutoFit/>
          </a:bodyPr>
          <a:lstStyle/>
          <a:p>
            <a:r>
              <a:rPr lang="en-IN" sz="1350" dirty="0"/>
              <a:t>High Bias</a:t>
            </a:r>
          </a:p>
        </p:txBody>
      </p:sp>
      <p:sp>
        <p:nvSpPr>
          <p:cNvPr id="7" name="TextBox 6">
            <a:extLst>
              <a:ext uri="{FF2B5EF4-FFF2-40B4-BE49-F238E27FC236}">
                <a16:creationId xmlns:a16="http://schemas.microsoft.com/office/drawing/2014/main" id="{91D3E388-A625-1F0F-3D43-13AF6D85355F}"/>
              </a:ext>
            </a:extLst>
          </p:cNvPr>
          <p:cNvSpPr txBox="1"/>
          <p:nvPr/>
        </p:nvSpPr>
        <p:spPr>
          <a:xfrm>
            <a:off x="6587770" y="3323452"/>
            <a:ext cx="949299" cy="300082"/>
          </a:xfrm>
          <a:prstGeom prst="rect">
            <a:avLst/>
          </a:prstGeom>
          <a:noFill/>
        </p:spPr>
        <p:txBody>
          <a:bodyPr wrap="none" rtlCol="0">
            <a:spAutoFit/>
          </a:bodyPr>
          <a:lstStyle/>
          <a:p>
            <a:r>
              <a:rPr lang="en-IN" sz="1350" dirty="0"/>
              <a:t>Low Bias</a:t>
            </a:r>
          </a:p>
        </p:txBody>
      </p:sp>
      <p:sp>
        <p:nvSpPr>
          <p:cNvPr id="8" name="Slide Number Placeholder 7">
            <a:extLst>
              <a:ext uri="{FF2B5EF4-FFF2-40B4-BE49-F238E27FC236}">
                <a16:creationId xmlns:a16="http://schemas.microsoft.com/office/drawing/2014/main" id="{5DA4ECAF-6DED-F7D7-0BEE-2CAD3C822CB4}"/>
              </a:ext>
            </a:extLst>
          </p:cNvPr>
          <p:cNvSpPr>
            <a:spLocks noGrp="1"/>
          </p:cNvSpPr>
          <p:nvPr>
            <p:ph type="sldNum" sz="quarter" idx="12"/>
          </p:nvPr>
        </p:nvSpPr>
        <p:spPr/>
        <p:txBody>
          <a:bodyPr/>
          <a:lstStyle/>
          <a:p>
            <a:fld id="{BB2CE0DE-867F-455F-B20B-96D381B4AB71}" type="slidenum">
              <a:rPr lang="en-US" smtClean="0"/>
              <a:t>181</a:t>
            </a:fld>
            <a:endParaRPr lang="en-US"/>
          </a:p>
        </p:txBody>
      </p:sp>
    </p:spTree>
    <p:extLst>
      <p:ext uri="{BB962C8B-B14F-4D97-AF65-F5344CB8AC3E}">
        <p14:creationId xmlns:p14="http://schemas.microsoft.com/office/powerpoint/2010/main" val="163369124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4BEB-A975-9625-C847-76067D527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678C-0411-1996-B35C-5173F16C0678}"/>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FEB3F93B-15CA-83AA-3176-07E04699F8B7}"/>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6E533A09-3546-0FD6-154A-D71A36FA86A5}"/>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34E07AA9-E8F1-4676-0C38-EF54241BBA1F}"/>
              </a:ext>
            </a:extLst>
          </p:cNvPr>
          <p:cNvSpPr txBox="1"/>
          <p:nvPr/>
        </p:nvSpPr>
        <p:spPr>
          <a:xfrm>
            <a:off x="185827" y="4406153"/>
            <a:ext cx="8459303" cy="830997"/>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a:p>
            <a:r>
              <a:rPr lang="en-US" sz="1200" b="1" dirty="0"/>
              <a:t>Overfitting: </a:t>
            </a:r>
            <a:r>
              <a:rPr lang="en-US" sz="1200" dirty="0"/>
              <a:t>ML model of training data is performing well but  on test data it is not doing well.</a:t>
            </a:r>
          </a:p>
          <a:p>
            <a:r>
              <a:rPr lang="en-US" sz="1200" b="1" dirty="0"/>
              <a:t>Underfitting:</a:t>
            </a:r>
            <a:r>
              <a:rPr lang="en-US" sz="1200" dirty="0"/>
              <a:t> ML model is not capturing the relationship in the training data.</a:t>
            </a:r>
            <a:endParaRPr lang="en-IN" sz="1200" dirty="0"/>
          </a:p>
        </p:txBody>
      </p:sp>
      <p:sp>
        <p:nvSpPr>
          <p:cNvPr id="3" name="TextBox 2">
            <a:extLst>
              <a:ext uri="{FF2B5EF4-FFF2-40B4-BE49-F238E27FC236}">
                <a16:creationId xmlns:a16="http://schemas.microsoft.com/office/drawing/2014/main" id="{637D6245-5053-6FCC-11E8-4C15B0EF2D3E}"/>
              </a:ext>
            </a:extLst>
          </p:cNvPr>
          <p:cNvSpPr txBox="1"/>
          <p:nvPr/>
        </p:nvSpPr>
        <p:spPr>
          <a:xfrm>
            <a:off x="1085850" y="3300926"/>
            <a:ext cx="1319400" cy="507831"/>
          </a:xfrm>
          <a:prstGeom prst="rect">
            <a:avLst/>
          </a:prstGeom>
          <a:noFill/>
        </p:spPr>
        <p:txBody>
          <a:bodyPr wrap="none" rtlCol="0">
            <a:spAutoFit/>
          </a:bodyPr>
          <a:lstStyle/>
          <a:p>
            <a:r>
              <a:rPr lang="en-IN" sz="1350" dirty="0"/>
              <a:t>High Bias</a:t>
            </a:r>
          </a:p>
          <a:p>
            <a:r>
              <a:rPr lang="en-IN" sz="1350" dirty="0"/>
              <a:t>Low variance</a:t>
            </a:r>
          </a:p>
        </p:txBody>
      </p:sp>
      <p:sp>
        <p:nvSpPr>
          <p:cNvPr id="7" name="TextBox 6">
            <a:extLst>
              <a:ext uri="{FF2B5EF4-FFF2-40B4-BE49-F238E27FC236}">
                <a16:creationId xmlns:a16="http://schemas.microsoft.com/office/drawing/2014/main" id="{1A2709E1-6794-43C3-20C5-C64B3AD581C5}"/>
              </a:ext>
            </a:extLst>
          </p:cNvPr>
          <p:cNvSpPr txBox="1"/>
          <p:nvPr/>
        </p:nvSpPr>
        <p:spPr>
          <a:xfrm>
            <a:off x="6587769" y="3323452"/>
            <a:ext cx="1381660" cy="507831"/>
          </a:xfrm>
          <a:prstGeom prst="rect">
            <a:avLst/>
          </a:prstGeom>
          <a:noFill/>
        </p:spPr>
        <p:txBody>
          <a:bodyPr wrap="none" rtlCol="0">
            <a:spAutoFit/>
          </a:bodyPr>
          <a:lstStyle/>
          <a:p>
            <a:r>
              <a:rPr lang="en-IN" sz="1350" dirty="0"/>
              <a:t>Low Bias</a:t>
            </a:r>
          </a:p>
          <a:p>
            <a:r>
              <a:rPr lang="en-IN" sz="1350" dirty="0"/>
              <a:t>High Variance</a:t>
            </a:r>
          </a:p>
        </p:txBody>
      </p:sp>
      <p:sp>
        <p:nvSpPr>
          <p:cNvPr id="8" name="Slide Number Placeholder 7">
            <a:extLst>
              <a:ext uri="{FF2B5EF4-FFF2-40B4-BE49-F238E27FC236}">
                <a16:creationId xmlns:a16="http://schemas.microsoft.com/office/drawing/2014/main" id="{D962CDC1-B69F-D13B-312A-F0DA74CC93A2}"/>
              </a:ext>
            </a:extLst>
          </p:cNvPr>
          <p:cNvSpPr>
            <a:spLocks noGrp="1"/>
          </p:cNvSpPr>
          <p:nvPr>
            <p:ph type="sldNum" sz="quarter" idx="12"/>
          </p:nvPr>
        </p:nvSpPr>
        <p:spPr/>
        <p:txBody>
          <a:bodyPr/>
          <a:lstStyle/>
          <a:p>
            <a:fld id="{BB2CE0DE-867F-455F-B20B-96D381B4AB71}" type="slidenum">
              <a:rPr lang="en-US" smtClean="0"/>
              <a:t>182</a:t>
            </a:fld>
            <a:endParaRPr lang="en-US"/>
          </a:p>
        </p:txBody>
      </p:sp>
    </p:spTree>
    <p:extLst>
      <p:ext uri="{BB962C8B-B14F-4D97-AF65-F5344CB8AC3E}">
        <p14:creationId xmlns:p14="http://schemas.microsoft.com/office/powerpoint/2010/main" val="311936397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7A30-D0FE-D72D-95EF-7CD898E58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9E928-60E4-8F7C-908F-0C9940C1A45F}"/>
              </a:ext>
            </a:extLst>
          </p:cNvPr>
          <p:cNvSpPr>
            <a:spLocks noGrp="1"/>
          </p:cNvSpPr>
          <p:nvPr>
            <p:ph type="title"/>
          </p:nvPr>
        </p:nvSpPr>
        <p:spPr/>
        <p:txBody>
          <a:bodyPr/>
          <a:lstStyle/>
          <a:p>
            <a:r>
              <a:rPr lang="en-US" sz="2100" dirty="0"/>
              <a:t>Bias, Variance, Overfitting, Underfitting</a:t>
            </a:r>
            <a:endParaRPr lang="en-IN" sz="2100" dirty="0"/>
          </a:p>
        </p:txBody>
      </p:sp>
      <p:pic>
        <p:nvPicPr>
          <p:cNvPr id="6" name="Picture 5">
            <a:extLst>
              <a:ext uri="{FF2B5EF4-FFF2-40B4-BE49-F238E27FC236}">
                <a16:creationId xmlns:a16="http://schemas.microsoft.com/office/drawing/2014/main" id="{9BC7F31F-1D23-3043-5C3E-965ADFDDC3BB}"/>
              </a:ext>
            </a:extLst>
          </p:cNvPr>
          <p:cNvPicPr>
            <a:picLocks noChangeAspect="1"/>
          </p:cNvPicPr>
          <p:nvPr/>
        </p:nvPicPr>
        <p:blipFill>
          <a:blip r:embed="rId2"/>
          <a:srcRect b="10714"/>
          <a:stretch>
            <a:fillRect/>
          </a:stretch>
        </p:blipFill>
        <p:spPr>
          <a:xfrm>
            <a:off x="685800" y="1828800"/>
            <a:ext cx="7413943" cy="1428750"/>
          </a:xfrm>
          <a:prstGeom prst="rect">
            <a:avLst/>
          </a:prstGeom>
        </p:spPr>
      </p:pic>
      <p:sp>
        <p:nvSpPr>
          <p:cNvPr id="9" name="TextBox 8">
            <a:extLst>
              <a:ext uri="{FF2B5EF4-FFF2-40B4-BE49-F238E27FC236}">
                <a16:creationId xmlns:a16="http://schemas.microsoft.com/office/drawing/2014/main" id="{0BAAC968-A325-F897-B373-55306F419277}"/>
              </a:ext>
            </a:extLst>
          </p:cNvPr>
          <p:cNvSpPr txBox="1"/>
          <p:nvPr/>
        </p:nvSpPr>
        <p:spPr>
          <a:xfrm>
            <a:off x="1428750" y="5657850"/>
            <a:ext cx="4939173" cy="196208"/>
          </a:xfrm>
          <a:prstGeom prst="rect">
            <a:avLst/>
          </a:prstGeom>
          <a:noFill/>
        </p:spPr>
        <p:txBody>
          <a:bodyPr wrap="none" rtlCol="0">
            <a:spAutoFit/>
          </a:bodyPr>
          <a:lstStyle/>
          <a:p>
            <a:r>
              <a:rPr lang="en-US" sz="675" dirty="0"/>
              <a:t>Ref.: https://analystprep.com/study-notes/cfa-level-2/quantitative-method/overfitting-methods-addressing/</a:t>
            </a:r>
            <a:endParaRPr lang="en-IN" sz="675" dirty="0"/>
          </a:p>
        </p:txBody>
      </p:sp>
      <p:sp>
        <p:nvSpPr>
          <p:cNvPr id="5" name="TextBox 4">
            <a:extLst>
              <a:ext uri="{FF2B5EF4-FFF2-40B4-BE49-F238E27FC236}">
                <a16:creationId xmlns:a16="http://schemas.microsoft.com/office/drawing/2014/main" id="{93A535C1-7660-6B48-4EBC-155A166D0E8C}"/>
              </a:ext>
            </a:extLst>
          </p:cNvPr>
          <p:cNvSpPr txBox="1"/>
          <p:nvPr/>
        </p:nvSpPr>
        <p:spPr>
          <a:xfrm>
            <a:off x="185827" y="4406153"/>
            <a:ext cx="8459303" cy="830997"/>
          </a:xfrm>
          <a:prstGeom prst="rect">
            <a:avLst/>
          </a:prstGeom>
          <a:noFill/>
        </p:spPr>
        <p:txBody>
          <a:bodyPr wrap="none" rtlCol="0">
            <a:spAutoFit/>
          </a:bodyPr>
          <a:lstStyle/>
          <a:p>
            <a:r>
              <a:rPr lang="en-US" sz="1200" b="1" dirty="0"/>
              <a:t>Bias: </a:t>
            </a:r>
            <a:r>
              <a:rPr lang="en-US" sz="1200" dirty="0"/>
              <a:t>Inability of machine Learning (ML) model to truly capture the relationship of the training data.</a:t>
            </a:r>
          </a:p>
          <a:p>
            <a:r>
              <a:rPr lang="en-US" sz="1200" b="1" dirty="0"/>
              <a:t>Variance: </a:t>
            </a:r>
            <a:r>
              <a:rPr lang="en-US" sz="1200" dirty="0"/>
              <a:t>Variance of ML model is high when the difference between Training error and Test error is High.</a:t>
            </a:r>
          </a:p>
          <a:p>
            <a:r>
              <a:rPr lang="en-US" sz="1200" b="1" dirty="0"/>
              <a:t>Overfitting: </a:t>
            </a:r>
            <a:r>
              <a:rPr lang="en-US" sz="1200" dirty="0"/>
              <a:t>ML model of training data is performing well but  on test data it is not doing well.</a:t>
            </a:r>
          </a:p>
          <a:p>
            <a:r>
              <a:rPr lang="en-US" sz="1200" b="1" dirty="0"/>
              <a:t>Underfitting:</a:t>
            </a:r>
            <a:r>
              <a:rPr lang="en-US" sz="1200" dirty="0"/>
              <a:t> ML model is not capturing the relationship in the training data.</a:t>
            </a:r>
            <a:endParaRPr lang="en-IN" sz="1200" dirty="0"/>
          </a:p>
        </p:txBody>
      </p:sp>
      <p:sp>
        <p:nvSpPr>
          <p:cNvPr id="3" name="TextBox 2">
            <a:extLst>
              <a:ext uri="{FF2B5EF4-FFF2-40B4-BE49-F238E27FC236}">
                <a16:creationId xmlns:a16="http://schemas.microsoft.com/office/drawing/2014/main" id="{DF609F42-C345-5C8C-BA90-D64874F4DCF9}"/>
              </a:ext>
            </a:extLst>
          </p:cNvPr>
          <p:cNvSpPr txBox="1"/>
          <p:nvPr/>
        </p:nvSpPr>
        <p:spPr>
          <a:xfrm>
            <a:off x="1085850" y="3300926"/>
            <a:ext cx="1319400" cy="507831"/>
          </a:xfrm>
          <a:prstGeom prst="rect">
            <a:avLst/>
          </a:prstGeom>
          <a:noFill/>
        </p:spPr>
        <p:txBody>
          <a:bodyPr wrap="none" rtlCol="0">
            <a:spAutoFit/>
          </a:bodyPr>
          <a:lstStyle/>
          <a:p>
            <a:r>
              <a:rPr lang="en-IN" sz="1350" dirty="0"/>
              <a:t>High Bias</a:t>
            </a:r>
          </a:p>
          <a:p>
            <a:r>
              <a:rPr lang="en-IN" sz="1350" dirty="0"/>
              <a:t>Low variance</a:t>
            </a:r>
          </a:p>
        </p:txBody>
      </p:sp>
      <p:sp>
        <p:nvSpPr>
          <p:cNvPr id="7" name="TextBox 6">
            <a:extLst>
              <a:ext uri="{FF2B5EF4-FFF2-40B4-BE49-F238E27FC236}">
                <a16:creationId xmlns:a16="http://schemas.microsoft.com/office/drawing/2014/main" id="{B2DA8BE1-7900-63AE-88E6-A92F455739F6}"/>
              </a:ext>
            </a:extLst>
          </p:cNvPr>
          <p:cNvSpPr txBox="1"/>
          <p:nvPr/>
        </p:nvSpPr>
        <p:spPr>
          <a:xfrm>
            <a:off x="6587769" y="3323452"/>
            <a:ext cx="1381660" cy="507831"/>
          </a:xfrm>
          <a:prstGeom prst="rect">
            <a:avLst/>
          </a:prstGeom>
          <a:noFill/>
        </p:spPr>
        <p:txBody>
          <a:bodyPr wrap="none" rtlCol="0">
            <a:spAutoFit/>
          </a:bodyPr>
          <a:lstStyle/>
          <a:p>
            <a:r>
              <a:rPr lang="en-IN" sz="1350" dirty="0"/>
              <a:t>Low Bias</a:t>
            </a:r>
          </a:p>
          <a:p>
            <a:r>
              <a:rPr lang="en-IN" sz="1350" dirty="0"/>
              <a:t>High Variance</a:t>
            </a:r>
          </a:p>
        </p:txBody>
      </p:sp>
      <p:sp>
        <p:nvSpPr>
          <p:cNvPr id="8" name="TextBox 7">
            <a:extLst>
              <a:ext uri="{FF2B5EF4-FFF2-40B4-BE49-F238E27FC236}">
                <a16:creationId xmlns:a16="http://schemas.microsoft.com/office/drawing/2014/main" id="{8F45BE9F-C189-EC84-8844-6EB781068C6F}"/>
              </a:ext>
            </a:extLst>
          </p:cNvPr>
          <p:cNvSpPr txBox="1"/>
          <p:nvPr/>
        </p:nvSpPr>
        <p:spPr>
          <a:xfrm>
            <a:off x="3879662" y="3288226"/>
            <a:ext cx="1319400" cy="507831"/>
          </a:xfrm>
          <a:prstGeom prst="rect">
            <a:avLst/>
          </a:prstGeom>
          <a:noFill/>
        </p:spPr>
        <p:txBody>
          <a:bodyPr wrap="none" rtlCol="0">
            <a:spAutoFit/>
          </a:bodyPr>
          <a:lstStyle/>
          <a:p>
            <a:r>
              <a:rPr lang="en-IN" sz="1350" dirty="0"/>
              <a:t>Low Bias</a:t>
            </a:r>
          </a:p>
          <a:p>
            <a:r>
              <a:rPr lang="en-IN" sz="1350" dirty="0"/>
              <a:t>Low variance</a:t>
            </a:r>
          </a:p>
        </p:txBody>
      </p:sp>
      <p:sp>
        <p:nvSpPr>
          <p:cNvPr id="10" name="TextBox 9">
            <a:extLst>
              <a:ext uri="{FF2B5EF4-FFF2-40B4-BE49-F238E27FC236}">
                <a16:creationId xmlns:a16="http://schemas.microsoft.com/office/drawing/2014/main" id="{12EAAAF9-000F-F7E6-1FE4-B28A80EACA7B}"/>
              </a:ext>
            </a:extLst>
          </p:cNvPr>
          <p:cNvSpPr txBox="1"/>
          <p:nvPr/>
        </p:nvSpPr>
        <p:spPr>
          <a:xfrm>
            <a:off x="1068917" y="3845783"/>
            <a:ext cx="1215397" cy="300082"/>
          </a:xfrm>
          <a:prstGeom prst="rect">
            <a:avLst/>
          </a:prstGeom>
          <a:noFill/>
        </p:spPr>
        <p:txBody>
          <a:bodyPr wrap="none" rtlCol="0">
            <a:spAutoFit/>
          </a:bodyPr>
          <a:lstStyle/>
          <a:p>
            <a:r>
              <a:rPr lang="en-IN" sz="1350" dirty="0"/>
              <a:t>Underfitting</a:t>
            </a:r>
          </a:p>
        </p:txBody>
      </p:sp>
      <p:sp>
        <p:nvSpPr>
          <p:cNvPr id="11" name="TextBox 10">
            <a:extLst>
              <a:ext uri="{FF2B5EF4-FFF2-40B4-BE49-F238E27FC236}">
                <a16:creationId xmlns:a16="http://schemas.microsoft.com/office/drawing/2014/main" id="{0A1F579D-C1DD-27E1-17E0-1ABFB159937C}"/>
              </a:ext>
            </a:extLst>
          </p:cNvPr>
          <p:cNvSpPr txBox="1"/>
          <p:nvPr/>
        </p:nvSpPr>
        <p:spPr>
          <a:xfrm>
            <a:off x="6608936" y="3804283"/>
            <a:ext cx="1109663" cy="300082"/>
          </a:xfrm>
          <a:prstGeom prst="rect">
            <a:avLst/>
          </a:prstGeom>
          <a:noFill/>
        </p:spPr>
        <p:txBody>
          <a:bodyPr wrap="none" rtlCol="0">
            <a:spAutoFit/>
          </a:bodyPr>
          <a:lstStyle/>
          <a:p>
            <a:r>
              <a:rPr lang="en-IN" sz="1350" dirty="0"/>
              <a:t>Overfitting</a:t>
            </a:r>
          </a:p>
        </p:txBody>
      </p:sp>
      <p:sp>
        <p:nvSpPr>
          <p:cNvPr id="12" name="Slide Number Placeholder 11">
            <a:extLst>
              <a:ext uri="{FF2B5EF4-FFF2-40B4-BE49-F238E27FC236}">
                <a16:creationId xmlns:a16="http://schemas.microsoft.com/office/drawing/2014/main" id="{15278D22-2C4F-C531-2E98-DFB3CF8BE7F5}"/>
              </a:ext>
            </a:extLst>
          </p:cNvPr>
          <p:cNvSpPr>
            <a:spLocks noGrp="1"/>
          </p:cNvSpPr>
          <p:nvPr>
            <p:ph type="sldNum" sz="quarter" idx="12"/>
          </p:nvPr>
        </p:nvSpPr>
        <p:spPr/>
        <p:txBody>
          <a:bodyPr/>
          <a:lstStyle/>
          <a:p>
            <a:fld id="{BB2CE0DE-867F-455F-B20B-96D381B4AB71}" type="slidenum">
              <a:rPr lang="en-US" smtClean="0"/>
              <a:t>183</a:t>
            </a:fld>
            <a:endParaRPr lang="en-US"/>
          </a:p>
        </p:txBody>
      </p:sp>
    </p:spTree>
    <p:extLst>
      <p:ext uri="{BB962C8B-B14F-4D97-AF65-F5344CB8AC3E}">
        <p14:creationId xmlns:p14="http://schemas.microsoft.com/office/powerpoint/2010/main" val="111842884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100" dirty="0"/>
              <a:t>Bias, Variance, Overfitting, Underfitting</a:t>
            </a:r>
            <a:endParaRPr lang="en-IN" sz="2100" dirty="0"/>
          </a:p>
        </p:txBody>
      </p:sp>
      <p:sp>
        <p:nvSpPr>
          <p:cNvPr id="3" name="Content Placeholder 2">
            <a:extLst>
              <a:ext uri="{FF2B5EF4-FFF2-40B4-BE49-F238E27FC236}">
                <a16:creationId xmlns:a16="http://schemas.microsoft.com/office/drawing/2014/main" id="{4E331CA5-E4CA-47F6-A84E-EFF7A3C4DC32}"/>
              </a:ext>
            </a:extLst>
          </p:cNvPr>
          <p:cNvSpPr>
            <a:spLocks noGrp="1"/>
          </p:cNvSpPr>
          <p:nvPr>
            <p:ph idx="1"/>
          </p:nvPr>
        </p:nvSpPr>
        <p:spPr/>
        <p:txBody>
          <a:bodyPr/>
          <a:lstStyle/>
          <a:p>
            <a:pPr marL="0" indent="0">
              <a:buNone/>
            </a:pPr>
            <a:r>
              <a:rPr lang="en-US" sz="1500" b="1" dirty="0"/>
              <a:t>Bias: </a:t>
            </a:r>
            <a:r>
              <a:rPr lang="en-US" sz="1500" dirty="0"/>
              <a:t>Inability of machine Learning (ML) model to truly capture the relationship of the training data.</a:t>
            </a:r>
          </a:p>
          <a:p>
            <a:pPr marL="0" indent="0">
              <a:buNone/>
            </a:pPr>
            <a:r>
              <a:rPr lang="en-US" sz="1500" b="1" dirty="0"/>
              <a:t>Variance: </a:t>
            </a:r>
            <a:r>
              <a:rPr lang="en-US" sz="1500" dirty="0"/>
              <a:t>Variance of ML model is high when the difference between Training error and Test error is High.</a:t>
            </a:r>
          </a:p>
          <a:p>
            <a:pPr marL="0" indent="0">
              <a:buNone/>
            </a:pPr>
            <a:r>
              <a:rPr lang="en-US" sz="1500" b="1" dirty="0"/>
              <a:t>Overfitting: </a:t>
            </a:r>
            <a:r>
              <a:rPr lang="en-US" sz="1500" dirty="0"/>
              <a:t>ML model of training data is performing well but  on test data it is not doing well.</a:t>
            </a:r>
          </a:p>
          <a:p>
            <a:pPr marL="0" indent="0">
              <a:buNone/>
            </a:pPr>
            <a:r>
              <a:rPr lang="en-US" sz="1500" b="1" dirty="0"/>
              <a:t>Underfitting:</a:t>
            </a:r>
            <a:r>
              <a:rPr lang="en-US" sz="1500" dirty="0"/>
              <a:t> ML model is not capturing the relationship in the training data.</a:t>
            </a:r>
            <a:endParaRPr lang="en-IN" sz="1500" dirty="0"/>
          </a:p>
        </p:txBody>
      </p:sp>
      <p:sp>
        <p:nvSpPr>
          <p:cNvPr id="5" name="Slide Number Placeholder 4">
            <a:extLst>
              <a:ext uri="{FF2B5EF4-FFF2-40B4-BE49-F238E27FC236}">
                <a16:creationId xmlns:a16="http://schemas.microsoft.com/office/drawing/2014/main" id="{8492DE00-C084-B6B1-BED5-67BD3BC6F57A}"/>
              </a:ext>
            </a:extLst>
          </p:cNvPr>
          <p:cNvSpPr>
            <a:spLocks noGrp="1"/>
          </p:cNvSpPr>
          <p:nvPr>
            <p:ph type="sldNum" sz="quarter" idx="12"/>
          </p:nvPr>
        </p:nvSpPr>
        <p:spPr/>
        <p:txBody>
          <a:bodyPr/>
          <a:lstStyle/>
          <a:p>
            <a:fld id="{BB2CE0DE-867F-455F-B20B-96D381B4AB71}" type="slidenum">
              <a:rPr lang="en-US" smtClean="0"/>
              <a:t>184</a:t>
            </a:fld>
            <a:endParaRPr lang="en-US"/>
          </a:p>
        </p:txBody>
      </p:sp>
    </p:spTree>
    <p:extLst>
      <p:ext uri="{BB962C8B-B14F-4D97-AF65-F5344CB8AC3E}">
        <p14:creationId xmlns:p14="http://schemas.microsoft.com/office/powerpoint/2010/main" val="22918139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98F1-1B01-48D5-80C7-55B2C84B110D}"/>
              </a:ext>
            </a:extLst>
          </p:cNvPr>
          <p:cNvSpPr>
            <a:spLocks noGrp="1"/>
          </p:cNvSpPr>
          <p:nvPr>
            <p:ph type="title"/>
          </p:nvPr>
        </p:nvSpPr>
        <p:spPr/>
        <p:txBody>
          <a:bodyPr/>
          <a:lstStyle/>
          <a:p>
            <a:r>
              <a:rPr lang="en-US" sz="1800" dirty="0"/>
              <a:t>Why Overfitting happens in Neural networks ?</a:t>
            </a:r>
            <a:endParaRPr lang="en-IN" sz="1800" dirty="0"/>
          </a:p>
        </p:txBody>
      </p:sp>
      <p:pic>
        <p:nvPicPr>
          <p:cNvPr id="6" name="Picture 5">
            <a:extLst>
              <a:ext uri="{FF2B5EF4-FFF2-40B4-BE49-F238E27FC236}">
                <a16:creationId xmlns:a16="http://schemas.microsoft.com/office/drawing/2014/main" id="{9C712B97-6459-49E5-97FA-E7FFE8B059AA}"/>
              </a:ext>
            </a:extLst>
          </p:cNvPr>
          <p:cNvPicPr>
            <a:picLocks noChangeAspect="1"/>
          </p:cNvPicPr>
          <p:nvPr/>
        </p:nvPicPr>
        <p:blipFill>
          <a:blip r:embed="rId2"/>
          <a:stretch>
            <a:fillRect/>
          </a:stretch>
        </p:blipFill>
        <p:spPr>
          <a:xfrm>
            <a:off x="1219200" y="1276314"/>
            <a:ext cx="2971800" cy="2085567"/>
          </a:xfrm>
          <a:prstGeom prst="rect">
            <a:avLst/>
          </a:prstGeom>
        </p:spPr>
      </p:pic>
      <p:sp>
        <p:nvSpPr>
          <p:cNvPr id="7" name="TextBox 6">
            <a:extLst>
              <a:ext uri="{FF2B5EF4-FFF2-40B4-BE49-F238E27FC236}">
                <a16:creationId xmlns:a16="http://schemas.microsoft.com/office/drawing/2014/main" id="{26554BD0-8A53-4FA6-8A85-3CE9B5CCADB5}"/>
              </a:ext>
            </a:extLst>
          </p:cNvPr>
          <p:cNvSpPr txBox="1"/>
          <p:nvPr/>
        </p:nvSpPr>
        <p:spPr>
          <a:xfrm>
            <a:off x="1161607" y="6103963"/>
            <a:ext cx="2585964" cy="196208"/>
          </a:xfrm>
          <a:prstGeom prst="rect">
            <a:avLst/>
          </a:prstGeom>
          <a:noFill/>
        </p:spPr>
        <p:txBody>
          <a:bodyPr wrap="none" rtlCol="0">
            <a:spAutoFit/>
          </a:bodyPr>
          <a:lstStyle/>
          <a:p>
            <a:r>
              <a:rPr lang="en-US" sz="675" dirty="0"/>
              <a:t>Ref.: https://www.youtube.com/watch?v=4xRonrhtkzc</a:t>
            </a:r>
            <a:endParaRPr lang="en-IN" sz="675" dirty="0"/>
          </a:p>
        </p:txBody>
      </p:sp>
      <p:pic>
        <p:nvPicPr>
          <p:cNvPr id="9" name="Picture 8">
            <a:extLst>
              <a:ext uri="{FF2B5EF4-FFF2-40B4-BE49-F238E27FC236}">
                <a16:creationId xmlns:a16="http://schemas.microsoft.com/office/drawing/2014/main" id="{C870FAEA-4E63-43D9-9A8E-6E3EB35FC260}"/>
              </a:ext>
            </a:extLst>
          </p:cNvPr>
          <p:cNvPicPr>
            <a:picLocks noChangeAspect="1"/>
          </p:cNvPicPr>
          <p:nvPr/>
        </p:nvPicPr>
        <p:blipFill>
          <a:blip r:embed="rId3"/>
          <a:stretch>
            <a:fillRect/>
          </a:stretch>
        </p:blipFill>
        <p:spPr>
          <a:xfrm>
            <a:off x="4608816" y="1236394"/>
            <a:ext cx="3087384" cy="2131115"/>
          </a:xfrm>
          <a:prstGeom prst="rect">
            <a:avLst/>
          </a:prstGeom>
        </p:spPr>
      </p:pic>
      <p:pic>
        <p:nvPicPr>
          <p:cNvPr id="11" name="Picture 10">
            <a:extLst>
              <a:ext uri="{FF2B5EF4-FFF2-40B4-BE49-F238E27FC236}">
                <a16:creationId xmlns:a16="http://schemas.microsoft.com/office/drawing/2014/main" id="{650C8D23-5ED8-4F00-865F-3C4BB125CEBC}"/>
              </a:ext>
            </a:extLst>
          </p:cNvPr>
          <p:cNvPicPr>
            <a:picLocks noChangeAspect="1"/>
          </p:cNvPicPr>
          <p:nvPr/>
        </p:nvPicPr>
        <p:blipFill>
          <a:blip r:embed="rId4"/>
          <a:stretch>
            <a:fillRect/>
          </a:stretch>
        </p:blipFill>
        <p:spPr>
          <a:xfrm>
            <a:off x="470548" y="3678743"/>
            <a:ext cx="2848983" cy="1973540"/>
          </a:xfrm>
          <a:prstGeom prst="rect">
            <a:avLst/>
          </a:prstGeom>
        </p:spPr>
      </p:pic>
      <p:pic>
        <p:nvPicPr>
          <p:cNvPr id="13" name="Picture 12">
            <a:extLst>
              <a:ext uri="{FF2B5EF4-FFF2-40B4-BE49-F238E27FC236}">
                <a16:creationId xmlns:a16="http://schemas.microsoft.com/office/drawing/2014/main" id="{D73CC2E8-1120-4597-A704-8FDDA79AD388}"/>
              </a:ext>
            </a:extLst>
          </p:cNvPr>
          <p:cNvPicPr>
            <a:picLocks noChangeAspect="1"/>
          </p:cNvPicPr>
          <p:nvPr/>
        </p:nvPicPr>
        <p:blipFill>
          <a:blip r:embed="rId5"/>
          <a:stretch>
            <a:fillRect/>
          </a:stretch>
        </p:blipFill>
        <p:spPr>
          <a:xfrm>
            <a:off x="3449862" y="3723795"/>
            <a:ext cx="2848982" cy="1989201"/>
          </a:xfrm>
          <a:prstGeom prst="rect">
            <a:avLst/>
          </a:prstGeom>
        </p:spPr>
      </p:pic>
      <p:pic>
        <p:nvPicPr>
          <p:cNvPr id="15" name="Picture 14">
            <a:extLst>
              <a:ext uri="{FF2B5EF4-FFF2-40B4-BE49-F238E27FC236}">
                <a16:creationId xmlns:a16="http://schemas.microsoft.com/office/drawing/2014/main" id="{CE8B7BA2-BE96-4E46-BA78-CC82CEC23344}"/>
              </a:ext>
            </a:extLst>
          </p:cNvPr>
          <p:cNvPicPr>
            <a:picLocks noChangeAspect="1"/>
          </p:cNvPicPr>
          <p:nvPr/>
        </p:nvPicPr>
        <p:blipFill>
          <a:blip r:embed="rId6"/>
          <a:stretch>
            <a:fillRect/>
          </a:stretch>
        </p:blipFill>
        <p:spPr>
          <a:xfrm>
            <a:off x="6429176" y="3670912"/>
            <a:ext cx="2534047" cy="1989201"/>
          </a:xfrm>
          <a:prstGeom prst="rect">
            <a:avLst/>
          </a:prstGeom>
        </p:spPr>
      </p:pic>
      <p:sp>
        <p:nvSpPr>
          <p:cNvPr id="3" name="Slide Number Placeholder 2">
            <a:extLst>
              <a:ext uri="{FF2B5EF4-FFF2-40B4-BE49-F238E27FC236}">
                <a16:creationId xmlns:a16="http://schemas.microsoft.com/office/drawing/2014/main" id="{2F03727A-19F4-82DB-7136-45047FA48144}"/>
              </a:ext>
            </a:extLst>
          </p:cNvPr>
          <p:cNvSpPr>
            <a:spLocks noGrp="1"/>
          </p:cNvSpPr>
          <p:nvPr>
            <p:ph type="sldNum" sz="quarter" idx="12"/>
          </p:nvPr>
        </p:nvSpPr>
        <p:spPr/>
        <p:txBody>
          <a:bodyPr/>
          <a:lstStyle/>
          <a:p>
            <a:fld id="{BB2CE0DE-867F-455F-B20B-96D381B4AB71}" type="slidenum">
              <a:rPr lang="en-US" smtClean="0"/>
              <a:t>185</a:t>
            </a:fld>
            <a:endParaRPr lang="en-US"/>
          </a:p>
        </p:txBody>
      </p:sp>
    </p:spTree>
    <p:extLst>
      <p:ext uri="{BB962C8B-B14F-4D97-AF65-F5344CB8AC3E}">
        <p14:creationId xmlns:p14="http://schemas.microsoft.com/office/powerpoint/2010/main" val="218819133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9184-2179-4625-80F7-7B2435CE0ECA}"/>
              </a:ext>
            </a:extLst>
          </p:cNvPr>
          <p:cNvSpPr>
            <a:spLocks noGrp="1"/>
          </p:cNvSpPr>
          <p:nvPr>
            <p:ph type="title"/>
          </p:nvPr>
        </p:nvSpPr>
        <p:spPr/>
        <p:txBody>
          <a:bodyPr/>
          <a:lstStyle/>
          <a:p>
            <a:r>
              <a:rPr lang="en-US" dirty="0"/>
              <a:t>Background: For Regularization</a:t>
            </a:r>
            <a:endParaRPr lang="en-IN" dirty="0"/>
          </a:p>
        </p:txBody>
      </p:sp>
      <p:pic>
        <p:nvPicPr>
          <p:cNvPr id="5" name="Picture 4">
            <a:extLst>
              <a:ext uri="{FF2B5EF4-FFF2-40B4-BE49-F238E27FC236}">
                <a16:creationId xmlns:a16="http://schemas.microsoft.com/office/drawing/2014/main" id="{34E82C9A-5C42-4930-9CCD-13EFD264B129}"/>
              </a:ext>
            </a:extLst>
          </p:cNvPr>
          <p:cNvPicPr>
            <a:picLocks noChangeAspect="1"/>
          </p:cNvPicPr>
          <p:nvPr/>
        </p:nvPicPr>
        <p:blipFill>
          <a:blip r:embed="rId2"/>
          <a:stretch>
            <a:fillRect/>
          </a:stretch>
        </p:blipFill>
        <p:spPr>
          <a:xfrm>
            <a:off x="1563567" y="1405591"/>
            <a:ext cx="3120079" cy="2052898"/>
          </a:xfrm>
          <a:prstGeom prst="rect">
            <a:avLst/>
          </a:prstGeom>
        </p:spPr>
      </p:pic>
      <p:pic>
        <p:nvPicPr>
          <p:cNvPr id="6" name="Picture 5">
            <a:extLst>
              <a:ext uri="{FF2B5EF4-FFF2-40B4-BE49-F238E27FC236}">
                <a16:creationId xmlns:a16="http://schemas.microsoft.com/office/drawing/2014/main" id="{7C54A61C-B515-451B-94FC-7338A9AA6EDE}"/>
              </a:ext>
            </a:extLst>
          </p:cNvPr>
          <p:cNvPicPr>
            <a:picLocks noChangeAspect="1"/>
          </p:cNvPicPr>
          <p:nvPr/>
        </p:nvPicPr>
        <p:blipFill>
          <a:blip r:embed="rId3"/>
          <a:stretch>
            <a:fillRect/>
          </a:stretch>
        </p:blipFill>
        <p:spPr>
          <a:xfrm>
            <a:off x="1675688" y="3972762"/>
            <a:ext cx="2657475" cy="1771650"/>
          </a:xfrm>
          <a:prstGeom prst="rect">
            <a:avLst/>
          </a:prstGeom>
        </p:spPr>
      </p:pic>
      <p:pic>
        <p:nvPicPr>
          <p:cNvPr id="7" name="Picture 6">
            <a:extLst>
              <a:ext uri="{FF2B5EF4-FFF2-40B4-BE49-F238E27FC236}">
                <a16:creationId xmlns:a16="http://schemas.microsoft.com/office/drawing/2014/main" id="{B09F5867-518E-453D-AF54-F75AB3E21228}"/>
              </a:ext>
            </a:extLst>
          </p:cNvPr>
          <p:cNvPicPr>
            <a:picLocks noChangeAspect="1"/>
          </p:cNvPicPr>
          <p:nvPr/>
        </p:nvPicPr>
        <p:blipFill>
          <a:blip r:embed="rId4"/>
          <a:stretch>
            <a:fillRect/>
          </a:stretch>
        </p:blipFill>
        <p:spPr>
          <a:xfrm>
            <a:off x="4833937" y="1405591"/>
            <a:ext cx="3120079" cy="2052898"/>
          </a:xfrm>
          <a:prstGeom prst="rect">
            <a:avLst/>
          </a:prstGeom>
        </p:spPr>
      </p:pic>
      <p:pic>
        <p:nvPicPr>
          <p:cNvPr id="8" name="Picture 7">
            <a:extLst>
              <a:ext uri="{FF2B5EF4-FFF2-40B4-BE49-F238E27FC236}">
                <a16:creationId xmlns:a16="http://schemas.microsoft.com/office/drawing/2014/main" id="{FAA033F5-3ADC-41F4-BA9B-30E41DBE42D1}"/>
              </a:ext>
            </a:extLst>
          </p:cNvPr>
          <p:cNvPicPr>
            <a:picLocks noChangeAspect="1"/>
          </p:cNvPicPr>
          <p:nvPr/>
        </p:nvPicPr>
        <p:blipFill>
          <a:blip r:embed="rId5"/>
          <a:stretch>
            <a:fillRect/>
          </a:stretch>
        </p:blipFill>
        <p:spPr>
          <a:xfrm>
            <a:off x="4840804" y="3959470"/>
            <a:ext cx="2931596" cy="1923375"/>
          </a:xfrm>
          <a:prstGeom prst="rect">
            <a:avLst/>
          </a:prstGeom>
        </p:spPr>
      </p:pic>
      <p:sp>
        <p:nvSpPr>
          <p:cNvPr id="9" name="TextBox 8">
            <a:extLst>
              <a:ext uri="{FF2B5EF4-FFF2-40B4-BE49-F238E27FC236}">
                <a16:creationId xmlns:a16="http://schemas.microsoft.com/office/drawing/2014/main" id="{4267F772-EE3C-42B4-8260-C1892EA3CF4D}"/>
              </a:ext>
            </a:extLst>
          </p:cNvPr>
          <p:cNvSpPr txBox="1"/>
          <p:nvPr/>
        </p:nvSpPr>
        <p:spPr>
          <a:xfrm>
            <a:off x="1574006" y="6288568"/>
            <a:ext cx="5719836" cy="196208"/>
          </a:xfrm>
          <a:prstGeom prst="rect">
            <a:avLst/>
          </a:prstGeom>
          <a:noFill/>
        </p:spPr>
        <p:txBody>
          <a:bodyPr wrap="none" rtlCol="0">
            <a:spAutoFit/>
          </a:bodyPr>
          <a:lstStyle/>
          <a:p>
            <a:r>
              <a:rPr lang="en-US" sz="675" dirty="0"/>
              <a:t>Ref.: https://colab.research.google.com/drive/1PObj5KrXLDDmHjoJ1x0bVmxAFbif5s7q?usp=sharing#scrollTo=njwsZuvWVyIT</a:t>
            </a:r>
            <a:endParaRPr lang="en-IN" sz="675" dirty="0"/>
          </a:p>
        </p:txBody>
      </p:sp>
      <p:sp>
        <p:nvSpPr>
          <p:cNvPr id="10" name="TextBox 9">
            <a:extLst>
              <a:ext uri="{FF2B5EF4-FFF2-40B4-BE49-F238E27FC236}">
                <a16:creationId xmlns:a16="http://schemas.microsoft.com/office/drawing/2014/main" id="{98BA7E0A-6D1F-402F-AD03-3D6CC5E6895C}"/>
              </a:ext>
            </a:extLst>
          </p:cNvPr>
          <p:cNvSpPr txBox="1"/>
          <p:nvPr/>
        </p:nvSpPr>
        <p:spPr>
          <a:xfrm>
            <a:off x="1931513" y="1128591"/>
            <a:ext cx="2046329" cy="300082"/>
          </a:xfrm>
          <a:prstGeom prst="rect">
            <a:avLst/>
          </a:prstGeom>
          <a:noFill/>
        </p:spPr>
        <p:txBody>
          <a:bodyPr wrap="none" rtlCol="0">
            <a:spAutoFit/>
          </a:bodyPr>
          <a:lstStyle/>
          <a:p>
            <a:r>
              <a:rPr lang="en-US" sz="1350" dirty="0"/>
              <a:t>Before Regularization</a:t>
            </a:r>
            <a:endParaRPr lang="en-IN" sz="1350" dirty="0"/>
          </a:p>
        </p:txBody>
      </p:sp>
      <p:sp>
        <p:nvSpPr>
          <p:cNvPr id="11" name="TextBox 10">
            <a:extLst>
              <a:ext uri="{FF2B5EF4-FFF2-40B4-BE49-F238E27FC236}">
                <a16:creationId xmlns:a16="http://schemas.microsoft.com/office/drawing/2014/main" id="{86B8C936-978D-47E0-9148-FB2CC5EE4244}"/>
              </a:ext>
            </a:extLst>
          </p:cNvPr>
          <p:cNvSpPr txBox="1"/>
          <p:nvPr/>
        </p:nvSpPr>
        <p:spPr>
          <a:xfrm>
            <a:off x="5086671" y="1128591"/>
            <a:ext cx="1906869" cy="300082"/>
          </a:xfrm>
          <a:prstGeom prst="rect">
            <a:avLst/>
          </a:prstGeom>
          <a:noFill/>
        </p:spPr>
        <p:txBody>
          <a:bodyPr wrap="none" rtlCol="0">
            <a:spAutoFit/>
          </a:bodyPr>
          <a:lstStyle/>
          <a:p>
            <a:r>
              <a:rPr lang="en-US" sz="1350" dirty="0"/>
              <a:t>After Regularization</a:t>
            </a:r>
            <a:endParaRPr lang="en-IN" sz="1350" dirty="0"/>
          </a:p>
        </p:txBody>
      </p:sp>
      <p:sp>
        <p:nvSpPr>
          <p:cNvPr id="12" name="TextBox 11">
            <a:extLst>
              <a:ext uri="{FF2B5EF4-FFF2-40B4-BE49-F238E27FC236}">
                <a16:creationId xmlns:a16="http://schemas.microsoft.com/office/drawing/2014/main" id="{9B90A589-8603-46C0-B295-F18FCB32140E}"/>
              </a:ext>
            </a:extLst>
          </p:cNvPr>
          <p:cNvSpPr txBox="1"/>
          <p:nvPr/>
        </p:nvSpPr>
        <p:spPr>
          <a:xfrm>
            <a:off x="2057401" y="3775223"/>
            <a:ext cx="1970411" cy="219291"/>
          </a:xfrm>
          <a:prstGeom prst="rect">
            <a:avLst/>
          </a:prstGeom>
          <a:noFill/>
        </p:spPr>
        <p:txBody>
          <a:bodyPr wrap="none" rtlCol="0">
            <a:spAutoFit/>
          </a:bodyPr>
          <a:lstStyle/>
          <a:p>
            <a:r>
              <a:rPr lang="en-US" sz="825" dirty="0"/>
              <a:t>Training vs. Validation Loss curve</a:t>
            </a:r>
            <a:endParaRPr lang="en-IN" sz="825" dirty="0"/>
          </a:p>
        </p:txBody>
      </p:sp>
      <p:sp>
        <p:nvSpPr>
          <p:cNvPr id="13" name="TextBox 12">
            <a:extLst>
              <a:ext uri="{FF2B5EF4-FFF2-40B4-BE49-F238E27FC236}">
                <a16:creationId xmlns:a16="http://schemas.microsoft.com/office/drawing/2014/main" id="{7837608D-CF07-4D0C-9F9C-BF859FB13BA4}"/>
              </a:ext>
            </a:extLst>
          </p:cNvPr>
          <p:cNvSpPr txBox="1"/>
          <p:nvPr/>
        </p:nvSpPr>
        <p:spPr>
          <a:xfrm>
            <a:off x="5246231" y="3792237"/>
            <a:ext cx="1970411" cy="219291"/>
          </a:xfrm>
          <a:prstGeom prst="rect">
            <a:avLst/>
          </a:prstGeom>
          <a:noFill/>
        </p:spPr>
        <p:txBody>
          <a:bodyPr wrap="none" rtlCol="0">
            <a:spAutoFit/>
          </a:bodyPr>
          <a:lstStyle/>
          <a:p>
            <a:r>
              <a:rPr lang="en-US" sz="825" dirty="0"/>
              <a:t>Training vs. Validation Loss curve</a:t>
            </a:r>
            <a:endParaRPr lang="en-IN" sz="825" dirty="0"/>
          </a:p>
        </p:txBody>
      </p:sp>
      <p:sp>
        <p:nvSpPr>
          <p:cNvPr id="3" name="Slide Number Placeholder 2">
            <a:extLst>
              <a:ext uri="{FF2B5EF4-FFF2-40B4-BE49-F238E27FC236}">
                <a16:creationId xmlns:a16="http://schemas.microsoft.com/office/drawing/2014/main" id="{E724AB64-A9AA-AAC3-F89C-D70A1AC4932D}"/>
              </a:ext>
            </a:extLst>
          </p:cNvPr>
          <p:cNvSpPr>
            <a:spLocks noGrp="1"/>
          </p:cNvSpPr>
          <p:nvPr>
            <p:ph type="sldNum" sz="quarter" idx="12"/>
          </p:nvPr>
        </p:nvSpPr>
        <p:spPr/>
        <p:txBody>
          <a:bodyPr/>
          <a:lstStyle/>
          <a:p>
            <a:fld id="{BB2CE0DE-867F-455F-B20B-96D381B4AB71}" type="slidenum">
              <a:rPr lang="en-US" smtClean="0"/>
              <a:t>186</a:t>
            </a:fld>
            <a:endParaRPr lang="en-US"/>
          </a:p>
        </p:txBody>
      </p:sp>
    </p:spTree>
    <p:extLst>
      <p:ext uri="{BB962C8B-B14F-4D97-AF65-F5344CB8AC3E}">
        <p14:creationId xmlns:p14="http://schemas.microsoft.com/office/powerpoint/2010/main" val="1733764467"/>
      </p:ext>
    </p:extLst>
  </p:cSld>
  <p:clrMapOvr>
    <a:masterClrMapping/>
  </p:clrMapOvr>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6029</TotalTime>
  <Words>9084</Words>
  <Application>Microsoft Office PowerPoint</Application>
  <PresentationFormat>On-screen Show (4:3)</PresentationFormat>
  <Paragraphs>904</Paragraphs>
  <Slides>186</Slides>
  <Notes>28</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186</vt:i4>
      </vt:variant>
    </vt:vector>
  </HeadingPairs>
  <TitlesOfParts>
    <vt:vector size="206" baseType="lpstr">
      <vt:lpstr>__gtPlanar_9a6492</vt:lpstr>
      <vt:lpstr>-apple-system</vt:lpstr>
      <vt:lpstr>Arial</vt:lpstr>
      <vt:lpstr>Book Antiqua</vt:lpstr>
      <vt:lpstr>Calibri</vt:lpstr>
      <vt:lpstr>DeepSeek-CJK-patch</vt:lpstr>
      <vt:lpstr>DM Sans</vt:lpstr>
      <vt:lpstr>Google Sans</vt:lpstr>
      <vt:lpstr>GT Planar</vt:lpstr>
      <vt:lpstr>Inter</vt:lpstr>
      <vt:lpstr>KaTeX_Main</vt:lpstr>
      <vt:lpstr>Nunito</vt:lpstr>
      <vt:lpstr>Open Sans</vt:lpstr>
      <vt:lpstr>source-serif-pro</vt:lpstr>
      <vt:lpstr>Studio-Feixen-Sans</vt:lpstr>
      <vt:lpstr>Times New Roman</vt:lpstr>
      <vt:lpstr>Verdana</vt:lpstr>
      <vt:lpstr>Wingdings</vt:lpstr>
      <vt:lpstr>Work Sans</vt:lpstr>
      <vt:lpstr>Theme1</vt:lpstr>
      <vt:lpstr>Deep Learning and Generative AI MSCS202</vt:lpstr>
      <vt:lpstr>Disclaimer</vt:lpstr>
      <vt:lpstr>What Is Machine Learning? </vt:lpstr>
      <vt:lpstr>What is Deep Learning ?</vt:lpstr>
      <vt:lpstr>Difference between</vt:lpstr>
      <vt:lpstr>Traditional Machine Learning</vt:lpstr>
      <vt:lpstr>Difference between Traditional ML and DL</vt:lpstr>
      <vt:lpstr>Unit-1</vt:lpstr>
      <vt:lpstr>Building Intelligent Machines</vt:lpstr>
      <vt:lpstr>Limits of Traditional Computer Programs</vt:lpstr>
      <vt:lpstr>Limits of Traditional Computer Programs</vt:lpstr>
      <vt:lpstr>Mechanics of Machine Learning (ML)</vt:lpstr>
      <vt:lpstr>Mechanics of Machine Learning</vt:lpstr>
      <vt:lpstr>Mechanics of Machine Learning</vt:lpstr>
      <vt:lpstr>Mechanics of Machine Learning</vt:lpstr>
      <vt:lpstr>Mechanics of ML: Linear Perceptron</vt:lpstr>
      <vt:lpstr>Mechanics of ML: Linear Perceptron</vt:lpstr>
      <vt:lpstr>Mechanics of ML: Linear Perceptron</vt:lpstr>
      <vt:lpstr>Neuron</vt:lpstr>
      <vt:lpstr>Neuron</vt:lpstr>
      <vt:lpstr>Simple Model of an Artificial Neuron</vt:lpstr>
      <vt:lpstr>Perceptron Learning</vt:lpstr>
      <vt:lpstr>Perceptron Learning</vt:lpstr>
      <vt:lpstr>Perceptron Learning Algorithm</vt:lpstr>
      <vt:lpstr>Perceptron Learning: To train Boolean AND function</vt:lpstr>
      <vt:lpstr>Perceptron Learning: To train Boolean AND function</vt:lpstr>
      <vt:lpstr>Perceptron Learning: To train Boolean AND function</vt:lpstr>
      <vt:lpstr>Perceptron Learning: To train Boolean AND function</vt:lpstr>
      <vt:lpstr>Perceptron Learning: To train Boolean AND function</vt:lpstr>
      <vt:lpstr>Perceptron Learning: To train Boolean AND function</vt:lpstr>
      <vt:lpstr>Question</vt:lpstr>
      <vt:lpstr>Question</vt:lpstr>
      <vt:lpstr>Problem</vt:lpstr>
      <vt:lpstr>Linear Neurons and Limitations</vt:lpstr>
      <vt:lpstr>XOR – Non linearly separable function </vt:lpstr>
      <vt:lpstr>XOR – Non linearly separable function </vt:lpstr>
      <vt:lpstr>Multi layer feed-forward Neural Network (FFNN)</vt:lpstr>
      <vt:lpstr>ANN Introduction</vt:lpstr>
      <vt:lpstr>ANN Introduction</vt:lpstr>
      <vt:lpstr>ANN Introduction</vt:lpstr>
      <vt:lpstr>Bias Input</vt:lpstr>
      <vt:lpstr>Three Basic components of ANN</vt:lpstr>
      <vt:lpstr>Connections</vt:lpstr>
      <vt:lpstr>1. Connections</vt:lpstr>
      <vt:lpstr>Single-layer feed-forward network </vt:lpstr>
      <vt:lpstr> Multilayer feed-forward network </vt:lpstr>
      <vt:lpstr>Single node with its own feedback </vt:lpstr>
      <vt:lpstr>Single-layer recurrent network </vt:lpstr>
      <vt:lpstr>Multilayer recurrent network </vt:lpstr>
      <vt:lpstr>2. Learning</vt:lpstr>
      <vt:lpstr>3. Activation functions</vt:lpstr>
      <vt:lpstr>3. Activation function</vt:lpstr>
      <vt:lpstr>3. Activation function</vt:lpstr>
      <vt:lpstr>3. Activation function</vt:lpstr>
      <vt:lpstr>3. Activation function</vt:lpstr>
      <vt:lpstr>Activation function</vt:lpstr>
      <vt:lpstr>Problem</vt:lpstr>
      <vt:lpstr>Problem</vt:lpstr>
      <vt:lpstr>Activation function</vt:lpstr>
      <vt:lpstr>Activation function</vt:lpstr>
      <vt:lpstr>Softmax</vt:lpstr>
      <vt:lpstr>Softmax</vt:lpstr>
      <vt:lpstr>Softmax</vt:lpstr>
      <vt:lpstr>Activation function</vt:lpstr>
      <vt:lpstr>Activation function</vt:lpstr>
      <vt:lpstr>Question</vt:lpstr>
      <vt:lpstr>Question</vt:lpstr>
      <vt:lpstr>Question</vt:lpstr>
      <vt:lpstr>Gradient Descent Algorithm</vt:lpstr>
      <vt:lpstr>PowerPoint Presentation</vt:lpstr>
      <vt:lpstr>Determine when the slope of the curve 𝑓(𝑥)=𝑥2 is negative and positive.</vt:lpstr>
      <vt:lpstr>Determine when the slope of the curve 𝑓(𝑥)=𝑥2 is negative and positive.</vt:lpstr>
      <vt:lpstr>Finding the minimum value of the function f(x)=𝑥2 using gradient descent.</vt:lpstr>
      <vt:lpstr>Finding the minimum value of the function f(x)=𝑥2 using gradient descent.</vt:lpstr>
      <vt:lpstr>Finding the minimum value of the function f(x)=𝑥2 using gradient descent.</vt:lpstr>
      <vt:lpstr>Finding the minimum value of the function f(x)=𝑥2 using gradient descent.</vt:lpstr>
      <vt:lpstr>Finding the minimum value of the function f(x)=𝑥2 using gradient descent.</vt:lpstr>
      <vt:lpstr>PowerPoint Presentation</vt:lpstr>
      <vt:lpstr>Finding the minimum value of the function f(x)=𝑥2 using gradient descent.</vt:lpstr>
      <vt:lpstr>Gradient Descent and Delta Rule</vt:lpstr>
      <vt:lpstr>What is Gradient Descent ? </vt:lpstr>
      <vt:lpstr>What is Delta Rule ?</vt:lpstr>
      <vt:lpstr>Gradient Descent Algorithm (for learning weights)</vt:lpstr>
      <vt:lpstr>Basics of Neural Network</vt:lpstr>
      <vt:lpstr>Basics of Neural Network</vt:lpstr>
      <vt:lpstr>Basics of Neural Network</vt:lpstr>
      <vt:lpstr>Basics of Neural Network</vt:lpstr>
      <vt:lpstr>Derivative of Sigmoid function</vt:lpstr>
      <vt:lpstr>Neural Network: Training process </vt:lpstr>
      <vt:lpstr>Formula for adjusting the weights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Maths behind Neural Network training Process</vt:lpstr>
      <vt:lpstr>Problem</vt:lpstr>
      <vt:lpstr>Solution</vt:lpstr>
      <vt:lpstr>Solutions</vt:lpstr>
      <vt:lpstr>Solution</vt:lpstr>
      <vt:lpstr>Solution</vt:lpstr>
      <vt:lpstr>Solution</vt:lpstr>
      <vt:lpstr>Solution</vt:lpstr>
      <vt:lpstr>Solution</vt:lpstr>
      <vt:lpstr>Solution</vt:lpstr>
      <vt:lpstr>Solution</vt:lpstr>
      <vt:lpstr>PowerPoint Presentation</vt:lpstr>
      <vt:lpstr>PowerPoint Presentation</vt:lpstr>
      <vt:lpstr>PowerPoint Presentation</vt:lpstr>
      <vt:lpstr>PowerPoint Presentation</vt:lpstr>
      <vt:lpstr>Solve</vt:lpstr>
      <vt:lpstr>Solution</vt:lpstr>
      <vt:lpstr>Calculating Number of Weight updates required during Backpropagation in Neural Network</vt:lpstr>
      <vt:lpstr>Equation of the Gradient Descent Algorithm</vt:lpstr>
      <vt:lpstr>Batch Gradient Descent</vt:lpstr>
      <vt:lpstr>Stochastic Gradient Descent(SGD)</vt:lpstr>
      <vt:lpstr>Stochastic Gradient Descent(SGD)</vt:lpstr>
      <vt:lpstr>Stochastic Gradient Descent(SGD)</vt:lpstr>
      <vt:lpstr>Stochastic Gradient Descent(SGD)</vt:lpstr>
      <vt:lpstr>Mini-batch Gradient Descent</vt:lpstr>
      <vt:lpstr>Mini-batch Gradient Descent</vt:lpstr>
      <vt:lpstr>Mini-batch Gradient Descent</vt:lpstr>
      <vt:lpstr>Comparison between Batch GD, SGD, and Mini-batch GD</vt:lpstr>
      <vt:lpstr>Comparison: Cost function</vt:lpstr>
      <vt:lpstr>PowerPoint Presentation</vt:lpstr>
      <vt:lpstr>Multilayer Neural Network for Email Spam Detection</vt:lpstr>
      <vt:lpstr>Multilayer Neural Network for Email Spam Detection</vt:lpstr>
      <vt:lpstr>Multilayer Neural Network for Email Spam Detection: Program</vt:lpstr>
      <vt:lpstr>Multilayer Neural Network for Email Spam Detection: Program</vt:lpstr>
      <vt:lpstr>Multilayer Neural Network for Email Spam Detection: Program</vt:lpstr>
      <vt:lpstr>Sigmoid vs Softmax Activation function</vt:lpstr>
      <vt:lpstr>Sigmoid vs Softmax Activation function</vt:lpstr>
      <vt:lpstr>Sigmoid vs Softmax Activation function</vt:lpstr>
      <vt:lpstr>Sigmoid vs Softmax Activation function</vt:lpstr>
      <vt:lpstr>What is the Adam optimization algorithm?</vt:lpstr>
      <vt:lpstr>What is One-Hot Encoding?</vt:lpstr>
      <vt:lpstr>Categorical Cross-Entropy Loss</vt:lpstr>
      <vt:lpstr>Categorical Cross-Entropy Loss</vt:lpstr>
      <vt:lpstr>MNIST Dataset Introduction</vt:lpstr>
      <vt:lpstr>One layer Neural Network to Classify handwritten digits</vt:lpstr>
      <vt:lpstr>We will Understand the concepts</vt:lpstr>
      <vt:lpstr>PowerPoint Presentation</vt:lpstr>
      <vt:lpstr>PowerPoint Presentation</vt:lpstr>
      <vt:lpstr>Bias, Variance, Overfitting, Underfitting</vt:lpstr>
      <vt:lpstr>Bias, Variance, Overfitting, Underfitting</vt:lpstr>
      <vt:lpstr>Bias, Variance, Overfitting, Underfitting</vt:lpstr>
      <vt:lpstr>Bias, Variance, Overfitting, Underfitting</vt:lpstr>
      <vt:lpstr>Bias, Variance, Overfitting, Underfitting</vt:lpstr>
      <vt:lpstr>Overfitting</vt:lpstr>
      <vt:lpstr>Overfitting and Underfitting</vt:lpstr>
      <vt:lpstr>Why Overfitting occurs in Deep Neural Networks</vt:lpstr>
      <vt:lpstr>How to observe Overfitting ?</vt:lpstr>
      <vt:lpstr>Loss and complexity</vt:lpstr>
      <vt:lpstr>Methods to avoid Overfitting </vt:lpstr>
      <vt:lpstr>Data Augmentation </vt:lpstr>
      <vt:lpstr>Position Data Augmentation </vt:lpstr>
      <vt:lpstr>Color Augmentation </vt:lpstr>
      <vt:lpstr>Data Augmentation (Contd…)</vt:lpstr>
      <vt:lpstr>Regularization</vt:lpstr>
      <vt:lpstr>How can we do regularization?</vt:lpstr>
      <vt:lpstr>L1 and L2 Regularization</vt:lpstr>
      <vt:lpstr>Why does L1 create sparse weights, but L2 only makes weights small?</vt:lpstr>
      <vt:lpstr>Why does L1 create sparse weights, but L2 only makes weights small?</vt:lpstr>
      <vt:lpstr>Why does L1 create sparse weights, but L2 only makes weights small?</vt:lpstr>
      <vt:lpstr>Difference between L1 and l2 Regularization</vt:lpstr>
      <vt:lpstr>L1 and L2 Regularization</vt:lpstr>
      <vt:lpstr>Dropout</vt:lpstr>
      <vt:lpstr>Dropout</vt:lpstr>
      <vt:lpstr>Early Stopping</vt:lpstr>
      <vt:lpstr>Thanks for Listening</vt:lpstr>
      <vt:lpstr>PowerPoint Presentation</vt:lpstr>
      <vt:lpstr>Background: For Regularization</vt:lpstr>
      <vt:lpstr>Bias, Variance, Overfitting, Underfitting</vt:lpstr>
      <vt:lpstr>Bias, Variance, Overfitting, Underfitting</vt:lpstr>
      <vt:lpstr>Bias, Variance, Overfitting, Underfitting</vt:lpstr>
      <vt:lpstr>Bias, Variance, Overfitting, Underfitting</vt:lpstr>
      <vt:lpstr>Bias, Variance, Overfitting, Underfitting</vt:lpstr>
      <vt:lpstr>Why Overfitting happens in Neural networks ?</vt:lpstr>
      <vt:lpstr>Background: For Regularization</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656</cp:revision>
  <cp:lastPrinted>2014-08-07T03:39:40Z</cp:lastPrinted>
  <dcterms:created xsi:type="dcterms:W3CDTF">2014-08-06T04:28:49Z</dcterms:created>
  <dcterms:modified xsi:type="dcterms:W3CDTF">2026-05-07T06:42:12Z</dcterms:modified>
</cp:coreProperties>
</file>